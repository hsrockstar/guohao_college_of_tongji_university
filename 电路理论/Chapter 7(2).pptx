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0"/>
  </p:notesMasterIdLst>
  <p:handoutMasterIdLst>
    <p:handoutMasterId r:id="rId51"/>
  </p:handoutMasterIdLst>
  <p:sldIdLst>
    <p:sldId id="302" r:id="rId2"/>
    <p:sldId id="355" r:id="rId3"/>
    <p:sldId id="356" r:id="rId4"/>
    <p:sldId id="379" r:id="rId5"/>
    <p:sldId id="303" r:id="rId6"/>
    <p:sldId id="377" r:id="rId7"/>
    <p:sldId id="322" r:id="rId8"/>
    <p:sldId id="323" r:id="rId9"/>
    <p:sldId id="324" r:id="rId10"/>
    <p:sldId id="325" r:id="rId11"/>
    <p:sldId id="326" r:id="rId12"/>
    <p:sldId id="327" r:id="rId13"/>
    <p:sldId id="328" r:id="rId14"/>
    <p:sldId id="329" r:id="rId15"/>
    <p:sldId id="381" r:id="rId16"/>
    <p:sldId id="359" r:id="rId17"/>
    <p:sldId id="315" r:id="rId18"/>
    <p:sldId id="316" r:id="rId19"/>
    <p:sldId id="317" r:id="rId20"/>
    <p:sldId id="318" r:id="rId21"/>
    <p:sldId id="320" r:id="rId22"/>
    <p:sldId id="331" r:id="rId23"/>
    <p:sldId id="360" r:id="rId24"/>
    <p:sldId id="361" r:id="rId25"/>
    <p:sldId id="332" r:id="rId26"/>
    <p:sldId id="333" r:id="rId27"/>
    <p:sldId id="334" r:id="rId28"/>
    <p:sldId id="338" r:id="rId29"/>
    <p:sldId id="339" r:id="rId30"/>
    <p:sldId id="340" r:id="rId31"/>
    <p:sldId id="363" r:id="rId32"/>
    <p:sldId id="364" r:id="rId33"/>
    <p:sldId id="365" r:id="rId34"/>
    <p:sldId id="366" r:id="rId35"/>
    <p:sldId id="375" r:id="rId36"/>
    <p:sldId id="367" r:id="rId37"/>
    <p:sldId id="368" r:id="rId38"/>
    <p:sldId id="370" r:id="rId39"/>
    <p:sldId id="343" r:id="rId40"/>
    <p:sldId id="344" r:id="rId41"/>
    <p:sldId id="345" r:id="rId42"/>
    <p:sldId id="346" r:id="rId43"/>
    <p:sldId id="380" r:id="rId44"/>
    <p:sldId id="369" r:id="rId45"/>
    <p:sldId id="362" r:id="rId46"/>
    <p:sldId id="348" r:id="rId47"/>
    <p:sldId id="349" r:id="rId48"/>
    <p:sldId id="350" r:id="rId4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CC0099"/>
    <a:srgbClr val="FF9966"/>
    <a:srgbClr val="FF0000"/>
    <a:srgbClr val="99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88" autoAdjust="0"/>
    <p:restoredTop sz="94434" autoAdjust="0"/>
  </p:normalViewPr>
  <p:slideViewPr>
    <p:cSldViewPr>
      <p:cViewPr varScale="1">
        <p:scale>
          <a:sx n="83" d="100"/>
          <a:sy n="83" d="100"/>
        </p:scale>
        <p:origin x="76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0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emf"/><Relationship Id="rId1" Type="http://schemas.openxmlformats.org/officeDocument/2006/relationships/image" Target="../media/image1.e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image" Target="../media/image8.e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image" Target="../media/image27.emf"/><Relationship Id="rId3" Type="http://schemas.openxmlformats.org/officeDocument/2006/relationships/image" Target="../media/image17.emf"/><Relationship Id="rId7" Type="http://schemas.openxmlformats.org/officeDocument/2006/relationships/image" Target="../media/image21.emf"/><Relationship Id="rId12" Type="http://schemas.openxmlformats.org/officeDocument/2006/relationships/image" Target="../media/image26.emf"/><Relationship Id="rId2" Type="http://schemas.openxmlformats.org/officeDocument/2006/relationships/image" Target="../media/image16.emf"/><Relationship Id="rId16" Type="http://schemas.openxmlformats.org/officeDocument/2006/relationships/image" Target="../media/image30.emf"/><Relationship Id="rId1" Type="http://schemas.openxmlformats.org/officeDocument/2006/relationships/image" Target="../media/image15.wmf"/><Relationship Id="rId6" Type="http://schemas.openxmlformats.org/officeDocument/2006/relationships/image" Target="../media/image20.emf"/><Relationship Id="rId11" Type="http://schemas.openxmlformats.org/officeDocument/2006/relationships/image" Target="../media/image25.wmf"/><Relationship Id="rId5" Type="http://schemas.openxmlformats.org/officeDocument/2006/relationships/image" Target="../media/image19.emf"/><Relationship Id="rId15" Type="http://schemas.openxmlformats.org/officeDocument/2006/relationships/image" Target="../media/image29.emf"/><Relationship Id="rId10" Type="http://schemas.openxmlformats.org/officeDocument/2006/relationships/image" Target="../media/image24.wmf"/><Relationship Id="rId4" Type="http://schemas.openxmlformats.org/officeDocument/2006/relationships/image" Target="../media/image18.emf"/><Relationship Id="rId9" Type="http://schemas.openxmlformats.org/officeDocument/2006/relationships/image" Target="../media/image23.wmf"/><Relationship Id="rId14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Relationship Id="rId5" Type="http://schemas.openxmlformats.org/officeDocument/2006/relationships/image" Target="../media/image35.wmf"/><Relationship Id="rId4" Type="http://schemas.openxmlformats.org/officeDocument/2006/relationships/image" Target="../media/image34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image" Target="../media/image41.wmf"/><Relationship Id="rId4" Type="http://schemas.openxmlformats.org/officeDocument/2006/relationships/image" Target="../media/image44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13" Type="http://schemas.openxmlformats.org/officeDocument/2006/relationships/image" Target="../media/image60.emf"/><Relationship Id="rId3" Type="http://schemas.openxmlformats.org/officeDocument/2006/relationships/image" Target="../media/image50.emf"/><Relationship Id="rId7" Type="http://schemas.openxmlformats.org/officeDocument/2006/relationships/image" Target="../media/image54.emf"/><Relationship Id="rId12" Type="http://schemas.openxmlformats.org/officeDocument/2006/relationships/image" Target="../media/image59.emf"/><Relationship Id="rId2" Type="http://schemas.openxmlformats.org/officeDocument/2006/relationships/image" Target="../media/image49.emf"/><Relationship Id="rId16" Type="http://schemas.openxmlformats.org/officeDocument/2006/relationships/image" Target="../media/image63.emf"/><Relationship Id="rId1" Type="http://schemas.openxmlformats.org/officeDocument/2006/relationships/image" Target="../media/image48.emf"/><Relationship Id="rId6" Type="http://schemas.openxmlformats.org/officeDocument/2006/relationships/image" Target="../media/image53.emf"/><Relationship Id="rId11" Type="http://schemas.openxmlformats.org/officeDocument/2006/relationships/image" Target="../media/image58.wmf"/><Relationship Id="rId5" Type="http://schemas.openxmlformats.org/officeDocument/2006/relationships/image" Target="../media/image52.emf"/><Relationship Id="rId15" Type="http://schemas.openxmlformats.org/officeDocument/2006/relationships/image" Target="../media/image62.emf"/><Relationship Id="rId10" Type="http://schemas.openxmlformats.org/officeDocument/2006/relationships/image" Target="../media/image57.wmf"/><Relationship Id="rId4" Type="http://schemas.openxmlformats.org/officeDocument/2006/relationships/image" Target="../media/image51.emf"/><Relationship Id="rId9" Type="http://schemas.openxmlformats.org/officeDocument/2006/relationships/image" Target="../media/image56.wmf"/><Relationship Id="rId14" Type="http://schemas.openxmlformats.org/officeDocument/2006/relationships/image" Target="../media/image61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7" Type="http://schemas.openxmlformats.org/officeDocument/2006/relationships/image" Target="../media/image70.emf"/><Relationship Id="rId2" Type="http://schemas.openxmlformats.org/officeDocument/2006/relationships/image" Target="../media/image65.emf"/><Relationship Id="rId1" Type="http://schemas.openxmlformats.org/officeDocument/2006/relationships/image" Target="../media/image64.emf"/><Relationship Id="rId6" Type="http://schemas.openxmlformats.org/officeDocument/2006/relationships/image" Target="../media/image69.emf"/><Relationship Id="rId5" Type="http://schemas.openxmlformats.org/officeDocument/2006/relationships/image" Target="../media/image68.emf"/><Relationship Id="rId4" Type="http://schemas.openxmlformats.org/officeDocument/2006/relationships/image" Target="../media/image67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65.emf"/><Relationship Id="rId1" Type="http://schemas.openxmlformats.org/officeDocument/2006/relationships/image" Target="../media/image6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4" Type="http://schemas.openxmlformats.org/officeDocument/2006/relationships/image" Target="../media/image77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emf"/><Relationship Id="rId2" Type="http://schemas.openxmlformats.org/officeDocument/2006/relationships/image" Target="../media/image90.emf"/><Relationship Id="rId1" Type="http://schemas.openxmlformats.org/officeDocument/2006/relationships/image" Target="../media/image89.emf"/><Relationship Id="rId5" Type="http://schemas.openxmlformats.org/officeDocument/2006/relationships/image" Target="../media/image93.emf"/><Relationship Id="rId4" Type="http://schemas.openxmlformats.org/officeDocument/2006/relationships/image" Target="../media/image92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image" Target="../media/image95.emf"/><Relationship Id="rId1" Type="http://schemas.openxmlformats.org/officeDocument/2006/relationships/image" Target="../media/image94.emf"/><Relationship Id="rId5" Type="http://schemas.openxmlformats.org/officeDocument/2006/relationships/image" Target="../media/image98.emf"/><Relationship Id="rId4" Type="http://schemas.openxmlformats.org/officeDocument/2006/relationships/image" Target="../media/image97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emf"/><Relationship Id="rId2" Type="http://schemas.openxmlformats.org/officeDocument/2006/relationships/image" Target="../media/image100.emf"/><Relationship Id="rId1" Type="http://schemas.openxmlformats.org/officeDocument/2006/relationships/image" Target="../media/image99.emf"/><Relationship Id="rId6" Type="http://schemas.openxmlformats.org/officeDocument/2006/relationships/image" Target="../media/image104.emf"/><Relationship Id="rId5" Type="http://schemas.openxmlformats.org/officeDocument/2006/relationships/image" Target="../media/image103.emf"/><Relationship Id="rId4" Type="http://schemas.openxmlformats.org/officeDocument/2006/relationships/image" Target="../media/image102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emf"/><Relationship Id="rId1" Type="http://schemas.openxmlformats.org/officeDocument/2006/relationships/image" Target="../media/image105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2" Type="http://schemas.openxmlformats.org/officeDocument/2006/relationships/image" Target="../media/image108.emf"/><Relationship Id="rId1" Type="http://schemas.openxmlformats.org/officeDocument/2006/relationships/image" Target="../media/image107.emf"/><Relationship Id="rId4" Type="http://schemas.openxmlformats.org/officeDocument/2006/relationships/image" Target="../media/image110.e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emf"/><Relationship Id="rId13" Type="http://schemas.openxmlformats.org/officeDocument/2006/relationships/image" Target="../media/image123.wmf"/><Relationship Id="rId3" Type="http://schemas.openxmlformats.org/officeDocument/2006/relationships/image" Target="../media/image113.emf"/><Relationship Id="rId7" Type="http://schemas.openxmlformats.org/officeDocument/2006/relationships/image" Target="../media/image117.emf"/><Relationship Id="rId12" Type="http://schemas.openxmlformats.org/officeDocument/2006/relationships/image" Target="../media/image122.emf"/><Relationship Id="rId17" Type="http://schemas.openxmlformats.org/officeDocument/2006/relationships/image" Target="../media/image127.emf"/><Relationship Id="rId2" Type="http://schemas.openxmlformats.org/officeDocument/2006/relationships/image" Target="../media/image112.emf"/><Relationship Id="rId16" Type="http://schemas.openxmlformats.org/officeDocument/2006/relationships/image" Target="../media/image126.emf"/><Relationship Id="rId1" Type="http://schemas.openxmlformats.org/officeDocument/2006/relationships/image" Target="../media/image111.emf"/><Relationship Id="rId6" Type="http://schemas.openxmlformats.org/officeDocument/2006/relationships/image" Target="../media/image116.emf"/><Relationship Id="rId11" Type="http://schemas.openxmlformats.org/officeDocument/2006/relationships/image" Target="../media/image121.emf"/><Relationship Id="rId5" Type="http://schemas.openxmlformats.org/officeDocument/2006/relationships/image" Target="../media/image115.emf"/><Relationship Id="rId15" Type="http://schemas.openxmlformats.org/officeDocument/2006/relationships/image" Target="../media/image125.emf"/><Relationship Id="rId10" Type="http://schemas.openxmlformats.org/officeDocument/2006/relationships/image" Target="../media/image120.emf"/><Relationship Id="rId4" Type="http://schemas.openxmlformats.org/officeDocument/2006/relationships/image" Target="../media/image114.emf"/><Relationship Id="rId9" Type="http://schemas.openxmlformats.org/officeDocument/2006/relationships/image" Target="../media/image119.emf"/><Relationship Id="rId14" Type="http://schemas.openxmlformats.org/officeDocument/2006/relationships/image" Target="../media/image124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emf"/><Relationship Id="rId3" Type="http://schemas.openxmlformats.org/officeDocument/2006/relationships/image" Target="../media/image130.emf"/><Relationship Id="rId7" Type="http://schemas.openxmlformats.org/officeDocument/2006/relationships/image" Target="../media/image134.emf"/><Relationship Id="rId2" Type="http://schemas.openxmlformats.org/officeDocument/2006/relationships/image" Target="../media/image129.emf"/><Relationship Id="rId1" Type="http://schemas.openxmlformats.org/officeDocument/2006/relationships/image" Target="../media/image128.emf"/><Relationship Id="rId6" Type="http://schemas.openxmlformats.org/officeDocument/2006/relationships/image" Target="../media/image133.wmf"/><Relationship Id="rId5" Type="http://schemas.openxmlformats.org/officeDocument/2006/relationships/image" Target="../media/image132.emf"/><Relationship Id="rId4" Type="http://schemas.openxmlformats.org/officeDocument/2006/relationships/image" Target="../media/image131.emf"/><Relationship Id="rId9" Type="http://schemas.openxmlformats.org/officeDocument/2006/relationships/image" Target="../media/image109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6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wmf"/><Relationship Id="rId1" Type="http://schemas.openxmlformats.org/officeDocument/2006/relationships/image" Target="../media/image137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8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wmf"/><Relationship Id="rId1" Type="http://schemas.openxmlformats.org/officeDocument/2006/relationships/image" Target="../media/image139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emf"/><Relationship Id="rId2" Type="http://schemas.openxmlformats.org/officeDocument/2006/relationships/image" Target="../media/image142.emf"/><Relationship Id="rId1" Type="http://schemas.openxmlformats.org/officeDocument/2006/relationships/image" Target="../media/image141.emf"/><Relationship Id="rId5" Type="http://schemas.openxmlformats.org/officeDocument/2006/relationships/image" Target="../media/image145.wmf"/><Relationship Id="rId4" Type="http://schemas.openxmlformats.org/officeDocument/2006/relationships/image" Target="../media/image144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2" Type="http://schemas.openxmlformats.org/officeDocument/2006/relationships/image" Target="../media/image147.wmf"/><Relationship Id="rId1" Type="http://schemas.openxmlformats.org/officeDocument/2006/relationships/image" Target="../media/image146.e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emf"/><Relationship Id="rId2" Type="http://schemas.openxmlformats.org/officeDocument/2006/relationships/image" Target="../media/image150.emf"/><Relationship Id="rId1" Type="http://schemas.openxmlformats.org/officeDocument/2006/relationships/image" Target="../media/image149.wmf"/><Relationship Id="rId6" Type="http://schemas.openxmlformats.org/officeDocument/2006/relationships/image" Target="../media/image154.emf"/><Relationship Id="rId5" Type="http://schemas.openxmlformats.org/officeDocument/2006/relationships/image" Target="../media/image153.emf"/><Relationship Id="rId4" Type="http://schemas.openxmlformats.org/officeDocument/2006/relationships/image" Target="../media/image152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emf"/><Relationship Id="rId2" Type="http://schemas.openxmlformats.org/officeDocument/2006/relationships/image" Target="../media/image156.emf"/><Relationship Id="rId1" Type="http://schemas.openxmlformats.org/officeDocument/2006/relationships/image" Target="../media/image155.wmf"/><Relationship Id="rId6" Type="http://schemas.openxmlformats.org/officeDocument/2006/relationships/image" Target="../media/image160.emf"/><Relationship Id="rId5" Type="http://schemas.openxmlformats.org/officeDocument/2006/relationships/image" Target="../media/image159.emf"/><Relationship Id="rId4" Type="http://schemas.openxmlformats.org/officeDocument/2006/relationships/image" Target="../media/image158.e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emf"/><Relationship Id="rId2" Type="http://schemas.openxmlformats.org/officeDocument/2006/relationships/image" Target="../media/image162.emf"/><Relationship Id="rId1" Type="http://schemas.openxmlformats.org/officeDocument/2006/relationships/image" Target="../media/image161.emf"/><Relationship Id="rId4" Type="http://schemas.openxmlformats.org/officeDocument/2006/relationships/image" Target="../media/image164.e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emf"/><Relationship Id="rId3" Type="http://schemas.openxmlformats.org/officeDocument/2006/relationships/image" Target="../media/image164.emf"/><Relationship Id="rId7" Type="http://schemas.openxmlformats.org/officeDocument/2006/relationships/image" Target="../media/image170.e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Relationship Id="rId6" Type="http://schemas.openxmlformats.org/officeDocument/2006/relationships/image" Target="../media/image169.emf"/><Relationship Id="rId5" Type="http://schemas.openxmlformats.org/officeDocument/2006/relationships/image" Target="../media/image168.emf"/><Relationship Id="rId10" Type="http://schemas.openxmlformats.org/officeDocument/2006/relationships/image" Target="../media/image173.emf"/><Relationship Id="rId4" Type="http://schemas.openxmlformats.org/officeDocument/2006/relationships/image" Target="../media/image167.wmf"/><Relationship Id="rId9" Type="http://schemas.openxmlformats.org/officeDocument/2006/relationships/image" Target="../media/image172.e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emf"/><Relationship Id="rId3" Type="http://schemas.openxmlformats.org/officeDocument/2006/relationships/image" Target="../media/image176.emf"/><Relationship Id="rId7" Type="http://schemas.openxmlformats.org/officeDocument/2006/relationships/image" Target="../media/image180.emf"/><Relationship Id="rId2" Type="http://schemas.openxmlformats.org/officeDocument/2006/relationships/image" Target="../media/image175.emf"/><Relationship Id="rId1" Type="http://schemas.openxmlformats.org/officeDocument/2006/relationships/image" Target="../media/image174.emf"/><Relationship Id="rId6" Type="http://schemas.openxmlformats.org/officeDocument/2006/relationships/image" Target="../media/image179.emf"/><Relationship Id="rId5" Type="http://schemas.openxmlformats.org/officeDocument/2006/relationships/image" Target="../media/image178.emf"/><Relationship Id="rId4" Type="http://schemas.openxmlformats.org/officeDocument/2006/relationships/image" Target="../media/image177.e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emf"/><Relationship Id="rId2" Type="http://schemas.openxmlformats.org/officeDocument/2006/relationships/image" Target="../media/image183.emf"/><Relationship Id="rId1" Type="http://schemas.openxmlformats.org/officeDocument/2006/relationships/image" Target="../media/image182.emf"/><Relationship Id="rId5" Type="http://schemas.openxmlformats.org/officeDocument/2006/relationships/image" Target="../media/image186.emf"/><Relationship Id="rId4" Type="http://schemas.openxmlformats.org/officeDocument/2006/relationships/image" Target="../media/image185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emf"/><Relationship Id="rId2" Type="http://schemas.openxmlformats.org/officeDocument/2006/relationships/image" Target="../media/image187.emf"/><Relationship Id="rId1" Type="http://schemas.openxmlformats.org/officeDocument/2006/relationships/image" Target="../media/image155.wmf"/><Relationship Id="rId5" Type="http://schemas.openxmlformats.org/officeDocument/2006/relationships/image" Target="../media/image190.emf"/><Relationship Id="rId4" Type="http://schemas.openxmlformats.org/officeDocument/2006/relationships/image" Target="../media/image189.e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emf"/><Relationship Id="rId2" Type="http://schemas.openxmlformats.org/officeDocument/2006/relationships/image" Target="../media/image192.emf"/><Relationship Id="rId1" Type="http://schemas.openxmlformats.org/officeDocument/2006/relationships/image" Target="../media/image191.emf"/><Relationship Id="rId5" Type="http://schemas.openxmlformats.org/officeDocument/2006/relationships/image" Target="../media/image195.emf"/><Relationship Id="rId4" Type="http://schemas.openxmlformats.org/officeDocument/2006/relationships/image" Target="../media/image194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wmf"/><Relationship Id="rId2" Type="http://schemas.openxmlformats.org/officeDocument/2006/relationships/image" Target="../media/image197.wmf"/><Relationship Id="rId1" Type="http://schemas.openxmlformats.org/officeDocument/2006/relationships/image" Target="../media/image196.wmf"/><Relationship Id="rId4" Type="http://schemas.openxmlformats.org/officeDocument/2006/relationships/image" Target="../media/image199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emf"/><Relationship Id="rId2" Type="http://schemas.openxmlformats.org/officeDocument/2006/relationships/image" Target="../media/image201.emf"/><Relationship Id="rId1" Type="http://schemas.openxmlformats.org/officeDocument/2006/relationships/image" Target="../media/image200.emf"/><Relationship Id="rId4" Type="http://schemas.openxmlformats.org/officeDocument/2006/relationships/image" Target="../media/image203.e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emf"/><Relationship Id="rId3" Type="http://schemas.openxmlformats.org/officeDocument/2006/relationships/image" Target="../media/image206.emf"/><Relationship Id="rId7" Type="http://schemas.openxmlformats.org/officeDocument/2006/relationships/image" Target="../media/image210.emf"/><Relationship Id="rId2" Type="http://schemas.openxmlformats.org/officeDocument/2006/relationships/image" Target="../media/image205.emf"/><Relationship Id="rId1" Type="http://schemas.openxmlformats.org/officeDocument/2006/relationships/image" Target="../media/image204.emf"/><Relationship Id="rId6" Type="http://schemas.openxmlformats.org/officeDocument/2006/relationships/image" Target="../media/image209.emf"/><Relationship Id="rId5" Type="http://schemas.openxmlformats.org/officeDocument/2006/relationships/image" Target="../media/image208.emf"/><Relationship Id="rId4" Type="http://schemas.openxmlformats.org/officeDocument/2006/relationships/image" Target="../media/image207.emf"/><Relationship Id="rId9" Type="http://schemas.openxmlformats.org/officeDocument/2006/relationships/image" Target="../media/image21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911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911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4B10739-EC3A-4833-AC6F-926BF99DA48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88602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4-13T04:03:26.4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15382 16679 410 0,'0'0'18'0,"0"0"4"0,0 0-22 0,0 0 0 0,0 0 0 0,0 0 0 0,0 0 39 0,0 0 3 16,0 0 1-16,0 0 0 0,0 0 19 0,0 0 4 15,0 0 1-15,0 0 0 0,0 0-32 0,0 0-7 16,0 0 0-16,0 0-1 0,-3 3-3 0,3-3 0 16,0 0 0-16,0 0 0 0,0 0 5 0,0 0 1 15,0 0 0-15,0 0 0 0,0 0 6 0,0 0 2 16,0 0 0-16,0 0 0 0,0 0-2 0,0 0 0 16,0 0 0-16,0 0 0 0,-3 5-16 0,3-5-4 15,0 0-1-15,0 0 0 0,-3 3 1 0,3-3 1 16,0 0 0-16,0 0 0 0,0 0 11 0,0 0 3 15,0 0 0-15,0 0 0 0,0 0-11 0,0 0-3 16,0 0 0-16,0 0 0 0,0 0-2 0,0 0-1 16,0 0 0-16,0 0 0 0,0 0 9 0,0 0 1 0,0 0 1 15,0 0 0-15,0 0-25 0,0 0 0 0,0 0 0 16,0 0 0-16,0 0 0 0,0 0 0 0,0 0-8 0,0 0 8 16,0 0 0-16,0 0 13 0,0 0-1 0,0 0-1 15,0 0-11-15,0 0 0 0,0 0 0 0,0 0 0 16,0 0 0-16,0 0 0 0,0 0 10 0,0 0-10 15,0 0 12-15,0 0-12 0,0 0 12 0,0 0-12 16,6 5 11-16,-6-5-11 0,0 0 10 0,0 0-10 16,6 3 8-16,-6-3-8 0,0 0 0 0,0 0 9 15,0 0-9-15,0 0 10 0,0 0-10 0,0 0 10 16,0 0-2-16,0 0-8 0,9 3 12 0,-9-3-4 16,0 0-8-16,0 0 10 0,0 0-10 0,0 0 10 15,9 5-10-15,-9-5 8 0,0 0-8 0,6 0 8 16,2 5-8-16,-8-5 0 0,0 0 9 0,0 0-9 0,6 0 16 0,-6 0-2 15,0 0 0-15,0 0 0 0,9 0-14 0,-9 0 0 16,0 0 0-16,0 0 0 0,0 0 13 0,6 0-3 16,-6 0-1-16,0 0 0 0,0 0-9 0,0 0 0 15,0 0 0-15,12 0 0 0,-12 0 0 0,0 0 0 16,0 0 0-16,6 0 0 0,-6 0 0 0,0 0 0 16,0 0 8-16,0 0-8 0,12 0 0 0,-12 0 0 15,0 0 0-15,0 0 8 0,0 0-8 0,6 0 10 16,-6 0-10-16,0 0 10 0,0 0-10 0,0 0 12 15,0 0-12-15,0 0 12 0,9-3-12 0,-9 3 0 16,9-2 9-16,-9 2-9 0,0 0 0 0,0 0 8 16,0 0-8-16,0 0 0 0,0 0 0 0,0 0 8 0,0 0-8 15,6 0 0-15,-6 0 0 0,0 0 0 0,0 0 0 0,0 0 8 16,0 0-8-16,0 0 0 0,9 0 0 0,-9 0 8 16,0 0-8-16,0 0 0 0,0 0 0 0,6 0 0 15,-6 0 0-15,0 0 0 0,0 0 0 0,0 0 0 16,0 0 0-16,0 0 0 0,6-5 0 0,-6 5 0 15,0 0 0-15,0 0 8 0,0 0-8 0,0 0 0 16,0 0 0-16,0 0 0 0,0 0 0 0,0 0 0 16,0 0 0-16,6 0 0 0,-6 0 0 0,0 0 8 15,0 0-8-15,0 0 0 0,0 0-8 0,6 0 8 16,-6 0 0-16,0 0 0 0,0 0 0 0,0 0 8 16,0 0-8-16,6 2 0 0,-6-2 0 0,0 0 0 15,0 0 0-15,0 0 0 0,0 0 0 0,0 0 8 0,0 0-8 16,8 0 0-16,-8 0 0 0,0 0 0 0,0 0 0 0,0 0 0 15,0 0 0-15,0 0 0 0,0 0 0 16,0 0 0-16,0 0 0 0,6 3 0 0,-6-3 0 0,0 0 0 16,0 0 0-16,0 0 0 0,0 0 0 0,0 0 0 15,0 0 0-15,0 0 0 0,6 0 0 0,-6 0 0 16,0 0 0-16,0 0 0 0,0 0 0 0,0 0-12 16,0 0 4-16,0 0 0 0,9 0 8 0,-9 0 11 15,0 0-3-15,0 0 0 0,0 0-8 0,0 0 0 16,0 0 0-16,0 0 0 0,0 0 0 0,0 0 0 15,0 0 0-15,0 0 8 0,0 0-8 0,0 0 0 0,0 0 0 16,0 0 0-16,0 0 0 0,6-3 0 0,-6 3 0 16,0 0 0-16,0 0 0 0,0 0 0 0,0 0 0 0,0 0 0 15,0 0 0-15,0 0 0 0,0 0 0 0,0 0 0 16,0 0 0-16,0 0 0 0,0 0 0 0,0 0 0 16,0 0 0-16,0 0 0 0,0 0 0 0,0 0 0 15,6 0 0-15,-6 0 0 0,0 0 0 0,0 0 0 16,0 0 0-16,0 0 0 0,0 0 0 0,0 0 0 15,0 0 0-15,0 0 0 0,0 0 9 0,0 0-9 16,0 0 19-16,0 0-1 0,0 0 0 0,0 0 0 16,0 0-18-16,0 0-11 0,0 0 2 0,0 0 0 15,0 0 9-15,0 0 14 0,0 0-3 0,0 0-1 16,0 0-10-16,0 0-11 0,0 0 3 0,0 0 0 16,0 0 8-16,0 0 0 0,0 0 0 0,0 0 0 15,0 0 0-15,0 0 11 0,0 0-11 0,0 0 12 0,0 0-12 16,0 0 0-16,0 0 0 0,0 0 0 0,0 0 0 15,0 0 0-15,0 0 0 0,0 0 0 0,0 0-20 0,0 0-4 16,0 0 0-16,9-2-948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FB320DC-A144-4618-8B47-1CA28830A8C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70752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8805863" cy="6858000"/>
            <a:chOff x="0" y="0"/>
            <a:chExt cx="5547" cy="4320"/>
          </a:xfrm>
        </p:grpSpPr>
        <p:grpSp>
          <p:nvGrpSpPr>
            <p:cNvPr id="5" name="Group 3"/>
            <p:cNvGrpSpPr>
              <a:grpSpLocks/>
            </p:cNvGrpSpPr>
            <p:nvPr userDrawn="1"/>
          </p:nvGrpSpPr>
          <p:grpSpPr bwMode="auto">
            <a:xfrm rot="-215207">
              <a:off x="3690" y="234"/>
              <a:ext cx="1857" cy="3625"/>
              <a:chOff x="3010" y="778"/>
              <a:chExt cx="1857" cy="3625"/>
            </a:xfrm>
          </p:grpSpPr>
          <p:sp>
            <p:nvSpPr>
              <p:cNvPr id="39" name="Freeform 4"/>
              <p:cNvSpPr>
                <a:spLocks/>
              </p:cNvSpPr>
              <p:nvPr userDrawn="1"/>
            </p:nvSpPr>
            <p:spPr bwMode="ltGray">
              <a:xfrm rot="12185230" flipV="1">
                <a:off x="3534" y="778"/>
                <a:ext cx="1333" cy="1485"/>
              </a:xfrm>
              <a:custGeom>
                <a:avLst/>
                <a:gdLst>
                  <a:gd name="T0" fmla="*/ 36 w 596"/>
                  <a:gd name="T1" fmla="*/ 825 h 666"/>
                  <a:gd name="T2" fmla="*/ 13 w 596"/>
                  <a:gd name="T3" fmla="*/ 760 h 666"/>
                  <a:gd name="T4" fmla="*/ 0 w 596"/>
                  <a:gd name="T5" fmla="*/ 644 h 666"/>
                  <a:gd name="T6" fmla="*/ 9 w 596"/>
                  <a:gd name="T7" fmla="*/ 495 h 666"/>
                  <a:gd name="T8" fmla="*/ 56 w 596"/>
                  <a:gd name="T9" fmla="*/ 337 h 666"/>
                  <a:gd name="T10" fmla="*/ 154 w 596"/>
                  <a:gd name="T11" fmla="*/ 187 h 666"/>
                  <a:gd name="T12" fmla="*/ 318 w 596"/>
                  <a:gd name="T13" fmla="*/ 69 h 666"/>
                  <a:gd name="T14" fmla="*/ 552 w 596"/>
                  <a:gd name="T15" fmla="*/ 4 h 666"/>
                  <a:gd name="T16" fmla="*/ 850 w 596"/>
                  <a:gd name="T17" fmla="*/ 20 h 666"/>
                  <a:gd name="T18" fmla="*/ 1083 w 596"/>
                  <a:gd name="T19" fmla="*/ 152 h 666"/>
                  <a:gd name="T20" fmla="*/ 1239 w 596"/>
                  <a:gd name="T21" fmla="*/ 368 h 666"/>
                  <a:gd name="T22" fmla="*/ 1322 w 596"/>
                  <a:gd name="T23" fmla="*/ 633 h 666"/>
                  <a:gd name="T24" fmla="*/ 1331 w 596"/>
                  <a:gd name="T25" fmla="*/ 912 h 666"/>
                  <a:gd name="T26" fmla="*/ 1266 w 596"/>
                  <a:gd name="T27" fmla="*/ 1171 h 666"/>
                  <a:gd name="T28" fmla="*/ 1134 w 596"/>
                  <a:gd name="T29" fmla="*/ 1371 h 666"/>
                  <a:gd name="T30" fmla="*/ 933 w 596"/>
                  <a:gd name="T31" fmla="*/ 1478 h 666"/>
                  <a:gd name="T32" fmla="*/ 870 w 596"/>
                  <a:gd name="T33" fmla="*/ 1469 h 666"/>
                  <a:gd name="T34" fmla="*/ 986 w 596"/>
                  <a:gd name="T35" fmla="*/ 1376 h 666"/>
                  <a:gd name="T36" fmla="*/ 1078 w 596"/>
                  <a:gd name="T37" fmla="*/ 1213 h 666"/>
                  <a:gd name="T38" fmla="*/ 1138 w 596"/>
                  <a:gd name="T39" fmla="*/ 1012 h 666"/>
                  <a:gd name="T40" fmla="*/ 1163 w 596"/>
                  <a:gd name="T41" fmla="*/ 792 h 666"/>
                  <a:gd name="T42" fmla="*/ 1150 w 596"/>
                  <a:gd name="T43" fmla="*/ 575 h 666"/>
                  <a:gd name="T44" fmla="*/ 1085 w 596"/>
                  <a:gd name="T45" fmla="*/ 388 h 666"/>
                  <a:gd name="T46" fmla="*/ 968 w 596"/>
                  <a:gd name="T47" fmla="*/ 250 h 666"/>
                  <a:gd name="T48" fmla="*/ 763 w 596"/>
                  <a:gd name="T49" fmla="*/ 167 h 666"/>
                  <a:gd name="T50" fmla="*/ 550 w 596"/>
                  <a:gd name="T51" fmla="*/ 136 h 666"/>
                  <a:gd name="T52" fmla="*/ 389 w 596"/>
                  <a:gd name="T53" fmla="*/ 158 h 666"/>
                  <a:gd name="T54" fmla="*/ 271 w 596"/>
                  <a:gd name="T55" fmla="*/ 225 h 666"/>
                  <a:gd name="T56" fmla="*/ 188 w 596"/>
                  <a:gd name="T57" fmla="*/ 332 h 666"/>
                  <a:gd name="T58" fmla="*/ 127 w 596"/>
                  <a:gd name="T59" fmla="*/ 459 h 666"/>
                  <a:gd name="T60" fmla="*/ 89 w 596"/>
                  <a:gd name="T61" fmla="*/ 606 h 666"/>
                  <a:gd name="T62" fmla="*/ 63 w 596"/>
                  <a:gd name="T63" fmla="*/ 756 h 66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596" h="666">
                    <a:moveTo>
                      <a:pt x="22" y="372"/>
                    </a:moveTo>
                    <a:lnTo>
                      <a:pt x="16" y="370"/>
                    </a:lnTo>
                    <a:lnTo>
                      <a:pt x="10" y="360"/>
                    </a:lnTo>
                    <a:lnTo>
                      <a:pt x="6" y="341"/>
                    </a:lnTo>
                    <a:lnTo>
                      <a:pt x="1" y="318"/>
                    </a:lnTo>
                    <a:lnTo>
                      <a:pt x="0" y="289"/>
                    </a:lnTo>
                    <a:lnTo>
                      <a:pt x="0" y="257"/>
                    </a:lnTo>
                    <a:lnTo>
                      <a:pt x="4" y="222"/>
                    </a:lnTo>
                    <a:lnTo>
                      <a:pt x="13" y="187"/>
                    </a:lnTo>
                    <a:lnTo>
                      <a:pt x="25" y="151"/>
                    </a:lnTo>
                    <a:lnTo>
                      <a:pt x="45" y="116"/>
                    </a:lnTo>
                    <a:lnTo>
                      <a:pt x="69" y="84"/>
                    </a:lnTo>
                    <a:lnTo>
                      <a:pt x="101" y="55"/>
                    </a:lnTo>
                    <a:lnTo>
                      <a:pt x="142" y="31"/>
                    </a:lnTo>
                    <a:lnTo>
                      <a:pt x="190" y="13"/>
                    </a:lnTo>
                    <a:lnTo>
                      <a:pt x="247" y="2"/>
                    </a:lnTo>
                    <a:lnTo>
                      <a:pt x="314" y="0"/>
                    </a:lnTo>
                    <a:lnTo>
                      <a:pt x="380" y="9"/>
                    </a:lnTo>
                    <a:lnTo>
                      <a:pt x="436" y="33"/>
                    </a:lnTo>
                    <a:lnTo>
                      <a:pt x="484" y="68"/>
                    </a:lnTo>
                    <a:lnTo>
                      <a:pt x="524" y="113"/>
                    </a:lnTo>
                    <a:lnTo>
                      <a:pt x="554" y="165"/>
                    </a:lnTo>
                    <a:lnTo>
                      <a:pt x="577" y="222"/>
                    </a:lnTo>
                    <a:lnTo>
                      <a:pt x="591" y="284"/>
                    </a:lnTo>
                    <a:lnTo>
                      <a:pt x="596" y="347"/>
                    </a:lnTo>
                    <a:lnTo>
                      <a:pt x="595" y="409"/>
                    </a:lnTo>
                    <a:lnTo>
                      <a:pt x="585" y="469"/>
                    </a:lnTo>
                    <a:lnTo>
                      <a:pt x="566" y="525"/>
                    </a:lnTo>
                    <a:lnTo>
                      <a:pt x="540" y="574"/>
                    </a:lnTo>
                    <a:lnTo>
                      <a:pt x="507" y="615"/>
                    </a:lnTo>
                    <a:lnTo>
                      <a:pt x="465" y="645"/>
                    </a:lnTo>
                    <a:lnTo>
                      <a:pt x="417" y="663"/>
                    </a:lnTo>
                    <a:lnTo>
                      <a:pt x="360" y="666"/>
                    </a:lnTo>
                    <a:lnTo>
                      <a:pt x="389" y="659"/>
                    </a:lnTo>
                    <a:lnTo>
                      <a:pt x="417" y="642"/>
                    </a:lnTo>
                    <a:lnTo>
                      <a:pt x="441" y="617"/>
                    </a:lnTo>
                    <a:lnTo>
                      <a:pt x="463" y="583"/>
                    </a:lnTo>
                    <a:lnTo>
                      <a:pt x="482" y="544"/>
                    </a:lnTo>
                    <a:lnTo>
                      <a:pt x="497" y="501"/>
                    </a:lnTo>
                    <a:lnTo>
                      <a:pt x="509" y="454"/>
                    </a:lnTo>
                    <a:lnTo>
                      <a:pt x="517" y="404"/>
                    </a:lnTo>
                    <a:lnTo>
                      <a:pt x="520" y="355"/>
                    </a:lnTo>
                    <a:lnTo>
                      <a:pt x="519" y="305"/>
                    </a:lnTo>
                    <a:lnTo>
                      <a:pt x="514" y="258"/>
                    </a:lnTo>
                    <a:lnTo>
                      <a:pt x="502" y="213"/>
                    </a:lnTo>
                    <a:lnTo>
                      <a:pt x="485" y="174"/>
                    </a:lnTo>
                    <a:lnTo>
                      <a:pt x="462" y="139"/>
                    </a:lnTo>
                    <a:lnTo>
                      <a:pt x="433" y="112"/>
                    </a:lnTo>
                    <a:lnTo>
                      <a:pt x="397" y="93"/>
                    </a:lnTo>
                    <a:lnTo>
                      <a:pt x="341" y="75"/>
                    </a:lnTo>
                    <a:lnTo>
                      <a:pt x="290" y="65"/>
                    </a:lnTo>
                    <a:lnTo>
                      <a:pt x="246" y="61"/>
                    </a:lnTo>
                    <a:lnTo>
                      <a:pt x="207" y="63"/>
                    </a:lnTo>
                    <a:lnTo>
                      <a:pt x="174" y="71"/>
                    </a:lnTo>
                    <a:lnTo>
                      <a:pt x="146" y="84"/>
                    </a:lnTo>
                    <a:lnTo>
                      <a:pt x="121" y="101"/>
                    </a:lnTo>
                    <a:lnTo>
                      <a:pt x="101" y="123"/>
                    </a:lnTo>
                    <a:lnTo>
                      <a:pt x="84" y="149"/>
                    </a:lnTo>
                    <a:lnTo>
                      <a:pt x="69" y="176"/>
                    </a:lnTo>
                    <a:lnTo>
                      <a:pt x="57" y="206"/>
                    </a:lnTo>
                    <a:lnTo>
                      <a:pt x="48" y="239"/>
                    </a:lnTo>
                    <a:lnTo>
                      <a:pt x="40" y="272"/>
                    </a:lnTo>
                    <a:lnTo>
                      <a:pt x="33" y="305"/>
                    </a:lnTo>
                    <a:lnTo>
                      <a:pt x="28" y="339"/>
                    </a:lnTo>
                    <a:lnTo>
                      <a:pt x="22" y="37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5"/>
              <p:cNvSpPr>
                <a:spLocks/>
              </p:cNvSpPr>
              <p:nvPr userDrawn="1"/>
            </p:nvSpPr>
            <p:spPr bwMode="ltGray">
              <a:xfrm rot="12185230" flipV="1">
                <a:off x="4029" y="1802"/>
                <a:ext cx="571" cy="531"/>
              </a:xfrm>
              <a:custGeom>
                <a:avLst/>
                <a:gdLst>
                  <a:gd name="T0" fmla="*/ 0 w 257"/>
                  <a:gd name="T1" fmla="*/ 0 h 237"/>
                  <a:gd name="T2" fmla="*/ 0 w 257"/>
                  <a:gd name="T3" fmla="*/ 56 h 237"/>
                  <a:gd name="T4" fmla="*/ 7 w 257"/>
                  <a:gd name="T5" fmla="*/ 112 h 237"/>
                  <a:gd name="T6" fmla="*/ 13 w 257"/>
                  <a:gd name="T7" fmla="*/ 168 h 237"/>
                  <a:gd name="T8" fmla="*/ 24 w 257"/>
                  <a:gd name="T9" fmla="*/ 220 h 237"/>
                  <a:gd name="T10" fmla="*/ 40 w 257"/>
                  <a:gd name="T11" fmla="*/ 267 h 237"/>
                  <a:gd name="T12" fmla="*/ 60 w 257"/>
                  <a:gd name="T13" fmla="*/ 316 h 237"/>
                  <a:gd name="T14" fmla="*/ 84 w 257"/>
                  <a:gd name="T15" fmla="*/ 361 h 237"/>
                  <a:gd name="T16" fmla="*/ 113 w 257"/>
                  <a:gd name="T17" fmla="*/ 399 h 237"/>
                  <a:gd name="T18" fmla="*/ 149 w 257"/>
                  <a:gd name="T19" fmla="*/ 435 h 237"/>
                  <a:gd name="T20" fmla="*/ 191 w 257"/>
                  <a:gd name="T21" fmla="*/ 466 h 237"/>
                  <a:gd name="T22" fmla="*/ 236 w 257"/>
                  <a:gd name="T23" fmla="*/ 491 h 237"/>
                  <a:gd name="T24" fmla="*/ 291 w 257"/>
                  <a:gd name="T25" fmla="*/ 511 h 237"/>
                  <a:gd name="T26" fmla="*/ 351 w 257"/>
                  <a:gd name="T27" fmla="*/ 524 h 237"/>
                  <a:gd name="T28" fmla="*/ 418 w 257"/>
                  <a:gd name="T29" fmla="*/ 531 h 237"/>
                  <a:gd name="T30" fmla="*/ 489 w 257"/>
                  <a:gd name="T31" fmla="*/ 529 h 237"/>
                  <a:gd name="T32" fmla="*/ 571 w 257"/>
                  <a:gd name="T33" fmla="*/ 520 h 237"/>
                  <a:gd name="T34" fmla="*/ 498 w 257"/>
                  <a:gd name="T35" fmla="*/ 509 h 237"/>
                  <a:gd name="T36" fmla="*/ 433 w 257"/>
                  <a:gd name="T37" fmla="*/ 493 h 237"/>
                  <a:gd name="T38" fmla="*/ 378 w 257"/>
                  <a:gd name="T39" fmla="*/ 475 h 237"/>
                  <a:gd name="T40" fmla="*/ 329 w 257"/>
                  <a:gd name="T41" fmla="*/ 457 h 237"/>
                  <a:gd name="T42" fmla="*/ 284 w 257"/>
                  <a:gd name="T43" fmla="*/ 432 h 237"/>
                  <a:gd name="T44" fmla="*/ 249 w 257"/>
                  <a:gd name="T45" fmla="*/ 408 h 237"/>
                  <a:gd name="T46" fmla="*/ 216 w 257"/>
                  <a:gd name="T47" fmla="*/ 379 h 237"/>
                  <a:gd name="T48" fmla="*/ 187 w 257"/>
                  <a:gd name="T49" fmla="*/ 347 h 237"/>
                  <a:gd name="T50" fmla="*/ 160 w 257"/>
                  <a:gd name="T51" fmla="*/ 316 h 237"/>
                  <a:gd name="T52" fmla="*/ 136 w 257"/>
                  <a:gd name="T53" fmla="*/ 280 h 237"/>
                  <a:gd name="T54" fmla="*/ 116 w 257"/>
                  <a:gd name="T55" fmla="*/ 240 h 237"/>
                  <a:gd name="T56" fmla="*/ 96 w 257"/>
                  <a:gd name="T57" fmla="*/ 197 h 237"/>
                  <a:gd name="T58" fmla="*/ 73 w 257"/>
                  <a:gd name="T59" fmla="*/ 155 h 237"/>
                  <a:gd name="T60" fmla="*/ 51 w 257"/>
                  <a:gd name="T61" fmla="*/ 105 h 237"/>
                  <a:gd name="T62" fmla="*/ 27 w 257"/>
                  <a:gd name="T63" fmla="*/ 54 h 237"/>
                  <a:gd name="T64" fmla="*/ 0 w 257"/>
                  <a:gd name="T65" fmla="*/ 0 h 23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257" h="237">
                    <a:moveTo>
                      <a:pt x="0" y="0"/>
                    </a:moveTo>
                    <a:lnTo>
                      <a:pt x="0" y="25"/>
                    </a:lnTo>
                    <a:lnTo>
                      <a:pt x="3" y="50"/>
                    </a:lnTo>
                    <a:lnTo>
                      <a:pt x="6" y="75"/>
                    </a:lnTo>
                    <a:lnTo>
                      <a:pt x="11" y="98"/>
                    </a:lnTo>
                    <a:lnTo>
                      <a:pt x="18" y="119"/>
                    </a:lnTo>
                    <a:lnTo>
                      <a:pt x="27" y="141"/>
                    </a:lnTo>
                    <a:lnTo>
                      <a:pt x="38" y="161"/>
                    </a:lnTo>
                    <a:lnTo>
                      <a:pt x="51" y="178"/>
                    </a:lnTo>
                    <a:lnTo>
                      <a:pt x="67" y="194"/>
                    </a:lnTo>
                    <a:lnTo>
                      <a:pt x="86" y="208"/>
                    </a:lnTo>
                    <a:lnTo>
                      <a:pt x="106" y="219"/>
                    </a:lnTo>
                    <a:lnTo>
                      <a:pt x="131" y="228"/>
                    </a:lnTo>
                    <a:lnTo>
                      <a:pt x="158" y="234"/>
                    </a:lnTo>
                    <a:lnTo>
                      <a:pt x="188" y="237"/>
                    </a:lnTo>
                    <a:lnTo>
                      <a:pt x="220" y="236"/>
                    </a:lnTo>
                    <a:lnTo>
                      <a:pt x="257" y="232"/>
                    </a:lnTo>
                    <a:lnTo>
                      <a:pt x="224" y="227"/>
                    </a:lnTo>
                    <a:lnTo>
                      <a:pt x="195" y="220"/>
                    </a:lnTo>
                    <a:lnTo>
                      <a:pt x="170" y="212"/>
                    </a:lnTo>
                    <a:lnTo>
                      <a:pt x="148" y="204"/>
                    </a:lnTo>
                    <a:lnTo>
                      <a:pt x="128" y="193"/>
                    </a:lnTo>
                    <a:lnTo>
                      <a:pt x="112" y="182"/>
                    </a:lnTo>
                    <a:lnTo>
                      <a:pt x="97" y="169"/>
                    </a:lnTo>
                    <a:lnTo>
                      <a:pt x="84" y="155"/>
                    </a:lnTo>
                    <a:lnTo>
                      <a:pt x="72" y="141"/>
                    </a:lnTo>
                    <a:lnTo>
                      <a:pt x="61" y="125"/>
                    </a:lnTo>
                    <a:lnTo>
                      <a:pt x="52" y="107"/>
                    </a:lnTo>
                    <a:lnTo>
                      <a:pt x="43" y="88"/>
                    </a:lnTo>
                    <a:lnTo>
                      <a:pt x="33" y="69"/>
                    </a:lnTo>
                    <a:lnTo>
                      <a:pt x="23" y="47"/>
                    </a:lnTo>
                    <a:lnTo>
                      <a:pt x="12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Freeform 6"/>
              <p:cNvSpPr>
                <a:spLocks/>
              </p:cNvSpPr>
              <p:nvPr userDrawn="1"/>
            </p:nvSpPr>
            <p:spPr bwMode="ltGray">
              <a:xfrm rot="12185230" flipV="1">
                <a:off x="3639" y="2167"/>
                <a:ext cx="277" cy="249"/>
              </a:xfrm>
              <a:custGeom>
                <a:avLst/>
                <a:gdLst>
                  <a:gd name="T0" fmla="*/ 172 w 124"/>
                  <a:gd name="T1" fmla="*/ 0 h 110"/>
                  <a:gd name="T2" fmla="*/ 277 w 124"/>
                  <a:gd name="T3" fmla="*/ 244 h 110"/>
                  <a:gd name="T4" fmla="*/ 268 w 124"/>
                  <a:gd name="T5" fmla="*/ 242 h 110"/>
                  <a:gd name="T6" fmla="*/ 239 w 124"/>
                  <a:gd name="T7" fmla="*/ 238 h 110"/>
                  <a:gd name="T8" fmla="*/ 199 w 124"/>
                  <a:gd name="T9" fmla="*/ 229 h 110"/>
                  <a:gd name="T10" fmla="*/ 152 w 124"/>
                  <a:gd name="T11" fmla="*/ 224 h 110"/>
                  <a:gd name="T12" fmla="*/ 101 w 124"/>
                  <a:gd name="T13" fmla="*/ 220 h 110"/>
                  <a:gd name="T14" fmla="*/ 56 w 124"/>
                  <a:gd name="T15" fmla="*/ 222 h 110"/>
                  <a:gd name="T16" fmla="*/ 20 w 124"/>
                  <a:gd name="T17" fmla="*/ 231 h 110"/>
                  <a:gd name="T18" fmla="*/ 0 w 124"/>
                  <a:gd name="T19" fmla="*/ 249 h 110"/>
                  <a:gd name="T20" fmla="*/ 9 w 124"/>
                  <a:gd name="T21" fmla="*/ 222 h 110"/>
                  <a:gd name="T22" fmla="*/ 18 w 124"/>
                  <a:gd name="T23" fmla="*/ 201 h 110"/>
                  <a:gd name="T24" fmla="*/ 36 w 124"/>
                  <a:gd name="T25" fmla="*/ 186 h 110"/>
                  <a:gd name="T26" fmla="*/ 56 w 124"/>
                  <a:gd name="T27" fmla="*/ 172 h 110"/>
                  <a:gd name="T28" fmla="*/ 80 w 124"/>
                  <a:gd name="T29" fmla="*/ 163 h 110"/>
                  <a:gd name="T30" fmla="*/ 105 w 124"/>
                  <a:gd name="T31" fmla="*/ 161 h 110"/>
                  <a:gd name="T32" fmla="*/ 132 w 124"/>
                  <a:gd name="T33" fmla="*/ 161 h 110"/>
                  <a:gd name="T34" fmla="*/ 161 w 124"/>
                  <a:gd name="T35" fmla="*/ 168 h 110"/>
                  <a:gd name="T36" fmla="*/ 163 w 124"/>
                  <a:gd name="T37" fmla="*/ 161 h 110"/>
                  <a:gd name="T38" fmla="*/ 156 w 124"/>
                  <a:gd name="T39" fmla="*/ 127 h 110"/>
                  <a:gd name="T40" fmla="*/ 150 w 124"/>
                  <a:gd name="T41" fmla="*/ 86 h 110"/>
                  <a:gd name="T42" fmla="*/ 145 w 124"/>
                  <a:gd name="T43" fmla="*/ 68 h 110"/>
                  <a:gd name="T44" fmla="*/ 141 w 124"/>
                  <a:gd name="T45" fmla="*/ 68 h 110"/>
                  <a:gd name="T46" fmla="*/ 136 w 124"/>
                  <a:gd name="T47" fmla="*/ 66 h 110"/>
                  <a:gd name="T48" fmla="*/ 132 w 124"/>
                  <a:gd name="T49" fmla="*/ 59 h 110"/>
                  <a:gd name="T50" fmla="*/ 127 w 124"/>
                  <a:gd name="T51" fmla="*/ 52 h 110"/>
                  <a:gd name="T52" fmla="*/ 127 w 124"/>
                  <a:gd name="T53" fmla="*/ 43 h 110"/>
                  <a:gd name="T54" fmla="*/ 132 w 124"/>
                  <a:gd name="T55" fmla="*/ 32 h 110"/>
                  <a:gd name="T56" fmla="*/ 147 w 124"/>
                  <a:gd name="T57" fmla="*/ 18 h 110"/>
                  <a:gd name="T58" fmla="*/ 172 w 124"/>
                  <a:gd name="T59" fmla="*/ 0 h 11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124" h="110">
                    <a:moveTo>
                      <a:pt x="77" y="0"/>
                    </a:moveTo>
                    <a:lnTo>
                      <a:pt x="124" y="108"/>
                    </a:lnTo>
                    <a:lnTo>
                      <a:pt x="120" y="107"/>
                    </a:lnTo>
                    <a:lnTo>
                      <a:pt x="107" y="105"/>
                    </a:lnTo>
                    <a:lnTo>
                      <a:pt x="89" y="101"/>
                    </a:lnTo>
                    <a:lnTo>
                      <a:pt x="68" y="99"/>
                    </a:lnTo>
                    <a:lnTo>
                      <a:pt x="45" y="97"/>
                    </a:lnTo>
                    <a:lnTo>
                      <a:pt x="25" y="98"/>
                    </a:lnTo>
                    <a:lnTo>
                      <a:pt x="9" y="102"/>
                    </a:lnTo>
                    <a:lnTo>
                      <a:pt x="0" y="110"/>
                    </a:lnTo>
                    <a:lnTo>
                      <a:pt x="4" y="98"/>
                    </a:lnTo>
                    <a:lnTo>
                      <a:pt x="8" y="89"/>
                    </a:lnTo>
                    <a:lnTo>
                      <a:pt x="16" y="82"/>
                    </a:lnTo>
                    <a:lnTo>
                      <a:pt x="25" y="76"/>
                    </a:lnTo>
                    <a:lnTo>
                      <a:pt x="36" y="72"/>
                    </a:lnTo>
                    <a:lnTo>
                      <a:pt x="47" y="71"/>
                    </a:lnTo>
                    <a:lnTo>
                      <a:pt x="59" y="71"/>
                    </a:lnTo>
                    <a:lnTo>
                      <a:pt x="72" y="74"/>
                    </a:lnTo>
                    <a:lnTo>
                      <a:pt x="73" y="71"/>
                    </a:lnTo>
                    <a:lnTo>
                      <a:pt x="70" y="56"/>
                    </a:lnTo>
                    <a:lnTo>
                      <a:pt x="67" y="38"/>
                    </a:lnTo>
                    <a:lnTo>
                      <a:pt x="65" y="30"/>
                    </a:lnTo>
                    <a:lnTo>
                      <a:pt x="63" y="30"/>
                    </a:lnTo>
                    <a:lnTo>
                      <a:pt x="61" y="29"/>
                    </a:lnTo>
                    <a:lnTo>
                      <a:pt x="59" y="26"/>
                    </a:lnTo>
                    <a:lnTo>
                      <a:pt x="57" y="23"/>
                    </a:lnTo>
                    <a:lnTo>
                      <a:pt x="57" y="19"/>
                    </a:lnTo>
                    <a:lnTo>
                      <a:pt x="59" y="14"/>
                    </a:lnTo>
                    <a:lnTo>
                      <a:pt x="66" y="8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Freeform 7"/>
              <p:cNvSpPr>
                <a:spLocks/>
              </p:cNvSpPr>
              <p:nvPr userDrawn="1"/>
            </p:nvSpPr>
            <p:spPr bwMode="ltGray">
              <a:xfrm rot="12185230" flipV="1">
                <a:off x="3979" y="977"/>
                <a:ext cx="245" cy="347"/>
              </a:xfrm>
              <a:custGeom>
                <a:avLst/>
                <a:gdLst>
                  <a:gd name="T0" fmla="*/ 0 w 109"/>
                  <a:gd name="T1" fmla="*/ 0 h 156"/>
                  <a:gd name="T2" fmla="*/ 11 w 109"/>
                  <a:gd name="T3" fmla="*/ 2 h 156"/>
                  <a:gd name="T4" fmla="*/ 40 w 109"/>
                  <a:gd name="T5" fmla="*/ 11 h 156"/>
                  <a:gd name="T6" fmla="*/ 83 w 109"/>
                  <a:gd name="T7" fmla="*/ 27 h 156"/>
                  <a:gd name="T8" fmla="*/ 130 w 109"/>
                  <a:gd name="T9" fmla="*/ 53 h 156"/>
                  <a:gd name="T10" fmla="*/ 175 w 109"/>
                  <a:gd name="T11" fmla="*/ 98 h 156"/>
                  <a:gd name="T12" fmla="*/ 216 w 109"/>
                  <a:gd name="T13" fmla="*/ 158 h 156"/>
                  <a:gd name="T14" fmla="*/ 241 w 109"/>
                  <a:gd name="T15" fmla="*/ 240 h 156"/>
                  <a:gd name="T16" fmla="*/ 245 w 109"/>
                  <a:gd name="T17" fmla="*/ 347 h 156"/>
                  <a:gd name="T18" fmla="*/ 236 w 109"/>
                  <a:gd name="T19" fmla="*/ 347 h 156"/>
                  <a:gd name="T20" fmla="*/ 223 w 109"/>
                  <a:gd name="T21" fmla="*/ 347 h 156"/>
                  <a:gd name="T22" fmla="*/ 209 w 109"/>
                  <a:gd name="T23" fmla="*/ 347 h 156"/>
                  <a:gd name="T24" fmla="*/ 196 w 109"/>
                  <a:gd name="T25" fmla="*/ 343 h 156"/>
                  <a:gd name="T26" fmla="*/ 182 w 109"/>
                  <a:gd name="T27" fmla="*/ 340 h 156"/>
                  <a:gd name="T28" fmla="*/ 166 w 109"/>
                  <a:gd name="T29" fmla="*/ 334 h 156"/>
                  <a:gd name="T30" fmla="*/ 148 w 109"/>
                  <a:gd name="T31" fmla="*/ 323 h 156"/>
                  <a:gd name="T32" fmla="*/ 130 w 109"/>
                  <a:gd name="T33" fmla="*/ 309 h 156"/>
                  <a:gd name="T34" fmla="*/ 119 w 109"/>
                  <a:gd name="T35" fmla="*/ 280 h 156"/>
                  <a:gd name="T36" fmla="*/ 119 w 109"/>
                  <a:gd name="T37" fmla="*/ 247 h 156"/>
                  <a:gd name="T38" fmla="*/ 126 w 109"/>
                  <a:gd name="T39" fmla="*/ 214 h 156"/>
                  <a:gd name="T40" fmla="*/ 133 w 109"/>
                  <a:gd name="T41" fmla="*/ 178 h 156"/>
                  <a:gd name="T42" fmla="*/ 126 w 109"/>
                  <a:gd name="T43" fmla="*/ 138 h 156"/>
                  <a:gd name="T44" fmla="*/ 108 w 109"/>
                  <a:gd name="T45" fmla="*/ 96 h 156"/>
                  <a:gd name="T46" fmla="*/ 70 w 109"/>
                  <a:gd name="T47" fmla="*/ 51 h 156"/>
                  <a:gd name="T48" fmla="*/ 0 w 109"/>
                  <a:gd name="T49" fmla="*/ 0 h 15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09" h="156">
                    <a:moveTo>
                      <a:pt x="0" y="0"/>
                    </a:moveTo>
                    <a:lnTo>
                      <a:pt x="5" y="1"/>
                    </a:lnTo>
                    <a:lnTo>
                      <a:pt x="18" y="5"/>
                    </a:lnTo>
                    <a:lnTo>
                      <a:pt x="37" y="12"/>
                    </a:lnTo>
                    <a:lnTo>
                      <a:pt x="58" y="24"/>
                    </a:lnTo>
                    <a:lnTo>
                      <a:pt x="78" y="44"/>
                    </a:lnTo>
                    <a:lnTo>
                      <a:pt x="96" y="71"/>
                    </a:lnTo>
                    <a:lnTo>
                      <a:pt x="107" y="108"/>
                    </a:lnTo>
                    <a:lnTo>
                      <a:pt x="109" y="156"/>
                    </a:lnTo>
                    <a:lnTo>
                      <a:pt x="105" y="156"/>
                    </a:lnTo>
                    <a:lnTo>
                      <a:pt x="99" y="156"/>
                    </a:lnTo>
                    <a:lnTo>
                      <a:pt x="93" y="156"/>
                    </a:lnTo>
                    <a:lnTo>
                      <a:pt x="87" y="154"/>
                    </a:lnTo>
                    <a:lnTo>
                      <a:pt x="81" y="153"/>
                    </a:lnTo>
                    <a:lnTo>
                      <a:pt x="74" y="150"/>
                    </a:lnTo>
                    <a:lnTo>
                      <a:pt x="66" y="145"/>
                    </a:lnTo>
                    <a:lnTo>
                      <a:pt x="58" y="139"/>
                    </a:lnTo>
                    <a:lnTo>
                      <a:pt x="53" y="126"/>
                    </a:lnTo>
                    <a:lnTo>
                      <a:pt x="53" y="111"/>
                    </a:lnTo>
                    <a:lnTo>
                      <a:pt x="56" y="96"/>
                    </a:lnTo>
                    <a:lnTo>
                      <a:pt x="59" y="80"/>
                    </a:lnTo>
                    <a:lnTo>
                      <a:pt x="56" y="62"/>
                    </a:lnTo>
                    <a:lnTo>
                      <a:pt x="48" y="43"/>
                    </a:lnTo>
                    <a:lnTo>
                      <a:pt x="31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8"/>
              <p:cNvSpPr>
                <a:spLocks/>
              </p:cNvSpPr>
              <p:nvPr userDrawn="1"/>
            </p:nvSpPr>
            <p:spPr bwMode="ltGray">
              <a:xfrm rot="12185230" flipV="1">
                <a:off x="3845" y="2207"/>
                <a:ext cx="103" cy="209"/>
              </a:xfrm>
              <a:custGeom>
                <a:avLst/>
                <a:gdLst>
                  <a:gd name="T0" fmla="*/ 69 w 46"/>
                  <a:gd name="T1" fmla="*/ 0 h 94"/>
                  <a:gd name="T2" fmla="*/ 45 w 46"/>
                  <a:gd name="T3" fmla="*/ 84 h 94"/>
                  <a:gd name="T4" fmla="*/ 34 w 46"/>
                  <a:gd name="T5" fmla="*/ 138 h 94"/>
                  <a:gd name="T6" fmla="*/ 25 w 46"/>
                  <a:gd name="T7" fmla="*/ 176 h 94"/>
                  <a:gd name="T8" fmla="*/ 0 w 46"/>
                  <a:gd name="T9" fmla="*/ 209 h 94"/>
                  <a:gd name="T10" fmla="*/ 27 w 46"/>
                  <a:gd name="T11" fmla="*/ 196 h 94"/>
                  <a:gd name="T12" fmla="*/ 52 w 46"/>
                  <a:gd name="T13" fmla="*/ 178 h 94"/>
                  <a:gd name="T14" fmla="*/ 72 w 46"/>
                  <a:gd name="T15" fmla="*/ 153 h 94"/>
                  <a:gd name="T16" fmla="*/ 90 w 46"/>
                  <a:gd name="T17" fmla="*/ 127 h 94"/>
                  <a:gd name="T18" fmla="*/ 101 w 46"/>
                  <a:gd name="T19" fmla="*/ 98 h 94"/>
                  <a:gd name="T20" fmla="*/ 103 w 46"/>
                  <a:gd name="T21" fmla="*/ 67 h 94"/>
                  <a:gd name="T22" fmla="*/ 94 w 46"/>
                  <a:gd name="T23" fmla="*/ 33 h 94"/>
                  <a:gd name="T24" fmla="*/ 69 w 46"/>
                  <a:gd name="T25" fmla="*/ 0 h 9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6" h="94">
                    <a:moveTo>
                      <a:pt x="31" y="0"/>
                    </a:moveTo>
                    <a:lnTo>
                      <a:pt x="20" y="38"/>
                    </a:lnTo>
                    <a:lnTo>
                      <a:pt x="15" y="62"/>
                    </a:lnTo>
                    <a:lnTo>
                      <a:pt x="11" y="79"/>
                    </a:lnTo>
                    <a:lnTo>
                      <a:pt x="0" y="94"/>
                    </a:lnTo>
                    <a:lnTo>
                      <a:pt x="12" y="88"/>
                    </a:lnTo>
                    <a:lnTo>
                      <a:pt x="23" y="80"/>
                    </a:lnTo>
                    <a:lnTo>
                      <a:pt x="32" y="69"/>
                    </a:lnTo>
                    <a:lnTo>
                      <a:pt x="40" y="57"/>
                    </a:lnTo>
                    <a:lnTo>
                      <a:pt x="45" y="44"/>
                    </a:lnTo>
                    <a:lnTo>
                      <a:pt x="46" y="30"/>
                    </a:lnTo>
                    <a:lnTo>
                      <a:pt x="42" y="15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Freeform 9"/>
              <p:cNvSpPr>
                <a:spLocks/>
              </p:cNvSpPr>
              <p:nvPr userDrawn="1"/>
            </p:nvSpPr>
            <p:spPr bwMode="ltGray">
              <a:xfrm rot="12185230" flipV="1">
                <a:off x="3895" y="1325"/>
                <a:ext cx="120" cy="90"/>
              </a:xfrm>
              <a:custGeom>
                <a:avLst/>
                <a:gdLst>
                  <a:gd name="T0" fmla="*/ 0 w 54"/>
                  <a:gd name="T1" fmla="*/ 0 h 40"/>
                  <a:gd name="T2" fmla="*/ 2 w 54"/>
                  <a:gd name="T3" fmla="*/ 2 h 40"/>
                  <a:gd name="T4" fmla="*/ 13 w 54"/>
                  <a:gd name="T5" fmla="*/ 7 h 40"/>
                  <a:gd name="T6" fmla="*/ 29 w 54"/>
                  <a:gd name="T7" fmla="*/ 18 h 40"/>
                  <a:gd name="T8" fmla="*/ 47 w 54"/>
                  <a:gd name="T9" fmla="*/ 27 h 40"/>
                  <a:gd name="T10" fmla="*/ 64 w 54"/>
                  <a:gd name="T11" fmla="*/ 34 h 40"/>
                  <a:gd name="T12" fmla="*/ 84 w 54"/>
                  <a:gd name="T13" fmla="*/ 38 h 40"/>
                  <a:gd name="T14" fmla="*/ 102 w 54"/>
                  <a:gd name="T15" fmla="*/ 41 h 40"/>
                  <a:gd name="T16" fmla="*/ 120 w 54"/>
                  <a:gd name="T17" fmla="*/ 36 h 40"/>
                  <a:gd name="T18" fmla="*/ 118 w 54"/>
                  <a:gd name="T19" fmla="*/ 56 h 40"/>
                  <a:gd name="T20" fmla="*/ 111 w 54"/>
                  <a:gd name="T21" fmla="*/ 74 h 40"/>
                  <a:gd name="T22" fmla="*/ 98 w 54"/>
                  <a:gd name="T23" fmla="*/ 86 h 40"/>
                  <a:gd name="T24" fmla="*/ 82 w 54"/>
                  <a:gd name="T25" fmla="*/ 90 h 40"/>
                  <a:gd name="T26" fmla="*/ 62 w 54"/>
                  <a:gd name="T27" fmla="*/ 88 h 40"/>
                  <a:gd name="T28" fmla="*/ 42 w 54"/>
                  <a:gd name="T29" fmla="*/ 72 h 40"/>
                  <a:gd name="T30" fmla="*/ 22 w 54"/>
                  <a:gd name="T31" fmla="*/ 45 h 40"/>
                  <a:gd name="T32" fmla="*/ 0 w 54"/>
                  <a:gd name="T33" fmla="*/ 0 h 4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54" h="40">
                    <a:moveTo>
                      <a:pt x="0" y="0"/>
                    </a:moveTo>
                    <a:lnTo>
                      <a:pt x="1" y="1"/>
                    </a:lnTo>
                    <a:lnTo>
                      <a:pt x="6" y="3"/>
                    </a:lnTo>
                    <a:lnTo>
                      <a:pt x="13" y="8"/>
                    </a:lnTo>
                    <a:lnTo>
                      <a:pt x="21" y="12"/>
                    </a:lnTo>
                    <a:lnTo>
                      <a:pt x="29" y="15"/>
                    </a:lnTo>
                    <a:lnTo>
                      <a:pt x="38" y="17"/>
                    </a:lnTo>
                    <a:lnTo>
                      <a:pt x="46" y="18"/>
                    </a:lnTo>
                    <a:lnTo>
                      <a:pt x="54" y="16"/>
                    </a:lnTo>
                    <a:lnTo>
                      <a:pt x="53" y="25"/>
                    </a:lnTo>
                    <a:lnTo>
                      <a:pt x="50" y="33"/>
                    </a:lnTo>
                    <a:lnTo>
                      <a:pt x="44" y="38"/>
                    </a:lnTo>
                    <a:lnTo>
                      <a:pt x="37" y="40"/>
                    </a:lnTo>
                    <a:lnTo>
                      <a:pt x="28" y="39"/>
                    </a:lnTo>
                    <a:lnTo>
                      <a:pt x="19" y="32"/>
                    </a:lnTo>
                    <a:lnTo>
                      <a:pt x="10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10"/>
              <p:cNvSpPr>
                <a:spLocks/>
              </p:cNvSpPr>
              <p:nvPr userDrawn="1"/>
            </p:nvSpPr>
            <p:spPr bwMode="ltGray">
              <a:xfrm rot="12185230" flipV="1">
                <a:off x="3010" y="2344"/>
                <a:ext cx="330" cy="2059"/>
              </a:xfrm>
              <a:custGeom>
                <a:avLst/>
                <a:gdLst>
                  <a:gd name="T0" fmla="*/ 0 w 149"/>
                  <a:gd name="T1" fmla="*/ 0 h 704"/>
                  <a:gd name="T2" fmla="*/ 13 w 149"/>
                  <a:gd name="T3" fmla="*/ 18 h 704"/>
                  <a:gd name="T4" fmla="*/ 35 w 149"/>
                  <a:gd name="T5" fmla="*/ 41 h 704"/>
                  <a:gd name="T6" fmla="*/ 62 w 149"/>
                  <a:gd name="T7" fmla="*/ 70 h 704"/>
                  <a:gd name="T8" fmla="*/ 91 w 149"/>
                  <a:gd name="T9" fmla="*/ 108 h 704"/>
                  <a:gd name="T10" fmla="*/ 128 w 149"/>
                  <a:gd name="T11" fmla="*/ 155 h 704"/>
                  <a:gd name="T12" fmla="*/ 162 w 149"/>
                  <a:gd name="T13" fmla="*/ 205 h 704"/>
                  <a:gd name="T14" fmla="*/ 195 w 149"/>
                  <a:gd name="T15" fmla="*/ 263 h 704"/>
                  <a:gd name="T16" fmla="*/ 221 w 149"/>
                  <a:gd name="T17" fmla="*/ 330 h 704"/>
                  <a:gd name="T18" fmla="*/ 248 w 149"/>
                  <a:gd name="T19" fmla="*/ 401 h 704"/>
                  <a:gd name="T20" fmla="*/ 266 w 149"/>
                  <a:gd name="T21" fmla="*/ 483 h 704"/>
                  <a:gd name="T22" fmla="*/ 275 w 149"/>
                  <a:gd name="T23" fmla="*/ 573 h 704"/>
                  <a:gd name="T24" fmla="*/ 279 w 149"/>
                  <a:gd name="T25" fmla="*/ 667 h 704"/>
                  <a:gd name="T26" fmla="*/ 266 w 149"/>
                  <a:gd name="T27" fmla="*/ 772 h 704"/>
                  <a:gd name="T28" fmla="*/ 241 w 149"/>
                  <a:gd name="T29" fmla="*/ 883 h 704"/>
                  <a:gd name="T30" fmla="*/ 204 w 149"/>
                  <a:gd name="T31" fmla="*/ 1000 h 704"/>
                  <a:gd name="T32" fmla="*/ 148 w 149"/>
                  <a:gd name="T33" fmla="*/ 1129 h 704"/>
                  <a:gd name="T34" fmla="*/ 86 w 149"/>
                  <a:gd name="T35" fmla="*/ 1275 h 704"/>
                  <a:gd name="T36" fmla="*/ 47 w 149"/>
                  <a:gd name="T37" fmla="*/ 1410 h 704"/>
                  <a:gd name="T38" fmla="*/ 22 w 149"/>
                  <a:gd name="T39" fmla="*/ 1535 h 704"/>
                  <a:gd name="T40" fmla="*/ 13 w 149"/>
                  <a:gd name="T41" fmla="*/ 1655 h 704"/>
                  <a:gd name="T42" fmla="*/ 13 w 149"/>
                  <a:gd name="T43" fmla="*/ 1769 h 704"/>
                  <a:gd name="T44" fmla="*/ 18 w 149"/>
                  <a:gd name="T45" fmla="*/ 1875 h 704"/>
                  <a:gd name="T46" fmla="*/ 27 w 149"/>
                  <a:gd name="T47" fmla="*/ 1968 h 704"/>
                  <a:gd name="T48" fmla="*/ 31 w 149"/>
                  <a:gd name="T49" fmla="*/ 2059 h 704"/>
                  <a:gd name="T50" fmla="*/ 91 w 149"/>
                  <a:gd name="T51" fmla="*/ 2012 h 704"/>
                  <a:gd name="T52" fmla="*/ 86 w 149"/>
                  <a:gd name="T53" fmla="*/ 1989 h 704"/>
                  <a:gd name="T54" fmla="*/ 80 w 149"/>
                  <a:gd name="T55" fmla="*/ 1922 h 704"/>
                  <a:gd name="T56" fmla="*/ 73 w 149"/>
                  <a:gd name="T57" fmla="*/ 1819 h 704"/>
                  <a:gd name="T58" fmla="*/ 78 w 149"/>
                  <a:gd name="T59" fmla="*/ 1682 h 704"/>
                  <a:gd name="T60" fmla="*/ 91 w 149"/>
                  <a:gd name="T61" fmla="*/ 1518 h 704"/>
                  <a:gd name="T62" fmla="*/ 128 w 149"/>
                  <a:gd name="T63" fmla="*/ 1331 h 704"/>
                  <a:gd name="T64" fmla="*/ 190 w 149"/>
                  <a:gd name="T65" fmla="*/ 1129 h 704"/>
                  <a:gd name="T66" fmla="*/ 286 w 149"/>
                  <a:gd name="T67" fmla="*/ 915 h 704"/>
                  <a:gd name="T68" fmla="*/ 317 w 149"/>
                  <a:gd name="T69" fmla="*/ 816 h 704"/>
                  <a:gd name="T70" fmla="*/ 330 w 149"/>
                  <a:gd name="T71" fmla="*/ 687 h 704"/>
                  <a:gd name="T72" fmla="*/ 319 w 149"/>
                  <a:gd name="T73" fmla="*/ 538 h 704"/>
                  <a:gd name="T74" fmla="*/ 290 w 149"/>
                  <a:gd name="T75" fmla="*/ 392 h 704"/>
                  <a:gd name="T76" fmla="*/ 241 w 149"/>
                  <a:gd name="T77" fmla="*/ 249 h 704"/>
                  <a:gd name="T78" fmla="*/ 179 w 149"/>
                  <a:gd name="T79" fmla="*/ 129 h 704"/>
                  <a:gd name="T80" fmla="*/ 97 w 149"/>
                  <a:gd name="T81" fmla="*/ 41 h 704"/>
                  <a:gd name="T82" fmla="*/ 0 w 149"/>
                  <a:gd name="T83" fmla="*/ 0 h 704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49" h="704">
                    <a:moveTo>
                      <a:pt x="0" y="0"/>
                    </a:moveTo>
                    <a:lnTo>
                      <a:pt x="6" y="6"/>
                    </a:lnTo>
                    <a:lnTo>
                      <a:pt x="16" y="14"/>
                    </a:lnTo>
                    <a:lnTo>
                      <a:pt x="28" y="24"/>
                    </a:lnTo>
                    <a:lnTo>
                      <a:pt x="41" y="37"/>
                    </a:lnTo>
                    <a:lnTo>
                      <a:pt x="58" y="53"/>
                    </a:lnTo>
                    <a:lnTo>
                      <a:pt x="73" y="70"/>
                    </a:lnTo>
                    <a:lnTo>
                      <a:pt x="88" y="90"/>
                    </a:lnTo>
                    <a:lnTo>
                      <a:pt x="100" y="113"/>
                    </a:lnTo>
                    <a:lnTo>
                      <a:pt x="112" y="137"/>
                    </a:lnTo>
                    <a:lnTo>
                      <a:pt x="120" y="165"/>
                    </a:lnTo>
                    <a:lnTo>
                      <a:pt x="124" y="196"/>
                    </a:lnTo>
                    <a:lnTo>
                      <a:pt x="126" y="228"/>
                    </a:lnTo>
                    <a:lnTo>
                      <a:pt x="120" y="264"/>
                    </a:lnTo>
                    <a:lnTo>
                      <a:pt x="109" y="302"/>
                    </a:lnTo>
                    <a:lnTo>
                      <a:pt x="92" y="342"/>
                    </a:lnTo>
                    <a:lnTo>
                      <a:pt x="67" y="386"/>
                    </a:lnTo>
                    <a:lnTo>
                      <a:pt x="39" y="436"/>
                    </a:lnTo>
                    <a:lnTo>
                      <a:pt x="21" y="482"/>
                    </a:lnTo>
                    <a:lnTo>
                      <a:pt x="10" y="525"/>
                    </a:lnTo>
                    <a:lnTo>
                      <a:pt x="6" y="566"/>
                    </a:lnTo>
                    <a:lnTo>
                      <a:pt x="6" y="605"/>
                    </a:lnTo>
                    <a:lnTo>
                      <a:pt x="8" y="641"/>
                    </a:lnTo>
                    <a:lnTo>
                      <a:pt x="12" y="673"/>
                    </a:lnTo>
                    <a:lnTo>
                      <a:pt x="14" y="704"/>
                    </a:lnTo>
                    <a:lnTo>
                      <a:pt x="41" y="688"/>
                    </a:lnTo>
                    <a:lnTo>
                      <a:pt x="39" y="680"/>
                    </a:lnTo>
                    <a:lnTo>
                      <a:pt x="36" y="657"/>
                    </a:lnTo>
                    <a:lnTo>
                      <a:pt x="33" y="622"/>
                    </a:lnTo>
                    <a:lnTo>
                      <a:pt x="35" y="575"/>
                    </a:lnTo>
                    <a:lnTo>
                      <a:pt x="41" y="519"/>
                    </a:lnTo>
                    <a:lnTo>
                      <a:pt x="58" y="455"/>
                    </a:lnTo>
                    <a:lnTo>
                      <a:pt x="86" y="386"/>
                    </a:lnTo>
                    <a:lnTo>
                      <a:pt x="129" y="313"/>
                    </a:lnTo>
                    <a:lnTo>
                      <a:pt x="143" y="279"/>
                    </a:lnTo>
                    <a:lnTo>
                      <a:pt x="149" y="235"/>
                    </a:lnTo>
                    <a:lnTo>
                      <a:pt x="144" y="184"/>
                    </a:lnTo>
                    <a:lnTo>
                      <a:pt x="131" y="134"/>
                    </a:lnTo>
                    <a:lnTo>
                      <a:pt x="109" y="85"/>
                    </a:lnTo>
                    <a:lnTo>
                      <a:pt x="81" y="44"/>
                    </a:lnTo>
                    <a:lnTo>
                      <a:pt x="44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" name="Freeform 11"/>
            <p:cNvSpPr>
              <a:spLocks/>
            </p:cNvSpPr>
            <p:nvPr userDrawn="1"/>
          </p:nvSpPr>
          <p:spPr bwMode="ltGray">
            <a:xfrm rot="373331" flipH="1">
              <a:off x="22" y="1957"/>
              <a:ext cx="323" cy="649"/>
            </a:xfrm>
            <a:custGeom>
              <a:avLst/>
              <a:gdLst>
                <a:gd name="T0" fmla="*/ 237 w 128"/>
                <a:gd name="T1" fmla="*/ 0 h 217"/>
                <a:gd name="T2" fmla="*/ 265 w 128"/>
                <a:gd name="T3" fmla="*/ 27 h 217"/>
                <a:gd name="T4" fmla="*/ 290 w 128"/>
                <a:gd name="T5" fmla="*/ 81 h 217"/>
                <a:gd name="T6" fmla="*/ 310 w 128"/>
                <a:gd name="T7" fmla="*/ 150 h 217"/>
                <a:gd name="T8" fmla="*/ 323 w 128"/>
                <a:gd name="T9" fmla="*/ 233 h 217"/>
                <a:gd name="T10" fmla="*/ 320 w 128"/>
                <a:gd name="T11" fmla="*/ 332 h 217"/>
                <a:gd name="T12" fmla="*/ 293 w 128"/>
                <a:gd name="T13" fmla="*/ 434 h 217"/>
                <a:gd name="T14" fmla="*/ 237 w 128"/>
                <a:gd name="T15" fmla="*/ 541 h 217"/>
                <a:gd name="T16" fmla="*/ 151 w 128"/>
                <a:gd name="T17" fmla="*/ 649 h 217"/>
                <a:gd name="T18" fmla="*/ 124 w 128"/>
                <a:gd name="T19" fmla="*/ 637 h 217"/>
                <a:gd name="T20" fmla="*/ 96 w 128"/>
                <a:gd name="T21" fmla="*/ 628 h 217"/>
                <a:gd name="T22" fmla="*/ 66 w 128"/>
                <a:gd name="T23" fmla="*/ 613 h 217"/>
                <a:gd name="T24" fmla="*/ 40 w 128"/>
                <a:gd name="T25" fmla="*/ 601 h 217"/>
                <a:gd name="T26" fmla="*/ 20 w 128"/>
                <a:gd name="T27" fmla="*/ 586 h 217"/>
                <a:gd name="T28" fmla="*/ 5 w 128"/>
                <a:gd name="T29" fmla="*/ 568 h 217"/>
                <a:gd name="T30" fmla="*/ 0 w 128"/>
                <a:gd name="T31" fmla="*/ 547 h 217"/>
                <a:gd name="T32" fmla="*/ 3 w 128"/>
                <a:gd name="T33" fmla="*/ 532 h 217"/>
                <a:gd name="T34" fmla="*/ 33 w 128"/>
                <a:gd name="T35" fmla="*/ 511 h 217"/>
                <a:gd name="T36" fmla="*/ 73 w 128"/>
                <a:gd name="T37" fmla="*/ 482 h 217"/>
                <a:gd name="T38" fmla="*/ 116 w 128"/>
                <a:gd name="T39" fmla="*/ 449 h 217"/>
                <a:gd name="T40" fmla="*/ 159 w 128"/>
                <a:gd name="T41" fmla="*/ 401 h 217"/>
                <a:gd name="T42" fmla="*/ 199 w 128"/>
                <a:gd name="T43" fmla="*/ 335 h 217"/>
                <a:gd name="T44" fmla="*/ 230 w 128"/>
                <a:gd name="T45" fmla="*/ 248 h 217"/>
                <a:gd name="T46" fmla="*/ 245 w 128"/>
                <a:gd name="T47" fmla="*/ 138 h 217"/>
                <a:gd name="T48" fmla="*/ 237 w 128"/>
                <a:gd name="T49" fmla="*/ 0 h 21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28" h="217">
                  <a:moveTo>
                    <a:pt x="94" y="0"/>
                  </a:moveTo>
                  <a:lnTo>
                    <a:pt x="105" y="9"/>
                  </a:lnTo>
                  <a:lnTo>
                    <a:pt x="115" y="27"/>
                  </a:lnTo>
                  <a:lnTo>
                    <a:pt x="123" y="50"/>
                  </a:lnTo>
                  <a:lnTo>
                    <a:pt x="128" y="78"/>
                  </a:lnTo>
                  <a:lnTo>
                    <a:pt x="127" y="111"/>
                  </a:lnTo>
                  <a:lnTo>
                    <a:pt x="116" y="145"/>
                  </a:lnTo>
                  <a:lnTo>
                    <a:pt x="94" y="181"/>
                  </a:lnTo>
                  <a:lnTo>
                    <a:pt x="60" y="217"/>
                  </a:lnTo>
                  <a:lnTo>
                    <a:pt x="49" y="213"/>
                  </a:lnTo>
                  <a:lnTo>
                    <a:pt x="38" y="210"/>
                  </a:lnTo>
                  <a:lnTo>
                    <a:pt x="26" y="205"/>
                  </a:lnTo>
                  <a:lnTo>
                    <a:pt x="16" y="201"/>
                  </a:lnTo>
                  <a:lnTo>
                    <a:pt x="8" y="196"/>
                  </a:lnTo>
                  <a:lnTo>
                    <a:pt x="2" y="190"/>
                  </a:lnTo>
                  <a:lnTo>
                    <a:pt x="0" y="183"/>
                  </a:lnTo>
                  <a:lnTo>
                    <a:pt x="1" y="178"/>
                  </a:lnTo>
                  <a:lnTo>
                    <a:pt x="13" y="171"/>
                  </a:lnTo>
                  <a:lnTo>
                    <a:pt x="29" y="161"/>
                  </a:lnTo>
                  <a:lnTo>
                    <a:pt x="46" y="150"/>
                  </a:lnTo>
                  <a:lnTo>
                    <a:pt x="63" y="134"/>
                  </a:lnTo>
                  <a:lnTo>
                    <a:pt x="79" y="112"/>
                  </a:lnTo>
                  <a:lnTo>
                    <a:pt x="91" y="83"/>
                  </a:lnTo>
                  <a:lnTo>
                    <a:pt x="97" y="4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2"/>
            <p:cNvSpPr>
              <a:spLocks/>
            </p:cNvSpPr>
            <p:nvPr userDrawn="1"/>
          </p:nvSpPr>
          <p:spPr bwMode="ltGray">
            <a:xfrm>
              <a:off x="168" y="1260"/>
              <a:ext cx="1259" cy="1532"/>
            </a:xfrm>
            <a:custGeom>
              <a:avLst/>
              <a:gdLst>
                <a:gd name="T0" fmla="*/ 891 w 1259"/>
                <a:gd name="T1" fmla="*/ 1532 h 1532"/>
                <a:gd name="T2" fmla="*/ 954 w 1259"/>
                <a:gd name="T3" fmla="*/ 1452 h 1532"/>
                <a:gd name="T4" fmla="*/ 1032 w 1259"/>
                <a:gd name="T5" fmla="*/ 1338 h 1532"/>
                <a:gd name="T6" fmla="*/ 1115 w 1259"/>
                <a:gd name="T7" fmla="*/ 1188 h 1532"/>
                <a:gd name="T8" fmla="*/ 1194 w 1259"/>
                <a:gd name="T9" fmla="*/ 1023 h 1532"/>
                <a:gd name="T10" fmla="*/ 1244 w 1259"/>
                <a:gd name="T11" fmla="*/ 841 h 1532"/>
                <a:gd name="T12" fmla="*/ 1259 w 1259"/>
                <a:gd name="T13" fmla="*/ 647 h 1532"/>
                <a:gd name="T14" fmla="*/ 1230 w 1259"/>
                <a:gd name="T15" fmla="*/ 463 h 1532"/>
                <a:gd name="T16" fmla="*/ 1140 w 1259"/>
                <a:gd name="T17" fmla="*/ 294 h 1532"/>
                <a:gd name="T18" fmla="*/ 1043 w 1259"/>
                <a:gd name="T19" fmla="*/ 190 h 1532"/>
                <a:gd name="T20" fmla="*/ 961 w 1259"/>
                <a:gd name="T21" fmla="*/ 109 h 1532"/>
                <a:gd name="T22" fmla="*/ 894 w 1259"/>
                <a:gd name="T23" fmla="*/ 65 h 1532"/>
                <a:gd name="T24" fmla="*/ 786 w 1259"/>
                <a:gd name="T25" fmla="*/ 18 h 1532"/>
                <a:gd name="T26" fmla="*/ 642 w 1259"/>
                <a:gd name="T27" fmla="*/ 0 h 1532"/>
                <a:gd name="T28" fmla="*/ 440 w 1259"/>
                <a:gd name="T29" fmla="*/ 23 h 1532"/>
                <a:gd name="T30" fmla="*/ 366 w 1259"/>
                <a:gd name="T31" fmla="*/ 44 h 1532"/>
                <a:gd name="T32" fmla="*/ 292 w 1259"/>
                <a:gd name="T33" fmla="*/ 58 h 1532"/>
                <a:gd name="T34" fmla="*/ 229 w 1259"/>
                <a:gd name="T35" fmla="*/ 79 h 1532"/>
                <a:gd name="T36" fmla="*/ 178 w 1259"/>
                <a:gd name="T37" fmla="*/ 103 h 1532"/>
                <a:gd name="T38" fmla="*/ 127 w 1259"/>
                <a:gd name="T39" fmla="*/ 127 h 1532"/>
                <a:gd name="T40" fmla="*/ 82 w 1259"/>
                <a:gd name="T41" fmla="*/ 158 h 1532"/>
                <a:gd name="T42" fmla="*/ 41 w 1259"/>
                <a:gd name="T43" fmla="*/ 197 h 1532"/>
                <a:gd name="T44" fmla="*/ 0 w 1259"/>
                <a:gd name="T45" fmla="*/ 243 h 1532"/>
                <a:gd name="T46" fmla="*/ 76 w 1259"/>
                <a:gd name="T47" fmla="*/ 215 h 1532"/>
                <a:gd name="T48" fmla="*/ 144 w 1259"/>
                <a:gd name="T49" fmla="*/ 194 h 1532"/>
                <a:gd name="T50" fmla="*/ 212 w 1259"/>
                <a:gd name="T51" fmla="*/ 179 h 1532"/>
                <a:gd name="T52" fmla="*/ 280 w 1259"/>
                <a:gd name="T53" fmla="*/ 164 h 1532"/>
                <a:gd name="T54" fmla="*/ 336 w 1259"/>
                <a:gd name="T55" fmla="*/ 149 h 1532"/>
                <a:gd name="T56" fmla="*/ 397 w 1259"/>
                <a:gd name="T57" fmla="*/ 149 h 1532"/>
                <a:gd name="T58" fmla="*/ 458 w 1259"/>
                <a:gd name="T59" fmla="*/ 141 h 1532"/>
                <a:gd name="T60" fmla="*/ 511 w 1259"/>
                <a:gd name="T61" fmla="*/ 146 h 1532"/>
                <a:gd name="T62" fmla="*/ 565 w 1259"/>
                <a:gd name="T63" fmla="*/ 152 h 1532"/>
                <a:gd name="T64" fmla="*/ 618 w 1259"/>
                <a:gd name="T65" fmla="*/ 166 h 1532"/>
                <a:gd name="T66" fmla="*/ 669 w 1259"/>
                <a:gd name="T67" fmla="*/ 186 h 1532"/>
                <a:gd name="T68" fmla="*/ 715 w 1259"/>
                <a:gd name="T69" fmla="*/ 205 h 1532"/>
                <a:gd name="T70" fmla="*/ 760 w 1259"/>
                <a:gd name="T71" fmla="*/ 239 h 1532"/>
                <a:gd name="T72" fmla="*/ 811 w 1259"/>
                <a:gd name="T73" fmla="*/ 267 h 1532"/>
                <a:gd name="T74" fmla="*/ 855 w 1259"/>
                <a:gd name="T75" fmla="*/ 307 h 1532"/>
                <a:gd name="T76" fmla="*/ 899 w 1259"/>
                <a:gd name="T77" fmla="*/ 348 h 1532"/>
                <a:gd name="T78" fmla="*/ 971 w 1259"/>
                <a:gd name="T79" fmla="*/ 464 h 1532"/>
                <a:gd name="T80" fmla="*/ 1016 w 1259"/>
                <a:gd name="T81" fmla="*/ 606 h 1532"/>
                <a:gd name="T82" fmla="*/ 1027 w 1259"/>
                <a:gd name="T83" fmla="*/ 774 h 1532"/>
                <a:gd name="T84" fmla="*/ 1022 w 1259"/>
                <a:gd name="T85" fmla="*/ 939 h 1532"/>
                <a:gd name="T86" fmla="*/ 1002 w 1259"/>
                <a:gd name="T87" fmla="*/ 1117 h 1532"/>
                <a:gd name="T88" fmla="*/ 966 w 1259"/>
                <a:gd name="T89" fmla="*/ 1279 h 1532"/>
                <a:gd name="T90" fmla="*/ 933 w 1259"/>
                <a:gd name="T91" fmla="*/ 1421 h 1532"/>
                <a:gd name="T92" fmla="*/ 891 w 1259"/>
                <a:gd name="T93" fmla="*/ 1532 h 153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1259" h="1532">
                  <a:moveTo>
                    <a:pt x="891" y="1532"/>
                  </a:moveTo>
                  <a:lnTo>
                    <a:pt x="954" y="1452"/>
                  </a:lnTo>
                  <a:lnTo>
                    <a:pt x="1032" y="1338"/>
                  </a:lnTo>
                  <a:lnTo>
                    <a:pt x="1115" y="1188"/>
                  </a:lnTo>
                  <a:lnTo>
                    <a:pt x="1194" y="1023"/>
                  </a:lnTo>
                  <a:lnTo>
                    <a:pt x="1244" y="841"/>
                  </a:lnTo>
                  <a:lnTo>
                    <a:pt x="1259" y="647"/>
                  </a:lnTo>
                  <a:lnTo>
                    <a:pt x="1230" y="463"/>
                  </a:lnTo>
                  <a:lnTo>
                    <a:pt x="1140" y="294"/>
                  </a:lnTo>
                  <a:lnTo>
                    <a:pt x="1043" y="190"/>
                  </a:lnTo>
                  <a:lnTo>
                    <a:pt x="961" y="109"/>
                  </a:lnTo>
                  <a:lnTo>
                    <a:pt x="894" y="65"/>
                  </a:lnTo>
                  <a:lnTo>
                    <a:pt x="786" y="18"/>
                  </a:lnTo>
                  <a:lnTo>
                    <a:pt x="642" y="0"/>
                  </a:lnTo>
                  <a:lnTo>
                    <a:pt x="440" y="23"/>
                  </a:lnTo>
                  <a:lnTo>
                    <a:pt x="366" y="44"/>
                  </a:lnTo>
                  <a:lnTo>
                    <a:pt x="292" y="58"/>
                  </a:lnTo>
                  <a:lnTo>
                    <a:pt x="229" y="79"/>
                  </a:lnTo>
                  <a:lnTo>
                    <a:pt x="178" y="103"/>
                  </a:lnTo>
                  <a:lnTo>
                    <a:pt x="127" y="127"/>
                  </a:lnTo>
                  <a:lnTo>
                    <a:pt x="82" y="158"/>
                  </a:lnTo>
                  <a:lnTo>
                    <a:pt x="41" y="197"/>
                  </a:lnTo>
                  <a:lnTo>
                    <a:pt x="0" y="243"/>
                  </a:lnTo>
                  <a:lnTo>
                    <a:pt x="76" y="215"/>
                  </a:lnTo>
                  <a:lnTo>
                    <a:pt x="144" y="194"/>
                  </a:lnTo>
                  <a:lnTo>
                    <a:pt x="212" y="179"/>
                  </a:lnTo>
                  <a:lnTo>
                    <a:pt x="280" y="164"/>
                  </a:lnTo>
                  <a:lnTo>
                    <a:pt x="336" y="149"/>
                  </a:lnTo>
                  <a:lnTo>
                    <a:pt x="397" y="149"/>
                  </a:lnTo>
                  <a:lnTo>
                    <a:pt x="458" y="141"/>
                  </a:lnTo>
                  <a:lnTo>
                    <a:pt x="511" y="146"/>
                  </a:lnTo>
                  <a:lnTo>
                    <a:pt x="565" y="152"/>
                  </a:lnTo>
                  <a:lnTo>
                    <a:pt x="618" y="166"/>
                  </a:lnTo>
                  <a:lnTo>
                    <a:pt x="669" y="186"/>
                  </a:lnTo>
                  <a:lnTo>
                    <a:pt x="715" y="205"/>
                  </a:lnTo>
                  <a:lnTo>
                    <a:pt x="760" y="239"/>
                  </a:lnTo>
                  <a:lnTo>
                    <a:pt x="811" y="267"/>
                  </a:lnTo>
                  <a:lnTo>
                    <a:pt x="855" y="307"/>
                  </a:lnTo>
                  <a:lnTo>
                    <a:pt x="899" y="348"/>
                  </a:lnTo>
                  <a:lnTo>
                    <a:pt x="971" y="464"/>
                  </a:lnTo>
                  <a:lnTo>
                    <a:pt x="1016" y="606"/>
                  </a:lnTo>
                  <a:lnTo>
                    <a:pt x="1027" y="774"/>
                  </a:lnTo>
                  <a:lnTo>
                    <a:pt x="1022" y="939"/>
                  </a:lnTo>
                  <a:lnTo>
                    <a:pt x="1002" y="1117"/>
                  </a:lnTo>
                  <a:lnTo>
                    <a:pt x="966" y="1279"/>
                  </a:lnTo>
                  <a:lnTo>
                    <a:pt x="933" y="1421"/>
                  </a:lnTo>
                  <a:lnTo>
                    <a:pt x="891" y="1532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13"/>
            <p:cNvSpPr>
              <a:spLocks/>
            </p:cNvSpPr>
            <p:nvPr userDrawn="1"/>
          </p:nvSpPr>
          <p:spPr bwMode="ltGray">
            <a:xfrm>
              <a:off x="0" y="2610"/>
              <a:ext cx="801" cy="459"/>
            </a:xfrm>
            <a:custGeom>
              <a:avLst/>
              <a:gdLst>
                <a:gd name="T0" fmla="*/ 0 w 801"/>
                <a:gd name="T1" fmla="*/ 0 h 459"/>
                <a:gd name="T2" fmla="*/ 37 w 801"/>
                <a:gd name="T3" fmla="*/ 69 h 459"/>
                <a:gd name="T4" fmla="*/ 68 w 801"/>
                <a:gd name="T5" fmla="*/ 132 h 459"/>
                <a:gd name="T6" fmla="*/ 110 w 801"/>
                <a:gd name="T7" fmla="*/ 188 h 459"/>
                <a:gd name="T8" fmla="*/ 149 w 801"/>
                <a:gd name="T9" fmla="*/ 229 h 459"/>
                <a:gd name="T10" fmla="*/ 192 w 801"/>
                <a:gd name="T11" fmla="*/ 278 h 459"/>
                <a:gd name="T12" fmla="*/ 250 w 801"/>
                <a:gd name="T13" fmla="*/ 314 h 459"/>
                <a:gd name="T14" fmla="*/ 308 w 801"/>
                <a:gd name="T15" fmla="*/ 336 h 459"/>
                <a:gd name="T16" fmla="*/ 365 w 801"/>
                <a:gd name="T17" fmla="*/ 365 h 459"/>
                <a:gd name="T18" fmla="*/ 430 w 801"/>
                <a:gd name="T19" fmla="*/ 381 h 459"/>
                <a:gd name="T20" fmla="*/ 501 w 801"/>
                <a:gd name="T21" fmla="*/ 390 h 459"/>
                <a:gd name="T22" fmla="*/ 573 w 801"/>
                <a:gd name="T23" fmla="*/ 392 h 459"/>
                <a:gd name="T24" fmla="*/ 646 w 801"/>
                <a:gd name="T25" fmla="*/ 381 h 459"/>
                <a:gd name="T26" fmla="*/ 726 w 801"/>
                <a:gd name="T27" fmla="*/ 362 h 459"/>
                <a:gd name="T28" fmla="*/ 801 w 801"/>
                <a:gd name="T29" fmla="*/ 335 h 459"/>
                <a:gd name="T30" fmla="*/ 731 w 801"/>
                <a:gd name="T31" fmla="*/ 377 h 459"/>
                <a:gd name="T32" fmla="*/ 662 w 801"/>
                <a:gd name="T33" fmla="*/ 404 h 459"/>
                <a:gd name="T34" fmla="*/ 594 w 801"/>
                <a:gd name="T35" fmla="*/ 432 h 459"/>
                <a:gd name="T36" fmla="*/ 532 w 801"/>
                <a:gd name="T37" fmla="*/ 445 h 459"/>
                <a:gd name="T38" fmla="*/ 471 w 801"/>
                <a:gd name="T39" fmla="*/ 459 h 459"/>
                <a:gd name="T40" fmla="*/ 411 w 801"/>
                <a:gd name="T41" fmla="*/ 458 h 459"/>
                <a:gd name="T42" fmla="*/ 350 w 801"/>
                <a:gd name="T43" fmla="*/ 458 h 459"/>
                <a:gd name="T44" fmla="*/ 291 w 801"/>
                <a:gd name="T45" fmla="*/ 450 h 459"/>
                <a:gd name="T46" fmla="*/ 244 w 801"/>
                <a:gd name="T47" fmla="*/ 436 h 459"/>
                <a:gd name="T48" fmla="*/ 192 w 801"/>
                <a:gd name="T49" fmla="*/ 415 h 459"/>
                <a:gd name="T50" fmla="*/ 145 w 801"/>
                <a:gd name="T51" fmla="*/ 394 h 459"/>
                <a:gd name="T52" fmla="*/ 100 w 801"/>
                <a:gd name="T53" fmla="*/ 373 h 459"/>
                <a:gd name="T54" fmla="*/ 60 w 801"/>
                <a:gd name="T55" fmla="*/ 347 h 459"/>
                <a:gd name="T56" fmla="*/ 0 w 801"/>
                <a:gd name="T57" fmla="*/ 294 h 459"/>
                <a:gd name="T58" fmla="*/ 0 w 801"/>
                <a:gd name="T59" fmla="*/ 0 h 459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801" h="459">
                  <a:moveTo>
                    <a:pt x="0" y="0"/>
                  </a:moveTo>
                  <a:lnTo>
                    <a:pt x="37" y="69"/>
                  </a:lnTo>
                  <a:lnTo>
                    <a:pt x="68" y="132"/>
                  </a:lnTo>
                  <a:lnTo>
                    <a:pt x="110" y="188"/>
                  </a:lnTo>
                  <a:lnTo>
                    <a:pt x="149" y="229"/>
                  </a:lnTo>
                  <a:lnTo>
                    <a:pt x="192" y="278"/>
                  </a:lnTo>
                  <a:lnTo>
                    <a:pt x="250" y="314"/>
                  </a:lnTo>
                  <a:lnTo>
                    <a:pt x="308" y="336"/>
                  </a:lnTo>
                  <a:lnTo>
                    <a:pt x="365" y="365"/>
                  </a:lnTo>
                  <a:lnTo>
                    <a:pt x="430" y="381"/>
                  </a:lnTo>
                  <a:lnTo>
                    <a:pt x="501" y="390"/>
                  </a:lnTo>
                  <a:lnTo>
                    <a:pt x="573" y="392"/>
                  </a:lnTo>
                  <a:lnTo>
                    <a:pt x="646" y="381"/>
                  </a:lnTo>
                  <a:lnTo>
                    <a:pt x="726" y="362"/>
                  </a:lnTo>
                  <a:lnTo>
                    <a:pt x="801" y="335"/>
                  </a:lnTo>
                  <a:lnTo>
                    <a:pt x="731" y="377"/>
                  </a:lnTo>
                  <a:lnTo>
                    <a:pt x="662" y="404"/>
                  </a:lnTo>
                  <a:lnTo>
                    <a:pt x="594" y="432"/>
                  </a:lnTo>
                  <a:lnTo>
                    <a:pt x="532" y="445"/>
                  </a:lnTo>
                  <a:lnTo>
                    <a:pt x="471" y="459"/>
                  </a:lnTo>
                  <a:lnTo>
                    <a:pt x="411" y="458"/>
                  </a:lnTo>
                  <a:lnTo>
                    <a:pt x="350" y="458"/>
                  </a:lnTo>
                  <a:lnTo>
                    <a:pt x="291" y="450"/>
                  </a:lnTo>
                  <a:lnTo>
                    <a:pt x="244" y="436"/>
                  </a:lnTo>
                  <a:lnTo>
                    <a:pt x="192" y="415"/>
                  </a:lnTo>
                  <a:lnTo>
                    <a:pt x="145" y="394"/>
                  </a:lnTo>
                  <a:lnTo>
                    <a:pt x="100" y="373"/>
                  </a:lnTo>
                  <a:lnTo>
                    <a:pt x="60" y="347"/>
                  </a:lnTo>
                  <a:lnTo>
                    <a:pt x="0" y="2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14"/>
            <p:cNvSpPr>
              <a:spLocks/>
            </p:cNvSpPr>
            <p:nvPr userDrawn="1"/>
          </p:nvSpPr>
          <p:spPr bwMode="ltGray">
            <a:xfrm rot="373331" flipH="1">
              <a:off x="898" y="2855"/>
              <a:ext cx="354" cy="464"/>
            </a:xfrm>
            <a:custGeom>
              <a:avLst/>
              <a:gdLst>
                <a:gd name="T0" fmla="*/ 227 w 117"/>
                <a:gd name="T1" fmla="*/ 0 h 132"/>
                <a:gd name="T2" fmla="*/ 0 w 117"/>
                <a:gd name="T3" fmla="*/ 88 h 132"/>
                <a:gd name="T4" fmla="*/ 9 w 117"/>
                <a:gd name="T5" fmla="*/ 91 h 132"/>
                <a:gd name="T6" fmla="*/ 42 w 117"/>
                <a:gd name="T7" fmla="*/ 102 h 132"/>
                <a:gd name="T8" fmla="*/ 88 w 117"/>
                <a:gd name="T9" fmla="*/ 127 h 132"/>
                <a:gd name="T10" fmla="*/ 139 w 117"/>
                <a:gd name="T11" fmla="*/ 165 h 132"/>
                <a:gd name="T12" fmla="*/ 200 w 117"/>
                <a:gd name="T13" fmla="*/ 218 h 132"/>
                <a:gd name="T14" fmla="*/ 254 w 117"/>
                <a:gd name="T15" fmla="*/ 281 h 132"/>
                <a:gd name="T16" fmla="*/ 309 w 117"/>
                <a:gd name="T17" fmla="*/ 362 h 132"/>
                <a:gd name="T18" fmla="*/ 351 w 117"/>
                <a:gd name="T19" fmla="*/ 464 h 132"/>
                <a:gd name="T20" fmla="*/ 354 w 117"/>
                <a:gd name="T21" fmla="*/ 422 h 132"/>
                <a:gd name="T22" fmla="*/ 348 w 117"/>
                <a:gd name="T23" fmla="*/ 376 h 132"/>
                <a:gd name="T24" fmla="*/ 327 w 117"/>
                <a:gd name="T25" fmla="*/ 316 h 132"/>
                <a:gd name="T26" fmla="*/ 300 w 117"/>
                <a:gd name="T27" fmla="*/ 260 h 132"/>
                <a:gd name="T28" fmla="*/ 269 w 117"/>
                <a:gd name="T29" fmla="*/ 204 h 132"/>
                <a:gd name="T30" fmla="*/ 236 w 117"/>
                <a:gd name="T31" fmla="*/ 158 h 132"/>
                <a:gd name="T32" fmla="*/ 203 w 117"/>
                <a:gd name="T33" fmla="*/ 127 h 132"/>
                <a:gd name="T34" fmla="*/ 175 w 117"/>
                <a:gd name="T35" fmla="*/ 112 h 132"/>
                <a:gd name="T36" fmla="*/ 209 w 117"/>
                <a:gd name="T37" fmla="*/ 102 h 132"/>
                <a:gd name="T38" fmla="*/ 239 w 117"/>
                <a:gd name="T39" fmla="*/ 98 h 132"/>
                <a:gd name="T40" fmla="*/ 269 w 117"/>
                <a:gd name="T41" fmla="*/ 91 h 132"/>
                <a:gd name="T42" fmla="*/ 297 w 117"/>
                <a:gd name="T43" fmla="*/ 88 h 132"/>
                <a:gd name="T44" fmla="*/ 318 w 117"/>
                <a:gd name="T45" fmla="*/ 84 h 132"/>
                <a:gd name="T46" fmla="*/ 330 w 117"/>
                <a:gd name="T47" fmla="*/ 77 h 132"/>
                <a:gd name="T48" fmla="*/ 342 w 117"/>
                <a:gd name="T49" fmla="*/ 74 h 132"/>
                <a:gd name="T50" fmla="*/ 345 w 117"/>
                <a:gd name="T51" fmla="*/ 74 h 132"/>
                <a:gd name="T52" fmla="*/ 227 w 117"/>
                <a:gd name="T53" fmla="*/ 0 h 13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17" h="132">
                  <a:moveTo>
                    <a:pt x="75" y="0"/>
                  </a:moveTo>
                  <a:lnTo>
                    <a:pt x="0" y="25"/>
                  </a:lnTo>
                  <a:lnTo>
                    <a:pt x="3" y="26"/>
                  </a:lnTo>
                  <a:lnTo>
                    <a:pt x="14" y="29"/>
                  </a:lnTo>
                  <a:lnTo>
                    <a:pt x="29" y="36"/>
                  </a:lnTo>
                  <a:lnTo>
                    <a:pt x="46" y="47"/>
                  </a:lnTo>
                  <a:lnTo>
                    <a:pt x="66" y="62"/>
                  </a:lnTo>
                  <a:lnTo>
                    <a:pt x="84" y="80"/>
                  </a:lnTo>
                  <a:lnTo>
                    <a:pt x="102" y="103"/>
                  </a:lnTo>
                  <a:lnTo>
                    <a:pt x="116" y="132"/>
                  </a:lnTo>
                  <a:lnTo>
                    <a:pt x="117" y="120"/>
                  </a:lnTo>
                  <a:lnTo>
                    <a:pt x="115" y="107"/>
                  </a:lnTo>
                  <a:lnTo>
                    <a:pt x="108" y="90"/>
                  </a:lnTo>
                  <a:lnTo>
                    <a:pt x="99" y="74"/>
                  </a:lnTo>
                  <a:lnTo>
                    <a:pt x="89" y="58"/>
                  </a:lnTo>
                  <a:lnTo>
                    <a:pt x="78" y="45"/>
                  </a:lnTo>
                  <a:lnTo>
                    <a:pt x="67" y="36"/>
                  </a:lnTo>
                  <a:lnTo>
                    <a:pt x="58" y="32"/>
                  </a:lnTo>
                  <a:lnTo>
                    <a:pt x="69" y="29"/>
                  </a:lnTo>
                  <a:lnTo>
                    <a:pt x="79" y="28"/>
                  </a:lnTo>
                  <a:lnTo>
                    <a:pt x="89" y="26"/>
                  </a:lnTo>
                  <a:lnTo>
                    <a:pt x="98" y="25"/>
                  </a:lnTo>
                  <a:lnTo>
                    <a:pt x="105" y="24"/>
                  </a:lnTo>
                  <a:lnTo>
                    <a:pt x="109" y="22"/>
                  </a:lnTo>
                  <a:lnTo>
                    <a:pt x="113" y="21"/>
                  </a:lnTo>
                  <a:lnTo>
                    <a:pt x="114" y="2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15"/>
            <p:cNvSpPr>
              <a:spLocks/>
            </p:cNvSpPr>
            <p:nvPr userDrawn="1"/>
          </p:nvSpPr>
          <p:spPr bwMode="ltGray">
            <a:xfrm rot="373331" flipH="1">
              <a:off x="799" y="2979"/>
              <a:ext cx="87" cy="274"/>
            </a:xfrm>
            <a:custGeom>
              <a:avLst/>
              <a:gdLst>
                <a:gd name="T0" fmla="*/ 87 w 29"/>
                <a:gd name="T1" fmla="*/ 0 h 77"/>
                <a:gd name="T2" fmla="*/ 69 w 29"/>
                <a:gd name="T3" fmla="*/ 0 h 77"/>
                <a:gd name="T4" fmla="*/ 48 w 29"/>
                <a:gd name="T5" fmla="*/ 14 h 77"/>
                <a:gd name="T6" fmla="*/ 27 w 29"/>
                <a:gd name="T7" fmla="*/ 32 h 77"/>
                <a:gd name="T8" fmla="*/ 12 w 29"/>
                <a:gd name="T9" fmla="*/ 68 h 77"/>
                <a:gd name="T10" fmla="*/ 3 w 29"/>
                <a:gd name="T11" fmla="*/ 107 h 77"/>
                <a:gd name="T12" fmla="*/ 0 w 29"/>
                <a:gd name="T13" fmla="*/ 157 h 77"/>
                <a:gd name="T14" fmla="*/ 9 w 29"/>
                <a:gd name="T15" fmla="*/ 214 h 77"/>
                <a:gd name="T16" fmla="*/ 33 w 29"/>
                <a:gd name="T17" fmla="*/ 274 h 77"/>
                <a:gd name="T18" fmla="*/ 45 w 29"/>
                <a:gd name="T19" fmla="*/ 189 h 77"/>
                <a:gd name="T20" fmla="*/ 57 w 29"/>
                <a:gd name="T21" fmla="*/ 132 h 77"/>
                <a:gd name="T22" fmla="*/ 69 w 29"/>
                <a:gd name="T23" fmla="*/ 78 h 77"/>
                <a:gd name="T24" fmla="*/ 87 w 29"/>
                <a:gd name="T25" fmla="*/ 0 h 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9" h="77">
                  <a:moveTo>
                    <a:pt x="29" y="0"/>
                  </a:moveTo>
                  <a:lnTo>
                    <a:pt x="23" y="0"/>
                  </a:lnTo>
                  <a:lnTo>
                    <a:pt x="16" y="4"/>
                  </a:lnTo>
                  <a:lnTo>
                    <a:pt x="9" y="9"/>
                  </a:lnTo>
                  <a:lnTo>
                    <a:pt x="4" y="19"/>
                  </a:lnTo>
                  <a:lnTo>
                    <a:pt x="1" y="30"/>
                  </a:lnTo>
                  <a:lnTo>
                    <a:pt x="0" y="44"/>
                  </a:lnTo>
                  <a:lnTo>
                    <a:pt x="3" y="60"/>
                  </a:lnTo>
                  <a:lnTo>
                    <a:pt x="11" y="77"/>
                  </a:lnTo>
                  <a:lnTo>
                    <a:pt x="15" y="53"/>
                  </a:lnTo>
                  <a:lnTo>
                    <a:pt x="19" y="37"/>
                  </a:lnTo>
                  <a:lnTo>
                    <a:pt x="23" y="2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16"/>
            <p:cNvSpPr>
              <a:spLocks/>
            </p:cNvSpPr>
            <p:nvPr userDrawn="1"/>
          </p:nvSpPr>
          <p:spPr bwMode="ltGray">
            <a:xfrm>
              <a:off x="1190" y="3273"/>
              <a:ext cx="1108" cy="1047"/>
            </a:xfrm>
            <a:custGeom>
              <a:avLst/>
              <a:gdLst>
                <a:gd name="T0" fmla="*/ 784 w 1108"/>
                <a:gd name="T1" fmla="*/ 1047 h 1047"/>
                <a:gd name="T2" fmla="*/ 692 w 1108"/>
                <a:gd name="T3" fmla="*/ 1011 h 1047"/>
                <a:gd name="T4" fmla="*/ 607 w 1108"/>
                <a:gd name="T5" fmla="*/ 945 h 1047"/>
                <a:gd name="T6" fmla="*/ 517 w 1108"/>
                <a:gd name="T7" fmla="*/ 861 h 1047"/>
                <a:gd name="T8" fmla="*/ 432 w 1108"/>
                <a:gd name="T9" fmla="*/ 776 h 1047"/>
                <a:gd name="T10" fmla="*/ 350 w 1108"/>
                <a:gd name="T11" fmla="*/ 677 h 1047"/>
                <a:gd name="T12" fmla="*/ 266 w 1108"/>
                <a:gd name="T13" fmla="*/ 563 h 1047"/>
                <a:gd name="T14" fmla="*/ 188 w 1108"/>
                <a:gd name="T15" fmla="*/ 447 h 1047"/>
                <a:gd name="T16" fmla="*/ 122 w 1108"/>
                <a:gd name="T17" fmla="*/ 325 h 1047"/>
                <a:gd name="T18" fmla="*/ 65 w 1108"/>
                <a:gd name="T19" fmla="*/ 211 h 1047"/>
                <a:gd name="T20" fmla="*/ 21 w 1108"/>
                <a:gd name="T21" fmla="*/ 101 h 1047"/>
                <a:gd name="T22" fmla="*/ 0 w 1108"/>
                <a:gd name="T23" fmla="*/ 0 h 1047"/>
                <a:gd name="T24" fmla="*/ 109 w 1108"/>
                <a:gd name="T25" fmla="*/ 217 h 1047"/>
                <a:gd name="T26" fmla="*/ 209 w 1108"/>
                <a:gd name="T27" fmla="*/ 378 h 1047"/>
                <a:gd name="T28" fmla="*/ 294 w 1108"/>
                <a:gd name="T29" fmla="*/ 500 h 1047"/>
                <a:gd name="T30" fmla="*/ 373 w 1108"/>
                <a:gd name="T31" fmla="*/ 590 h 1047"/>
                <a:gd name="T32" fmla="*/ 441 w 1108"/>
                <a:gd name="T33" fmla="*/ 661 h 1047"/>
                <a:gd name="T34" fmla="*/ 506 w 1108"/>
                <a:gd name="T35" fmla="*/ 713 h 1047"/>
                <a:gd name="T36" fmla="*/ 564 w 1108"/>
                <a:gd name="T37" fmla="*/ 754 h 1047"/>
                <a:gd name="T38" fmla="*/ 620 w 1108"/>
                <a:gd name="T39" fmla="*/ 801 h 1047"/>
                <a:gd name="T40" fmla="*/ 754 w 1108"/>
                <a:gd name="T41" fmla="*/ 899 h 1047"/>
                <a:gd name="T42" fmla="*/ 925 w 1108"/>
                <a:gd name="T43" fmla="*/ 977 h 1047"/>
                <a:gd name="T44" fmla="*/ 1108 w 1108"/>
                <a:gd name="T45" fmla="*/ 1047 h 1047"/>
                <a:gd name="T46" fmla="*/ 784 w 1108"/>
                <a:gd name="T47" fmla="*/ 1047 h 1047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108" h="1047">
                  <a:moveTo>
                    <a:pt x="784" y="1047"/>
                  </a:moveTo>
                  <a:lnTo>
                    <a:pt x="692" y="1011"/>
                  </a:lnTo>
                  <a:lnTo>
                    <a:pt x="607" y="945"/>
                  </a:lnTo>
                  <a:lnTo>
                    <a:pt x="517" y="861"/>
                  </a:lnTo>
                  <a:lnTo>
                    <a:pt x="432" y="776"/>
                  </a:lnTo>
                  <a:lnTo>
                    <a:pt x="350" y="677"/>
                  </a:lnTo>
                  <a:lnTo>
                    <a:pt x="266" y="563"/>
                  </a:lnTo>
                  <a:lnTo>
                    <a:pt x="188" y="447"/>
                  </a:lnTo>
                  <a:lnTo>
                    <a:pt x="122" y="325"/>
                  </a:lnTo>
                  <a:lnTo>
                    <a:pt x="65" y="211"/>
                  </a:lnTo>
                  <a:lnTo>
                    <a:pt x="21" y="101"/>
                  </a:lnTo>
                  <a:lnTo>
                    <a:pt x="0" y="0"/>
                  </a:lnTo>
                  <a:lnTo>
                    <a:pt x="109" y="217"/>
                  </a:lnTo>
                  <a:lnTo>
                    <a:pt x="209" y="378"/>
                  </a:lnTo>
                  <a:lnTo>
                    <a:pt x="294" y="500"/>
                  </a:lnTo>
                  <a:lnTo>
                    <a:pt x="373" y="590"/>
                  </a:lnTo>
                  <a:lnTo>
                    <a:pt x="441" y="661"/>
                  </a:lnTo>
                  <a:lnTo>
                    <a:pt x="506" y="713"/>
                  </a:lnTo>
                  <a:lnTo>
                    <a:pt x="564" y="754"/>
                  </a:lnTo>
                  <a:lnTo>
                    <a:pt x="620" y="801"/>
                  </a:lnTo>
                  <a:lnTo>
                    <a:pt x="754" y="899"/>
                  </a:lnTo>
                  <a:lnTo>
                    <a:pt x="925" y="977"/>
                  </a:lnTo>
                  <a:lnTo>
                    <a:pt x="1108" y="1047"/>
                  </a:lnTo>
                  <a:lnTo>
                    <a:pt x="784" y="1047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" name="Group 17"/>
            <p:cNvGrpSpPr>
              <a:grpSpLocks/>
            </p:cNvGrpSpPr>
            <p:nvPr userDrawn="1"/>
          </p:nvGrpSpPr>
          <p:grpSpPr bwMode="auto">
            <a:xfrm rot="3220060">
              <a:off x="2631" y="754"/>
              <a:ext cx="569" cy="637"/>
              <a:chOff x="1727" y="866"/>
              <a:chExt cx="129" cy="157"/>
            </a:xfrm>
          </p:grpSpPr>
          <p:sp>
            <p:nvSpPr>
              <p:cNvPr id="36" name="Freeform 18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19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20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" name="Group 21"/>
            <p:cNvGrpSpPr>
              <a:grpSpLocks/>
            </p:cNvGrpSpPr>
            <p:nvPr userDrawn="1"/>
          </p:nvGrpSpPr>
          <p:grpSpPr bwMode="auto">
            <a:xfrm rot="-6691250">
              <a:off x="3637" y="132"/>
              <a:ext cx="356" cy="607"/>
              <a:chOff x="1727" y="866"/>
              <a:chExt cx="129" cy="157"/>
            </a:xfrm>
          </p:grpSpPr>
          <p:sp>
            <p:nvSpPr>
              <p:cNvPr id="33" name="Freeform 22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23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24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4" name="Group 25"/>
            <p:cNvGrpSpPr>
              <a:grpSpLocks/>
            </p:cNvGrpSpPr>
            <p:nvPr userDrawn="1"/>
          </p:nvGrpSpPr>
          <p:grpSpPr bwMode="auto">
            <a:xfrm rot="8524840">
              <a:off x="668" y="3321"/>
              <a:ext cx="501" cy="502"/>
              <a:chOff x="1727" y="866"/>
              <a:chExt cx="129" cy="157"/>
            </a:xfrm>
          </p:grpSpPr>
          <p:sp>
            <p:nvSpPr>
              <p:cNvPr id="30" name="Freeform 26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27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28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" name="Group 29"/>
            <p:cNvGrpSpPr>
              <a:grpSpLocks/>
            </p:cNvGrpSpPr>
            <p:nvPr userDrawn="1"/>
          </p:nvGrpSpPr>
          <p:grpSpPr bwMode="auto">
            <a:xfrm rot="4106450" flipH="1">
              <a:off x="393" y="262"/>
              <a:ext cx="709" cy="892"/>
              <a:chOff x="1727" y="866"/>
              <a:chExt cx="129" cy="157"/>
            </a:xfrm>
          </p:grpSpPr>
          <p:sp>
            <p:nvSpPr>
              <p:cNvPr id="27" name="Freeform 30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Freeform 31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Freeform 32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" name="Group 33"/>
            <p:cNvGrpSpPr>
              <a:grpSpLocks/>
            </p:cNvGrpSpPr>
            <p:nvPr userDrawn="1"/>
          </p:nvGrpSpPr>
          <p:grpSpPr bwMode="auto">
            <a:xfrm rot="10015322" flipH="1">
              <a:off x="4625" y="2382"/>
              <a:ext cx="709" cy="892"/>
              <a:chOff x="1727" y="866"/>
              <a:chExt cx="129" cy="157"/>
            </a:xfrm>
          </p:grpSpPr>
          <p:sp>
            <p:nvSpPr>
              <p:cNvPr id="24" name="Freeform 34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Freeform 35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Freeform 36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" name="Freeform 37"/>
            <p:cNvSpPr>
              <a:spLocks/>
            </p:cNvSpPr>
            <p:nvPr userDrawn="1"/>
          </p:nvSpPr>
          <p:spPr bwMode="ltGray">
            <a:xfrm>
              <a:off x="1217" y="2"/>
              <a:ext cx="862" cy="886"/>
            </a:xfrm>
            <a:custGeom>
              <a:avLst/>
              <a:gdLst>
                <a:gd name="T0" fmla="*/ 0 w 862"/>
                <a:gd name="T1" fmla="*/ 0 h 886"/>
                <a:gd name="T2" fmla="*/ 6 w 862"/>
                <a:gd name="T3" fmla="*/ 107 h 886"/>
                <a:gd name="T4" fmla="*/ 37 w 862"/>
                <a:gd name="T5" fmla="*/ 262 h 886"/>
                <a:gd name="T6" fmla="*/ 83 w 862"/>
                <a:gd name="T7" fmla="*/ 410 h 886"/>
                <a:gd name="T8" fmla="*/ 149 w 862"/>
                <a:gd name="T9" fmla="*/ 546 h 886"/>
                <a:gd name="T10" fmla="*/ 237 w 862"/>
                <a:gd name="T11" fmla="*/ 666 h 886"/>
                <a:gd name="T12" fmla="*/ 338 w 862"/>
                <a:gd name="T13" fmla="*/ 764 h 886"/>
                <a:gd name="T14" fmla="*/ 450 w 862"/>
                <a:gd name="T15" fmla="*/ 838 h 886"/>
                <a:gd name="T16" fmla="*/ 579 w 862"/>
                <a:gd name="T17" fmla="*/ 879 h 886"/>
                <a:gd name="T18" fmla="*/ 714 w 862"/>
                <a:gd name="T19" fmla="*/ 886 h 886"/>
                <a:gd name="T20" fmla="*/ 862 w 862"/>
                <a:gd name="T21" fmla="*/ 851 h 886"/>
                <a:gd name="T22" fmla="*/ 784 w 862"/>
                <a:gd name="T23" fmla="*/ 856 h 886"/>
                <a:gd name="T24" fmla="*/ 700 w 862"/>
                <a:gd name="T25" fmla="*/ 835 h 886"/>
                <a:gd name="T26" fmla="*/ 621 w 862"/>
                <a:gd name="T27" fmla="*/ 794 h 886"/>
                <a:gd name="T28" fmla="*/ 542 w 862"/>
                <a:gd name="T29" fmla="*/ 728 h 886"/>
                <a:gd name="T30" fmla="*/ 466 w 862"/>
                <a:gd name="T31" fmla="*/ 649 h 886"/>
                <a:gd name="T32" fmla="*/ 397 w 862"/>
                <a:gd name="T33" fmla="*/ 557 h 886"/>
                <a:gd name="T34" fmla="*/ 334 w 862"/>
                <a:gd name="T35" fmla="*/ 454 h 886"/>
                <a:gd name="T36" fmla="*/ 279 w 862"/>
                <a:gd name="T37" fmla="*/ 339 h 886"/>
                <a:gd name="T38" fmla="*/ 238 w 862"/>
                <a:gd name="T39" fmla="*/ 225 h 886"/>
                <a:gd name="T40" fmla="*/ 205 w 862"/>
                <a:gd name="T41" fmla="*/ 105 h 886"/>
                <a:gd name="T42" fmla="*/ 184 w 862"/>
                <a:gd name="T43" fmla="*/ 3 h 88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862" h="886">
                  <a:moveTo>
                    <a:pt x="0" y="0"/>
                  </a:moveTo>
                  <a:lnTo>
                    <a:pt x="6" y="107"/>
                  </a:lnTo>
                  <a:lnTo>
                    <a:pt x="37" y="262"/>
                  </a:lnTo>
                  <a:lnTo>
                    <a:pt x="83" y="410"/>
                  </a:lnTo>
                  <a:lnTo>
                    <a:pt x="149" y="546"/>
                  </a:lnTo>
                  <a:lnTo>
                    <a:pt x="237" y="666"/>
                  </a:lnTo>
                  <a:lnTo>
                    <a:pt x="338" y="764"/>
                  </a:lnTo>
                  <a:lnTo>
                    <a:pt x="450" y="838"/>
                  </a:lnTo>
                  <a:lnTo>
                    <a:pt x="579" y="879"/>
                  </a:lnTo>
                  <a:lnTo>
                    <a:pt x="714" y="886"/>
                  </a:lnTo>
                  <a:lnTo>
                    <a:pt x="862" y="851"/>
                  </a:lnTo>
                  <a:lnTo>
                    <a:pt x="784" y="856"/>
                  </a:lnTo>
                  <a:lnTo>
                    <a:pt x="700" y="835"/>
                  </a:lnTo>
                  <a:lnTo>
                    <a:pt x="621" y="794"/>
                  </a:lnTo>
                  <a:lnTo>
                    <a:pt x="542" y="728"/>
                  </a:lnTo>
                  <a:lnTo>
                    <a:pt x="466" y="649"/>
                  </a:lnTo>
                  <a:lnTo>
                    <a:pt x="397" y="557"/>
                  </a:lnTo>
                  <a:lnTo>
                    <a:pt x="334" y="454"/>
                  </a:lnTo>
                  <a:lnTo>
                    <a:pt x="279" y="339"/>
                  </a:lnTo>
                  <a:lnTo>
                    <a:pt x="238" y="225"/>
                  </a:lnTo>
                  <a:lnTo>
                    <a:pt x="205" y="105"/>
                  </a:lnTo>
                  <a:lnTo>
                    <a:pt x="184" y="3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38"/>
            <p:cNvSpPr>
              <a:spLocks/>
            </p:cNvSpPr>
            <p:nvPr userDrawn="1"/>
          </p:nvSpPr>
          <p:spPr bwMode="ltGray">
            <a:xfrm rot="9832527" flipV="1">
              <a:off x="2158" y="102"/>
              <a:ext cx="681" cy="593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63 h 237"/>
                <a:gd name="T4" fmla="*/ 8 w 257"/>
                <a:gd name="T5" fmla="*/ 125 h 237"/>
                <a:gd name="T6" fmla="*/ 16 w 257"/>
                <a:gd name="T7" fmla="*/ 188 h 237"/>
                <a:gd name="T8" fmla="*/ 29 w 257"/>
                <a:gd name="T9" fmla="*/ 245 h 237"/>
                <a:gd name="T10" fmla="*/ 48 w 257"/>
                <a:gd name="T11" fmla="*/ 298 h 237"/>
                <a:gd name="T12" fmla="*/ 72 w 257"/>
                <a:gd name="T13" fmla="*/ 353 h 237"/>
                <a:gd name="T14" fmla="*/ 101 w 257"/>
                <a:gd name="T15" fmla="*/ 403 h 237"/>
                <a:gd name="T16" fmla="*/ 135 w 257"/>
                <a:gd name="T17" fmla="*/ 445 h 237"/>
                <a:gd name="T18" fmla="*/ 178 w 257"/>
                <a:gd name="T19" fmla="*/ 485 h 237"/>
                <a:gd name="T20" fmla="*/ 228 w 257"/>
                <a:gd name="T21" fmla="*/ 520 h 237"/>
                <a:gd name="T22" fmla="*/ 281 w 257"/>
                <a:gd name="T23" fmla="*/ 548 h 237"/>
                <a:gd name="T24" fmla="*/ 347 w 257"/>
                <a:gd name="T25" fmla="*/ 570 h 237"/>
                <a:gd name="T26" fmla="*/ 419 w 257"/>
                <a:gd name="T27" fmla="*/ 585 h 237"/>
                <a:gd name="T28" fmla="*/ 498 w 257"/>
                <a:gd name="T29" fmla="*/ 593 h 237"/>
                <a:gd name="T30" fmla="*/ 583 w 257"/>
                <a:gd name="T31" fmla="*/ 590 h 237"/>
                <a:gd name="T32" fmla="*/ 681 w 257"/>
                <a:gd name="T33" fmla="*/ 580 h 237"/>
                <a:gd name="T34" fmla="*/ 594 w 257"/>
                <a:gd name="T35" fmla="*/ 568 h 237"/>
                <a:gd name="T36" fmla="*/ 517 w 257"/>
                <a:gd name="T37" fmla="*/ 550 h 237"/>
                <a:gd name="T38" fmla="*/ 450 w 257"/>
                <a:gd name="T39" fmla="*/ 530 h 237"/>
                <a:gd name="T40" fmla="*/ 392 w 257"/>
                <a:gd name="T41" fmla="*/ 510 h 237"/>
                <a:gd name="T42" fmla="*/ 339 w 257"/>
                <a:gd name="T43" fmla="*/ 483 h 237"/>
                <a:gd name="T44" fmla="*/ 297 w 257"/>
                <a:gd name="T45" fmla="*/ 455 h 237"/>
                <a:gd name="T46" fmla="*/ 257 w 257"/>
                <a:gd name="T47" fmla="*/ 423 h 237"/>
                <a:gd name="T48" fmla="*/ 223 w 257"/>
                <a:gd name="T49" fmla="*/ 388 h 237"/>
                <a:gd name="T50" fmla="*/ 191 w 257"/>
                <a:gd name="T51" fmla="*/ 353 h 237"/>
                <a:gd name="T52" fmla="*/ 162 w 257"/>
                <a:gd name="T53" fmla="*/ 313 h 237"/>
                <a:gd name="T54" fmla="*/ 138 w 257"/>
                <a:gd name="T55" fmla="*/ 268 h 237"/>
                <a:gd name="T56" fmla="*/ 114 w 257"/>
                <a:gd name="T57" fmla="*/ 220 h 237"/>
                <a:gd name="T58" fmla="*/ 87 w 257"/>
                <a:gd name="T59" fmla="*/ 173 h 237"/>
                <a:gd name="T60" fmla="*/ 61 w 257"/>
                <a:gd name="T61" fmla="*/ 118 h 237"/>
                <a:gd name="T62" fmla="*/ 32 w 257"/>
                <a:gd name="T63" fmla="*/ 60 h 237"/>
                <a:gd name="T64" fmla="*/ 0 w 257"/>
                <a:gd name="T65" fmla="*/ 0 h 2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39"/>
            <p:cNvSpPr>
              <a:spLocks/>
            </p:cNvSpPr>
            <p:nvPr userDrawn="1"/>
          </p:nvSpPr>
          <p:spPr bwMode="ltGray">
            <a:xfrm rot="9832527" flipV="1">
              <a:off x="1997" y="858"/>
              <a:ext cx="330" cy="278"/>
            </a:xfrm>
            <a:custGeom>
              <a:avLst/>
              <a:gdLst>
                <a:gd name="T0" fmla="*/ 205 w 124"/>
                <a:gd name="T1" fmla="*/ 0 h 110"/>
                <a:gd name="T2" fmla="*/ 330 w 124"/>
                <a:gd name="T3" fmla="*/ 273 h 110"/>
                <a:gd name="T4" fmla="*/ 319 w 124"/>
                <a:gd name="T5" fmla="*/ 270 h 110"/>
                <a:gd name="T6" fmla="*/ 285 w 124"/>
                <a:gd name="T7" fmla="*/ 265 h 110"/>
                <a:gd name="T8" fmla="*/ 237 w 124"/>
                <a:gd name="T9" fmla="*/ 255 h 110"/>
                <a:gd name="T10" fmla="*/ 181 w 124"/>
                <a:gd name="T11" fmla="*/ 250 h 110"/>
                <a:gd name="T12" fmla="*/ 120 w 124"/>
                <a:gd name="T13" fmla="*/ 245 h 110"/>
                <a:gd name="T14" fmla="*/ 67 w 124"/>
                <a:gd name="T15" fmla="*/ 248 h 110"/>
                <a:gd name="T16" fmla="*/ 24 w 124"/>
                <a:gd name="T17" fmla="*/ 258 h 110"/>
                <a:gd name="T18" fmla="*/ 0 w 124"/>
                <a:gd name="T19" fmla="*/ 278 h 110"/>
                <a:gd name="T20" fmla="*/ 11 w 124"/>
                <a:gd name="T21" fmla="*/ 248 h 110"/>
                <a:gd name="T22" fmla="*/ 21 w 124"/>
                <a:gd name="T23" fmla="*/ 225 h 110"/>
                <a:gd name="T24" fmla="*/ 43 w 124"/>
                <a:gd name="T25" fmla="*/ 207 h 110"/>
                <a:gd name="T26" fmla="*/ 67 w 124"/>
                <a:gd name="T27" fmla="*/ 192 h 110"/>
                <a:gd name="T28" fmla="*/ 96 w 124"/>
                <a:gd name="T29" fmla="*/ 182 h 110"/>
                <a:gd name="T30" fmla="*/ 125 w 124"/>
                <a:gd name="T31" fmla="*/ 179 h 110"/>
                <a:gd name="T32" fmla="*/ 157 w 124"/>
                <a:gd name="T33" fmla="*/ 179 h 110"/>
                <a:gd name="T34" fmla="*/ 192 w 124"/>
                <a:gd name="T35" fmla="*/ 187 h 110"/>
                <a:gd name="T36" fmla="*/ 194 w 124"/>
                <a:gd name="T37" fmla="*/ 179 h 110"/>
                <a:gd name="T38" fmla="*/ 186 w 124"/>
                <a:gd name="T39" fmla="*/ 142 h 110"/>
                <a:gd name="T40" fmla="*/ 178 w 124"/>
                <a:gd name="T41" fmla="*/ 96 h 110"/>
                <a:gd name="T42" fmla="*/ 173 w 124"/>
                <a:gd name="T43" fmla="*/ 76 h 110"/>
                <a:gd name="T44" fmla="*/ 168 w 124"/>
                <a:gd name="T45" fmla="*/ 76 h 110"/>
                <a:gd name="T46" fmla="*/ 162 w 124"/>
                <a:gd name="T47" fmla="*/ 73 h 110"/>
                <a:gd name="T48" fmla="*/ 157 w 124"/>
                <a:gd name="T49" fmla="*/ 66 h 110"/>
                <a:gd name="T50" fmla="*/ 152 w 124"/>
                <a:gd name="T51" fmla="*/ 58 h 110"/>
                <a:gd name="T52" fmla="*/ 152 w 124"/>
                <a:gd name="T53" fmla="*/ 48 h 110"/>
                <a:gd name="T54" fmla="*/ 157 w 124"/>
                <a:gd name="T55" fmla="*/ 35 h 110"/>
                <a:gd name="T56" fmla="*/ 176 w 124"/>
                <a:gd name="T57" fmla="*/ 20 h 110"/>
                <a:gd name="T58" fmla="*/ 205 w 124"/>
                <a:gd name="T59" fmla="*/ 0 h 11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40"/>
            <p:cNvSpPr>
              <a:spLocks/>
            </p:cNvSpPr>
            <p:nvPr userDrawn="1"/>
          </p:nvSpPr>
          <p:spPr bwMode="ltGray">
            <a:xfrm rot="9832527" flipV="1">
              <a:off x="2224" y="808"/>
              <a:ext cx="123" cy="233"/>
            </a:xfrm>
            <a:custGeom>
              <a:avLst/>
              <a:gdLst>
                <a:gd name="T0" fmla="*/ 83 w 46"/>
                <a:gd name="T1" fmla="*/ 0 h 94"/>
                <a:gd name="T2" fmla="*/ 53 w 46"/>
                <a:gd name="T3" fmla="*/ 94 h 94"/>
                <a:gd name="T4" fmla="*/ 40 w 46"/>
                <a:gd name="T5" fmla="*/ 154 h 94"/>
                <a:gd name="T6" fmla="*/ 29 w 46"/>
                <a:gd name="T7" fmla="*/ 196 h 94"/>
                <a:gd name="T8" fmla="*/ 0 w 46"/>
                <a:gd name="T9" fmla="*/ 233 h 94"/>
                <a:gd name="T10" fmla="*/ 32 w 46"/>
                <a:gd name="T11" fmla="*/ 218 h 94"/>
                <a:gd name="T12" fmla="*/ 62 w 46"/>
                <a:gd name="T13" fmla="*/ 198 h 94"/>
                <a:gd name="T14" fmla="*/ 86 w 46"/>
                <a:gd name="T15" fmla="*/ 171 h 94"/>
                <a:gd name="T16" fmla="*/ 107 w 46"/>
                <a:gd name="T17" fmla="*/ 141 h 94"/>
                <a:gd name="T18" fmla="*/ 120 w 46"/>
                <a:gd name="T19" fmla="*/ 109 h 94"/>
                <a:gd name="T20" fmla="*/ 123 w 46"/>
                <a:gd name="T21" fmla="*/ 74 h 94"/>
                <a:gd name="T22" fmla="*/ 112 w 46"/>
                <a:gd name="T23" fmla="*/ 37 h 94"/>
                <a:gd name="T24" fmla="*/ 83 w 46"/>
                <a:gd name="T25" fmla="*/ 0 h 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41"/>
            <p:cNvSpPr>
              <a:spLocks/>
            </p:cNvSpPr>
            <p:nvPr userDrawn="1"/>
          </p:nvSpPr>
          <p:spPr bwMode="ltGray">
            <a:xfrm>
              <a:off x="1603" y="0"/>
              <a:ext cx="124" cy="121"/>
            </a:xfrm>
            <a:custGeom>
              <a:avLst/>
              <a:gdLst>
                <a:gd name="T0" fmla="*/ 124 w 124"/>
                <a:gd name="T1" fmla="*/ 0 h 121"/>
                <a:gd name="T2" fmla="*/ 113 w 124"/>
                <a:gd name="T3" fmla="*/ 9 h 121"/>
                <a:gd name="T4" fmla="*/ 99 w 124"/>
                <a:gd name="T5" fmla="*/ 25 h 121"/>
                <a:gd name="T6" fmla="*/ 81 w 124"/>
                <a:gd name="T7" fmla="*/ 41 h 121"/>
                <a:gd name="T8" fmla="*/ 63 w 124"/>
                <a:gd name="T9" fmla="*/ 54 h 121"/>
                <a:gd name="T10" fmla="*/ 41 w 124"/>
                <a:gd name="T11" fmla="*/ 66 h 121"/>
                <a:gd name="T12" fmla="*/ 22 w 124"/>
                <a:gd name="T13" fmla="*/ 74 h 121"/>
                <a:gd name="T14" fmla="*/ 0 w 124"/>
                <a:gd name="T15" fmla="*/ 75 h 121"/>
                <a:gd name="T16" fmla="*/ 10 w 124"/>
                <a:gd name="T17" fmla="*/ 96 h 121"/>
                <a:gd name="T18" fmla="*/ 23 w 124"/>
                <a:gd name="T19" fmla="*/ 113 h 121"/>
                <a:gd name="T20" fmla="*/ 41 w 124"/>
                <a:gd name="T21" fmla="*/ 121 h 121"/>
                <a:gd name="T22" fmla="*/ 60 w 124"/>
                <a:gd name="T23" fmla="*/ 121 h 121"/>
                <a:gd name="T24" fmla="*/ 83 w 124"/>
                <a:gd name="T25" fmla="*/ 111 h 121"/>
                <a:gd name="T26" fmla="*/ 101 w 124"/>
                <a:gd name="T27" fmla="*/ 88 h 121"/>
                <a:gd name="T28" fmla="*/ 116 w 124"/>
                <a:gd name="T29" fmla="*/ 53 h 121"/>
                <a:gd name="T30" fmla="*/ 124 w 124"/>
                <a:gd name="T31" fmla="*/ 0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24" h="121">
                  <a:moveTo>
                    <a:pt x="124" y="0"/>
                  </a:moveTo>
                  <a:lnTo>
                    <a:pt x="113" y="9"/>
                  </a:lnTo>
                  <a:lnTo>
                    <a:pt x="99" y="25"/>
                  </a:lnTo>
                  <a:lnTo>
                    <a:pt x="81" y="41"/>
                  </a:lnTo>
                  <a:lnTo>
                    <a:pt x="63" y="54"/>
                  </a:lnTo>
                  <a:lnTo>
                    <a:pt x="41" y="66"/>
                  </a:lnTo>
                  <a:lnTo>
                    <a:pt x="22" y="74"/>
                  </a:lnTo>
                  <a:lnTo>
                    <a:pt x="0" y="75"/>
                  </a:lnTo>
                  <a:lnTo>
                    <a:pt x="10" y="96"/>
                  </a:lnTo>
                  <a:lnTo>
                    <a:pt x="23" y="113"/>
                  </a:lnTo>
                  <a:lnTo>
                    <a:pt x="41" y="121"/>
                  </a:lnTo>
                  <a:lnTo>
                    <a:pt x="60" y="121"/>
                  </a:lnTo>
                  <a:lnTo>
                    <a:pt x="83" y="111"/>
                  </a:lnTo>
                  <a:lnTo>
                    <a:pt x="101" y="88"/>
                  </a:lnTo>
                  <a:lnTo>
                    <a:pt x="116" y="5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42"/>
            <p:cNvSpPr>
              <a:spLocks/>
            </p:cNvSpPr>
            <p:nvPr userDrawn="1"/>
          </p:nvSpPr>
          <p:spPr bwMode="ltGray">
            <a:xfrm rot="9832527" flipV="1">
              <a:off x="2173" y="1238"/>
              <a:ext cx="393" cy="2300"/>
            </a:xfrm>
            <a:custGeom>
              <a:avLst/>
              <a:gdLst>
                <a:gd name="T0" fmla="*/ 0 w 149"/>
                <a:gd name="T1" fmla="*/ 0 h 704"/>
                <a:gd name="T2" fmla="*/ 16 w 149"/>
                <a:gd name="T3" fmla="*/ 20 h 704"/>
                <a:gd name="T4" fmla="*/ 42 w 149"/>
                <a:gd name="T5" fmla="*/ 46 h 704"/>
                <a:gd name="T6" fmla="*/ 74 w 149"/>
                <a:gd name="T7" fmla="*/ 78 h 704"/>
                <a:gd name="T8" fmla="*/ 108 w 149"/>
                <a:gd name="T9" fmla="*/ 121 h 704"/>
                <a:gd name="T10" fmla="*/ 153 w 149"/>
                <a:gd name="T11" fmla="*/ 173 h 704"/>
                <a:gd name="T12" fmla="*/ 193 w 149"/>
                <a:gd name="T13" fmla="*/ 229 h 704"/>
                <a:gd name="T14" fmla="*/ 232 w 149"/>
                <a:gd name="T15" fmla="*/ 294 h 704"/>
                <a:gd name="T16" fmla="*/ 264 w 149"/>
                <a:gd name="T17" fmla="*/ 369 h 704"/>
                <a:gd name="T18" fmla="*/ 295 w 149"/>
                <a:gd name="T19" fmla="*/ 448 h 704"/>
                <a:gd name="T20" fmla="*/ 317 w 149"/>
                <a:gd name="T21" fmla="*/ 539 h 704"/>
                <a:gd name="T22" fmla="*/ 327 w 149"/>
                <a:gd name="T23" fmla="*/ 640 h 704"/>
                <a:gd name="T24" fmla="*/ 332 w 149"/>
                <a:gd name="T25" fmla="*/ 745 h 704"/>
                <a:gd name="T26" fmla="*/ 317 w 149"/>
                <a:gd name="T27" fmla="*/ 863 h 704"/>
                <a:gd name="T28" fmla="*/ 287 w 149"/>
                <a:gd name="T29" fmla="*/ 987 h 704"/>
                <a:gd name="T30" fmla="*/ 243 w 149"/>
                <a:gd name="T31" fmla="*/ 1117 h 704"/>
                <a:gd name="T32" fmla="*/ 177 w 149"/>
                <a:gd name="T33" fmla="*/ 1261 h 704"/>
                <a:gd name="T34" fmla="*/ 103 w 149"/>
                <a:gd name="T35" fmla="*/ 1424 h 704"/>
                <a:gd name="T36" fmla="*/ 55 w 149"/>
                <a:gd name="T37" fmla="*/ 1575 h 704"/>
                <a:gd name="T38" fmla="*/ 26 w 149"/>
                <a:gd name="T39" fmla="*/ 1715 h 704"/>
                <a:gd name="T40" fmla="*/ 16 w 149"/>
                <a:gd name="T41" fmla="*/ 1849 h 704"/>
                <a:gd name="T42" fmla="*/ 16 w 149"/>
                <a:gd name="T43" fmla="*/ 1977 h 704"/>
                <a:gd name="T44" fmla="*/ 21 w 149"/>
                <a:gd name="T45" fmla="*/ 2094 h 704"/>
                <a:gd name="T46" fmla="*/ 32 w 149"/>
                <a:gd name="T47" fmla="*/ 2199 h 704"/>
                <a:gd name="T48" fmla="*/ 37 w 149"/>
                <a:gd name="T49" fmla="*/ 2300 h 704"/>
                <a:gd name="T50" fmla="*/ 108 w 149"/>
                <a:gd name="T51" fmla="*/ 2248 h 704"/>
                <a:gd name="T52" fmla="*/ 103 w 149"/>
                <a:gd name="T53" fmla="*/ 2222 h 704"/>
                <a:gd name="T54" fmla="*/ 95 w 149"/>
                <a:gd name="T55" fmla="*/ 2146 h 704"/>
                <a:gd name="T56" fmla="*/ 87 w 149"/>
                <a:gd name="T57" fmla="*/ 2032 h 704"/>
                <a:gd name="T58" fmla="*/ 92 w 149"/>
                <a:gd name="T59" fmla="*/ 1879 h 704"/>
                <a:gd name="T60" fmla="*/ 108 w 149"/>
                <a:gd name="T61" fmla="*/ 1696 h 704"/>
                <a:gd name="T62" fmla="*/ 153 w 149"/>
                <a:gd name="T63" fmla="*/ 1487 h 704"/>
                <a:gd name="T64" fmla="*/ 227 w 149"/>
                <a:gd name="T65" fmla="*/ 1261 h 704"/>
                <a:gd name="T66" fmla="*/ 340 w 149"/>
                <a:gd name="T67" fmla="*/ 1023 h 704"/>
                <a:gd name="T68" fmla="*/ 377 w 149"/>
                <a:gd name="T69" fmla="*/ 912 h 704"/>
                <a:gd name="T70" fmla="*/ 393 w 149"/>
                <a:gd name="T71" fmla="*/ 768 h 704"/>
                <a:gd name="T72" fmla="*/ 380 w 149"/>
                <a:gd name="T73" fmla="*/ 601 h 704"/>
                <a:gd name="T74" fmla="*/ 346 w 149"/>
                <a:gd name="T75" fmla="*/ 438 h 704"/>
                <a:gd name="T76" fmla="*/ 287 w 149"/>
                <a:gd name="T77" fmla="*/ 278 h 704"/>
                <a:gd name="T78" fmla="*/ 214 w 149"/>
                <a:gd name="T79" fmla="*/ 144 h 704"/>
                <a:gd name="T80" fmla="*/ 116 w 149"/>
                <a:gd name="T81" fmla="*/ 46 h 704"/>
                <a:gd name="T82" fmla="*/ 0 w 149"/>
                <a:gd name="T83" fmla="*/ 0 h 70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49" h="704">
                  <a:moveTo>
                    <a:pt x="0" y="0"/>
                  </a:moveTo>
                  <a:lnTo>
                    <a:pt x="6" y="6"/>
                  </a:lnTo>
                  <a:lnTo>
                    <a:pt x="16" y="14"/>
                  </a:lnTo>
                  <a:lnTo>
                    <a:pt x="28" y="24"/>
                  </a:lnTo>
                  <a:lnTo>
                    <a:pt x="41" y="37"/>
                  </a:lnTo>
                  <a:lnTo>
                    <a:pt x="58" y="53"/>
                  </a:lnTo>
                  <a:lnTo>
                    <a:pt x="73" y="70"/>
                  </a:lnTo>
                  <a:lnTo>
                    <a:pt x="88" y="90"/>
                  </a:lnTo>
                  <a:lnTo>
                    <a:pt x="100" y="113"/>
                  </a:lnTo>
                  <a:lnTo>
                    <a:pt x="112" y="137"/>
                  </a:lnTo>
                  <a:lnTo>
                    <a:pt x="120" y="165"/>
                  </a:lnTo>
                  <a:lnTo>
                    <a:pt x="124" y="196"/>
                  </a:lnTo>
                  <a:lnTo>
                    <a:pt x="126" y="228"/>
                  </a:lnTo>
                  <a:lnTo>
                    <a:pt x="120" y="264"/>
                  </a:lnTo>
                  <a:lnTo>
                    <a:pt x="109" y="302"/>
                  </a:lnTo>
                  <a:lnTo>
                    <a:pt x="92" y="342"/>
                  </a:lnTo>
                  <a:lnTo>
                    <a:pt x="67" y="386"/>
                  </a:lnTo>
                  <a:lnTo>
                    <a:pt x="39" y="436"/>
                  </a:lnTo>
                  <a:lnTo>
                    <a:pt x="21" y="482"/>
                  </a:lnTo>
                  <a:lnTo>
                    <a:pt x="10" y="525"/>
                  </a:lnTo>
                  <a:lnTo>
                    <a:pt x="6" y="566"/>
                  </a:lnTo>
                  <a:lnTo>
                    <a:pt x="6" y="605"/>
                  </a:lnTo>
                  <a:lnTo>
                    <a:pt x="8" y="641"/>
                  </a:lnTo>
                  <a:lnTo>
                    <a:pt x="12" y="673"/>
                  </a:lnTo>
                  <a:lnTo>
                    <a:pt x="14" y="704"/>
                  </a:lnTo>
                  <a:lnTo>
                    <a:pt x="41" y="688"/>
                  </a:lnTo>
                  <a:lnTo>
                    <a:pt x="39" y="680"/>
                  </a:lnTo>
                  <a:lnTo>
                    <a:pt x="36" y="657"/>
                  </a:lnTo>
                  <a:lnTo>
                    <a:pt x="33" y="622"/>
                  </a:lnTo>
                  <a:lnTo>
                    <a:pt x="35" y="575"/>
                  </a:lnTo>
                  <a:lnTo>
                    <a:pt x="41" y="519"/>
                  </a:lnTo>
                  <a:lnTo>
                    <a:pt x="58" y="455"/>
                  </a:lnTo>
                  <a:lnTo>
                    <a:pt x="86" y="386"/>
                  </a:lnTo>
                  <a:lnTo>
                    <a:pt x="129" y="313"/>
                  </a:lnTo>
                  <a:lnTo>
                    <a:pt x="143" y="279"/>
                  </a:lnTo>
                  <a:lnTo>
                    <a:pt x="149" y="235"/>
                  </a:lnTo>
                  <a:lnTo>
                    <a:pt x="144" y="184"/>
                  </a:lnTo>
                  <a:lnTo>
                    <a:pt x="131" y="134"/>
                  </a:lnTo>
                  <a:lnTo>
                    <a:pt x="109" y="85"/>
                  </a:lnTo>
                  <a:lnTo>
                    <a:pt x="81" y="44"/>
                  </a:lnTo>
                  <a:lnTo>
                    <a:pt x="44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43"/>
            <p:cNvSpPr>
              <a:spLocks/>
            </p:cNvSpPr>
            <p:nvPr userDrawn="1"/>
          </p:nvSpPr>
          <p:spPr bwMode="ltGray">
            <a:xfrm>
              <a:off x="0" y="1848"/>
              <a:ext cx="36" cy="132"/>
            </a:xfrm>
            <a:custGeom>
              <a:avLst/>
              <a:gdLst>
                <a:gd name="T0" fmla="*/ 0 w 36"/>
                <a:gd name="T1" fmla="*/ 0 h 132"/>
                <a:gd name="T2" fmla="*/ 36 w 36"/>
                <a:gd name="T3" fmla="*/ 12 h 132"/>
                <a:gd name="T4" fmla="*/ 0 w 36"/>
                <a:gd name="T5" fmla="*/ 132 h 132"/>
                <a:gd name="T6" fmla="*/ 0 w 36"/>
                <a:gd name="T7" fmla="*/ 0 h 1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132">
                  <a:moveTo>
                    <a:pt x="0" y="0"/>
                  </a:moveTo>
                  <a:lnTo>
                    <a:pt x="36" y="12"/>
                  </a:lnTo>
                  <a:lnTo>
                    <a:pt x="0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959" name="Rectangle 47"/>
          <p:cNvSpPr>
            <a:spLocks noGrp="1" noChangeArrowheads="1"/>
          </p:cNvSpPr>
          <p:nvPr>
            <p:ph type="ctrTitle"/>
          </p:nvPr>
        </p:nvSpPr>
        <p:spPr>
          <a:xfrm>
            <a:off x="2455863" y="596900"/>
            <a:ext cx="6192837" cy="3581400"/>
          </a:xfrm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rgbClr val="993366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5200" b="1"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38960" name="Rectangle 48"/>
          <p:cNvSpPr>
            <a:spLocks noGrp="1" noChangeArrowheads="1"/>
          </p:cNvSpPr>
          <p:nvPr>
            <p:ph type="subTitle" idx="1"/>
          </p:nvPr>
        </p:nvSpPr>
        <p:spPr>
          <a:xfrm>
            <a:off x="2489200" y="4279900"/>
            <a:ext cx="6146800" cy="1485900"/>
          </a:xfrm>
        </p:spPr>
        <p:txBody>
          <a:bodyPr/>
          <a:lstStyle>
            <a:lvl1pPr marL="0" indent="0" algn="ctr">
              <a:buFontTx/>
              <a:buNone/>
              <a:defRPr b="1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46" name="Rectangle 4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4A2F3D8-953F-4CCA-81FD-5BD1CA8CF8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1394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DC7F39-8E69-4E11-B367-501BA688A5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0673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658027-CB86-4DE1-9146-641FD342271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3465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A79C68-8DD3-4860-AE4E-8506A903E7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9087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FE4C36-C8A0-4C22-9B74-075333C6F1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4280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9AE3D-1395-42B9-BB3D-496E09B2EB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6786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EC41D2-28F7-4157-9F13-6485212823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8378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D8DC3A-33AF-40D7-8847-63F64C3258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6155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683131-8C0B-4BE0-884B-59FD293035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0784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3793F6-D04E-480B-BB9D-DE47F2BF1F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0063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103188"/>
            <a:ext cx="2060575" cy="59531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2913" y="103188"/>
            <a:ext cx="6030912" cy="59531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309DB2-F13F-47B5-B01C-F2A58ACE6D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0013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45611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D69B32-2990-41A4-9092-EDBD14D4A1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3031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F0A191-C7AD-4066-968D-776A2DAF37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70233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TJU</a:t>
            </a:r>
            <a:endParaRPr lang="zh-CN" altLang="en-US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185F626-605D-408C-8D05-1B957DF4F9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267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TJU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6DEADBD-3689-45E3-AA7C-EB65285A444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7413440"/>
      </p:ext>
    </p:extLst>
  </p:cSld>
  <p:clrMapOvr>
    <a:masterClrMapping/>
  </p:clrMapOvr>
  <p:transition spd="slow">
    <p:pull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-7938" y="0"/>
            <a:ext cx="2833688" cy="6856413"/>
            <a:chOff x="-5" y="0"/>
            <a:chExt cx="1785" cy="4319"/>
          </a:xfrm>
        </p:grpSpPr>
        <p:sp>
          <p:nvSpPr>
            <p:cNvPr id="1032" name="Freeform 3"/>
            <p:cNvSpPr>
              <a:spLocks/>
            </p:cNvSpPr>
            <p:nvPr/>
          </p:nvSpPr>
          <p:spPr bwMode="ltGray">
            <a:xfrm>
              <a:off x="-5" y="3262"/>
              <a:ext cx="472" cy="802"/>
            </a:xfrm>
            <a:custGeom>
              <a:avLst/>
              <a:gdLst>
                <a:gd name="T0" fmla="*/ 5 w 472"/>
                <a:gd name="T1" fmla="*/ 32 h 802"/>
                <a:gd name="T2" fmla="*/ 189 w 472"/>
                <a:gd name="T3" fmla="*/ 26 h 802"/>
                <a:gd name="T4" fmla="*/ 309 w 472"/>
                <a:gd name="T5" fmla="*/ 66 h 802"/>
                <a:gd name="T6" fmla="*/ 357 w 472"/>
                <a:gd name="T7" fmla="*/ 98 h 802"/>
                <a:gd name="T8" fmla="*/ 413 w 472"/>
                <a:gd name="T9" fmla="*/ 162 h 802"/>
                <a:gd name="T10" fmla="*/ 437 w 472"/>
                <a:gd name="T11" fmla="*/ 250 h 802"/>
                <a:gd name="T12" fmla="*/ 397 w 472"/>
                <a:gd name="T13" fmla="*/ 530 h 802"/>
                <a:gd name="T14" fmla="*/ 341 w 472"/>
                <a:gd name="T15" fmla="*/ 634 h 802"/>
                <a:gd name="T16" fmla="*/ 173 w 472"/>
                <a:gd name="T17" fmla="*/ 714 h 802"/>
                <a:gd name="T18" fmla="*/ 77 w 472"/>
                <a:gd name="T19" fmla="*/ 730 h 802"/>
                <a:gd name="T20" fmla="*/ 69 w 472"/>
                <a:gd name="T21" fmla="*/ 802 h 802"/>
                <a:gd name="T22" fmla="*/ 7 w 472"/>
                <a:gd name="T23" fmla="*/ 788 h 802"/>
                <a:gd name="T24" fmla="*/ 5 w 472"/>
                <a:gd name="T25" fmla="*/ 751 h 802"/>
                <a:gd name="T26" fmla="*/ 37 w 472"/>
                <a:gd name="T27" fmla="*/ 722 h 802"/>
                <a:gd name="T28" fmla="*/ 5 w 472"/>
                <a:gd name="T29" fmla="*/ 670 h 802"/>
                <a:gd name="T30" fmla="*/ 5 w 472"/>
                <a:gd name="T31" fmla="*/ 32 h 8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72" h="802">
                  <a:moveTo>
                    <a:pt x="5" y="32"/>
                  </a:moveTo>
                  <a:cubicBezTo>
                    <a:pt x="101" y="0"/>
                    <a:pt x="20" y="17"/>
                    <a:pt x="189" y="26"/>
                  </a:cubicBezTo>
                  <a:cubicBezTo>
                    <a:pt x="221" y="37"/>
                    <a:pt x="280" y="47"/>
                    <a:pt x="309" y="66"/>
                  </a:cubicBezTo>
                  <a:cubicBezTo>
                    <a:pt x="325" y="77"/>
                    <a:pt x="357" y="98"/>
                    <a:pt x="357" y="98"/>
                  </a:cubicBezTo>
                  <a:cubicBezTo>
                    <a:pt x="394" y="154"/>
                    <a:pt x="373" y="135"/>
                    <a:pt x="413" y="162"/>
                  </a:cubicBezTo>
                  <a:cubicBezTo>
                    <a:pt x="433" y="223"/>
                    <a:pt x="426" y="193"/>
                    <a:pt x="437" y="250"/>
                  </a:cubicBezTo>
                  <a:cubicBezTo>
                    <a:pt x="433" y="370"/>
                    <a:pt x="472" y="455"/>
                    <a:pt x="397" y="530"/>
                  </a:cubicBezTo>
                  <a:cubicBezTo>
                    <a:pt x="385" y="567"/>
                    <a:pt x="368" y="607"/>
                    <a:pt x="341" y="634"/>
                  </a:cubicBezTo>
                  <a:cubicBezTo>
                    <a:pt x="319" y="701"/>
                    <a:pt x="233" y="707"/>
                    <a:pt x="173" y="714"/>
                  </a:cubicBezTo>
                  <a:cubicBezTo>
                    <a:pt x="142" y="724"/>
                    <a:pt x="100" y="707"/>
                    <a:pt x="77" y="730"/>
                  </a:cubicBezTo>
                  <a:cubicBezTo>
                    <a:pt x="60" y="747"/>
                    <a:pt x="72" y="778"/>
                    <a:pt x="69" y="802"/>
                  </a:cubicBezTo>
                  <a:cubicBezTo>
                    <a:pt x="53" y="799"/>
                    <a:pt x="23" y="792"/>
                    <a:pt x="7" y="788"/>
                  </a:cubicBezTo>
                  <a:cubicBezTo>
                    <a:pt x="5" y="788"/>
                    <a:pt x="0" y="762"/>
                    <a:pt x="5" y="751"/>
                  </a:cubicBezTo>
                  <a:cubicBezTo>
                    <a:pt x="10" y="740"/>
                    <a:pt x="37" y="735"/>
                    <a:pt x="37" y="722"/>
                  </a:cubicBezTo>
                  <a:cubicBezTo>
                    <a:pt x="26" y="682"/>
                    <a:pt x="22" y="685"/>
                    <a:pt x="5" y="670"/>
                  </a:cubicBezTo>
                  <a:cubicBezTo>
                    <a:pt x="5" y="541"/>
                    <a:pt x="5" y="233"/>
                    <a:pt x="5" y="32"/>
                  </a:cubicBezTo>
                  <a:close/>
                </a:path>
              </a:pathLst>
            </a:custGeom>
            <a:solidFill>
              <a:schemeClr val="folHlink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3" name="Group 4"/>
            <p:cNvGrpSpPr>
              <a:grpSpLocks/>
            </p:cNvGrpSpPr>
            <p:nvPr/>
          </p:nvGrpSpPr>
          <p:grpSpPr bwMode="auto">
            <a:xfrm rot="14964908" flipH="1">
              <a:off x="104" y="2441"/>
              <a:ext cx="452" cy="444"/>
              <a:chOff x="1727" y="866"/>
              <a:chExt cx="129" cy="157"/>
            </a:xfrm>
          </p:grpSpPr>
          <p:sp>
            <p:nvSpPr>
              <p:cNvPr id="1071" name="Freeform 5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2" name="Freeform 6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3" name="Freeform 7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4" name="Freeform 8"/>
            <p:cNvSpPr>
              <a:spLocks/>
            </p:cNvSpPr>
            <p:nvPr/>
          </p:nvSpPr>
          <p:spPr bwMode="ltGray">
            <a:xfrm>
              <a:off x="90" y="1736"/>
              <a:ext cx="710" cy="768"/>
            </a:xfrm>
            <a:custGeom>
              <a:avLst/>
              <a:gdLst>
                <a:gd name="T0" fmla="*/ 14 w 710"/>
                <a:gd name="T1" fmla="*/ 416 h 768"/>
                <a:gd name="T2" fmla="*/ 14 w 710"/>
                <a:gd name="T3" fmla="*/ 272 h 768"/>
                <a:gd name="T4" fmla="*/ 102 w 710"/>
                <a:gd name="T5" fmla="*/ 144 h 768"/>
                <a:gd name="T6" fmla="*/ 150 w 710"/>
                <a:gd name="T7" fmla="*/ 96 h 768"/>
                <a:gd name="T8" fmla="*/ 198 w 710"/>
                <a:gd name="T9" fmla="*/ 64 h 768"/>
                <a:gd name="T10" fmla="*/ 350 w 710"/>
                <a:gd name="T11" fmla="*/ 0 h 768"/>
                <a:gd name="T12" fmla="*/ 534 w 710"/>
                <a:gd name="T13" fmla="*/ 8 h 768"/>
                <a:gd name="T14" fmla="*/ 662 w 710"/>
                <a:gd name="T15" fmla="*/ 96 h 768"/>
                <a:gd name="T16" fmla="*/ 710 w 710"/>
                <a:gd name="T17" fmla="*/ 200 h 768"/>
                <a:gd name="T18" fmla="*/ 702 w 710"/>
                <a:gd name="T19" fmla="*/ 400 h 768"/>
                <a:gd name="T20" fmla="*/ 678 w 710"/>
                <a:gd name="T21" fmla="*/ 448 h 768"/>
                <a:gd name="T22" fmla="*/ 550 w 710"/>
                <a:gd name="T23" fmla="*/ 632 h 768"/>
                <a:gd name="T24" fmla="*/ 518 w 710"/>
                <a:gd name="T25" fmla="*/ 656 h 768"/>
                <a:gd name="T26" fmla="*/ 470 w 710"/>
                <a:gd name="T27" fmla="*/ 664 h 768"/>
                <a:gd name="T28" fmla="*/ 518 w 710"/>
                <a:gd name="T29" fmla="*/ 680 h 768"/>
                <a:gd name="T30" fmla="*/ 566 w 710"/>
                <a:gd name="T31" fmla="*/ 696 h 768"/>
                <a:gd name="T32" fmla="*/ 574 w 710"/>
                <a:gd name="T33" fmla="*/ 720 h 768"/>
                <a:gd name="T34" fmla="*/ 526 w 710"/>
                <a:gd name="T35" fmla="*/ 736 h 768"/>
                <a:gd name="T36" fmla="*/ 502 w 710"/>
                <a:gd name="T37" fmla="*/ 752 h 768"/>
                <a:gd name="T38" fmla="*/ 454 w 710"/>
                <a:gd name="T39" fmla="*/ 768 h 768"/>
                <a:gd name="T40" fmla="*/ 438 w 710"/>
                <a:gd name="T41" fmla="*/ 712 h 768"/>
                <a:gd name="T42" fmla="*/ 246 w 710"/>
                <a:gd name="T43" fmla="*/ 688 h 768"/>
                <a:gd name="T44" fmla="*/ 134 w 710"/>
                <a:gd name="T45" fmla="*/ 648 h 768"/>
                <a:gd name="T46" fmla="*/ 110 w 710"/>
                <a:gd name="T47" fmla="*/ 624 h 768"/>
                <a:gd name="T48" fmla="*/ 78 w 710"/>
                <a:gd name="T49" fmla="*/ 576 h 768"/>
                <a:gd name="T50" fmla="*/ 54 w 710"/>
                <a:gd name="T51" fmla="*/ 464 h 768"/>
                <a:gd name="T52" fmla="*/ 30 w 710"/>
                <a:gd name="T53" fmla="*/ 408 h 768"/>
                <a:gd name="T54" fmla="*/ 22 w 710"/>
                <a:gd name="T55" fmla="*/ 384 h 768"/>
                <a:gd name="T56" fmla="*/ 14 w 710"/>
                <a:gd name="T57" fmla="*/ 416 h 768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10" h="768">
                  <a:moveTo>
                    <a:pt x="14" y="416"/>
                  </a:moveTo>
                  <a:cubicBezTo>
                    <a:pt x="6" y="353"/>
                    <a:pt x="0" y="339"/>
                    <a:pt x="14" y="272"/>
                  </a:cubicBezTo>
                  <a:cubicBezTo>
                    <a:pt x="24" y="227"/>
                    <a:pt x="72" y="178"/>
                    <a:pt x="102" y="144"/>
                  </a:cubicBezTo>
                  <a:cubicBezTo>
                    <a:pt x="117" y="127"/>
                    <a:pt x="134" y="112"/>
                    <a:pt x="150" y="96"/>
                  </a:cubicBezTo>
                  <a:cubicBezTo>
                    <a:pt x="164" y="82"/>
                    <a:pt x="198" y="64"/>
                    <a:pt x="198" y="64"/>
                  </a:cubicBezTo>
                  <a:cubicBezTo>
                    <a:pt x="231" y="14"/>
                    <a:pt x="294" y="7"/>
                    <a:pt x="350" y="0"/>
                  </a:cubicBezTo>
                  <a:cubicBezTo>
                    <a:pt x="411" y="3"/>
                    <a:pt x="473" y="1"/>
                    <a:pt x="534" y="8"/>
                  </a:cubicBezTo>
                  <a:cubicBezTo>
                    <a:pt x="582" y="13"/>
                    <a:pt x="624" y="71"/>
                    <a:pt x="662" y="96"/>
                  </a:cubicBezTo>
                  <a:cubicBezTo>
                    <a:pt x="691" y="140"/>
                    <a:pt x="698" y="151"/>
                    <a:pt x="710" y="200"/>
                  </a:cubicBezTo>
                  <a:cubicBezTo>
                    <a:pt x="707" y="267"/>
                    <a:pt x="707" y="333"/>
                    <a:pt x="702" y="400"/>
                  </a:cubicBezTo>
                  <a:cubicBezTo>
                    <a:pt x="700" y="423"/>
                    <a:pt x="688" y="428"/>
                    <a:pt x="678" y="448"/>
                  </a:cubicBezTo>
                  <a:cubicBezTo>
                    <a:pt x="646" y="512"/>
                    <a:pt x="626" y="607"/>
                    <a:pt x="550" y="632"/>
                  </a:cubicBezTo>
                  <a:cubicBezTo>
                    <a:pt x="539" y="640"/>
                    <a:pt x="530" y="651"/>
                    <a:pt x="518" y="656"/>
                  </a:cubicBezTo>
                  <a:cubicBezTo>
                    <a:pt x="503" y="662"/>
                    <a:pt x="470" y="648"/>
                    <a:pt x="470" y="664"/>
                  </a:cubicBezTo>
                  <a:cubicBezTo>
                    <a:pt x="470" y="681"/>
                    <a:pt x="502" y="675"/>
                    <a:pt x="518" y="680"/>
                  </a:cubicBezTo>
                  <a:cubicBezTo>
                    <a:pt x="534" y="685"/>
                    <a:pt x="566" y="696"/>
                    <a:pt x="566" y="696"/>
                  </a:cubicBezTo>
                  <a:cubicBezTo>
                    <a:pt x="569" y="704"/>
                    <a:pt x="580" y="714"/>
                    <a:pt x="574" y="720"/>
                  </a:cubicBezTo>
                  <a:cubicBezTo>
                    <a:pt x="562" y="732"/>
                    <a:pt x="542" y="731"/>
                    <a:pt x="526" y="736"/>
                  </a:cubicBezTo>
                  <a:cubicBezTo>
                    <a:pt x="517" y="739"/>
                    <a:pt x="511" y="748"/>
                    <a:pt x="502" y="752"/>
                  </a:cubicBezTo>
                  <a:cubicBezTo>
                    <a:pt x="487" y="759"/>
                    <a:pt x="454" y="768"/>
                    <a:pt x="454" y="768"/>
                  </a:cubicBezTo>
                  <a:cubicBezTo>
                    <a:pt x="448" y="750"/>
                    <a:pt x="453" y="725"/>
                    <a:pt x="438" y="712"/>
                  </a:cubicBezTo>
                  <a:cubicBezTo>
                    <a:pt x="407" y="685"/>
                    <a:pt x="256" y="689"/>
                    <a:pt x="246" y="688"/>
                  </a:cubicBezTo>
                  <a:cubicBezTo>
                    <a:pt x="207" y="680"/>
                    <a:pt x="166" y="674"/>
                    <a:pt x="134" y="648"/>
                  </a:cubicBezTo>
                  <a:cubicBezTo>
                    <a:pt x="125" y="641"/>
                    <a:pt x="117" y="633"/>
                    <a:pt x="110" y="624"/>
                  </a:cubicBezTo>
                  <a:cubicBezTo>
                    <a:pt x="98" y="609"/>
                    <a:pt x="78" y="576"/>
                    <a:pt x="78" y="576"/>
                  </a:cubicBezTo>
                  <a:cubicBezTo>
                    <a:pt x="66" y="506"/>
                    <a:pt x="74" y="544"/>
                    <a:pt x="54" y="464"/>
                  </a:cubicBezTo>
                  <a:cubicBezTo>
                    <a:pt x="37" y="397"/>
                    <a:pt x="58" y="463"/>
                    <a:pt x="30" y="408"/>
                  </a:cubicBezTo>
                  <a:cubicBezTo>
                    <a:pt x="26" y="400"/>
                    <a:pt x="30" y="380"/>
                    <a:pt x="22" y="384"/>
                  </a:cubicBezTo>
                  <a:cubicBezTo>
                    <a:pt x="12" y="389"/>
                    <a:pt x="17" y="405"/>
                    <a:pt x="14" y="416"/>
                  </a:cubicBez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5" name="Group 9"/>
            <p:cNvGrpSpPr>
              <a:grpSpLocks/>
            </p:cNvGrpSpPr>
            <p:nvPr/>
          </p:nvGrpSpPr>
          <p:grpSpPr bwMode="auto">
            <a:xfrm rot="416244">
              <a:off x="9" y="1746"/>
              <a:ext cx="1771" cy="1741"/>
              <a:chOff x="41" y="2787"/>
              <a:chExt cx="902" cy="833"/>
            </a:xfrm>
          </p:grpSpPr>
          <p:sp>
            <p:nvSpPr>
              <p:cNvPr id="1062" name="Freeform 10"/>
              <p:cNvSpPr>
                <a:spLocks/>
              </p:cNvSpPr>
              <p:nvPr userDrawn="1"/>
            </p:nvSpPr>
            <p:spPr bwMode="ltGray">
              <a:xfrm rot="373331" flipH="1">
                <a:off x="125" y="2787"/>
                <a:ext cx="313" cy="303"/>
              </a:xfrm>
              <a:custGeom>
                <a:avLst/>
                <a:gdLst>
                  <a:gd name="T0" fmla="*/ 66 w 217"/>
                  <a:gd name="T1" fmla="*/ 303 h 210"/>
                  <a:gd name="T2" fmla="*/ 53 w 217"/>
                  <a:gd name="T3" fmla="*/ 286 h 210"/>
                  <a:gd name="T4" fmla="*/ 38 w 217"/>
                  <a:gd name="T5" fmla="*/ 261 h 210"/>
                  <a:gd name="T6" fmla="*/ 22 w 217"/>
                  <a:gd name="T7" fmla="*/ 229 h 210"/>
                  <a:gd name="T8" fmla="*/ 7 w 217"/>
                  <a:gd name="T9" fmla="*/ 195 h 210"/>
                  <a:gd name="T10" fmla="*/ 0 w 217"/>
                  <a:gd name="T11" fmla="*/ 157 h 210"/>
                  <a:gd name="T12" fmla="*/ 1 w 217"/>
                  <a:gd name="T13" fmla="*/ 118 h 210"/>
                  <a:gd name="T14" fmla="*/ 13 w 217"/>
                  <a:gd name="T15" fmla="*/ 82 h 210"/>
                  <a:gd name="T16" fmla="*/ 39 w 217"/>
                  <a:gd name="T17" fmla="*/ 51 h 210"/>
                  <a:gd name="T18" fmla="*/ 65 w 217"/>
                  <a:gd name="T19" fmla="*/ 32 h 210"/>
                  <a:gd name="T20" fmla="*/ 87 w 217"/>
                  <a:gd name="T21" fmla="*/ 17 h 210"/>
                  <a:gd name="T22" fmla="*/ 104 w 217"/>
                  <a:gd name="T23" fmla="*/ 10 h 210"/>
                  <a:gd name="T24" fmla="*/ 117 w 217"/>
                  <a:gd name="T25" fmla="*/ 7 h 210"/>
                  <a:gd name="T26" fmla="*/ 127 w 217"/>
                  <a:gd name="T27" fmla="*/ 7 h 210"/>
                  <a:gd name="T28" fmla="*/ 150 w 217"/>
                  <a:gd name="T29" fmla="*/ 0 h 210"/>
                  <a:gd name="T30" fmla="*/ 213 w 217"/>
                  <a:gd name="T31" fmla="*/ 12 h 210"/>
                  <a:gd name="T32" fmla="*/ 231 w 217"/>
                  <a:gd name="T33" fmla="*/ 17 h 210"/>
                  <a:gd name="T34" fmla="*/ 248 w 217"/>
                  <a:gd name="T35" fmla="*/ 22 h 210"/>
                  <a:gd name="T36" fmla="*/ 263 w 217"/>
                  <a:gd name="T37" fmla="*/ 27 h 210"/>
                  <a:gd name="T38" fmla="*/ 274 w 217"/>
                  <a:gd name="T39" fmla="*/ 33 h 210"/>
                  <a:gd name="T40" fmla="*/ 286 w 217"/>
                  <a:gd name="T41" fmla="*/ 39 h 210"/>
                  <a:gd name="T42" fmla="*/ 296 w 217"/>
                  <a:gd name="T43" fmla="*/ 46 h 210"/>
                  <a:gd name="T44" fmla="*/ 304 w 217"/>
                  <a:gd name="T45" fmla="*/ 55 h 210"/>
                  <a:gd name="T46" fmla="*/ 313 w 217"/>
                  <a:gd name="T47" fmla="*/ 65 h 210"/>
                  <a:gd name="T48" fmla="*/ 296 w 217"/>
                  <a:gd name="T49" fmla="*/ 58 h 210"/>
                  <a:gd name="T50" fmla="*/ 280 w 217"/>
                  <a:gd name="T51" fmla="*/ 52 h 210"/>
                  <a:gd name="T52" fmla="*/ 264 w 217"/>
                  <a:gd name="T53" fmla="*/ 48 h 210"/>
                  <a:gd name="T54" fmla="*/ 248 w 217"/>
                  <a:gd name="T55" fmla="*/ 43 h 210"/>
                  <a:gd name="T56" fmla="*/ 235 w 217"/>
                  <a:gd name="T57" fmla="*/ 39 h 210"/>
                  <a:gd name="T58" fmla="*/ 221 w 217"/>
                  <a:gd name="T59" fmla="*/ 38 h 210"/>
                  <a:gd name="T60" fmla="*/ 206 w 217"/>
                  <a:gd name="T61" fmla="*/ 35 h 210"/>
                  <a:gd name="T62" fmla="*/ 193 w 217"/>
                  <a:gd name="T63" fmla="*/ 35 h 210"/>
                  <a:gd name="T64" fmla="*/ 180 w 217"/>
                  <a:gd name="T65" fmla="*/ 35 h 210"/>
                  <a:gd name="T66" fmla="*/ 167 w 217"/>
                  <a:gd name="T67" fmla="*/ 36 h 210"/>
                  <a:gd name="T68" fmla="*/ 154 w 217"/>
                  <a:gd name="T69" fmla="*/ 39 h 210"/>
                  <a:gd name="T70" fmla="*/ 143 w 217"/>
                  <a:gd name="T71" fmla="*/ 42 h 210"/>
                  <a:gd name="T72" fmla="*/ 131 w 217"/>
                  <a:gd name="T73" fmla="*/ 48 h 210"/>
                  <a:gd name="T74" fmla="*/ 118 w 217"/>
                  <a:gd name="T75" fmla="*/ 52 h 210"/>
                  <a:gd name="T76" fmla="*/ 107 w 217"/>
                  <a:gd name="T77" fmla="*/ 59 h 210"/>
                  <a:gd name="T78" fmla="*/ 95 w 217"/>
                  <a:gd name="T79" fmla="*/ 66 h 210"/>
                  <a:gd name="T80" fmla="*/ 75 w 217"/>
                  <a:gd name="T81" fmla="*/ 88 h 210"/>
                  <a:gd name="T82" fmla="*/ 61 w 217"/>
                  <a:gd name="T83" fmla="*/ 115 h 210"/>
                  <a:gd name="T84" fmla="*/ 53 w 217"/>
                  <a:gd name="T85" fmla="*/ 149 h 210"/>
                  <a:gd name="T86" fmla="*/ 50 w 217"/>
                  <a:gd name="T87" fmla="*/ 182 h 210"/>
                  <a:gd name="T88" fmla="*/ 50 w 217"/>
                  <a:gd name="T89" fmla="*/ 218 h 210"/>
                  <a:gd name="T90" fmla="*/ 55 w 217"/>
                  <a:gd name="T91" fmla="*/ 251 h 210"/>
                  <a:gd name="T92" fmla="*/ 59 w 217"/>
                  <a:gd name="T93" fmla="*/ 280 h 210"/>
                  <a:gd name="T94" fmla="*/ 66 w 217"/>
                  <a:gd name="T95" fmla="*/ 303 h 21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17" h="210">
                    <a:moveTo>
                      <a:pt x="46" y="210"/>
                    </a:moveTo>
                    <a:lnTo>
                      <a:pt x="37" y="198"/>
                    </a:lnTo>
                    <a:lnTo>
                      <a:pt x="26" y="181"/>
                    </a:lnTo>
                    <a:lnTo>
                      <a:pt x="15" y="159"/>
                    </a:lnTo>
                    <a:lnTo>
                      <a:pt x="5" y="135"/>
                    </a:lnTo>
                    <a:lnTo>
                      <a:pt x="0" y="109"/>
                    </a:lnTo>
                    <a:lnTo>
                      <a:pt x="1" y="82"/>
                    </a:lnTo>
                    <a:lnTo>
                      <a:pt x="9" y="57"/>
                    </a:lnTo>
                    <a:lnTo>
                      <a:pt x="27" y="35"/>
                    </a:lnTo>
                    <a:lnTo>
                      <a:pt x="45" y="22"/>
                    </a:lnTo>
                    <a:lnTo>
                      <a:pt x="60" y="12"/>
                    </a:lnTo>
                    <a:lnTo>
                      <a:pt x="72" y="7"/>
                    </a:lnTo>
                    <a:lnTo>
                      <a:pt x="81" y="5"/>
                    </a:lnTo>
                    <a:lnTo>
                      <a:pt x="88" y="5"/>
                    </a:lnTo>
                    <a:lnTo>
                      <a:pt x="104" y="0"/>
                    </a:lnTo>
                    <a:lnTo>
                      <a:pt x="148" y="8"/>
                    </a:lnTo>
                    <a:lnTo>
                      <a:pt x="160" y="12"/>
                    </a:lnTo>
                    <a:lnTo>
                      <a:pt x="172" y="15"/>
                    </a:lnTo>
                    <a:lnTo>
                      <a:pt x="182" y="19"/>
                    </a:lnTo>
                    <a:lnTo>
                      <a:pt x="190" y="23"/>
                    </a:lnTo>
                    <a:lnTo>
                      <a:pt x="198" y="27"/>
                    </a:lnTo>
                    <a:lnTo>
                      <a:pt x="205" y="32"/>
                    </a:lnTo>
                    <a:lnTo>
                      <a:pt x="211" y="38"/>
                    </a:lnTo>
                    <a:lnTo>
                      <a:pt x="217" y="45"/>
                    </a:lnTo>
                    <a:lnTo>
                      <a:pt x="205" y="40"/>
                    </a:lnTo>
                    <a:lnTo>
                      <a:pt x="194" y="36"/>
                    </a:lnTo>
                    <a:lnTo>
                      <a:pt x="183" y="33"/>
                    </a:lnTo>
                    <a:lnTo>
                      <a:pt x="172" y="30"/>
                    </a:lnTo>
                    <a:lnTo>
                      <a:pt x="163" y="27"/>
                    </a:lnTo>
                    <a:lnTo>
                      <a:pt x="153" y="26"/>
                    </a:lnTo>
                    <a:lnTo>
                      <a:pt x="143" y="24"/>
                    </a:lnTo>
                    <a:lnTo>
                      <a:pt x="134" y="24"/>
                    </a:lnTo>
                    <a:lnTo>
                      <a:pt x="125" y="24"/>
                    </a:lnTo>
                    <a:lnTo>
                      <a:pt x="116" y="25"/>
                    </a:lnTo>
                    <a:lnTo>
                      <a:pt x="107" y="27"/>
                    </a:lnTo>
                    <a:lnTo>
                      <a:pt x="99" y="29"/>
                    </a:lnTo>
                    <a:lnTo>
                      <a:pt x="91" y="33"/>
                    </a:lnTo>
                    <a:lnTo>
                      <a:pt x="82" y="36"/>
                    </a:lnTo>
                    <a:lnTo>
                      <a:pt x="74" y="41"/>
                    </a:lnTo>
                    <a:lnTo>
                      <a:pt x="66" y="46"/>
                    </a:lnTo>
                    <a:lnTo>
                      <a:pt x="52" y="61"/>
                    </a:lnTo>
                    <a:lnTo>
                      <a:pt x="42" y="80"/>
                    </a:lnTo>
                    <a:lnTo>
                      <a:pt x="37" y="103"/>
                    </a:lnTo>
                    <a:lnTo>
                      <a:pt x="35" y="126"/>
                    </a:lnTo>
                    <a:lnTo>
                      <a:pt x="35" y="151"/>
                    </a:lnTo>
                    <a:lnTo>
                      <a:pt x="38" y="174"/>
                    </a:lnTo>
                    <a:lnTo>
                      <a:pt x="41" y="194"/>
                    </a:lnTo>
                    <a:lnTo>
                      <a:pt x="46" y="2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3" name="Freeform 11"/>
              <p:cNvSpPr>
                <a:spLocks/>
              </p:cNvSpPr>
              <p:nvPr userDrawn="1"/>
            </p:nvSpPr>
            <p:spPr bwMode="ltGray">
              <a:xfrm rot="373331" flipH="1">
                <a:off x="41" y="2843"/>
                <a:ext cx="262" cy="308"/>
              </a:xfrm>
              <a:custGeom>
                <a:avLst/>
                <a:gdLst>
                  <a:gd name="T0" fmla="*/ 157 w 182"/>
                  <a:gd name="T1" fmla="*/ 0 h 213"/>
                  <a:gd name="T2" fmla="*/ 161 w 182"/>
                  <a:gd name="T3" fmla="*/ 3 h 213"/>
                  <a:gd name="T4" fmla="*/ 170 w 182"/>
                  <a:gd name="T5" fmla="*/ 12 h 213"/>
                  <a:gd name="T6" fmla="*/ 183 w 182"/>
                  <a:gd name="T7" fmla="*/ 26 h 213"/>
                  <a:gd name="T8" fmla="*/ 197 w 182"/>
                  <a:gd name="T9" fmla="*/ 48 h 213"/>
                  <a:gd name="T10" fmla="*/ 209 w 182"/>
                  <a:gd name="T11" fmla="*/ 75 h 213"/>
                  <a:gd name="T12" fmla="*/ 216 w 182"/>
                  <a:gd name="T13" fmla="*/ 110 h 213"/>
                  <a:gd name="T14" fmla="*/ 216 w 182"/>
                  <a:gd name="T15" fmla="*/ 152 h 213"/>
                  <a:gd name="T16" fmla="*/ 207 w 182"/>
                  <a:gd name="T17" fmla="*/ 201 h 213"/>
                  <a:gd name="T18" fmla="*/ 202 w 182"/>
                  <a:gd name="T19" fmla="*/ 215 h 213"/>
                  <a:gd name="T20" fmla="*/ 196 w 182"/>
                  <a:gd name="T21" fmla="*/ 227 h 213"/>
                  <a:gd name="T22" fmla="*/ 189 w 182"/>
                  <a:gd name="T23" fmla="*/ 239 h 213"/>
                  <a:gd name="T24" fmla="*/ 180 w 182"/>
                  <a:gd name="T25" fmla="*/ 250 h 213"/>
                  <a:gd name="T26" fmla="*/ 168 w 182"/>
                  <a:gd name="T27" fmla="*/ 260 h 213"/>
                  <a:gd name="T28" fmla="*/ 158 w 182"/>
                  <a:gd name="T29" fmla="*/ 268 h 213"/>
                  <a:gd name="T30" fmla="*/ 147 w 182"/>
                  <a:gd name="T31" fmla="*/ 276 h 213"/>
                  <a:gd name="T32" fmla="*/ 132 w 182"/>
                  <a:gd name="T33" fmla="*/ 282 h 213"/>
                  <a:gd name="T34" fmla="*/ 118 w 182"/>
                  <a:gd name="T35" fmla="*/ 285 h 213"/>
                  <a:gd name="T36" fmla="*/ 104 w 182"/>
                  <a:gd name="T37" fmla="*/ 289 h 213"/>
                  <a:gd name="T38" fmla="*/ 88 w 182"/>
                  <a:gd name="T39" fmla="*/ 291 h 213"/>
                  <a:gd name="T40" fmla="*/ 71 w 182"/>
                  <a:gd name="T41" fmla="*/ 291 h 213"/>
                  <a:gd name="T42" fmla="*/ 53 w 182"/>
                  <a:gd name="T43" fmla="*/ 289 h 213"/>
                  <a:gd name="T44" fmla="*/ 36 w 182"/>
                  <a:gd name="T45" fmla="*/ 285 h 213"/>
                  <a:gd name="T46" fmla="*/ 17 w 182"/>
                  <a:gd name="T47" fmla="*/ 279 h 213"/>
                  <a:gd name="T48" fmla="*/ 0 w 182"/>
                  <a:gd name="T49" fmla="*/ 272 h 213"/>
                  <a:gd name="T50" fmla="*/ 16 w 182"/>
                  <a:gd name="T51" fmla="*/ 282 h 213"/>
                  <a:gd name="T52" fmla="*/ 32 w 182"/>
                  <a:gd name="T53" fmla="*/ 289 h 213"/>
                  <a:gd name="T54" fmla="*/ 48 w 182"/>
                  <a:gd name="T55" fmla="*/ 296 h 213"/>
                  <a:gd name="T56" fmla="*/ 62 w 182"/>
                  <a:gd name="T57" fmla="*/ 301 h 213"/>
                  <a:gd name="T58" fmla="*/ 76 w 182"/>
                  <a:gd name="T59" fmla="*/ 305 h 213"/>
                  <a:gd name="T60" fmla="*/ 91 w 182"/>
                  <a:gd name="T61" fmla="*/ 307 h 213"/>
                  <a:gd name="T62" fmla="*/ 105 w 182"/>
                  <a:gd name="T63" fmla="*/ 308 h 213"/>
                  <a:gd name="T64" fmla="*/ 119 w 182"/>
                  <a:gd name="T65" fmla="*/ 308 h 213"/>
                  <a:gd name="T66" fmla="*/ 131 w 182"/>
                  <a:gd name="T67" fmla="*/ 307 h 213"/>
                  <a:gd name="T68" fmla="*/ 144 w 182"/>
                  <a:gd name="T69" fmla="*/ 304 h 213"/>
                  <a:gd name="T70" fmla="*/ 155 w 182"/>
                  <a:gd name="T71" fmla="*/ 301 h 213"/>
                  <a:gd name="T72" fmla="*/ 167 w 182"/>
                  <a:gd name="T73" fmla="*/ 298 h 213"/>
                  <a:gd name="T74" fmla="*/ 177 w 182"/>
                  <a:gd name="T75" fmla="*/ 294 h 213"/>
                  <a:gd name="T76" fmla="*/ 187 w 182"/>
                  <a:gd name="T77" fmla="*/ 288 h 213"/>
                  <a:gd name="T78" fmla="*/ 196 w 182"/>
                  <a:gd name="T79" fmla="*/ 282 h 213"/>
                  <a:gd name="T80" fmla="*/ 204 w 182"/>
                  <a:gd name="T81" fmla="*/ 276 h 213"/>
                  <a:gd name="T82" fmla="*/ 227 w 182"/>
                  <a:gd name="T83" fmla="*/ 254 h 213"/>
                  <a:gd name="T84" fmla="*/ 243 w 182"/>
                  <a:gd name="T85" fmla="*/ 233 h 213"/>
                  <a:gd name="T86" fmla="*/ 253 w 182"/>
                  <a:gd name="T87" fmla="*/ 208 h 213"/>
                  <a:gd name="T88" fmla="*/ 258 w 182"/>
                  <a:gd name="T89" fmla="*/ 185 h 213"/>
                  <a:gd name="T90" fmla="*/ 261 w 182"/>
                  <a:gd name="T91" fmla="*/ 161 h 213"/>
                  <a:gd name="T92" fmla="*/ 261 w 182"/>
                  <a:gd name="T93" fmla="*/ 137 h 213"/>
                  <a:gd name="T94" fmla="*/ 262 w 182"/>
                  <a:gd name="T95" fmla="*/ 114 h 213"/>
                  <a:gd name="T96" fmla="*/ 249 w 182"/>
                  <a:gd name="T97" fmla="*/ 67 h 213"/>
                  <a:gd name="T98" fmla="*/ 225 w 182"/>
                  <a:gd name="T99" fmla="*/ 30 h 213"/>
                  <a:gd name="T100" fmla="*/ 217 w 182"/>
                  <a:gd name="T101" fmla="*/ 26 h 213"/>
                  <a:gd name="T102" fmla="*/ 212 w 182"/>
                  <a:gd name="T103" fmla="*/ 22 h 213"/>
                  <a:gd name="T104" fmla="*/ 204 w 182"/>
                  <a:gd name="T105" fmla="*/ 19 h 213"/>
                  <a:gd name="T106" fmla="*/ 199 w 182"/>
                  <a:gd name="T107" fmla="*/ 16 h 213"/>
                  <a:gd name="T108" fmla="*/ 190 w 182"/>
                  <a:gd name="T109" fmla="*/ 13 h 213"/>
                  <a:gd name="T110" fmla="*/ 181 w 182"/>
                  <a:gd name="T111" fmla="*/ 9 h 213"/>
                  <a:gd name="T112" fmla="*/ 171 w 182"/>
                  <a:gd name="T113" fmla="*/ 4 h 213"/>
                  <a:gd name="T114" fmla="*/ 157 w 182"/>
                  <a:gd name="T115" fmla="*/ 0 h 213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182" h="213">
                    <a:moveTo>
                      <a:pt x="109" y="0"/>
                    </a:moveTo>
                    <a:lnTo>
                      <a:pt x="112" y="2"/>
                    </a:lnTo>
                    <a:lnTo>
                      <a:pt x="118" y="8"/>
                    </a:lnTo>
                    <a:lnTo>
                      <a:pt x="127" y="18"/>
                    </a:lnTo>
                    <a:lnTo>
                      <a:pt x="137" y="33"/>
                    </a:lnTo>
                    <a:lnTo>
                      <a:pt x="145" y="52"/>
                    </a:lnTo>
                    <a:lnTo>
                      <a:pt x="150" y="76"/>
                    </a:lnTo>
                    <a:lnTo>
                      <a:pt x="150" y="105"/>
                    </a:lnTo>
                    <a:lnTo>
                      <a:pt x="144" y="139"/>
                    </a:lnTo>
                    <a:lnTo>
                      <a:pt x="140" y="149"/>
                    </a:lnTo>
                    <a:lnTo>
                      <a:pt x="136" y="157"/>
                    </a:lnTo>
                    <a:lnTo>
                      <a:pt x="131" y="165"/>
                    </a:lnTo>
                    <a:lnTo>
                      <a:pt x="125" y="173"/>
                    </a:lnTo>
                    <a:lnTo>
                      <a:pt x="117" y="180"/>
                    </a:lnTo>
                    <a:lnTo>
                      <a:pt x="110" y="185"/>
                    </a:lnTo>
                    <a:lnTo>
                      <a:pt x="102" y="191"/>
                    </a:lnTo>
                    <a:lnTo>
                      <a:pt x="92" y="195"/>
                    </a:lnTo>
                    <a:lnTo>
                      <a:pt x="82" y="197"/>
                    </a:lnTo>
                    <a:lnTo>
                      <a:pt x="72" y="200"/>
                    </a:lnTo>
                    <a:lnTo>
                      <a:pt x="61" y="201"/>
                    </a:lnTo>
                    <a:lnTo>
                      <a:pt x="49" y="201"/>
                    </a:lnTo>
                    <a:lnTo>
                      <a:pt x="37" y="200"/>
                    </a:lnTo>
                    <a:lnTo>
                      <a:pt x="25" y="197"/>
                    </a:lnTo>
                    <a:lnTo>
                      <a:pt x="12" y="193"/>
                    </a:lnTo>
                    <a:lnTo>
                      <a:pt x="0" y="188"/>
                    </a:lnTo>
                    <a:lnTo>
                      <a:pt x="11" y="195"/>
                    </a:lnTo>
                    <a:lnTo>
                      <a:pt x="22" y="200"/>
                    </a:lnTo>
                    <a:lnTo>
                      <a:pt x="33" y="205"/>
                    </a:lnTo>
                    <a:lnTo>
                      <a:pt x="43" y="208"/>
                    </a:lnTo>
                    <a:lnTo>
                      <a:pt x="53" y="211"/>
                    </a:lnTo>
                    <a:lnTo>
                      <a:pt x="63" y="212"/>
                    </a:lnTo>
                    <a:lnTo>
                      <a:pt x="73" y="213"/>
                    </a:lnTo>
                    <a:lnTo>
                      <a:pt x="83" y="213"/>
                    </a:lnTo>
                    <a:lnTo>
                      <a:pt x="91" y="212"/>
                    </a:lnTo>
                    <a:lnTo>
                      <a:pt x="100" y="210"/>
                    </a:lnTo>
                    <a:lnTo>
                      <a:pt x="108" y="208"/>
                    </a:lnTo>
                    <a:lnTo>
                      <a:pt x="116" y="206"/>
                    </a:lnTo>
                    <a:lnTo>
                      <a:pt x="123" y="203"/>
                    </a:lnTo>
                    <a:lnTo>
                      <a:pt x="130" y="199"/>
                    </a:lnTo>
                    <a:lnTo>
                      <a:pt x="136" y="195"/>
                    </a:lnTo>
                    <a:lnTo>
                      <a:pt x="142" y="191"/>
                    </a:lnTo>
                    <a:lnTo>
                      <a:pt x="158" y="176"/>
                    </a:lnTo>
                    <a:lnTo>
                      <a:pt x="169" y="161"/>
                    </a:lnTo>
                    <a:lnTo>
                      <a:pt x="176" y="144"/>
                    </a:lnTo>
                    <a:lnTo>
                      <a:pt x="179" y="128"/>
                    </a:lnTo>
                    <a:lnTo>
                      <a:pt x="181" y="111"/>
                    </a:lnTo>
                    <a:lnTo>
                      <a:pt x="181" y="95"/>
                    </a:lnTo>
                    <a:lnTo>
                      <a:pt x="182" y="79"/>
                    </a:lnTo>
                    <a:lnTo>
                      <a:pt x="173" y="46"/>
                    </a:lnTo>
                    <a:lnTo>
                      <a:pt x="156" y="21"/>
                    </a:lnTo>
                    <a:lnTo>
                      <a:pt x="151" y="18"/>
                    </a:lnTo>
                    <a:lnTo>
                      <a:pt x="147" y="15"/>
                    </a:lnTo>
                    <a:lnTo>
                      <a:pt x="142" y="13"/>
                    </a:lnTo>
                    <a:lnTo>
                      <a:pt x="138" y="11"/>
                    </a:lnTo>
                    <a:lnTo>
                      <a:pt x="132" y="9"/>
                    </a:lnTo>
                    <a:lnTo>
                      <a:pt x="126" y="6"/>
                    </a:lnTo>
                    <a:lnTo>
                      <a:pt x="119" y="3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4" name="Freeform 12"/>
              <p:cNvSpPr>
                <a:spLocks/>
              </p:cNvSpPr>
              <p:nvPr userDrawn="1"/>
            </p:nvSpPr>
            <p:spPr bwMode="ltGray">
              <a:xfrm rot="373331" flipH="1">
                <a:off x="121" y="2907"/>
                <a:ext cx="93" cy="156"/>
              </a:xfrm>
              <a:custGeom>
                <a:avLst/>
                <a:gdLst>
                  <a:gd name="T0" fmla="*/ 68 w 128"/>
                  <a:gd name="T1" fmla="*/ 0 h 217"/>
                  <a:gd name="T2" fmla="*/ 76 w 128"/>
                  <a:gd name="T3" fmla="*/ 6 h 217"/>
                  <a:gd name="T4" fmla="*/ 84 w 128"/>
                  <a:gd name="T5" fmla="*/ 19 h 217"/>
                  <a:gd name="T6" fmla="*/ 89 w 128"/>
                  <a:gd name="T7" fmla="*/ 36 h 217"/>
                  <a:gd name="T8" fmla="*/ 93 w 128"/>
                  <a:gd name="T9" fmla="*/ 56 h 217"/>
                  <a:gd name="T10" fmla="*/ 92 w 128"/>
                  <a:gd name="T11" fmla="*/ 80 h 217"/>
                  <a:gd name="T12" fmla="*/ 84 w 128"/>
                  <a:gd name="T13" fmla="*/ 104 h 217"/>
                  <a:gd name="T14" fmla="*/ 68 w 128"/>
                  <a:gd name="T15" fmla="*/ 130 h 217"/>
                  <a:gd name="T16" fmla="*/ 44 w 128"/>
                  <a:gd name="T17" fmla="*/ 156 h 217"/>
                  <a:gd name="T18" fmla="*/ 36 w 128"/>
                  <a:gd name="T19" fmla="*/ 153 h 217"/>
                  <a:gd name="T20" fmla="*/ 28 w 128"/>
                  <a:gd name="T21" fmla="*/ 151 h 217"/>
                  <a:gd name="T22" fmla="*/ 19 w 128"/>
                  <a:gd name="T23" fmla="*/ 147 h 217"/>
                  <a:gd name="T24" fmla="*/ 12 w 128"/>
                  <a:gd name="T25" fmla="*/ 144 h 217"/>
                  <a:gd name="T26" fmla="*/ 6 w 128"/>
                  <a:gd name="T27" fmla="*/ 141 h 217"/>
                  <a:gd name="T28" fmla="*/ 1 w 128"/>
                  <a:gd name="T29" fmla="*/ 137 h 217"/>
                  <a:gd name="T30" fmla="*/ 0 w 128"/>
                  <a:gd name="T31" fmla="*/ 132 h 217"/>
                  <a:gd name="T32" fmla="*/ 1 w 128"/>
                  <a:gd name="T33" fmla="*/ 128 h 217"/>
                  <a:gd name="T34" fmla="*/ 9 w 128"/>
                  <a:gd name="T35" fmla="*/ 123 h 217"/>
                  <a:gd name="T36" fmla="*/ 21 w 128"/>
                  <a:gd name="T37" fmla="*/ 116 h 217"/>
                  <a:gd name="T38" fmla="*/ 33 w 128"/>
                  <a:gd name="T39" fmla="*/ 108 h 217"/>
                  <a:gd name="T40" fmla="*/ 46 w 128"/>
                  <a:gd name="T41" fmla="*/ 96 h 217"/>
                  <a:gd name="T42" fmla="*/ 57 w 128"/>
                  <a:gd name="T43" fmla="*/ 81 h 217"/>
                  <a:gd name="T44" fmla="*/ 66 w 128"/>
                  <a:gd name="T45" fmla="*/ 60 h 217"/>
                  <a:gd name="T46" fmla="*/ 70 w 128"/>
                  <a:gd name="T47" fmla="*/ 33 h 217"/>
                  <a:gd name="T48" fmla="*/ 68 w 128"/>
                  <a:gd name="T49" fmla="*/ 0 h 21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28" h="217">
                    <a:moveTo>
                      <a:pt x="94" y="0"/>
                    </a:moveTo>
                    <a:lnTo>
                      <a:pt x="105" y="9"/>
                    </a:lnTo>
                    <a:lnTo>
                      <a:pt x="115" y="27"/>
                    </a:lnTo>
                    <a:lnTo>
                      <a:pt x="123" y="50"/>
                    </a:lnTo>
                    <a:lnTo>
                      <a:pt x="128" y="78"/>
                    </a:lnTo>
                    <a:lnTo>
                      <a:pt x="127" y="111"/>
                    </a:lnTo>
                    <a:lnTo>
                      <a:pt x="116" y="145"/>
                    </a:lnTo>
                    <a:lnTo>
                      <a:pt x="94" y="181"/>
                    </a:lnTo>
                    <a:lnTo>
                      <a:pt x="60" y="217"/>
                    </a:lnTo>
                    <a:lnTo>
                      <a:pt x="49" y="213"/>
                    </a:lnTo>
                    <a:lnTo>
                      <a:pt x="38" y="210"/>
                    </a:lnTo>
                    <a:lnTo>
                      <a:pt x="26" y="205"/>
                    </a:lnTo>
                    <a:lnTo>
                      <a:pt x="16" y="201"/>
                    </a:lnTo>
                    <a:lnTo>
                      <a:pt x="8" y="196"/>
                    </a:lnTo>
                    <a:lnTo>
                      <a:pt x="2" y="190"/>
                    </a:lnTo>
                    <a:lnTo>
                      <a:pt x="0" y="183"/>
                    </a:lnTo>
                    <a:lnTo>
                      <a:pt x="1" y="178"/>
                    </a:lnTo>
                    <a:lnTo>
                      <a:pt x="13" y="171"/>
                    </a:lnTo>
                    <a:lnTo>
                      <a:pt x="29" y="161"/>
                    </a:lnTo>
                    <a:lnTo>
                      <a:pt x="46" y="150"/>
                    </a:lnTo>
                    <a:lnTo>
                      <a:pt x="63" y="134"/>
                    </a:lnTo>
                    <a:lnTo>
                      <a:pt x="79" y="112"/>
                    </a:lnTo>
                    <a:lnTo>
                      <a:pt x="91" y="83"/>
                    </a:lnTo>
                    <a:lnTo>
                      <a:pt x="97" y="46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" name="Freeform 13"/>
              <p:cNvSpPr>
                <a:spLocks/>
              </p:cNvSpPr>
              <p:nvPr userDrawn="1"/>
            </p:nvSpPr>
            <p:spPr bwMode="ltGray">
              <a:xfrm rot="373331" flipH="1">
                <a:off x="313" y="3110"/>
                <a:ext cx="85" cy="93"/>
              </a:xfrm>
              <a:custGeom>
                <a:avLst/>
                <a:gdLst>
                  <a:gd name="T0" fmla="*/ 54 w 117"/>
                  <a:gd name="T1" fmla="*/ 0 h 132"/>
                  <a:gd name="T2" fmla="*/ 0 w 117"/>
                  <a:gd name="T3" fmla="*/ 18 h 132"/>
                  <a:gd name="T4" fmla="*/ 2 w 117"/>
                  <a:gd name="T5" fmla="*/ 18 h 132"/>
                  <a:gd name="T6" fmla="*/ 10 w 117"/>
                  <a:gd name="T7" fmla="*/ 20 h 132"/>
                  <a:gd name="T8" fmla="*/ 21 w 117"/>
                  <a:gd name="T9" fmla="*/ 25 h 132"/>
                  <a:gd name="T10" fmla="*/ 33 w 117"/>
                  <a:gd name="T11" fmla="*/ 33 h 132"/>
                  <a:gd name="T12" fmla="*/ 48 w 117"/>
                  <a:gd name="T13" fmla="*/ 44 h 132"/>
                  <a:gd name="T14" fmla="*/ 61 w 117"/>
                  <a:gd name="T15" fmla="*/ 56 h 132"/>
                  <a:gd name="T16" fmla="*/ 74 w 117"/>
                  <a:gd name="T17" fmla="*/ 73 h 132"/>
                  <a:gd name="T18" fmla="*/ 84 w 117"/>
                  <a:gd name="T19" fmla="*/ 93 h 132"/>
                  <a:gd name="T20" fmla="*/ 85 w 117"/>
                  <a:gd name="T21" fmla="*/ 85 h 132"/>
                  <a:gd name="T22" fmla="*/ 84 w 117"/>
                  <a:gd name="T23" fmla="*/ 75 h 132"/>
                  <a:gd name="T24" fmla="*/ 78 w 117"/>
                  <a:gd name="T25" fmla="*/ 63 h 132"/>
                  <a:gd name="T26" fmla="*/ 72 w 117"/>
                  <a:gd name="T27" fmla="*/ 52 h 132"/>
                  <a:gd name="T28" fmla="*/ 65 w 117"/>
                  <a:gd name="T29" fmla="*/ 41 h 132"/>
                  <a:gd name="T30" fmla="*/ 57 w 117"/>
                  <a:gd name="T31" fmla="*/ 32 h 132"/>
                  <a:gd name="T32" fmla="*/ 49 w 117"/>
                  <a:gd name="T33" fmla="*/ 25 h 132"/>
                  <a:gd name="T34" fmla="*/ 42 w 117"/>
                  <a:gd name="T35" fmla="*/ 23 h 132"/>
                  <a:gd name="T36" fmla="*/ 50 w 117"/>
                  <a:gd name="T37" fmla="*/ 20 h 132"/>
                  <a:gd name="T38" fmla="*/ 57 w 117"/>
                  <a:gd name="T39" fmla="*/ 20 h 132"/>
                  <a:gd name="T40" fmla="*/ 65 w 117"/>
                  <a:gd name="T41" fmla="*/ 18 h 132"/>
                  <a:gd name="T42" fmla="*/ 71 w 117"/>
                  <a:gd name="T43" fmla="*/ 18 h 132"/>
                  <a:gd name="T44" fmla="*/ 76 w 117"/>
                  <a:gd name="T45" fmla="*/ 17 h 132"/>
                  <a:gd name="T46" fmla="*/ 79 w 117"/>
                  <a:gd name="T47" fmla="*/ 16 h 132"/>
                  <a:gd name="T48" fmla="*/ 82 w 117"/>
                  <a:gd name="T49" fmla="*/ 15 h 132"/>
                  <a:gd name="T50" fmla="*/ 83 w 117"/>
                  <a:gd name="T51" fmla="*/ 15 h 132"/>
                  <a:gd name="T52" fmla="*/ 54 w 117"/>
                  <a:gd name="T53" fmla="*/ 0 h 13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17" h="132">
                    <a:moveTo>
                      <a:pt x="75" y="0"/>
                    </a:moveTo>
                    <a:lnTo>
                      <a:pt x="0" y="25"/>
                    </a:lnTo>
                    <a:lnTo>
                      <a:pt x="3" y="26"/>
                    </a:lnTo>
                    <a:lnTo>
                      <a:pt x="14" y="29"/>
                    </a:lnTo>
                    <a:lnTo>
                      <a:pt x="29" y="36"/>
                    </a:lnTo>
                    <a:lnTo>
                      <a:pt x="46" y="47"/>
                    </a:lnTo>
                    <a:lnTo>
                      <a:pt x="66" y="62"/>
                    </a:lnTo>
                    <a:lnTo>
                      <a:pt x="84" y="80"/>
                    </a:lnTo>
                    <a:lnTo>
                      <a:pt x="102" y="103"/>
                    </a:lnTo>
                    <a:lnTo>
                      <a:pt x="116" y="132"/>
                    </a:lnTo>
                    <a:lnTo>
                      <a:pt x="117" y="120"/>
                    </a:lnTo>
                    <a:lnTo>
                      <a:pt x="115" y="107"/>
                    </a:lnTo>
                    <a:lnTo>
                      <a:pt x="108" y="90"/>
                    </a:lnTo>
                    <a:lnTo>
                      <a:pt x="99" y="74"/>
                    </a:lnTo>
                    <a:lnTo>
                      <a:pt x="89" y="58"/>
                    </a:lnTo>
                    <a:lnTo>
                      <a:pt x="78" y="45"/>
                    </a:lnTo>
                    <a:lnTo>
                      <a:pt x="67" y="36"/>
                    </a:lnTo>
                    <a:lnTo>
                      <a:pt x="58" y="32"/>
                    </a:lnTo>
                    <a:lnTo>
                      <a:pt x="69" y="29"/>
                    </a:lnTo>
                    <a:lnTo>
                      <a:pt x="79" y="28"/>
                    </a:lnTo>
                    <a:lnTo>
                      <a:pt x="89" y="26"/>
                    </a:lnTo>
                    <a:lnTo>
                      <a:pt x="98" y="25"/>
                    </a:lnTo>
                    <a:lnTo>
                      <a:pt x="105" y="24"/>
                    </a:lnTo>
                    <a:lnTo>
                      <a:pt x="109" y="22"/>
                    </a:lnTo>
                    <a:lnTo>
                      <a:pt x="113" y="21"/>
                    </a:lnTo>
                    <a:lnTo>
                      <a:pt x="114" y="21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6" name="Freeform 14"/>
              <p:cNvSpPr>
                <a:spLocks/>
              </p:cNvSpPr>
              <p:nvPr userDrawn="1"/>
            </p:nvSpPr>
            <p:spPr bwMode="ltGray">
              <a:xfrm rot="373331" flipH="1">
                <a:off x="289" y="3135"/>
                <a:ext cx="21" cy="55"/>
              </a:xfrm>
              <a:custGeom>
                <a:avLst/>
                <a:gdLst>
                  <a:gd name="T0" fmla="*/ 21 w 29"/>
                  <a:gd name="T1" fmla="*/ 0 h 77"/>
                  <a:gd name="T2" fmla="*/ 17 w 29"/>
                  <a:gd name="T3" fmla="*/ 0 h 77"/>
                  <a:gd name="T4" fmla="*/ 12 w 29"/>
                  <a:gd name="T5" fmla="*/ 3 h 77"/>
                  <a:gd name="T6" fmla="*/ 7 w 29"/>
                  <a:gd name="T7" fmla="*/ 6 h 77"/>
                  <a:gd name="T8" fmla="*/ 3 w 29"/>
                  <a:gd name="T9" fmla="*/ 14 h 77"/>
                  <a:gd name="T10" fmla="*/ 1 w 29"/>
                  <a:gd name="T11" fmla="*/ 21 h 77"/>
                  <a:gd name="T12" fmla="*/ 0 w 29"/>
                  <a:gd name="T13" fmla="*/ 31 h 77"/>
                  <a:gd name="T14" fmla="*/ 2 w 29"/>
                  <a:gd name="T15" fmla="*/ 43 h 77"/>
                  <a:gd name="T16" fmla="*/ 8 w 29"/>
                  <a:gd name="T17" fmla="*/ 55 h 77"/>
                  <a:gd name="T18" fmla="*/ 11 w 29"/>
                  <a:gd name="T19" fmla="*/ 38 h 77"/>
                  <a:gd name="T20" fmla="*/ 14 w 29"/>
                  <a:gd name="T21" fmla="*/ 26 h 77"/>
                  <a:gd name="T22" fmla="*/ 17 w 29"/>
                  <a:gd name="T23" fmla="*/ 16 h 77"/>
                  <a:gd name="T24" fmla="*/ 21 w 29"/>
                  <a:gd name="T25" fmla="*/ 0 h 7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9" h="77">
                    <a:moveTo>
                      <a:pt x="29" y="0"/>
                    </a:moveTo>
                    <a:lnTo>
                      <a:pt x="23" y="0"/>
                    </a:lnTo>
                    <a:lnTo>
                      <a:pt x="16" y="4"/>
                    </a:lnTo>
                    <a:lnTo>
                      <a:pt x="9" y="9"/>
                    </a:lnTo>
                    <a:lnTo>
                      <a:pt x="4" y="19"/>
                    </a:lnTo>
                    <a:lnTo>
                      <a:pt x="1" y="30"/>
                    </a:lnTo>
                    <a:lnTo>
                      <a:pt x="0" y="44"/>
                    </a:lnTo>
                    <a:lnTo>
                      <a:pt x="3" y="60"/>
                    </a:lnTo>
                    <a:lnTo>
                      <a:pt x="11" y="77"/>
                    </a:lnTo>
                    <a:lnTo>
                      <a:pt x="15" y="53"/>
                    </a:lnTo>
                    <a:lnTo>
                      <a:pt x="19" y="37"/>
                    </a:lnTo>
                    <a:lnTo>
                      <a:pt x="23" y="22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067" name="Group 15"/>
              <p:cNvGrpSpPr>
                <a:grpSpLocks/>
              </p:cNvGrpSpPr>
              <p:nvPr userDrawn="1"/>
            </p:nvGrpSpPr>
            <p:grpSpPr bwMode="auto">
              <a:xfrm rot="10886446" flipH="1">
                <a:off x="335" y="3251"/>
                <a:ext cx="608" cy="369"/>
                <a:chOff x="-366" y="1704"/>
                <a:chExt cx="608" cy="369"/>
              </a:xfrm>
            </p:grpSpPr>
            <p:sp>
              <p:nvSpPr>
                <p:cNvPr id="1068" name="Freeform 16"/>
                <p:cNvSpPr>
                  <a:spLocks/>
                </p:cNvSpPr>
                <p:nvPr userDrawn="1"/>
              </p:nvSpPr>
              <p:spPr bwMode="ltGray">
                <a:xfrm rot="4200091">
                  <a:off x="-243" y="1807"/>
                  <a:ext cx="143" cy="390"/>
                </a:xfrm>
                <a:custGeom>
                  <a:avLst/>
                  <a:gdLst>
                    <a:gd name="T0" fmla="*/ 8 w 207"/>
                    <a:gd name="T1" fmla="*/ 30 h 564"/>
                    <a:gd name="T2" fmla="*/ 4 w 207"/>
                    <a:gd name="T3" fmla="*/ 50 h 564"/>
                    <a:gd name="T4" fmla="*/ 2 w 207"/>
                    <a:gd name="T5" fmla="*/ 68 h 564"/>
                    <a:gd name="T6" fmla="*/ 0 w 207"/>
                    <a:gd name="T7" fmla="*/ 86 h 564"/>
                    <a:gd name="T8" fmla="*/ 0 w 207"/>
                    <a:gd name="T9" fmla="*/ 104 h 564"/>
                    <a:gd name="T10" fmla="*/ 2 w 207"/>
                    <a:gd name="T11" fmla="*/ 124 h 564"/>
                    <a:gd name="T12" fmla="*/ 5 w 207"/>
                    <a:gd name="T13" fmla="*/ 146 h 564"/>
                    <a:gd name="T14" fmla="*/ 11 w 207"/>
                    <a:gd name="T15" fmla="*/ 171 h 564"/>
                    <a:gd name="T16" fmla="*/ 20 w 207"/>
                    <a:gd name="T17" fmla="*/ 198 h 564"/>
                    <a:gd name="T18" fmla="*/ 30 w 207"/>
                    <a:gd name="T19" fmla="*/ 225 h 564"/>
                    <a:gd name="T20" fmla="*/ 42 w 207"/>
                    <a:gd name="T21" fmla="*/ 252 h 564"/>
                    <a:gd name="T22" fmla="*/ 57 w 207"/>
                    <a:gd name="T23" fmla="*/ 281 h 564"/>
                    <a:gd name="T24" fmla="*/ 73 w 207"/>
                    <a:gd name="T25" fmla="*/ 308 h 564"/>
                    <a:gd name="T26" fmla="*/ 91 w 207"/>
                    <a:gd name="T27" fmla="*/ 334 h 564"/>
                    <a:gd name="T28" fmla="*/ 108 w 207"/>
                    <a:gd name="T29" fmla="*/ 357 h 564"/>
                    <a:gd name="T30" fmla="*/ 126 w 207"/>
                    <a:gd name="T31" fmla="*/ 376 h 564"/>
                    <a:gd name="T32" fmla="*/ 143 w 207"/>
                    <a:gd name="T33" fmla="*/ 390 h 564"/>
                    <a:gd name="T34" fmla="*/ 111 w 207"/>
                    <a:gd name="T35" fmla="*/ 346 h 564"/>
                    <a:gd name="T36" fmla="*/ 88 w 207"/>
                    <a:gd name="T37" fmla="*/ 310 h 564"/>
                    <a:gd name="T38" fmla="*/ 71 w 207"/>
                    <a:gd name="T39" fmla="*/ 280 h 564"/>
                    <a:gd name="T40" fmla="*/ 60 w 207"/>
                    <a:gd name="T41" fmla="*/ 254 h 564"/>
                    <a:gd name="T42" fmla="*/ 52 w 207"/>
                    <a:gd name="T43" fmla="*/ 233 h 564"/>
                    <a:gd name="T44" fmla="*/ 47 w 207"/>
                    <a:gd name="T45" fmla="*/ 214 h 564"/>
                    <a:gd name="T46" fmla="*/ 44 w 207"/>
                    <a:gd name="T47" fmla="*/ 197 h 564"/>
                    <a:gd name="T48" fmla="*/ 39 w 207"/>
                    <a:gd name="T49" fmla="*/ 180 h 564"/>
                    <a:gd name="T50" fmla="*/ 30 w 207"/>
                    <a:gd name="T51" fmla="*/ 142 h 564"/>
                    <a:gd name="T52" fmla="*/ 28 w 207"/>
                    <a:gd name="T53" fmla="*/ 97 h 564"/>
                    <a:gd name="T54" fmla="*/ 30 w 207"/>
                    <a:gd name="T55" fmla="*/ 47 h 564"/>
                    <a:gd name="T56" fmla="*/ 35 w 207"/>
                    <a:gd name="T57" fmla="*/ 0 h 564"/>
                    <a:gd name="T58" fmla="*/ 8 w 207"/>
                    <a:gd name="T59" fmla="*/ 30 h 564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207" h="564">
                      <a:moveTo>
                        <a:pt x="12" y="44"/>
                      </a:moveTo>
                      <a:lnTo>
                        <a:pt x="6" y="72"/>
                      </a:lnTo>
                      <a:lnTo>
                        <a:pt x="3" y="99"/>
                      </a:lnTo>
                      <a:lnTo>
                        <a:pt x="0" y="125"/>
                      </a:lnTo>
                      <a:lnTo>
                        <a:pt x="0" y="151"/>
                      </a:lnTo>
                      <a:lnTo>
                        <a:pt x="3" y="180"/>
                      </a:lnTo>
                      <a:lnTo>
                        <a:pt x="7" y="211"/>
                      </a:lnTo>
                      <a:lnTo>
                        <a:pt x="16" y="247"/>
                      </a:lnTo>
                      <a:lnTo>
                        <a:pt x="29" y="287"/>
                      </a:lnTo>
                      <a:lnTo>
                        <a:pt x="43" y="325"/>
                      </a:lnTo>
                      <a:lnTo>
                        <a:pt x="61" y="364"/>
                      </a:lnTo>
                      <a:lnTo>
                        <a:pt x="83" y="406"/>
                      </a:lnTo>
                      <a:lnTo>
                        <a:pt x="106" y="446"/>
                      </a:lnTo>
                      <a:lnTo>
                        <a:pt x="132" y="483"/>
                      </a:lnTo>
                      <a:lnTo>
                        <a:pt x="157" y="516"/>
                      </a:lnTo>
                      <a:lnTo>
                        <a:pt x="182" y="544"/>
                      </a:lnTo>
                      <a:lnTo>
                        <a:pt x="207" y="564"/>
                      </a:lnTo>
                      <a:lnTo>
                        <a:pt x="160" y="501"/>
                      </a:lnTo>
                      <a:lnTo>
                        <a:pt x="127" y="448"/>
                      </a:lnTo>
                      <a:lnTo>
                        <a:pt x="103" y="405"/>
                      </a:lnTo>
                      <a:lnTo>
                        <a:pt x="87" y="368"/>
                      </a:lnTo>
                      <a:lnTo>
                        <a:pt x="75" y="337"/>
                      </a:lnTo>
                      <a:lnTo>
                        <a:pt x="68" y="309"/>
                      </a:lnTo>
                      <a:lnTo>
                        <a:pt x="63" y="285"/>
                      </a:lnTo>
                      <a:lnTo>
                        <a:pt x="56" y="261"/>
                      </a:lnTo>
                      <a:lnTo>
                        <a:pt x="44" y="205"/>
                      </a:lnTo>
                      <a:lnTo>
                        <a:pt x="41" y="140"/>
                      </a:lnTo>
                      <a:lnTo>
                        <a:pt x="43" y="68"/>
                      </a:lnTo>
                      <a:lnTo>
                        <a:pt x="50" y="0"/>
                      </a:lnTo>
                      <a:lnTo>
                        <a:pt x="12" y="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69" name="Freeform 17"/>
                <p:cNvSpPr>
                  <a:spLocks/>
                </p:cNvSpPr>
                <p:nvPr userDrawn="1"/>
              </p:nvSpPr>
              <p:spPr bwMode="ltGray">
                <a:xfrm rot="4200091">
                  <a:off x="124" y="1761"/>
                  <a:ext cx="33" cy="160"/>
                </a:xfrm>
                <a:custGeom>
                  <a:avLst/>
                  <a:gdLst>
                    <a:gd name="T0" fmla="*/ 0 w 47"/>
                    <a:gd name="T1" fmla="*/ 13 h 232"/>
                    <a:gd name="T2" fmla="*/ 10 w 47"/>
                    <a:gd name="T3" fmla="*/ 38 h 232"/>
                    <a:gd name="T4" fmla="*/ 15 w 47"/>
                    <a:gd name="T5" fmla="*/ 70 h 232"/>
                    <a:gd name="T6" fmla="*/ 17 w 47"/>
                    <a:gd name="T7" fmla="*/ 110 h 232"/>
                    <a:gd name="T8" fmla="*/ 13 w 47"/>
                    <a:gd name="T9" fmla="*/ 160 h 232"/>
                    <a:gd name="T10" fmla="*/ 32 w 47"/>
                    <a:gd name="T11" fmla="*/ 150 h 232"/>
                    <a:gd name="T12" fmla="*/ 33 w 47"/>
                    <a:gd name="T13" fmla="*/ 123 h 232"/>
                    <a:gd name="T14" fmla="*/ 33 w 47"/>
                    <a:gd name="T15" fmla="*/ 97 h 232"/>
                    <a:gd name="T16" fmla="*/ 32 w 47"/>
                    <a:gd name="T17" fmla="*/ 71 h 232"/>
                    <a:gd name="T18" fmla="*/ 29 w 47"/>
                    <a:gd name="T19" fmla="*/ 49 h 232"/>
                    <a:gd name="T20" fmla="*/ 25 w 47"/>
                    <a:gd name="T21" fmla="*/ 36 h 232"/>
                    <a:gd name="T22" fmla="*/ 20 w 47"/>
                    <a:gd name="T23" fmla="*/ 23 h 232"/>
                    <a:gd name="T24" fmla="*/ 15 w 47"/>
                    <a:gd name="T25" fmla="*/ 12 h 232"/>
                    <a:gd name="T26" fmla="*/ 9 w 47"/>
                    <a:gd name="T27" fmla="*/ 0 h 232"/>
                    <a:gd name="T28" fmla="*/ 0 w 47"/>
                    <a:gd name="T29" fmla="*/ 13 h 232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47" h="232">
                      <a:moveTo>
                        <a:pt x="0" y="19"/>
                      </a:moveTo>
                      <a:lnTo>
                        <a:pt x="14" y="55"/>
                      </a:lnTo>
                      <a:lnTo>
                        <a:pt x="22" y="101"/>
                      </a:lnTo>
                      <a:lnTo>
                        <a:pt x="24" y="159"/>
                      </a:lnTo>
                      <a:lnTo>
                        <a:pt x="19" y="232"/>
                      </a:lnTo>
                      <a:lnTo>
                        <a:pt x="45" y="217"/>
                      </a:lnTo>
                      <a:lnTo>
                        <a:pt x="47" y="178"/>
                      </a:lnTo>
                      <a:lnTo>
                        <a:pt x="47" y="140"/>
                      </a:lnTo>
                      <a:lnTo>
                        <a:pt x="45" y="103"/>
                      </a:lnTo>
                      <a:lnTo>
                        <a:pt x="41" y="71"/>
                      </a:lnTo>
                      <a:lnTo>
                        <a:pt x="36" y="52"/>
                      </a:lnTo>
                      <a:lnTo>
                        <a:pt x="29" y="34"/>
                      </a:lnTo>
                      <a:lnTo>
                        <a:pt x="22" y="17"/>
                      </a:lnTo>
                      <a:lnTo>
                        <a:pt x="13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0" name="Freeform 18"/>
                <p:cNvSpPr>
                  <a:spLocks/>
                </p:cNvSpPr>
                <p:nvPr userDrawn="1"/>
              </p:nvSpPr>
              <p:spPr bwMode="ltGray">
                <a:xfrm rot="4200091">
                  <a:off x="199" y="1720"/>
                  <a:ext cx="60" cy="27"/>
                </a:xfrm>
                <a:custGeom>
                  <a:avLst/>
                  <a:gdLst>
                    <a:gd name="T0" fmla="*/ 60 w 87"/>
                    <a:gd name="T1" fmla="*/ 15 h 40"/>
                    <a:gd name="T2" fmla="*/ 53 w 87"/>
                    <a:gd name="T3" fmla="*/ 11 h 40"/>
                    <a:gd name="T4" fmla="*/ 47 w 87"/>
                    <a:gd name="T5" fmla="*/ 8 h 40"/>
                    <a:gd name="T6" fmla="*/ 40 w 87"/>
                    <a:gd name="T7" fmla="*/ 5 h 40"/>
                    <a:gd name="T8" fmla="*/ 32 w 87"/>
                    <a:gd name="T9" fmla="*/ 3 h 40"/>
                    <a:gd name="T10" fmla="*/ 26 w 87"/>
                    <a:gd name="T11" fmla="*/ 2 h 40"/>
                    <a:gd name="T12" fmla="*/ 18 w 87"/>
                    <a:gd name="T13" fmla="*/ 1 h 40"/>
                    <a:gd name="T14" fmla="*/ 9 w 87"/>
                    <a:gd name="T15" fmla="*/ 0 h 40"/>
                    <a:gd name="T16" fmla="*/ 0 w 87"/>
                    <a:gd name="T17" fmla="*/ 1 h 40"/>
                    <a:gd name="T18" fmla="*/ 4 w 87"/>
                    <a:gd name="T19" fmla="*/ 4 h 40"/>
                    <a:gd name="T20" fmla="*/ 10 w 87"/>
                    <a:gd name="T21" fmla="*/ 7 h 40"/>
                    <a:gd name="T22" fmla="*/ 15 w 87"/>
                    <a:gd name="T23" fmla="*/ 9 h 40"/>
                    <a:gd name="T24" fmla="*/ 23 w 87"/>
                    <a:gd name="T25" fmla="*/ 12 h 40"/>
                    <a:gd name="T26" fmla="*/ 29 w 87"/>
                    <a:gd name="T27" fmla="*/ 15 h 40"/>
                    <a:gd name="T28" fmla="*/ 36 w 87"/>
                    <a:gd name="T29" fmla="*/ 18 h 40"/>
                    <a:gd name="T30" fmla="*/ 44 w 87"/>
                    <a:gd name="T31" fmla="*/ 22 h 40"/>
                    <a:gd name="T32" fmla="*/ 51 w 87"/>
                    <a:gd name="T33" fmla="*/ 27 h 40"/>
                    <a:gd name="T34" fmla="*/ 60 w 87"/>
                    <a:gd name="T35" fmla="*/ 15 h 4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87" h="40">
                      <a:moveTo>
                        <a:pt x="87" y="22"/>
                      </a:moveTo>
                      <a:lnTo>
                        <a:pt x="77" y="17"/>
                      </a:lnTo>
                      <a:lnTo>
                        <a:pt x="68" y="12"/>
                      </a:lnTo>
                      <a:lnTo>
                        <a:pt x="58" y="7"/>
                      </a:lnTo>
                      <a:lnTo>
                        <a:pt x="47" y="5"/>
                      </a:lnTo>
                      <a:lnTo>
                        <a:pt x="37" y="3"/>
                      </a:lnTo>
                      <a:lnTo>
                        <a:pt x="26" y="2"/>
                      </a:lnTo>
                      <a:lnTo>
                        <a:pt x="13" y="0"/>
                      </a:lnTo>
                      <a:lnTo>
                        <a:pt x="0" y="2"/>
                      </a:lnTo>
                      <a:lnTo>
                        <a:pt x="6" y="6"/>
                      </a:lnTo>
                      <a:lnTo>
                        <a:pt x="14" y="10"/>
                      </a:lnTo>
                      <a:lnTo>
                        <a:pt x="22" y="14"/>
                      </a:lnTo>
                      <a:lnTo>
                        <a:pt x="33" y="18"/>
                      </a:lnTo>
                      <a:lnTo>
                        <a:pt x="42" y="22"/>
                      </a:lnTo>
                      <a:lnTo>
                        <a:pt x="52" y="27"/>
                      </a:lnTo>
                      <a:lnTo>
                        <a:pt x="64" y="33"/>
                      </a:lnTo>
                      <a:lnTo>
                        <a:pt x="74" y="40"/>
                      </a:lnTo>
                      <a:lnTo>
                        <a:pt x="87" y="2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36" name="Group 19"/>
            <p:cNvGrpSpPr>
              <a:grpSpLocks/>
            </p:cNvGrpSpPr>
            <p:nvPr/>
          </p:nvGrpSpPr>
          <p:grpSpPr bwMode="auto">
            <a:xfrm rot="6248562">
              <a:off x="343" y="3854"/>
              <a:ext cx="392" cy="424"/>
              <a:chOff x="1727" y="866"/>
              <a:chExt cx="129" cy="157"/>
            </a:xfrm>
          </p:grpSpPr>
          <p:sp>
            <p:nvSpPr>
              <p:cNvPr id="1059" name="Freeform 20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0" name="Freeform 21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1" name="Freeform 22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37" name="Group 23"/>
            <p:cNvGrpSpPr>
              <a:grpSpLocks/>
            </p:cNvGrpSpPr>
            <p:nvPr/>
          </p:nvGrpSpPr>
          <p:grpSpPr bwMode="auto">
            <a:xfrm rot="5003157">
              <a:off x="249" y="1102"/>
              <a:ext cx="412" cy="500"/>
              <a:chOff x="1727" y="866"/>
              <a:chExt cx="129" cy="157"/>
            </a:xfrm>
          </p:grpSpPr>
          <p:sp>
            <p:nvSpPr>
              <p:cNvPr id="1056" name="Freeform 24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7" name="Freeform 25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8" name="Freeform 26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38" name="Group 27"/>
            <p:cNvGrpSpPr>
              <a:grpSpLocks/>
            </p:cNvGrpSpPr>
            <p:nvPr/>
          </p:nvGrpSpPr>
          <p:grpSpPr bwMode="auto">
            <a:xfrm>
              <a:off x="815" y="0"/>
              <a:ext cx="345" cy="367"/>
              <a:chOff x="1727" y="866"/>
              <a:chExt cx="129" cy="157"/>
            </a:xfrm>
          </p:grpSpPr>
          <p:sp>
            <p:nvSpPr>
              <p:cNvPr id="1053" name="Freeform 28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Freeform 29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5" name="Freeform 30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9" name="Freeform 31"/>
            <p:cNvSpPr>
              <a:spLocks/>
            </p:cNvSpPr>
            <p:nvPr/>
          </p:nvSpPr>
          <p:spPr bwMode="ltGray">
            <a:xfrm>
              <a:off x="87" y="94"/>
              <a:ext cx="699" cy="756"/>
            </a:xfrm>
            <a:custGeom>
              <a:avLst/>
              <a:gdLst>
                <a:gd name="T0" fmla="*/ 1 w 699"/>
                <a:gd name="T1" fmla="*/ 392 h 756"/>
                <a:gd name="T2" fmla="*/ 3 w 699"/>
                <a:gd name="T3" fmla="*/ 252 h 756"/>
                <a:gd name="T4" fmla="*/ 21 w 699"/>
                <a:gd name="T5" fmla="*/ 210 h 756"/>
                <a:gd name="T6" fmla="*/ 29 w 699"/>
                <a:gd name="T7" fmla="*/ 182 h 756"/>
                <a:gd name="T8" fmla="*/ 39 w 699"/>
                <a:gd name="T9" fmla="*/ 154 h 756"/>
                <a:gd name="T10" fmla="*/ 51 w 699"/>
                <a:gd name="T11" fmla="*/ 138 h 756"/>
                <a:gd name="T12" fmla="*/ 111 w 699"/>
                <a:gd name="T13" fmla="*/ 74 h 756"/>
                <a:gd name="T14" fmla="*/ 169 w 699"/>
                <a:gd name="T15" fmla="*/ 30 h 756"/>
                <a:gd name="T16" fmla="*/ 225 w 699"/>
                <a:gd name="T17" fmla="*/ 10 h 756"/>
                <a:gd name="T18" fmla="*/ 249 w 699"/>
                <a:gd name="T19" fmla="*/ 4 h 756"/>
                <a:gd name="T20" fmla="*/ 265 w 699"/>
                <a:gd name="T21" fmla="*/ 0 h 756"/>
                <a:gd name="T22" fmla="*/ 357 w 699"/>
                <a:gd name="T23" fmla="*/ 2 h 756"/>
                <a:gd name="T24" fmla="*/ 385 w 699"/>
                <a:gd name="T25" fmla="*/ 6 h 756"/>
                <a:gd name="T26" fmla="*/ 489 w 699"/>
                <a:gd name="T27" fmla="*/ 40 h 756"/>
                <a:gd name="T28" fmla="*/ 619 w 699"/>
                <a:gd name="T29" fmla="*/ 128 h 756"/>
                <a:gd name="T30" fmla="*/ 653 w 699"/>
                <a:gd name="T31" fmla="*/ 178 h 756"/>
                <a:gd name="T32" fmla="*/ 693 w 699"/>
                <a:gd name="T33" fmla="*/ 322 h 756"/>
                <a:gd name="T34" fmla="*/ 687 w 699"/>
                <a:gd name="T35" fmla="*/ 434 h 756"/>
                <a:gd name="T36" fmla="*/ 665 w 699"/>
                <a:gd name="T37" fmla="*/ 538 h 756"/>
                <a:gd name="T38" fmla="*/ 639 w 699"/>
                <a:gd name="T39" fmla="*/ 564 h 756"/>
                <a:gd name="T40" fmla="*/ 631 w 699"/>
                <a:gd name="T41" fmla="*/ 580 h 756"/>
                <a:gd name="T42" fmla="*/ 607 w 699"/>
                <a:gd name="T43" fmla="*/ 588 h 756"/>
                <a:gd name="T44" fmla="*/ 473 w 699"/>
                <a:gd name="T45" fmla="*/ 664 h 756"/>
                <a:gd name="T46" fmla="*/ 449 w 699"/>
                <a:gd name="T47" fmla="*/ 678 h 756"/>
                <a:gd name="T48" fmla="*/ 405 w 699"/>
                <a:gd name="T49" fmla="*/ 684 h 756"/>
                <a:gd name="T50" fmla="*/ 375 w 699"/>
                <a:gd name="T51" fmla="*/ 690 h 756"/>
                <a:gd name="T52" fmla="*/ 267 w 699"/>
                <a:gd name="T53" fmla="*/ 684 h 756"/>
                <a:gd name="T54" fmla="*/ 259 w 699"/>
                <a:gd name="T55" fmla="*/ 722 h 756"/>
                <a:gd name="T56" fmla="*/ 241 w 699"/>
                <a:gd name="T57" fmla="*/ 756 h 756"/>
                <a:gd name="T58" fmla="*/ 185 w 699"/>
                <a:gd name="T59" fmla="*/ 728 h 756"/>
                <a:gd name="T60" fmla="*/ 163 w 699"/>
                <a:gd name="T61" fmla="*/ 720 h 756"/>
                <a:gd name="T62" fmla="*/ 151 w 699"/>
                <a:gd name="T63" fmla="*/ 716 h 756"/>
                <a:gd name="T64" fmla="*/ 195 w 699"/>
                <a:gd name="T65" fmla="*/ 674 h 756"/>
                <a:gd name="T66" fmla="*/ 211 w 699"/>
                <a:gd name="T67" fmla="*/ 644 h 756"/>
                <a:gd name="T68" fmla="*/ 209 w 699"/>
                <a:gd name="T69" fmla="*/ 626 h 756"/>
                <a:gd name="T70" fmla="*/ 195 w 699"/>
                <a:gd name="T71" fmla="*/ 620 h 756"/>
                <a:gd name="T72" fmla="*/ 165 w 699"/>
                <a:gd name="T73" fmla="*/ 596 h 756"/>
                <a:gd name="T74" fmla="*/ 99 w 699"/>
                <a:gd name="T75" fmla="*/ 534 h 756"/>
                <a:gd name="T76" fmla="*/ 61 w 699"/>
                <a:gd name="T77" fmla="*/ 506 h 756"/>
                <a:gd name="T78" fmla="*/ 23 w 699"/>
                <a:gd name="T79" fmla="*/ 470 h 756"/>
                <a:gd name="T80" fmla="*/ 7 w 699"/>
                <a:gd name="T81" fmla="*/ 434 h 756"/>
                <a:gd name="T82" fmla="*/ 5 w 699"/>
                <a:gd name="T83" fmla="*/ 396 h 756"/>
                <a:gd name="T84" fmla="*/ 1 w 699"/>
                <a:gd name="T85" fmla="*/ 392 h 75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99" h="756">
                  <a:moveTo>
                    <a:pt x="1" y="392"/>
                  </a:moveTo>
                  <a:cubicBezTo>
                    <a:pt x="2" y="345"/>
                    <a:pt x="2" y="299"/>
                    <a:pt x="3" y="252"/>
                  </a:cubicBezTo>
                  <a:cubicBezTo>
                    <a:pt x="3" y="238"/>
                    <a:pt x="16" y="224"/>
                    <a:pt x="21" y="210"/>
                  </a:cubicBezTo>
                  <a:cubicBezTo>
                    <a:pt x="24" y="202"/>
                    <a:pt x="29" y="182"/>
                    <a:pt x="29" y="182"/>
                  </a:cubicBezTo>
                  <a:cubicBezTo>
                    <a:pt x="32" y="173"/>
                    <a:pt x="34" y="163"/>
                    <a:pt x="39" y="154"/>
                  </a:cubicBezTo>
                  <a:cubicBezTo>
                    <a:pt x="42" y="148"/>
                    <a:pt x="51" y="138"/>
                    <a:pt x="51" y="138"/>
                  </a:cubicBezTo>
                  <a:cubicBezTo>
                    <a:pt x="58" y="116"/>
                    <a:pt x="88" y="82"/>
                    <a:pt x="111" y="74"/>
                  </a:cubicBezTo>
                  <a:cubicBezTo>
                    <a:pt x="128" y="61"/>
                    <a:pt x="149" y="37"/>
                    <a:pt x="169" y="30"/>
                  </a:cubicBezTo>
                  <a:cubicBezTo>
                    <a:pt x="182" y="17"/>
                    <a:pt x="207" y="15"/>
                    <a:pt x="225" y="10"/>
                  </a:cubicBezTo>
                  <a:cubicBezTo>
                    <a:pt x="233" y="8"/>
                    <a:pt x="241" y="6"/>
                    <a:pt x="249" y="4"/>
                  </a:cubicBezTo>
                  <a:cubicBezTo>
                    <a:pt x="254" y="3"/>
                    <a:pt x="265" y="0"/>
                    <a:pt x="265" y="0"/>
                  </a:cubicBezTo>
                  <a:cubicBezTo>
                    <a:pt x="296" y="1"/>
                    <a:pt x="326" y="0"/>
                    <a:pt x="357" y="2"/>
                  </a:cubicBezTo>
                  <a:cubicBezTo>
                    <a:pt x="366" y="2"/>
                    <a:pt x="385" y="6"/>
                    <a:pt x="385" y="6"/>
                  </a:cubicBezTo>
                  <a:cubicBezTo>
                    <a:pt x="417" y="17"/>
                    <a:pt x="463" y="14"/>
                    <a:pt x="489" y="40"/>
                  </a:cubicBezTo>
                  <a:cubicBezTo>
                    <a:pt x="528" y="60"/>
                    <a:pt x="592" y="105"/>
                    <a:pt x="619" y="128"/>
                  </a:cubicBezTo>
                  <a:cubicBezTo>
                    <a:pt x="635" y="134"/>
                    <a:pt x="643" y="164"/>
                    <a:pt x="653" y="178"/>
                  </a:cubicBezTo>
                  <a:cubicBezTo>
                    <a:pt x="667" y="234"/>
                    <a:pt x="687" y="265"/>
                    <a:pt x="693" y="322"/>
                  </a:cubicBezTo>
                  <a:cubicBezTo>
                    <a:pt x="699" y="365"/>
                    <a:pt x="692" y="398"/>
                    <a:pt x="687" y="434"/>
                  </a:cubicBezTo>
                  <a:cubicBezTo>
                    <a:pt x="686" y="469"/>
                    <a:pt x="691" y="510"/>
                    <a:pt x="665" y="538"/>
                  </a:cubicBezTo>
                  <a:cubicBezTo>
                    <a:pt x="657" y="547"/>
                    <a:pt x="644" y="553"/>
                    <a:pt x="639" y="564"/>
                  </a:cubicBezTo>
                  <a:cubicBezTo>
                    <a:pt x="636" y="569"/>
                    <a:pt x="636" y="576"/>
                    <a:pt x="631" y="580"/>
                  </a:cubicBezTo>
                  <a:cubicBezTo>
                    <a:pt x="624" y="585"/>
                    <a:pt x="607" y="588"/>
                    <a:pt x="607" y="588"/>
                  </a:cubicBezTo>
                  <a:cubicBezTo>
                    <a:pt x="581" y="602"/>
                    <a:pt x="499" y="649"/>
                    <a:pt x="473" y="664"/>
                  </a:cubicBezTo>
                  <a:cubicBezTo>
                    <a:pt x="465" y="666"/>
                    <a:pt x="449" y="678"/>
                    <a:pt x="449" y="678"/>
                  </a:cubicBezTo>
                  <a:cubicBezTo>
                    <a:pt x="438" y="685"/>
                    <a:pt x="417" y="679"/>
                    <a:pt x="405" y="684"/>
                  </a:cubicBezTo>
                  <a:cubicBezTo>
                    <a:pt x="396" y="687"/>
                    <a:pt x="385" y="688"/>
                    <a:pt x="375" y="690"/>
                  </a:cubicBezTo>
                  <a:cubicBezTo>
                    <a:pt x="328" y="689"/>
                    <a:pt x="307" y="687"/>
                    <a:pt x="267" y="684"/>
                  </a:cubicBezTo>
                  <a:cubicBezTo>
                    <a:pt x="249" y="690"/>
                    <a:pt x="264" y="683"/>
                    <a:pt x="259" y="722"/>
                  </a:cubicBezTo>
                  <a:cubicBezTo>
                    <a:pt x="258" y="733"/>
                    <a:pt x="250" y="750"/>
                    <a:pt x="241" y="756"/>
                  </a:cubicBezTo>
                  <a:cubicBezTo>
                    <a:pt x="218" y="752"/>
                    <a:pt x="207" y="735"/>
                    <a:pt x="185" y="728"/>
                  </a:cubicBezTo>
                  <a:cubicBezTo>
                    <a:pt x="176" y="725"/>
                    <a:pt x="171" y="724"/>
                    <a:pt x="163" y="720"/>
                  </a:cubicBezTo>
                  <a:cubicBezTo>
                    <a:pt x="159" y="718"/>
                    <a:pt x="151" y="716"/>
                    <a:pt x="151" y="716"/>
                  </a:cubicBezTo>
                  <a:cubicBezTo>
                    <a:pt x="157" y="695"/>
                    <a:pt x="180" y="689"/>
                    <a:pt x="195" y="674"/>
                  </a:cubicBezTo>
                  <a:cubicBezTo>
                    <a:pt x="198" y="665"/>
                    <a:pt x="205" y="652"/>
                    <a:pt x="211" y="644"/>
                  </a:cubicBezTo>
                  <a:cubicBezTo>
                    <a:pt x="210" y="638"/>
                    <a:pt x="212" y="631"/>
                    <a:pt x="209" y="626"/>
                  </a:cubicBezTo>
                  <a:cubicBezTo>
                    <a:pt x="207" y="621"/>
                    <a:pt x="199" y="623"/>
                    <a:pt x="195" y="620"/>
                  </a:cubicBezTo>
                  <a:cubicBezTo>
                    <a:pt x="185" y="612"/>
                    <a:pt x="173" y="606"/>
                    <a:pt x="165" y="596"/>
                  </a:cubicBezTo>
                  <a:cubicBezTo>
                    <a:pt x="146" y="573"/>
                    <a:pt x="123" y="552"/>
                    <a:pt x="99" y="534"/>
                  </a:cubicBezTo>
                  <a:cubicBezTo>
                    <a:pt x="87" y="525"/>
                    <a:pt x="72" y="517"/>
                    <a:pt x="61" y="506"/>
                  </a:cubicBezTo>
                  <a:cubicBezTo>
                    <a:pt x="49" y="494"/>
                    <a:pt x="37" y="480"/>
                    <a:pt x="23" y="470"/>
                  </a:cubicBezTo>
                  <a:cubicBezTo>
                    <a:pt x="13" y="456"/>
                    <a:pt x="10" y="451"/>
                    <a:pt x="7" y="434"/>
                  </a:cubicBezTo>
                  <a:cubicBezTo>
                    <a:pt x="6" y="421"/>
                    <a:pt x="7" y="408"/>
                    <a:pt x="5" y="396"/>
                  </a:cubicBezTo>
                  <a:cubicBezTo>
                    <a:pt x="5" y="394"/>
                    <a:pt x="0" y="391"/>
                    <a:pt x="1" y="392"/>
                  </a:cubicBez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32"/>
            <p:cNvSpPr>
              <a:spLocks/>
            </p:cNvSpPr>
            <p:nvPr/>
          </p:nvSpPr>
          <p:spPr bwMode="ltGray">
            <a:xfrm rot="828663">
              <a:off x="242" y="3404"/>
              <a:ext cx="132" cy="167"/>
            </a:xfrm>
            <a:custGeom>
              <a:avLst/>
              <a:gdLst>
                <a:gd name="T0" fmla="*/ 0 w 109"/>
                <a:gd name="T1" fmla="*/ 0 h 156"/>
                <a:gd name="T2" fmla="*/ 6 w 109"/>
                <a:gd name="T3" fmla="*/ 1 h 156"/>
                <a:gd name="T4" fmla="*/ 22 w 109"/>
                <a:gd name="T5" fmla="*/ 5 h 156"/>
                <a:gd name="T6" fmla="*/ 45 w 109"/>
                <a:gd name="T7" fmla="*/ 13 h 156"/>
                <a:gd name="T8" fmla="*/ 70 w 109"/>
                <a:gd name="T9" fmla="*/ 26 h 156"/>
                <a:gd name="T10" fmla="*/ 94 w 109"/>
                <a:gd name="T11" fmla="*/ 47 h 156"/>
                <a:gd name="T12" fmla="*/ 116 w 109"/>
                <a:gd name="T13" fmla="*/ 76 h 156"/>
                <a:gd name="T14" fmla="*/ 130 w 109"/>
                <a:gd name="T15" fmla="*/ 116 h 156"/>
                <a:gd name="T16" fmla="*/ 132 w 109"/>
                <a:gd name="T17" fmla="*/ 167 h 156"/>
                <a:gd name="T18" fmla="*/ 127 w 109"/>
                <a:gd name="T19" fmla="*/ 167 h 156"/>
                <a:gd name="T20" fmla="*/ 120 w 109"/>
                <a:gd name="T21" fmla="*/ 167 h 156"/>
                <a:gd name="T22" fmla="*/ 113 w 109"/>
                <a:gd name="T23" fmla="*/ 167 h 156"/>
                <a:gd name="T24" fmla="*/ 105 w 109"/>
                <a:gd name="T25" fmla="*/ 165 h 156"/>
                <a:gd name="T26" fmla="*/ 98 w 109"/>
                <a:gd name="T27" fmla="*/ 164 h 156"/>
                <a:gd name="T28" fmla="*/ 90 w 109"/>
                <a:gd name="T29" fmla="*/ 161 h 156"/>
                <a:gd name="T30" fmla="*/ 80 w 109"/>
                <a:gd name="T31" fmla="*/ 155 h 156"/>
                <a:gd name="T32" fmla="*/ 70 w 109"/>
                <a:gd name="T33" fmla="*/ 149 h 156"/>
                <a:gd name="T34" fmla="*/ 64 w 109"/>
                <a:gd name="T35" fmla="*/ 135 h 156"/>
                <a:gd name="T36" fmla="*/ 64 w 109"/>
                <a:gd name="T37" fmla="*/ 119 h 156"/>
                <a:gd name="T38" fmla="*/ 68 w 109"/>
                <a:gd name="T39" fmla="*/ 103 h 156"/>
                <a:gd name="T40" fmla="*/ 71 w 109"/>
                <a:gd name="T41" fmla="*/ 86 h 156"/>
                <a:gd name="T42" fmla="*/ 68 w 109"/>
                <a:gd name="T43" fmla="*/ 66 h 156"/>
                <a:gd name="T44" fmla="*/ 58 w 109"/>
                <a:gd name="T45" fmla="*/ 46 h 156"/>
                <a:gd name="T46" fmla="*/ 38 w 109"/>
                <a:gd name="T47" fmla="*/ 25 h 156"/>
                <a:gd name="T48" fmla="*/ 0 w 109"/>
                <a:gd name="T49" fmla="*/ 0 h 15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1" name="Freeform 33"/>
            <p:cNvSpPr>
              <a:spLocks/>
            </p:cNvSpPr>
            <p:nvPr/>
          </p:nvSpPr>
          <p:spPr bwMode="ltGray">
            <a:xfrm rot="828663">
              <a:off x="266" y="3592"/>
              <a:ext cx="66" cy="43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7 w 54"/>
                <a:gd name="T5" fmla="*/ 3 h 40"/>
                <a:gd name="T6" fmla="*/ 16 w 54"/>
                <a:gd name="T7" fmla="*/ 9 h 40"/>
                <a:gd name="T8" fmla="*/ 26 w 54"/>
                <a:gd name="T9" fmla="*/ 13 h 40"/>
                <a:gd name="T10" fmla="*/ 35 w 54"/>
                <a:gd name="T11" fmla="*/ 16 h 40"/>
                <a:gd name="T12" fmla="*/ 46 w 54"/>
                <a:gd name="T13" fmla="*/ 18 h 40"/>
                <a:gd name="T14" fmla="*/ 56 w 54"/>
                <a:gd name="T15" fmla="*/ 19 h 40"/>
                <a:gd name="T16" fmla="*/ 66 w 54"/>
                <a:gd name="T17" fmla="*/ 17 h 40"/>
                <a:gd name="T18" fmla="*/ 65 w 54"/>
                <a:gd name="T19" fmla="*/ 27 h 40"/>
                <a:gd name="T20" fmla="*/ 61 w 54"/>
                <a:gd name="T21" fmla="*/ 35 h 40"/>
                <a:gd name="T22" fmla="*/ 54 w 54"/>
                <a:gd name="T23" fmla="*/ 41 h 40"/>
                <a:gd name="T24" fmla="*/ 45 w 54"/>
                <a:gd name="T25" fmla="*/ 43 h 40"/>
                <a:gd name="T26" fmla="*/ 34 w 54"/>
                <a:gd name="T27" fmla="*/ 42 h 40"/>
                <a:gd name="T28" fmla="*/ 23 w 54"/>
                <a:gd name="T29" fmla="*/ 34 h 40"/>
                <a:gd name="T30" fmla="*/ 12 w 54"/>
                <a:gd name="T31" fmla="*/ 22 h 40"/>
                <a:gd name="T32" fmla="*/ 0 w 54"/>
                <a:gd name="T33" fmla="*/ 0 h 4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2" name="Freeform 34"/>
            <p:cNvSpPr>
              <a:spLocks/>
            </p:cNvSpPr>
            <p:nvPr/>
          </p:nvSpPr>
          <p:spPr bwMode="ltGray">
            <a:xfrm>
              <a:off x="11" y="4110"/>
              <a:ext cx="118" cy="209"/>
            </a:xfrm>
            <a:custGeom>
              <a:avLst/>
              <a:gdLst>
                <a:gd name="T0" fmla="*/ 0 w 118"/>
                <a:gd name="T1" fmla="*/ 0 h 209"/>
                <a:gd name="T2" fmla="*/ 6 w 118"/>
                <a:gd name="T3" fmla="*/ 8 h 209"/>
                <a:gd name="T4" fmla="*/ 15 w 118"/>
                <a:gd name="T5" fmla="*/ 19 h 209"/>
                <a:gd name="T6" fmla="*/ 26 w 118"/>
                <a:gd name="T7" fmla="*/ 33 h 209"/>
                <a:gd name="T8" fmla="*/ 38 w 118"/>
                <a:gd name="T9" fmla="*/ 51 h 209"/>
                <a:gd name="T10" fmla="*/ 54 w 118"/>
                <a:gd name="T11" fmla="*/ 72 h 209"/>
                <a:gd name="T12" fmla="*/ 67 w 118"/>
                <a:gd name="T13" fmla="*/ 94 h 209"/>
                <a:gd name="T14" fmla="*/ 79 w 118"/>
                <a:gd name="T15" fmla="*/ 119 h 209"/>
                <a:gd name="T16" fmla="*/ 87 w 118"/>
                <a:gd name="T17" fmla="*/ 146 h 209"/>
                <a:gd name="T18" fmla="*/ 94 w 118"/>
                <a:gd name="T19" fmla="*/ 175 h 209"/>
                <a:gd name="T20" fmla="*/ 91 w 118"/>
                <a:gd name="T21" fmla="*/ 209 h 209"/>
                <a:gd name="T22" fmla="*/ 118 w 118"/>
                <a:gd name="T23" fmla="*/ 209 h 209"/>
                <a:gd name="T24" fmla="*/ 117 w 118"/>
                <a:gd name="T25" fmla="*/ 177 h 209"/>
                <a:gd name="T26" fmla="*/ 104 w 118"/>
                <a:gd name="T27" fmla="*/ 119 h 209"/>
                <a:gd name="T28" fmla="*/ 82 w 118"/>
                <a:gd name="T29" fmla="*/ 69 h 209"/>
                <a:gd name="T30" fmla="*/ 47 w 118"/>
                <a:gd name="T31" fmla="*/ 27 h 209"/>
                <a:gd name="T32" fmla="*/ 0 w 118"/>
                <a:gd name="T33" fmla="*/ 0 h 20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18" h="209">
                  <a:moveTo>
                    <a:pt x="0" y="0"/>
                  </a:moveTo>
                  <a:lnTo>
                    <a:pt x="6" y="8"/>
                  </a:lnTo>
                  <a:lnTo>
                    <a:pt x="15" y="19"/>
                  </a:lnTo>
                  <a:lnTo>
                    <a:pt x="26" y="33"/>
                  </a:lnTo>
                  <a:lnTo>
                    <a:pt x="38" y="51"/>
                  </a:lnTo>
                  <a:lnTo>
                    <a:pt x="54" y="72"/>
                  </a:lnTo>
                  <a:lnTo>
                    <a:pt x="67" y="94"/>
                  </a:lnTo>
                  <a:lnTo>
                    <a:pt x="79" y="119"/>
                  </a:lnTo>
                  <a:lnTo>
                    <a:pt x="87" y="146"/>
                  </a:lnTo>
                  <a:lnTo>
                    <a:pt x="94" y="175"/>
                  </a:lnTo>
                  <a:lnTo>
                    <a:pt x="91" y="209"/>
                  </a:lnTo>
                  <a:lnTo>
                    <a:pt x="118" y="209"/>
                  </a:lnTo>
                  <a:lnTo>
                    <a:pt x="117" y="177"/>
                  </a:lnTo>
                  <a:lnTo>
                    <a:pt x="104" y="119"/>
                  </a:lnTo>
                  <a:lnTo>
                    <a:pt x="82" y="69"/>
                  </a:lnTo>
                  <a:lnTo>
                    <a:pt x="47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35"/>
            <p:cNvSpPr>
              <a:spLocks/>
            </p:cNvSpPr>
            <p:nvPr/>
          </p:nvSpPr>
          <p:spPr bwMode="ltGray">
            <a:xfrm>
              <a:off x="0" y="3968"/>
              <a:ext cx="130" cy="128"/>
            </a:xfrm>
            <a:custGeom>
              <a:avLst/>
              <a:gdLst>
                <a:gd name="T0" fmla="*/ 103 w 130"/>
                <a:gd name="T1" fmla="*/ 0 h 128"/>
                <a:gd name="T2" fmla="*/ 130 w 130"/>
                <a:gd name="T3" fmla="*/ 128 h 128"/>
                <a:gd name="T4" fmla="*/ 125 w 130"/>
                <a:gd name="T5" fmla="*/ 126 h 128"/>
                <a:gd name="T6" fmla="*/ 111 w 130"/>
                <a:gd name="T7" fmla="*/ 121 h 128"/>
                <a:gd name="T8" fmla="*/ 92 w 130"/>
                <a:gd name="T9" fmla="*/ 111 h 128"/>
                <a:gd name="T10" fmla="*/ 68 w 130"/>
                <a:gd name="T11" fmla="*/ 103 h 128"/>
                <a:gd name="T12" fmla="*/ 41 w 130"/>
                <a:gd name="T13" fmla="*/ 94 h 128"/>
                <a:gd name="T14" fmla="*/ 19 w 130"/>
                <a:gd name="T15" fmla="*/ 90 h 128"/>
                <a:gd name="T16" fmla="*/ 0 w 130"/>
                <a:gd name="T17" fmla="*/ 93 h 128"/>
                <a:gd name="T18" fmla="*/ 0 w 130"/>
                <a:gd name="T19" fmla="*/ 72 h 128"/>
                <a:gd name="T20" fmla="*/ 12 w 130"/>
                <a:gd name="T21" fmla="*/ 70 h 128"/>
                <a:gd name="T22" fmla="*/ 24 w 130"/>
                <a:gd name="T23" fmla="*/ 66 h 128"/>
                <a:gd name="T24" fmla="*/ 38 w 130"/>
                <a:gd name="T25" fmla="*/ 66 h 128"/>
                <a:gd name="T26" fmla="*/ 51 w 130"/>
                <a:gd name="T27" fmla="*/ 67 h 128"/>
                <a:gd name="T28" fmla="*/ 65 w 130"/>
                <a:gd name="T29" fmla="*/ 70 h 128"/>
                <a:gd name="T30" fmla="*/ 78 w 130"/>
                <a:gd name="T31" fmla="*/ 78 h 128"/>
                <a:gd name="T32" fmla="*/ 81 w 130"/>
                <a:gd name="T33" fmla="*/ 74 h 128"/>
                <a:gd name="T34" fmla="*/ 81 w 130"/>
                <a:gd name="T35" fmla="*/ 58 h 128"/>
                <a:gd name="T36" fmla="*/ 82 w 130"/>
                <a:gd name="T37" fmla="*/ 37 h 128"/>
                <a:gd name="T38" fmla="*/ 82 w 130"/>
                <a:gd name="T39" fmla="*/ 29 h 128"/>
                <a:gd name="T40" fmla="*/ 80 w 130"/>
                <a:gd name="T41" fmla="*/ 29 h 128"/>
                <a:gd name="T42" fmla="*/ 77 w 130"/>
                <a:gd name="T43" fmla="*/ 27 h 128"/>
                <a:gd name="T44" fmla="*/ 76 w 130"/>
                <a:gd name="T45" fmla="*/ 22 h 128"/>
                <a:gd name="T46" fmla="*/ 75 w 130"/>
                <a:gd name="T47" fmla="*/ 19 h 128"/>
                <a:gd name="T48" fmla="*/ 76 w 130"/>
                <a:gd name="T49" fmla="*/ 15 h 128"/>
                <a:gd name="T50" fmla="*/ 79 w 130"/>
                <a:gd name="T51" fmla="*/ 10 h 128"/>
                <a:gd name="T52" fmla="*/ 89 w 130"/>
                <a:gd name="T53" fmla="*/ 6 h 128"/>
                <a:gd name="T54" fmla="*/ 103 w 130"/>
                <a:gd name="T55" fmla="*/ 0 h 12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30" h="128">
                  <a:moveTo>
                    <a:pt x="103" y="0"/>
                  </a:moveTo>
                  <a:lnTo>
                    <a:pt x="130" y="128"/>
                  </a:lnTo>
                  <a:lnTo>
                    <a:pt x="125" y="126"/>
                  </a:lnTo>
                  <a:lnTo>
                    <a:pt x="111" y="121"/>
                  </a:lnTo>
                  <a:lnTo>
                    <a:pt x="92" y="111"/>
                  </a:lnTo>
                  <a:lnTo>
                    <a:pt x="68" y="103"/>
                  </a:lnTo>
                  <a:lnTo>
                    <a:pt x="41" y="94"/>
                  </a:lnTo>
                  <a:lnTo>
                    <a:pt x="19" y="90"/>
                  </a:lnTo>
                  <a:lnTo>
                    <a:pt x="0" y="93"/>
                  </a:lnTo>
                  <a:lnTo>
                    <a:pt x="0" y="72"/>
                  </a:lnTo>
                  <a:lnTo>
                    <a:pt x="12" y="70"/>
                  </a:lnTo>
                  <a:lnTo>
                    <a:pt x="24" y="66"/>
                  </a:lnTo>
                  <a:lnTo>
                    <a:pt x="38" y="66"/>
                  </a:lnTo>
                  <a:lnTo>
                    <a:pt x="51" y="67"/>
                  </a:lnTo>
                  <a:lnTo>
                    <a:pt x="65" y="70"/>
                  </a:lnTo>
                  <a:lnTo>
                    <a:pt x="78" y="78"/>
                  </a:lnTo>
                  <a:lnTo>
                    <a:pt x="81" y="74"/>
                  </a:lnTo>
                  <a:lnTo>
                    <a:pt x="81" y="58"/>
                  </a:lnTo>
                  <a:lnTo>
                    <a:pt x="82" y="37"/>
                  </a:lnTo>
                  <a:lnTo>
                    <a:pt x="82" y="29"/>
                  </a:lnTo>
                  <a:lnTo>
                    <a:pt x="80" y="29"/>
                  </a:lnTo>
                  <a:lnTo>
                    <a:pt x="77" y="27"/>
                  </a:lnTo>
                  <a:lnTo>
                    <a:pt x="76" y="22"/>
                  </a:lnTo>
                  <a:lnTo>
                    <a:pt x="75" y="19"/>
                  </a:lnTo>
                  <a:lnTo>
                    <a:pt x="76" y="15"/>
                  </a:lnTo>
                  <a:lnTo>
                    <a:pt x="79" y="10"/>
                  </a:lnTo>
                  <a:lnTo>
                    <a:pt x="89" y="6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Freeform 36"/>
            <p:cNvSpPr>
              <a:spLocks/>
            </p:cNvSpPr>
            <p:nvPr/>
          </p:nvSpPr>
          <p:spPr bwMode="ltGray">
            <a:xfrm>
              <a:off x="0" y="3949"/>
              <a:ext cx="47" cy="86"/>
            </a:xfrm>
            <a:custGeom>
              <a:avLst/>
              <a:gdLst>
                <a:gd name="T0" fmla="*/ 37 w 47"/>
                <a:gd name="T1" fmla="*/ 0 h 86"/>
                <a:gd name="T2" fmla="*/ 15 w 47"/>
                <a:gd name="T3" fmla="*/ 37 h 86"/>
                <a:gd name="T4" fmla="*/ 0 w 47"/>
                <a:gd name="T5" fmla="*/ 59 h 86"/>
                <a:gd name="T6" fmla="*/ 0 w 47"/>
                <a:gd name="T7" fmla="*/ 86 h 86"/>
                <a:gd name="T8" fmla="*/ 8 w 47"/>
                <a:gd name="T9" fmla="*/ 82 h 86"/>
                <a:gd name="T10" fmla="*/ 20 w 47"/>
                <a:gd name="T11" fmla="*/ 73 h 86"/>
                <a:gd name="T12" fmla="*/ 33 w 47"/>
                <a:gd name="T13" fmla="*/ 63 h 86"/>
                <a:gd name="T14" fmla="*/ 42 w 47"/>
                <a:gd name="T15" fmla="*/ 51 h 86"/>
                <a:gd name="T16" fmla="*/ 47 w 47"/>
                <a:gd name="T17" fmla="*/ 36 h 86"/>
                <a:gd name="T18" fmla="*/ 46 w 47"/>
                <a:gd name="T19" fmla="*/ 19 h 86"/>
                <a:gd name="T20" fmla="*/ 37 w 47"/>
                <a:gd name="T21" fmla="*/ 0 h 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86">
                  <a:moveTo>
                    <a:pt x="37" y="0"/>
                  </a:moveTo>
                  <a:lnTo>
                    <a:pt x="15" y="37"/>
                  </a:lnTo>
                  <a:lnTo>
                    <a:pt x="0" y="59"/>
                  </a:lnTo>
                  <a:lnTo>
                    <a:pt x="0" y="86"/>
                  </a:lnTo>
                  <a:lnTo>
                    <a:pt x="8" y="82"/>
                  </a:lnTo>
                  <a:lnTo>
                    <a:pt x="20" y="73"/>
                  </a:lnTo>
                  <a:lnTo>
                    <a:pt x="33" y="63"/>
                  </a:lnTo>
                  <a:lnTo>
                    <a:pt x="42" y="51"/>
                  </a:lnTo>
                  <a:lnTo>
                    <a:pt x="47" y="36"/>
                  </a:lnTo>
                  <a:lnTo>
                    <a:pt x="46" y="19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Freeform 37"/>
            <p:cNvSpPr>
              <a:spLocks/>
            </p:cNvSpPr>
            <p:nvPr/>
          </p:nvSpPr>
          <p:spPr bwMode="ltGray">
            <a:xfrm>
              <a:off x="0" y="3239"/>
              <a:ext cx="497" cy="740"/>
            </a:xfrm>
            <a:custGeom>
              <a:avLst/>
              <a:gdLst>
                <a:gd name="T0" fmla="*/ 0 w 497"/>
                <a:gd name="T1" fmla="*/ 13 h 740"/>
                <a:gd name="T2" fmla="*/ 41 w 497"/>
                <a:gd name="T3" fmla="*/ 4 h 740"/>
                <a:gd name="T4" fmla="*/ 101 w 497"/>
                <a:gd name="T5" fmla="*/ 0 h 740"/>
                <a:gd name="T6" fmla="*/ 170 w 497"/>
                <a:gd name="T7" fmla="*/ 4 h 740"/>
                <a:gd name="T8" fmla="*/ 248 w 497"/>
                <a:gd name="T9" fmla="*/ 21 h 740"/>
                <a:gd name="T10" fmla="*/ 323 w 497"/>
                <a:gd name="T11" fmla="*/ 50 h 740"/>
                <a:gd name="T12" fmla="*/ 382 w 497"/>
                <a:gd name="T13" fmla="*/ 90 h 740"/>
                <a:gd name="T14" fmla="*/ 428 w 497"/>
                <a:gd name="T15" fmla="*/ 141 h 740"/>
                <a:gd name="T16" fmla="*/ 463 w 497"/>
                <a:gd name="T17" fmla="*/ 199 h 740"/>
                <a:gd name="T18" fmla="*/ 485 w 497"/>
                <a:gd name="T19" fmla="*/ 262 h 740"/>
                <a:gd name="T20" fmla="*/ 496 w 497"/>
                <a:gd name="T21" fmla="*/ 327 h 740"/>
                <a:gd name="T22" fmla="*/ 497 w 497"/>
                <a:gd name="T23" fmla="*/ 396 h 740"/>
                <a:gd name="T24" fmla="*/ 487 w 497"/>
                <a:gd name="T25" fmla="*/ 462 h 740"/>
                <a:gd name="T26" fmla="*/ 470 w 497"/>
                <a:gd name="T27" fmla="*/ 527 h 740"/>
                <a:gd name="T28" fmla="*/ 443 w 497"/>
                <a:gd name="T29" fmla="*/ 586 h 740"/>
                <a:gd name="T30" fmla="*/ 406 w 497"/>
                <a:gd name="T31" fmla="*/ 639 h 740"/>
                <a:gd name="T32" fmla="*/ 364 w 497"/>
                <a:gd name="T33" fmla="*/ 683 h 740"/>
                <a:gd name="T34" fmla="*/ 315 w 497"/>
                <a:gd name="T35" fmla="*/ 715 h 740"/>
                <a:gd name="T36" fmla="*/ 259 w 497"/>
                <a:gd name="T37" fmla="*/ 736 h 740"/>
                <a:gd name="T38" fmla="*/ 198 w 497"/>
                <a:gd name="T39" fmla="*/ 740 h 740"/>
                <a:gd name="T40" fmla="*/ 131 w 497"/>
                <a:gd name="T41" fmla="*/ 727 h 740"/>
                <a:gd name="T42" fmla="*/ 167 w 497"/>
                <a:gd name="T43" fmla="*/ 728 h 740"/>
                <a:gd name="T44" fmla="*/ 204 w 497"/>
                <a:gd name="T45" fmla="*/ 718 h 740"/>
                <a:gd name="T46" fmla="*/ 238 w 497"/>
                <a:gd name="T47" fmla="*/ 700 h 740"/>
                <a:gd name="T48" fmla="*/ 272 w 497"/>
                <a:gd name="T49" fmla="*/ 670 h 740"/>
                <a:gd name="T50" fmla="*/ 304 w 497"/>
                <a:gd name="T51" fmla="*/ 635 h 740"/>
                <a:gd name="T52" fmla="*/ 333 w 497"/>
                <a:gd name="T53" fmla="*/ 594 h 740"/>
                <a:gd name="T54" fmla="*/ 358 w 497"/>
                <a:gd name="T55" fmla="*/ 549 h 740"/>
                <a:gd name="T56" fmla="*/ 381 w 497"/>
                <a:gd name="T57" fmla="*/ 500 h 740"/>
                <a:gd name="T58" fmla="*/ 396 w 497"/>
                <a:gd name="T59" fmla="*/ 449 h 740"/>
                <a:gd name="T60" fmla="*/ 408 w 497"/>
                <a:gd name="T61" fmla="*/ 397 h 740"/>
                <a:gd name="T62" fmla="*/ 414 w 497"/>
                <a:gd name="T63" fmla="*/ 346 h 740"/>
                <a:gd name="T64" fmla="*/ 412 w 497"/>
                <a:gd name="T65" fmla="*/ 296 h 740"/>
                <a:gd name="T66" fmla="*/ 402 w 497"/>
                <a:gd name="T67" fmla="*/ 251 h 740"/>
                <a:gd name="T68" fmla="*/ 384 w 497"/>
                <a:gd name="T69" fmla="*/ 208 h 740"/>
                <a:gd name="T70" fmla="*/ 357 w 497"/>
                <a:gd name="T71" fmla="*/ 172 h 740"/>
                <a:gd name="T72" fmla="*/ 320 w 497"/>
                <a:gd name="T73" fmla="*/ 142 h 740"/>
                <a:gd name="T74" fmla="*/ 260 w 497"/>
                <a:gd name="T75" fmla="*/ 107 h 740"/>
                <a:gd name="T76" fmla="*/ 203 w 497"/>
                <a:gd name="T77" fmla="*/ 82 h 740"/>
                <a:gd name="T78" fmla="*/ 154 w 497"/>
                <a:gd name="T79" fmla="*/ 65 h 740"/>
                <a:gd name="T80" fmla="*/ 108 w 497"/>
                <a:gd name="T81" fmla="*/ 56 h 740"/>
                <a:gd name="T82" fmla="*/ 68 w 497"/>
                <a:gd name="T83" fmla="*/ 55 h 740"/>
                <a:gd name="T84" fmla="*/ 32 w 497"/>
                <a:gd name="T85" fmla="*/ 61 h 740"/>
                <a:gd name="T86" fmla="*/ 0 w 497"/>
                <a:gd name="T87" fmla="*/ 70 h 740"/>
                <a:gd name="T88" fmla="*/ 0 w 497"/>
                <a:gd name="T89" fmla="*/ 13 h 74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97" h="740">
                  <a:moveTo>
                    <a:pt x="0" y="13"/>
                  </a:moveTo>
                  <a:lnTo>
                    <a:pt x="41" y="4"/>
                  </a:lnTo>
                  <a:lnTo>
                    <a:pt x="101" y="0"/>
                  </a:lnTo>
                  <a:lnTo>
                    <a:pt x="170" y="4"/>
                  </a:lnTo>
                  <a:lnTo>
                    <a:pt x="248" y="21"/>
                  </a:lnTo>
                  <a:lnTo>
                    <a:pt x="323" y="50"/>
                  </a:lnTo>
                  <a:lnTo>
                    <a:pt x="382" y="90"/>
                  </a:lnTo>
                  <a:lnTo>
                    <a:pt x="428" y="141"/>
                  </a:lnTo>
                  <a:lnTo>
                    <a:pt x="463" y="199"/>
                  </a:lnTo>
                  <a:lnTo>
                    <a:pt x="485" y="262"/>
                  </a:lnTo>
                  <a:lnTo>
                    <a:pt x="496" y="327"/>
                  </a:lnTo>
                  <a:lnTo>
                    <a:pt x="497" y="396"/>
                  </a:lnTo>
                  <a:lnTo>
                    <a:pt x="487" y="462"/>
                  </a:lnTo>
                  <a:lnTo>
                    <a:pt x="470" y="527"/>
                  </a:lnTo>
                  <a:lnTo>
                    <a:pt x="443" y="586"/>
                  </a:lnTo>
                  <a:lnTo>
                    <a:pt x="406" y="639"/>
                  </a:lnTo>
                  <a:lnTo>
                    <a:pt x="364" y="683"/>
                  </a:lnTo>
                  <a:lnTo>
                    <a:pt x="315" y="715"/>
                  </a:lnTo>
                  <a:lnTo>
                    <a:pt x="259" y="736"/>
                  </a:lnTo>
                  <a:lnTo>
                    <a:pt x="198" y="740"/>
                  </a:lnTo>
                  <a:lnTo>
                    <a:pt x="131" y="727"/>
                  </a:lnTo>
                  <a:lnTo>
                    <a:pt x="167" y="728"/>
                  </a:lnTo>
                  <a:lnTo>
                    <a:pt x="204" y="718"/>
                  </a:lnTo>
                  <a:lnTo>
                    <a:pt x="238" y="700"/>
                  </a:lnTo>
                  <a:lnTo>
                    <a:pt x="272" y="670"/>
                  </a:lnTo>
                  <a:lnTo>
                    <a:pt x="304" y="635"/>
                  </a:lnTo>
                  <a:lnTo>
                    <a:pt x="333" y="594"/>
                  </a:lnTo>
                  <a:lnTo>
                    <a:pt x="358" y="549"/>
                  </a:lnTo>
                  <a:lnTo>
                    <a:pt x="381" y="500"/>
                  </a:lnTo>
                  <a:lnTo>
                    <a:pt x="396" y="449"/>
                  </a:lnTo>
                  <a:lnTo>
                    <a:pt x="408" y="397"/>
                  </a:lnTo>
                  <a:lnTo>
                    <a:pt x="414" y="346"/>
                  </a:lnTo>
                  <a:lnTo>
                    <a:pt x="412" y="296"/>
                  </a:lnTo>
                  <a:lnTo>
                    <a:pt x="402" y="251"/>
                  </a:lnTo>
                  <a:lnTo>
                    <a:pt x="384" y="208"/>
                  </a:lnTo>
                  <a:lnTo>
                    <a:pt x="357" y="172"/>
                  </a:lnTo>
                  <a:lnTo>
                    <a:pt x="320" y="142"/>
                  </a:lnTo>
                  <a:lnTo>
                    <a:pt x="260" y="107"/>
                  </a:lnTo>
                  <a:lnTo>
                    <a:pt x="203" y="82"/>
                  </a:lnTo>
                  <a:lnTo>
                    <a:pt x="154" y="65"/>
                  </a:lnTo>
                  <a:lnTo>
                    <a:pt x="108" y="56"/>
                  </a:lnTo>
                  <a:lnTo>
                    <a:pt x="68" y="55"/>
                  </a:lnTo>
                  <a:lnTo>
                    <a:pt x="32" y="61"/>
                  </a:lnTo>
                  <a:lnTo>
                    <a:pt x="0" y="7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Freeform 38"/>
            <p:cNvSpPr>
              <a:spLocks/>
            </p:cNvSpPr>
            <p:nvPr/>
          </p:nvSpPr>
          <p:spPr bwMode="ltGray">
            <a:xfrm rot="1584153">
              <a:off x="20" y="410"/>
              <a:ext cx="344" cy="245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6 h 237"/>
                <a:gd name="T4" fmla="*/ 4 w 257"/>
                <a:gd name="T5" fmla="*/ 52 h 237"/>
                <a:gd name="T6" fmla="*/ 8 w 257"/>
                <a:gd name="T7" fmla="*/ 78 h 237"/>
                <a:gd name="T8" fmla="*/ 15 w 257"/>
                <a:gd name="T9" fmla="*/ 101 h 237"/>
                <a:gd name="T10" fmla="*/ 24 w 257"/>
                <a:gd name="T11" fmla="*/ 123 h 237"/>
                <a:gd name="T12" fmla="*/ 36 w 257"/>
                <a:gd name="T13" fmla="*/ 146 h 237"/>
                <a:gd name="T14" fmla="*/ 51 w 257"/>
                <a:gd name="T15" fmla="*/ 166 h 237"/>
                <a:gd name="T16" fmla="*/ 68 w 257"/>
                <a:gd name="T17" fmla="*/ 184 h 237"/>
                <a:gd name="T18" fmla="*/ 90 w 257"/>
                <a:gd name="T19" fmla="*/ 201 h 237"/>
                <a:gd name="T20" fmla="*/ 115 w 257"/>
                <a:gd name="T21" fmla="*/ 215 h 237"/>
                <a:gd name="T22" fmla="*/ 142 w 257"/>
                <a:gd name="T23" fmla="*/ 226 h 237"/>
                <a:gd name="T24" fmla="*/ 175 w 257"/>
                <a:gd name="T25" fmla="*/ 236 h 237"/>
                <a:gd name="T26" fmla="*/ 211 w 257"/>
                <a:gd name="T27" fmla="*/ 242 h 237"/>
                <a:gd name="T28" fmla="*/ 252 w 257"/>
                <a:gd name="T29" fmla="*/ 245 h 237"/>
                <a:gd name="T30" fmla="*/ 294 w 257"/>
                <a:gd name="T31" fmla="*/ 244 h 237"/>
                <a:gd name="T32" fmla="*/ 344 w 257"/>
                <a:gd name="T33" fmla="*/ 240 h 237"/>
                <a:gd name="T34" fmla="*/ 300 w 257"/>
                <a:gd name="T35" fmla="*/ 235 h 237"/>
                <a:gd name="T36" fmla="*/ 261 w 257"/>
                <a:gd name="T37" fmla="*/ 227 h 237"/>
                <a:gd name="T38" fmla="*/ 228 w 257"/>
                <a:gd name="T39" fmla="*/ 219 h 237"/>
                <a:gd name="T40" fmla="*/ 198 w 257"/>
                <a:gd name="T41" fmla="*/ 211 h 237"/>
                <a:gd name="T42" fmla="*/ 171 w 257"/>
                <a:gd name="T43" fmla="*/ 200 h 237"/>
                <a:gd name="T44" fmla="*/ 150 w 257"/>
                <a:gd name="T45" fmla="*/ 188 h 237"/>
                <a:gd name="T46" fmla="*/ 130 w 257"/>
                <a:gd name="T47" fmla="*/ 175 h 237"/>
                <a:gd name="T48" fmla="*/ 112 w 257"/>
                <a:gd name="T49" fmla="*/ 160 h 237"/>
                <a:gd name="T50" fmla="*/ 96 w 257"/>
                <a:gd name="T51" fmla="*/ 146 h 237"/>
                <a:gd name="T52" fmla="*/ 82 w 257"/>
                <a:gd name="T53" fmla="*/ 129 h 237"/>
                <a:gd name="T54" fmla="*/ 70 w 257"/>
                <a:gd name="T55" fmla="*/ 111 h 237"/>
                <a:gd name="T56" fmla="*/ 58 w 257"/>
                <a:gd name="T57" fmla="*/ 91 h 237"/>
                <a:gd name="T58" fmla="*/ 44 w 257"/>
                <a:gd name="T59" fmla="*/ 71 h 237"/>
                <a:gd name="T60" fmla="*/ 31 w 257"/>
                <a:gd name="T61" fmla="*/ 49 h 237"/>
                <a:gd name="T62" fmla="*/ 16 w 257"/>
                <a:gd name="T63" fmla="*/ 25 h 237"/>
                <a:gd name="T64" fmla="*/ 0 w 257"/>
                <a:gd name="T65" fmla="*/ 0 h 2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7" name="Freeform 39"/>
            <p:cNvSpPr>
              <a:spLocks/>
            </p:cNvSpPr>
            <p:nvPr/>
          </p:nvSpPr>
          <p:spPr bwMode="ltGray">
            <a:xfrm rot="1584153">
              <a:off x="242" y="756"/>
              <a:ext cx="167" cy="115"/>
            </a:xfrm>
            <a:custGeom>
              <a:avLst/>
              <a:gdLst>
                <a:gd name="T0" fmla="*/ 104 w 124"/>
                <a:gd name="T1" fmla="*/ 0 h 110"/>
                <a:gd name="T2" fmla="*/ 167 w 124"/>
                <a:gd name="T3" fmla="*/ 113 h 110"/>
                <a:gd name="T4" fmla="*/ 162 w 124"/>
                <a:gd name="T5" fmla="*/ 112 h 110"/>
                <a:gd name="T6" fmla="*/ 144 w 124"/>
                <a:gd name="T7" fmla="*/ 110 h 110"/>
                <a:gd name="T8" fmla="*/ 120 w 124"/>
                <a:gd name="T9" fmla="*/ 106 h 110"/>
                <a:gd name="T10" fmla="*/ 92 w 124"/>
                <a:gd name="T11" fmla="*/ 104 h 110"/>
                <a:gd name="T12" fmla="*/ 61 w 124"/>
                <a:gd name="T13" fmla="*/ 101 h 110"/>
                <a:gd name="T14" fmla="*/ 34 w 124"/>
                <a:gd name="T15" fmla="*/ 102 h 110"/>
                <a:gd name="T16" fmla="*/ 12 w 124"/>
                <a:gd name="T17" fmla="*/ 107 h 110"/>
                <a:gd name="T18" fmla="*/ 0 w 124"/>
                <a:gd name="T19" fmla="*/ 115 h 110"/>
                <a:gd name="T20" fmla="*/ 5 w 124"/>
                <a:gd name="T21" fmla="*/ 102 h 110"/>
                <a:gd name="T22" fmla="*/ 11 w 124"/>
                <a:gd name="T23" fmla="*/ 93 h 110"/>
                <a:gd name="T24" fmla="*/ 22 w 124"/>
                <a:gd name="T25" fmla="*/ 86 h 110"/>
                <a:gd name="T26" fmla="*/ 34 w 124"/>
                <a:gd name="T27" fmla="*/ 79 h 110"/>
                <a:gd name="T28" fmla="*/ 48 w 124"/>
                <a:gd name="T29" fmla="*/ 75 h 110"/>
                <a:gd name="T30" fmla="*/ 63 w 124"/>
                <a:gd name="T31" fmla="*/ 74 h 110"/>
                <a:gd name="T32" fmla="*/ 79 w 124"/>
                <a:gd name="T33" fmla="*/ 74 h 110"/>
                <a:gd name="T34" fmla="*/ 97 w 124"/>
                <a:gd name="T35" fmla="*/ 77 h 110"/>
                <a:gd name="T36" fmla="*/ 98 w 124"/>
                <a:gd name="T37" fmla="*/ 74 h 110"/>
                <a:gd name="T38" fmla="*/ 94 w 124"/>
                <a:gd name="T39" fmla="*/ 59 h 110"/>
                <a:gd name="T40" fmla="*/ 90 w 124"/>
                <a:gd name="T41" fmla="*/ 40 h 110"/>
                <a:gd name="T42" fmla="*/ 88 w 124"/>
                <a:gd name="T43" fmla="*/ 31 h 110"/>
                <a:gd name="T44" fmla="*/ 85 w 124"/>
                <a:gd name="T45" fmla="*/ 31 h 110"/>
                <a:gd name="T46" fmla="*/ 82 w 124"/>
                <a:gd name="T47" fmla="*/ 30 h 110"/>
                <a:gd name="T48" fmla="*/ 79 w 124"/>
                <a:gd name="T49" fmla="*/ 27 h 110"/>
                <a:gd name="T50" fmla="*/ 77 w 124"/>
                <a:gd name="T51" fmla="*/ 24 h 110"/>
                <a:gd name="T52" fmla="*/ 77 w 124"/>
                <a:gd name="T53" fmla="*/ 20 h 110"/>
                <a:gd name="T54" fmla="*/ 79 w 124"/>
                <a:gd name="T55" fmla="*/ 15 h 110"/>
                <a:gd name="T56" fmla="*/ 89 w 124"/>
                <a:gd name="T57" fmla="*/ 8 h 110"/>
                <a:gd name="T58" fmla="*/ 104 w 124"/>
                <a:gd name="T59" fmla="*/ 0 h 11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" name="Freeform 40"/>
            <p:cNvSpPr>
              <a:spLocks/>
            </p:cNvSpPr>
            <p:nvPr/>
          </p:nvSpPr>
          <p:spPr bwMode="ltGray">
            <a:xfrm rot="1584153">
              <a:off x="574" y="286"/>
              <a:ext cx="147" cy="160"/>
            </a:xfrm>
            <a:custGeom>
              <a:avLst/>
              <a:gdLst>
                <a:gd name="T0" fmla="*/ 0 w 109"/>
                <a:gd name="T1" fmla="*/ 0 h 156"/>
                <a:gd name="T2" fmla="*/ 7 w 109"/>
                <a:gd name="T3" fmla="*/ 1 h 156"/>
                <a:gd name="T4" fmla="*/ 24 w 109"/>
                <a:gd name="T5" fmla="*/ 5 h 156"/>
                <a:gd name="T6" fmla="*/ 50 w 109"/>
                <a:gd name="T7" fmla="*/ 12 h 156"/>
                <a:gd name="T8" fmla="*/ 78 w 109"/>
                <a:gd name="T9" fmla="*/ 25 h 156"/>
                <a:gd name="T10" fmla="*/ 105 w 109"/>
                <a:gd name="T11" fmla="*/ 45 h 156"/>
                <a:gd name="T12" fmla="*/ 129 w 109"/>
                <a:gd name="T13" fmla="*/ 73 h 156"/>
                <a:gd name="T14" fmla="*/ 144 w 109"/>
                <a:gd name="T15" fmla="*/ 111 h 156"/>
                <a:gd name="T16" fmla="*/ 147 w 109"/>
                <a:gd name="T17" fmla="*/ 160 h 156"/>
                <a:gd name="T18" fmla="*/ 142 w 109"/>
                <a:gd name="T19" fmla="*/ 160 h 156"/>
                <a:gd name="T20" fmla="*/ 134 w 109"/>
                <a:gd name="T21" fmla="*/ 160 h 156"/>
                <a:gd name="T22" fmla="*/ 125 w 109"/>
                <a:gd name="T23" fmla="*/ 160 h 156"/>
                <a:gd name="T24" fmla="*/ 117 w 109"/>
                <a:gd name="T25" fmla="*/ 158 h 156"/>
                <a:gd name="T26" fmla="*/ 109 w 109"/>
                <a:gd name="T27" fmla="*/ 157 h 156"/>
                <a:gd name="T28" fmla="*/ 100 w 109"/>
                <a:gd name="T29" fmla="*/ 154 h 156"/>
                <a:gd name="T30" fmla="*/ 89 w 109"/>
                <a:gd name="T31" fmla="*/ 149 h 156"/>
                <a:gd name="T32" fmla="*/ 78 w 109"/>
                <a:gd name="T33" fmla="*/ 143 h 156"/>
                <a:gd name="T34" fmla="*/ 71 w 109"/>
                <a:gd name="T35" fmla="*/ 129 h 156"/>
                <a:gd name="T36" fmla="*/ 71 w 109"/>
                <a:gd name="T37" fmla="*/ 114 h 156"/>
                <a:gd name="T38" fmla="*/ 76 w 109"/>
                <a:gd name="T39" fmla="*/ 98 h 156"/>
                <a:gd name="T40" fmla="*/ 80 w 109"/>
                <a:gd name="T41" fmla="*/ 82 h 156"/>
                <a:gd name="T42" fmla="*/ 76 w 109"/>
                <a:gd name="T43" fmla="*/ 64 h 156"/>
                <a:gd name="T44" fmla="*/ 65 w 109"/>
                <a:gd name="T45" fmla="*/ 44 h 156"/>
                <a:gd name="T46" fmla="*/ 42 w 109"/>
                <a:gd name="T47" fmla="*/ 24 h 156"/>
                <a:gd name="T48" fmla="*/ 0 w 109"/>
                <a:gd name="T49" fmla="*/ 0 h 15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Freeform 41"/>
            <p:cNvSpPr>
              <a:spLocks/>
            </p:cNvSpPr>
            <p:nvPr/>
          </p:nvSpPr>
          <p:spPr bwMode="ltGray">
            <a:xfrm rot="1584153">
              <a:off x="236" y="721"/>
              <a:ext cx="62" cy="97"/>
            </a:xfrm>
            <a:custGeom>
              <a:avLst/>
              <a:gdLst>
                <a:gd name="T0" fmla="*/ 42 w 46"/>
                <a:gd name="T1" fmla="*/ 0 h 94"/>
                <a:gd name="T2" fmla="*/ 27 w 46"/>
                <a:gd name="T3" fmla="*/ 39 h 94"/>
                <a:gd name="T4" fmla="*/ 20 w 46"/>
                <a:gd name="T5" fmla="*/ 64 h 94"/>
                <a:gd name="T6" fmla="*/ 15 w 46"/>
                <a:gd name="T7" fmla="*/ 82 h 94"/>
                <a:gd name="T8" fmla="*/ 0 w 46"/>
                <a:gd name="T9" fmla="*/ 97 h 94"/>
                <a:gd name="T10" fmla="*/ 16 w 46"/>
                <a:gd name="T11" fmla="*/ 91 h 94"/>
                <a:gd name="T12" fmla="*/ 31 w 46"/>
                <a:gd name="T13" fmla="*/ 83 h 94"/>
                <a:gd name="T14" fmla="*/ 43 w 46"/>
                <a:gd name="T15" fmla="*/ 71 h 94"/>
                <a:gd name="T16" fmla="*/ 54 w 46"/>
                <a:gd name="T17" fmla="*/ 59 h 94"/>
                <a:gd name="T18" fmla="*/ 61 w 46"/>
                <a:gd name="T19" fmla="*/ 45 h 94"/>
                <a:gd name="T20" fmla="*/ 62 w 46"/>
                <a:gd name="T21" fmla="*/ 31 h 94"/>
                <a:gd name="T22" fmla="*/ 57 w 46"/>
                <a:gd name="T23" fmla="*/ 15 h 94"/>
                <a:gd name="T24" fmla="*/ 42 w 46"/>
                <a:gd name="T25" fmla="*/ 0 h 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0" name="Freeform 42"/>
            <p:cNvSpPr>
              <a:spLocks/>
            </p:cNvSpPr>
            <p:nvPr/>
          </p:nvSpPr>
          <p:spPr bwMode="ltGray">
            <a:xfrm rot="1584153">
              <a:off x="585" y="466"/>
              <a:ext cx="72" cy="41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8 w 54"/>
                <a:gd name="T5" fmla="*/ 3 h 40"/>
                <a:gd name="T6" fmla="*/ 17 w 54"/>
                <a:gd name="T7" fmla="*/ 8 h 40"/>
                <a:gd name="T8" fmla="*/ 28 w 54"/>
                <a:gd name="T9" fmla="*/ 12 h 40"/>
                <a:gd name="T10" fmla="*/ 39 w 54"/>
                <a:gd name="T11" fmla="*/ 15 h 40"/>
                <a:gd name="T12" fmla="*/ 51 w 54"/>
                <a:gd name="T13" fmla="*/ 17 h 40"/>
                <a:gd name="T14" fmla="*/ 61 w 54"/>
                <a:gd name="T15" fmla="*/ 18 h 40"/>
                <a:gd name="T16" fmla="*/ 72 w 54"/>
                <a:gd name="T17" fmla="*/ 16 h 40"/>
                <a:gd name="T18" fmla="*/ 71 w 54"/>
                <a:gd name="T19" fmla="*/ 26 h 40"/>
                <a:gd name="T20" fmla="*/ 67 w 54"/>
                <a:gd name="T21" fmla="*/ 34 h 40"/>
                <a:gd name="T22" fmla="*/ 59 w 54"/>
                <a:gd name="T23" fmla="*/ 39 h 40"/>
                <a:gd name="T24" fmla="*/ 49 w 54"/>
                <a:gd name="T25" fmla="*/ 41 h 40"/>
                <a:gd name="T26" fmla="*/ 37 w 54"/>
                <a:gd name="T27" fmla="*/ 40 h 40"/>
                <a:gd name="T28" fmla="*/ 25 w 54"/>
                <a:gd name="T29" fmla="*/ 33 h 40"/>
                <a:gd name="T30" fmla="*/ 13 w 54"/>
                <a:gd name="T31" fmla="*/ 21 h 40"/>
                <a:gd name="T32" fmla="*/ 0 w 54"/>
                <a:gd name="T33" fmla="*/ 0 h 4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1" name="Freeform 43"/>
            <p:cNvSpPr>
              <a:spLocks/>
            </p:cNvSpPr>
            <p:nvPr/>
          </p:nvSpPr>
          <p:spPr bwMode="ltGray">
            <a:xfrm>
              <a:off x="0" y="886"/>
              <a:ext cx="360" cy="650"/>
            </a:xfrm>
            <a:custGeom>
              <a:avLst/>
              <a:gdLst>
                <a:gd name="T0" fmla="*/ 264 w 360"/>
                <a:gd name="T1" fmla="*/ 0 h 650"/>
                <a:gd name="T2" fmla="*/ 269 w 360"/>
                <a:gd name="T3" fmla="*/ 9 h 650"/>
                <a:gd name="T4" fmla="*/ 277 w 360"/>
                <a:gd name="T5" fmla="*/ 22 h 650"/>
                <a:gd name="T6" fmla="*/ 286 w 360"/>
                <a:gd name="T7" fmla="*/ 39 h 650"/>
                <a:gd name="T8" fmla="*/ 297 w 360"/>
                <a:gd name="T9" fmla="*/ 58 h 650"/>
                <a:gd name="T10" fmla="*/ 309 w 360"/>
                <a:gd name="T11" fmla="*/ 83 h 650"/>
                <a:gd name="T12" fmla="*/ 319 w 360"/>
                <a:gd name="T13" fmla="*/ 108 h 650"/>
                <a:gd name="T14" fmla="*/ 329 w 360"/>
                <a:gd name="T15" fmla="*/ 136 h 650"/>
                <a:gd name="T16" fmla="*/ 333 w 360"/>
                <a:gd name="T17" fmla="*/ 163 h 650"/>
                <a:gd name="T18" fmla="*/ 336 w 360"/>
                <a:gd name="T19" fmla="*/ 193 h 650"/>
                <a:gd name="T20" fmla="*/ 332 w 360"/>
                <a:gd name="T21" fmla="*/ 223 h 650"/>
                <a:gd name="T22" fmla="*/ 323 w 360"/>
                <a:gd name="T23" fmla="*/ 255 h 650"/>
                <a:gd name="T24" fmla="*/ 310 w 360"/>
                <a:gd name="T25" fmla="*/ 285 h 650"/>
                <a:gd name="T26" fmla="*/ 287 w 360"/>
                <a:gd name="T27" fmla="*/ 315 h 650"/>
                <a:gd name="T28" fmla="*/ 257 w 360"/>
                <a:gd name="T29" fmla="*/ 343 h 650"/>
                <a:gd name="T30" fmla="*/ 218 w 360"/>
                <a:gd name="T31" fmla="*/ 370 h 650"/>
                <a:gd name="T32" fmla="*/ 167 w 360"/>
                <a:gd name="T33" fmla="*/ 396 h 650"/>
                <a:gd name="T34" fmla="*/ 111 w 360"/>
                <a:gd name="T35" fmla="*/ 425 h 650"/>
                <a:gd name="T36" fmla="*/ 69 w 360"/>
                <a:gd name="T37" fmla="*/ 457 h 650"/>
                <a:gd name="T38" fmla="*/ 35 w 360"/>
                <a:gd name="T39" fmla="*/ 490 h 650"/>
                <a:gd name="T40" fmla="*/ 12 w 360"/>
                <a:gd name="T41" fmla="*/ 526 h 650"/>
                <a:gd name="T42" fmla="*/ 0 w 360"/>
                <a:gd name="T43" fmla="*/ 553 h 650"/>
                <a:gd name="T44" fmla="*/ 0 w 360"/>
                <a:gd name="T45" fmla="*/ 650 h 650"/>
                <a:gd name="T46" fmla="*/ 6 w 360"/>
                <a:gd name="T47" fmla="*/ 628 h 650"/>
                <a:gd name="T48" fmla="*/ 19 w 360"/>
                <a:gd name="T49" fmla="*/ 594 h 650"/>
                <a:gd name="T50" fmla="*/ 43 w 360"/>
                <a:gd name="T51" fmla="*/ 551 h 650"/>
                <a:gd name="T52" fmla="*/ 76 w 360"/>
                <a:gd name="T53" fmla="*/ 503 h 650"/>
                <a:gd name="T54" fmla="*/ 125 w 360"/>
                <a:gd name="T55" fmla="*/ 454 h 650"/>
                <a:gd name="T56" fmla="*/ 190 w 360"/>
                <a:gd name="T57" fmla="*/ 408 h 650"/>
                <a:gd name="T58" fmla="*/ 275 w 360"/>
                <a:gd name="T59" fmla="*/ 365 h 650"/>
                <a:gd name="T60" fmla="*/ 308 w 360"/>
                <a:gd name="T61" fmla="*/ 342 h 650"/>
                <a:gd name="T62" fmla="*/ 335 w 360"/>
                <a:gd name="T63" fmla="*/ 305 h 650"/>
                <a:gd name="T64" fmla="*/ 352 w 360"/>
                <a:gd name="T65" fmla="*/ 255 h 650"/>
                <a:gd name="T66" fmla="*/ 360 w 360"/>
                <a:gd name="T67" fmla="*/ 201 h 650"/>
                <a:gd name="T68" fmla="*/ 356 w 360"/>
                <a:gd name="T69" fmla="*/ 144 h 650"/>
                <a:gd name="T70" fmla="*/ 341 w 360"/>
                <a:gd name="T71" fmla="*/ 88 h 650"/>
                <a:gd name="T72" fmla="*/ 311 w 360"/>
                <a:gd name="T73" fmla="*/ 39 h 650"/>
                <a:gd name="T74" fmla="*/ 264 w 360"/>
                <a:gd name="T75" fmla="*/ 0 h 65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60" h="650">
                  <a:moveTo>
                    <a:pt x="264" y="0"/>
                  </a:moveTo>
                  <a:lnTo>
                    <a:pt x="269" y="9"/>
                  </a:lnTo>
                  <a:lnTo>
                    <a:pt x="277" y="22"/>
                  </a:lnTo>
                  <a:lnTo>
                    <a:pt x="286" y="39"/>
                  </a:lnTo>
                  <a:lnTo>
                    <a:pt x="297" y="58"/>
                  </a:lnTo>
                  <a:lnTo>
                    <a:pt x="309" y="83"/>
                  </a:lnTo>
                  <a:lnTo>
                    <a:pt x="319" y="108"/>
                  </a:lnTo>
                  <a:lnTo>
                    <a:pt x="329" y="136"/>
                  </a:lnTo>
                  <a:lnTo>
                    <a:pt x="333" y="163"/>
                  </a:lnTo>
                  <a:lnTo>
                    <a:pt x="336" y="193"/>
                  </a:lnTo>
                  <a:lnTo>
                    <a:pt x="332" y="223"/>
                  </a:lnTo>
                  <a:lnTo>
                    <a:pt x="323" y="255"/>
                  </a:lnTo>
                  <a:lnTo>
                    <a:pt x="310" y="285"/>
                  </a:lnTo>
                  <a:lnTo>
                    <a:pt x="287" y="315"/>
                  </a:lnTo>
                  <a:lnTo>
                    <a:pt x="257" y="343"/>
                  </a:lnTo>
                  <a:lnTo>
                    <a:pt x="218" y="370"/>
                  </a:lnTo>
                  <a:lnTo>
                    <a:pt x="167" y="396"/>
                  </a:lnTo>
                  <a:lnTo>
                    <a:pt x="111" y="425"/>
                  </a:lnTo>
                  <a:lnTo>
                    <a:pt x="69" y="457"/>
                  </a:lnTo>
                  <a:lnTo>
                    <a:pt x="35" y="490"/>
                  </a:lnTo>
                  <a:lnTo>
                    <a:pt x="12" y="526"/>
                  </a:lnTo>
                  <a:lnTo>
                    <a:pt x="0" y="553"/>
                  </a:lnTo>
                  <a:lnTo>
                    <a:pt x="0" y="650"/>
                  </a:lnTo>
                  <a:lnTo>
                    <a:pt x="6" y="628"/>
                  </a:lnTo>
                  <a:lnTo>
                    <a:pt x="19" y="594"/>
                  </a:lnTo>
                  <a:lnTo>
                    <a:pt x="43" y="551"/>
                  </a:lnTo>
                  <a:lnTo>
                    <a:pt x="76" y="503"/>
                  </a:lnTo>
                  <a:lnTo>
                    <a:pt x="125" y="454"/>
                  </a:lnTo>
                  <a:lnTo>
                    <a:pt x="190" y="408"/>
                  </a:lnTo>
                  <a:lnTo>
                    <a:pt x="275" y="365"/>
                  </a:lnTo>
                  <a:lnTo>
                    <a:pt x="308" y="342"/>
                  </a:lnTo>
                  <a:lnTo>
                    <a:pt x="335" y="305"/>
                  </a:lnTo>
                  <a:lnTo>
                    <a:pt x="352" y="255"/>
                  </a:lnTo>
                  <a:lnTo>
                    <a:pt x="360" y="201"/>
                  </a:lnTo>
                  <a:lnTo>
                    <a:pt x="356" y="144"/>
                  </a:lnTo>
                  <a:lnTo>
                    <a:pt x="341" y="88"/>
                  </a:lnTo>
                  <a:lnTo>
                    <a:pt x="311" y="39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2" name="Freeform 44"/>
            <p:cNvSpPr>
              <a:spLocks/>
            </p:cNvSpPr>
            <p:nvPr/>
          </p:nvSpPr>
          <p:spPr bwMode="ltGray">
            <a:xfrm rot="1584153">
              <a:off x="56" y="84"/>
              <a:ext cx="804" cy="686"/>
            </a:xfrm>
            <a:custGeom>
              <a:avLst/>
              <a:gdLst>
                <a:gd name="T0" fmla="*/ 22 w 596"/>
                <a:gd name="T1" fmla="*/ 381 h 666"/>
                <a:gd name="T2" fmla="*/ 8 w 596"/>
                <a:gd name="T3" fmla="*/ 351 h 666"/>
                <a:gd name="T4" fmla="*/ 0 w 596"/>
                <a:gd name="T5" fmla="*/ 298 h 666"/>
                <a:gd name="T6" fmla="*/ 5 w 596"/>
                <a:gd name="T7" fmla="*/ 229 h 666"/>
                <a:gd name="T8" fmla="*/ 34 w 596"/>
                <a:gd name="T9" fmla="*/ 156 h 666"/>
                <a:gd name="T10" fmla="*/ 93 w 596"/>
                <a:gd name="T11" fmla="*/ 87 h 666"/>
                <a:gd name="T12" fmla="*/ 192 w 596"/>
                <a:gd name="T13" fmla="*/ 32 h 666"/>
                <a:gd name="T14" fmla="*/ 333 w 596"/>
                <a:gd name="T15" fmla="*/ 2 h 666"/>
                <a:gd name="T16" fmla="*/ 513 w 596"/>
                <a:gd name="T17" fmla="*/ 9 h 666"/>
                <a:gd name="T18" fmla="*/ 653 w 596"/>
                <a:gd name="T19" fmla="*/ 70 h 666"/>
                <a:gd name="T20" fmla="*/ 747 w 596"/>
                <a:gd name="T21" fmla="*/ 170 h 666"/>
                <a:gd name="T22" fmla="*/ 797 w 596"/>
                <a:gd name="T23" fmla="*/ 293 h 666"/>
                <a:gd name="T24" fmla="*/ 803 w 596"/>
                <a:gd name="T25" fmla="*/ 421 h 666"/>
                <a:gd name="T26" fmla="*/ 764 w 596"/>
                <a:gd name="T27" fmla="*/ 541 h 666"/>
                <a:gd name="T28" fmla="*/ 684 w 596"/>
                <a:gd name="T29" fmla="*/ 633 h 666"/>
                <a:gd name="T30" fmla="*/ 563 w 596"/>
                <a:gd name="T31" fmla="*/ 683 h 666"/>
                <a:gd name="T32" fmla="*/ 525 w 596"/>
                <a:gd name="T33" fmla="*/ 679 h 666"/>
                <a:gd name="T34" fmla="*/ 595 w 596"/>
                <a:gd name="T35" fmla="*/ 636 h 666"/>
                <a:gd name="T36" fmla="*/ 650 w 596"/>
                <a:gd name="T37" fmla="*/ 560 h 666"/>
                <a:gd name="T38" fmla="*/ 687 w 596"/>
                <a:gd name="T39" fmla="*/ 468 h 666"/>
                <a:gd name="T40" fmla="*/ 701 w 596"/>
                <a:gd name="T41" fmla="*/ 366 h 666"/>
                <a:gd name="T42" fmla="*/ 693 w 596"/>
                <a:gd name="T43" fmla="*/ 266 h 666"/>
                <a:gd name="T44" fmla="*/ 654 w 596"/>
                <a:gd name="T45" fmla="*/ 179 h 666"/>
                <a:gd name="T46" fmla="*/ 584 w 596"/>
                <a:gd name="T47" fmla="*/ 115 h 666"/>
                <a:gd name="T48" fmla="*/ 460 w 596"/>
                <a:gd name="T49" fmla="*/ 77 h 666"/>
                <a:gd name="T50" fmla="*/ 332 w 596"/>
                <a:gd name="T51" fmla="*/ 63 h 666"/>
                <a:gd name="T52" fmla="*/ 235 w 596"/>
                <a:gd name="T53" fmla="*/ 73 h 666"/>
                <a:gd name="T54" fmla="*/ 163 w 596"/>
                <a:gd name="T55" fmla="*/ 104 h 666"/>
                <a:gd name="T56" fmla="*/ 113 w 596"/>
                <a:gd name="T57" fmla="*/ 153 h 666"/>
                <a:gd name="T58" fmla="*/ 77 w 596"/>
                <a:gd name="T59" fmla="*/ 212 h 666"/>
                <a:gd name="T60" fmla="*/ 54 w 596"/>
                <a:gd name="T61" fmla="*/ 280 h 666"/>
                <a:gd name="T62" fmla="*/ 38 w 596"/>
                <a:gd name="T63" fmla="*/ 349 h 66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96" h="666">
                  <a:moveTo>
                    <a:pt x="22" y="372"/>
                  </a:moveTo>
                  <a:lnTo>
                    <a:pt x="16" y="370"/>
                  </a:lnTo>
                  <a:lnTo>
                    <a:pt x="10" y="360"/>
                  </a:lnTo>
                  <a:lnTo>
                    <a:pt x="6" y="341"/>
                  </a:lnTo>
                  <a:lnTo>
                    <a:pt x="1" y="318"/>
                  </a:lnTo>
                  <a:lnTo>
                    <a:pt x="0" y="289"/>
                  </a:lnTo>
                  <a:lnTo>
                    <a:pt x="0" y="257"/>
                  </a:lnTo>
                  <a:lnTo>
                    <a:pt x="4" y="222"/>
                  </a:lnTo>
                  <a:lnTo>
                    <a:pt x="13" y="187"/>
                  </a:lnTo>
                  <a:lnTo>
                    <a:pt x="25" y="151"/>
                  </a:lnTo>
                  <a:lnTo>
                    <a:pt x="45" y="116"/>
                  </a:lnTo>
                  <a:lnTo>
                    <a:pt x="69" y="84"/>
                  </a:lnTo>
                  <a:lnTo>
                    <a:pt x="101" y="55"/>
                  </a:lnTo>
                  <a:lnTo>
                    <a:pt x="142" y="31"/>
                  </a:lnTo>
                  <a:lnTo>
                    <a:pt x="190" y="13"/>
                  </a:lnTo>
                  <a:lnTo>
                    <a:pt x="247" y="2"/>
                  </a:lnTo>
                  <a:lnTo>
                    <a:pt x="314" y="0"/>
                  </a:lnTo>
                  <a:lnTo>
                    <a:pt x="380" y="9"/>
                  </a:lnTo>
                  <a:lnTo>
                    <a:pt x="436" y="33"/>
                  </a:lnTo>
                  <a:lnTo>
                    <a:pt x="484" y="68"/>
                  </a:lnTo>
                  <a:lnTo>
                    <a:pt x="524" y="113"/>
                  </a:lnTo>
                  <a:lnTo>
                    <a:pt x="554" y="165"/>
                  </a:lnTo>
                  <a:lnTo>
                    <a:pt x="577" y="222"/>
                  </a:lnTo>
                  <a:lnTo>
                    <a:pt x="591" y="284"/>
                  </a:lnTo>
                  <a:lnTo>
                    <a:pt x="596" y="347"/>
                  </a:lnTo>
                  <a:lnTo>
                    <a:pt x="595" y="409"/>
                  </a:lnTo>
                  <a:lnTo>
                    <a:pt x="585" y="469"/>
                  </a:lnTo>
                  <a:lnTo>
                    <a:pt x="566" y="525"/>
                  </a:lnTo>
                  <a:lnTo>
                    <a:pt x="540" y="574"/>
                  </a:lnTo>
                  <a:lnTo>
                    <a:pt x="507" y="615"/>
                  </a:lnTo>
                  <a:lnTo>
                    <a:pt x="465" y="645"/>
                  </a:lnTo>
                  <a:lnTo>
                    <a:pt x="417" y="663"/>
                  </a:lnTo>
                  <a:lnTo>
                    <a:pt x="360" y="666"/>
                  </a:lnTo>
                  <a:lnTo>
                    <a:pt x="389" y="659"/>
                  </a:lnTo>
                  <a:lnTo>
                    <a:pt x="417" y="642"/>
                  </a:lnTo>
                  <a:lnTo>
                    <a:pt x="441" y="617"/>
                  </a:lnTo>
                  <a:lnTo>
                    <a:pt x="463" y="583"/>
                  </a:lnTo>
                  <a:lnTo>
                    <a:pt x="482" y="544"/>
                  </a:lnTo>
                  <a:lnTo>
                    <a:pt x="497" y="501"/>
                  </a:lnTo>
                  <a:lnTo>
                    <a:pt x="509" y="454"/>
                  </a:lnTo>
                  <a:lnTo>
                    <a:pt x="517" y="404"/>
                  </a:lnTo>
                  <a:lnTo>
                    <a:pt x="520" y="355"/>
                  </a:lnTo>
                  <a:lnTo>
                    <a:pt x="519" y="305"/>
                  </a:lnTo>
                  <a:lnTo>
                    <a:pt x="514" y="258"/>
                  </a:lnTo>
                  <a:lnTo>
                    <a:pt x="502" y="213"/>
                  </a:lnTo>
                  <a:lnTo>
                    <a:pt x="485" y="174"/>
                  </a:lnTo>
                  <a:lnTo>
                    <a:pt x="462" y="139"/>
                  </a:lnTo>
                  <a:lnTo>
                    <a:pt x="433" y="112"/>
                  </a:lnTo>
                  <a:lnTo>
                    <a:pt x="397" y="93"/>
                  </a:lnTo>
                  <a:lnTo>
                    <a:pt x="341" y="75"/>
                  </a:lnTo>
                  <a:lnTo>
                    <a:pt x="290" y="65"/>
                  </a:lnTo>
                  <a:lnTo>
                    <a:pt x="246" y="61"/>
                  </a:lnTo>
                  <a:lnTo>
                    <a:pt x="207" y="63"/>
                  </a:lnTo>
                  <a:lnTo>
                    <a:pt x="174" y="71"/>
                  </a:lnTo>
                  <a:lnTo>
                    <a:pt x="146" y="84"/>
                  </a:lnTo>
                  <a:lnTo>
                    <a:pt x="121" y="101"/>
                  </a:lnTo>
                  <a:lnTo>
                    <a:pt x="101" y="123"/>
                  </a:lnTo>
                  <a:lnTo>
                    <a:pt x="84" y="149"/>
                  </a:lnTo>
                  <a:lnTo>
                    <a:pt x="69" y="176"/>
                  </a:lnTo>
                  <a:lnTo>
                    <a:pt x="57" y="206"/>
                  </a:lnTo>
                  <a:lnTo>
                    <a:pt x="48" y="239"/>
                  </a:lnTo>
                  <a:lnTo>
                    <a:pt x="40" y="272"/>
                  </a:lnTo>
                  <a:lnTo>
                    <a:pt x="33" y="305"/>
                  </a:lnTo>
                  <a:lnTo>
                    <a:pt x="28" y="339"/>
                  </a:lnTo>
                  <a:lnTo>
                    <a:pt x="22" y="3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7933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03188"/>
            <a:ext cx="8243887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37935" name="Rectangle 4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936" name="Rectangle 4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937" name="Rectangle 4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ea typeface="宋体" pitchFamily="2" charset="-122"/>
              </a:defRPr>
            </a:lvl1pPr>
          </a:lstStyle>
          <a:p>
            <a:pPr>
              <a:defRPr/>
            </a:pPr>
            <a:fld id="{47C732D1-3612-4642-8E53-87FB4EA9467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1030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</p:sldLayoutIdLst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omic Sans MS" panose="030F0702030302020204" pitchFamily="66" charset="0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Comic Sans MS" panose="030F0702030302020204" pitchFamily="66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Comic Sans MS" panose="030F0702030302020204" pitchFamily="66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omic Sans MS" panose="030F0702030302020204" pitchFamily="66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omic Sans MS" panose="030F0702030302020204" pitchFamily="66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omic Sans MS" panose="030F0702030302020204" pitchFamily="66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11.wmf"/><Relationship Id="rId4" Type="http://schemas.openxmlformats.org/officeDocument/2006/relationships/image" Target="../media/image8.e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3.w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.bin"/><Relationship Id="rId18" Type="http://schemas.openxmlformats.org/officeDocument/2006/relationships/image" Target="../media/image22.emf"/><Relationship Id="rId26" Type="http://schemas.openxmlformats.org/officeDocument/2006/relationships/image" Target="../media/image26.emf"/><Relationship Id="rId3" Type="http://schemas.openxmlformats.org/officeDocument/2006/relationships/oleObject" Target="../embeddings/oleObject15.bin"/><Relationship Id="rId21" Type="http://schemas.openxmlformats.org/officeDocument/2006/relationships/oleObject" Target="../embeddings/oleObject24.bin"/><Relationship Id="rId34" Type="http://schemas.openxmlformats.org/officeDocument/2006/relationships/image" Target="../media/image30.emf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19.emf"/><Relationship Id="rId17" Type="http://schemas.openxmlformats.org/officeDocument/2006/relationships/oleObject" Target="../embeddings/oleObject22.bin"/><Relationship Id="rId25" Type="http://schemas.openxmlformats.org/officeDocument/2006/relationships/oleObject" Target="../embeddings/oleObject26.bin"/><Relationship Id="rId33" Type="http://schemas.openxmlformats.org/officeDocument/2006/relationships/oleObject" Target="../embeddings/oleObject30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1.emf"/><Relationship Id="rId20" Type="http://schemas.openxmlformats.org/officeDocument/2006/relationships/image" Target="../media/image23.wmf"/><Relationship Id="rId29" Type="http://schemas.openxmlformats.org/officeDocument/2006/relationships/oleObject" Target="../embeddings/oleObject28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emf"/><Relationship Id="rId11" Type="http://schemas.openxmlformats.org/officeDocument/2006/relationships/oleObject" Target="../embeddings/oleObject19.bin"/><Relationship Id="rId24" Type="http://schemas.openxmlformats.org/officeDocument/2006/relationships/image" Target="../media/image25.wmf"/><Relationship Id="rId32" Type="http://schemas.openxmlformats.org/officeDocument/2006/relationships/image" Target="../media/image29.emf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23" Type="http://schemas.openxmlformats.org/officeDocument/2006/relationships/oleObject" Target="../embeddings/oleObject25.bin"/><Relationship Id="rId28" Type="http://schemas.openxmlformats.org/officeDocument/2006/relationships/image" Target="../media/image27.emf"/><Relationship Id="rId10" Type="http://schemas.openxmlformats.org/officeDocument/2006/relationships/image" Target="../media/image18.emf"/><Relationship Id="rId19" Type="http://schemas.openxmlformats.org/officeDocument/2006/relationships/oleObject" Target="../embeddings/oleObject23.bin"/><Relationship Id="rId31" Type="http://schemas.openxmlformats.org/officeDocument/2006/relationships/oleObject" Target="../embeddings/oleObject29.bin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0.emf"/><Relationship Id="rId22" Type="http://schemas.openxmlformats.org/officeDocument/2006/relationships/image" Target="../media/image24.wmf"/><Relationship Id="rId27" Type="http://schemas.openxmlformats.org/officeDocument/2006/relationships/oleObject" Target="../embeddings/oleObject27.bin"/><Relationship Id="rId30" Type="http://schemas.openxmlformats.org/officeDocument/2006/relationships/image" Target="../media/image28.wmf"/><Relationship Id="rId8" Type="http://schemas.openxmlformats.org/officeDocument/2006/relationships/image" Target="../media/image17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2.e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4.emf"/><Relationship Id="rId4" Type="http://schemas.openxmlformats.org/officeDocument/2006/relationships/image" Target="../media/image31.emf"/><Relationship Id="rId9" Type="http://schemas.openxmlformats.org/officeDocument/2006/relationships/oleObject" Target="../embeddings/oleObject3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0.e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39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2.emf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44.e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44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oleObject" Target="../embeddings/oleObject45.bin"/><Relationship Id="rId7" Type="http://schemas.openxmlformats.org/officeDocument/2006/relationships/image" Target="../media/image4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6.e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5.emf"/><Relationship Id="rId9" Type="http://schemas.openxmlformats.org/officeDocument/2006/relationships/image" Target="../media/image41.wmf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2.bin"/><Relationship Id="rId18" Type="http://schemas.openxmlformats.org/officeDocument/2006/relationships/image" Target="../media/image55.emf"/><Relationship Id="rId26" Type="http://schemas.openxmlformats.org/officeDocument/2006/relationships/image" Target="../media/image59.emf"/><Relationship Id="rId3" Type="http://schemas.openxmlformats.org/officeDocument/2006/relationships/oleObject" Target="../embeddings/oleObject47.bin"/><Relationship Id="rId21" Type="http://schemas.openxmlformats.org/officeDocument/2006/relationships/oleObject" Target="../embeddings/oleObject56.bin"/><Relationship Id="rId34" Type="http://schemas.openxmlformats.org/officeDocument/2006/relationships/image" Target="../media/image63.emf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52.emf"/><Relationship Id="rId17" Type="http://schemas.openxmlformats.org/officeDocument/2006/relationships/oleObject" Target="../embeddings/oleObject54.bin"/><Relationship Id="rId25" Type="http://schemas.openxmlformats.org/officeDocument/2006/relationships/oleObject" Target="../embeddings/oleObject58.bin"/><Relationship Id="rId33" Type="http://schemas.openxmlformats.org/officeDocument/2006/relationships/oleObject" Target="../embeddings/oleObject62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54.emf"/><Relationship Id="rId20" Type="http://schemas.openxmlformats.org/officeDocument/2006/relationships/image" Target="../media/image56.wmf"/><Relationship Id="rId29" Type="http://schemas.openxmlformats.org/officeDocument/2006/relationships/oleObject" Target="../embeddings/oleObject60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9.emf"/><Relationship Id="rId11" Type="http://schemas.openxmlformats.org/officeDocument/2006/relationships/oleObject" Target="../embeddings/oleObject51.bin"/><Relationship Id="rId24" Type="http://schemas.openxmlformats.org/officeDocument/2006/relationships/image" Target="../media/image58.wmf"/><Relationship Id="rId32" Type="http://schemas.openxmlformats.org/officeDocument/2006/relationships/image" Target="../media/image62.emf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23" Type="http://schemas.openxmlformats.org/officeDocument/2006/relationships/oleObject" Target="../embeddings/oleObject57.bin"/><Relationship Id="rId28" Type="http://schemas.openxmlformats.org/officeDocument/2006/relationships/image" Target="../media/image60.emf"/><Relationship Id="rId10" Type="http://schemas.openxmlformats.org/officeDocument/2006/relationships/image" Target="../media/image51.emf"/><Relationship Id="rId19" Type="http://schemas.openxmlformats.org/officeDocument/2006/relationships/oleObject" Target="../embeddings/oleObject55.bin"/><Relationship Id="rId31" Type="http://schemas.openxmlformats.org/officeDocument/2006/relationships/oleObject" Target="../embeddings/oleObject61.bin"/><Relationship Id="rId4" Type="http://schemas.openxmlformats.org/officeDocument/2006/relationships/image" Target="../media/image48.e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53.emf"/><Relationship Id="rId22" Type="http://schemas.openxmlformats.org/officeDocument/2006/relationships/image" Target="../media/image57.wmf"/><Relationship Id="rId27" Type="http://schemas.openxmlformats.org/officeDocument/2006/relationships/oleObject" Target="../embeddings/oleObject59.bin"/><Relationship Id="rId30" Type="http://schemas.openxmlformats.org/officeDocument/2006/relationships/image" Target="../media/image61.emf"/><Relationship Id="rId8" Type="http://schemas.openxmlformats.org/officeDocument/2006/relationships/image" Target="../media/image50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13" Type="http://schemas.openxmlformats.org/officeDocument/2006/relationships/oleObject" Target="../embeddings/oleObject68.bin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68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0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5.e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5" Type="http://schemas.openxmlformats.org/officeDocument/2006/relationships/oleObject" Target="../embeddings/oleObject69.bin"/><Relationship Id="rId10" Type="http://schemas.openxmlformats.org/officeDocument/2006/relationships/image" Target="../media/image67.emf"/><Relationship Id="rId4" Type="http://schemas.openxmlformats.org/officeDocument/2006/relationships/image" Target="../media/image64.e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69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5.e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67.emf"/><Relationship Id="rId9" Type="http://schemas.openxmlformats.org/officeDocument/2006/relationships/image" Target="../media/image7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72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73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5.wmf"/><Relationship Id="rId11" Type="http://schemas.openxmlformats.org/officeDocument/2006/relationships/image" Target="../media/image78.jpeg"/><Relationship Id="rId5" Type="http://schemas.openxmlformats.org/officeDocument/2006/relationships/oleObject" Target="../embeddings/oleObject73.bin"/><Relationship Id="rId10" Type="http://schemas.openxmlformats.org/officeDocument/2006/relationships/image" Target="../media/image77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75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8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0.wmf"/><Relationship Id="rId11" Type="http://schemas.openxmlformats.org/officeDocument/2006/relationships/oleObject" Target="../embeddings/oleObject80.bin"/><Relationship Id="rId5" Type="http://schemas.openxmlformats.org/officeDocument/2006/relationships/oleObject" Target="../embeddings/oleObject77.bin"/><Relationship Id="rId10" Type="http://schemas.openxmlformats.org/officeDocument/2006/relationships/image" Target="../media/image82.wmf"/><Relationship Id="rId4" Type="http://schemas.openxmlformats.org/officeDocument/2006/relationships/image" Target="../media/image79.wmf"/><Relationship Id="rId9" Type="http://schemas.openxmlformats.org/officeDocument/2006/relationships/oleObject" Target="../embeddings/oleObject79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12" Type="http://schemas.openxmlformats.org/officeDocument/2006/relationships/image" Target="../media/image8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85.bin"/><Relationship Id="rId5" Type="http://schemas.openxmlformats.org/officeDocument/2006/relationships/oleObject" Target="../embeddings/oleObject82.bin"/><Relationship Id="rId10" Type="http://schemas.openxmlformats.org/officeDocument/2006/relationships/image" Target="../media/image87.wmf"/><Relationship Id="rId4" Type="http://schemas.openxmlformats.org/officeDocument/2006/relationships/image" Target="../media/image84.wmf"/><Relationship Id="rId9" Type="http://schemas.openxmlformats.org/officeDocument/2006/relationships/oleObject" Target="../embeddings/oleObject84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3" Type="http://schemas.openxmlformats.org/officeDocument/2006/relationships/audio" Target="../media/audio1.wav"/><Relationship Id="rId7" Type="http://schemas.openxmlformats.org/officeDocument/2006/relationships/image" Target="../media/image90.emf"/><Relationship Id="rId12" Type="http://schemas.openxmlformats.org/officeDocument/2006/relationships/image" Target="../media/image93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86.bin"/><Relationship Id="rId11" Type="http://schemas.openxmlformats.org/officeDocument/2006/relationships/oleObject" Target="../embeddings/oleObject88.bin"/><Relationship Id="rId5" Type="http://schemas.openxmlformats.org/officeDocument/2006/relationships/image" Target="../media/image89.emf"/><Relationship Id="rId10" Type="http://schemas.openxmlformats.org/officeDocument/2006/relationships/image" Target="../media/image92.emf"/><Relationship Id="rId4" Type="http://schemas.openxmlformats.org/officeDocument/2006/relationships/oleObject" Target="NULL"/><Relationship Id="rId9" Type="http://schemas.openxmlformats.org/officeDocument/2006/relationships/image" Target="../media/image91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13" Type="http://schemas.openxmlformats.org/officeDocument/2006/relationships/image" Target="../media/image98.emf"/><Relationship Id="rId3" Type="http://schemas.openxmlformats.org/officeDocument/2006/relationships/audio" Target="../media/audio1.wav"/><Relationship Id="rId7" Type="http://schemas.openxmlformats.org/officeDocument/2006/relationships/image" Target="../media/image95.emf"/><Relationship Id="rId12" Type="http://schemas.openxmlformats.org/officeDocument/2006/relationships/oleObject" Target="../embeddings/oleObject9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90.bin"/><Relationship Id="rId11" Type="http://schemas.openxmlformats.org/officeDocument/2006/relationships/image" Target="../media/image97.emf"/><Relationship Id="rId5" Type="http://schemas.openxmlformats.org/officeDocument/2006/relationships/image" Target="../media/image94.emf"/><Relationship Id="rId10" Type="http://schemas.openxmlformats.org/officeDocument/2006/relationships/oleObject" Target="../embeddings/oleObject92.bin"/><Relationship Id="rId4" Type="http://schemas.openxmlformats.org/officeDocument/2006/relationships/oleObject" Target="../embeddings/oleObject89.bin"/><Relationship Id="rId9" Type="http://schemas.openxmlformats.org/officeDocument/2006/relationships/image" Target="../media/image96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emf"/><Relationship Id="rId13" Type="http://schemas.openxmlformats.org/officeDocument/2006/relationships/oleObject" Target="../embeddings/oleObject99.bin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103.e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55.e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00.emf"/><Relationship Id="rId11" Type="http://schemas.openxmlformats.org/officeDocument/2006/relationships/oleObject" Target="../embeddings/oleObject98.bin"/><Relationship Id="rId5" Type="http://schemas.openxmlformats.org/officeDocument/2006/relationships/oleObject" Target="../embeddings/oleObject95.bin"/><Relationship Id="rId15" Type="http://schemas.openxmlformats.org/officeDocument/2006/relationships/customXml" Target="../ink/ink1.xml"/><Relationship Id="rId10" Type="http://schemas.openxmlformats.org/officeDocument/2006/relationships/image" Target="../media/image102.emf"/><Relationship Id="rId4" Type="http://schemas.openxmlformats.org/officeDocument/2006/relationships/image" Target="../media/image99.emf"/><Relationship Id="rId9" Type="http://schemas.openxmlformats.org/officeDocument/2006/relationships/oleObject" Target="../embeddings/oleObject97.bin"/><Relationship Id="rId14" Type="http://schemas.openxmlformats.org/officeDocument/2006/relationships/image" Target="../media/image10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06.emf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105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emf"/><Relationship Id="rId3" Type="http://schemas.openxmlformats.org/officeDocument/2006/relationships/oleObject" Target="../embeddings/oleObject102.bin"/><Relationship Id="rId7" Type="http://schemas.openxmlformats.org/officeDocument/2006/relationships/oleObject" Target="../embeddings/oleObject10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08.emf"/><Relationship Id="rId5" Type="http://schemas.openxmlformats.org/officeDocument/2006/relationships/oleObject" Target="../embeddings/oleObject103.bin"/><Relationship Id="rId10" Type="http://schemas.openxmlformats.org/officeDocument/2006/relationships/image" Target="../media/image110.emf"/><Relationship Id="rId4" Type="http://schemas.openxmlformats.org/officeDocument/2006/relationships/image" Target="../media/image107.emf"/><Relationship Id="rId9" Type="http://schemas.openxmlformats.org/officeDocument/2006/relationships/oleObject" Target="../embeddings/oleObject105.bin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11.bin"/><Relationship Id="rId18" Type="http://schemas.openxmlformats.org/officeDocument/2006/relationships/image" Target="../media/image118.emf"/><Relationship Id="rId26" Type="http://schemas.openxmlformats.org/officeDocument/2006/relationships/image" Target="../media/image122.emf"/><Relationship Id="rId3" Type="http://schemas.openxmlformats.org/officeDocument/2006/relationships/oleObject" Target="../embeddings/oleObject106.bin"/><Relationship Id="rId21" Type="http://schemas.openxmlformats.org/officeDocument/2006/relationships/oleObject" Target="../embeddings/oleObject115.bin"/><Relationship Id="rId34" Type="http://schemas.openxmlformats.org/officeDocument/2006/relationships/image" Target="../media/image126.emf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115.emf"/><Relationship Id="rId17" Type="http://schemas.openxmlformats.org/officeDocument/2006/relationships/oleObject" Target="../embeddings/oleObject113.bin"/><Relationship Id="rId25" Type="http://schemas.openxmlformats.org/officeDocument/2006/relationships/oleObject" Target="../embeddings/oleObject117.bin"/><Relationship Id="rId33" Type="http://schemas.openxmlformats.org/officeDocument/2006/relationships/oleObject" Target="../embeddings/oleObject121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17.emf"/><Relationship Id="rId20" Type="http://schemas.openxmlformats.org/officeDocument/2006/relationships/image" Target="../media/image119.emf"/><Relationship Id="rId29" Type="http://schemas.openxmlformats.org/officeDocument/2006/relationships/oleObject" Target="../embeddings/oleObject119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12.emf"/><Relationship Id="rId11" Type="http://schemas.openxmlformats.org/officeDocument/2006/relationships/oleObject" Target="../embeddings/oleObject110.bin"/><Relationship Id="rId24" Type="http://schemas.openxmlformats.org/officeDocument/2006/relationships/image" Target="../media/image121.emf"/><Relationship Id="rId32" Type="http://schemas.openxmlformats.org/officeDocument/2006/relationships/image" Target="../media/image125.emf"/><Relationship Id="rId5" Type="http://schemas.openxmlformats.org/officeDocument/2006/relationships/oleObject" Target="../embeddings/oleObject107.bin"/><Relationship Id="rId15" Type="http://schemas.openxmlformats.org/officeDocument/2006/relationships/oleObject" Target="../embeddings/oleObject112.bin"/><Relationship Id="rId23" Type="http://schemas.openxmlformats.org/officeDocument/2006/relationships/oleObject" Target="../embeddings/oleObject116.bin"/><Relationship Id="rId28" Type="http://schemas.openxmlformats.org/officeDocument/2006/relationships/image" Target="../media/image123.wmf"/><Relationship Id="rId36" Type="http://schemas.openxmlformats.org/officeDocument/2006/relationships/image" Target="../media/image127.emf"/><Relationship Id="rId10" Type="http://schemas.openxmlformats.org/officeDocument/2006/relationships/image" Target="../media/image114.emf"/><Relationship Id="rId19" Type="http://schemas.openxmlformats.org/officeDocument/2006/relationships/oleObject" Target="../embeddings/oleObject114.bin"/><Relationship Id="rId31" Type="http://schemas.openxmlformats.org/officeDocument/2006/relationships/oleObject" Target="../embeddings/oleObject120.bin"/><Relationship Id="rId4" Type="http://schemas.openxmlformats.org/officeDocument/2006/relationships/image" Target="../media/image111.e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116.emf"/><Relationship Id="rId22" Type="http://schemas.openxmlformats.org/officeDocument/2006/relationships/image" Target="../media/image120.emf"/><Relationship Id="rId27" Type="http://schemas.openxmlformats.org/officeDocument/2006/relationships/oleObject" Target="../embeddings/oleObject118.bin"/><Relationship Id="rId30" Type="http://schemas.openxmlformats.org/officeDocument/2006/relationships/image" Target="../media/image124.wmf"/><Relationship Id="rId35" Type="http://schemas.openxmlformats.org/officeDocument/2006/relationships/oleObject" Target="../embeddings/oleObject122.bin"/><Relationship Id="rId8" Type="http://schemas.openxmlformats.org/officeDocument/2006/relationships/image" Target="../media/image113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emf"/><Relationship Id="rId13" Type="http://schemas.openxmlformats.org/officeDocument/2006/relationships/oleObject" Target="../embeddings/oleObject128.bin"/><Relationship Id="rId18" Type="http://schemas.openxmlformats.org/officeDocument/2006/relationships/image" Target="../media/image135.emf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5.bin"/><Relationship Id="rId12" Type="http://schemas.openxmlformats.org/officeDocument/2006/relationships/image" Target="../media/image132.emf"/><Relationship Id="rId17" Type="http://schemas.openxmlformats.org/officeDocument/2006/relationships/oleObject" Target="../embeddings/oleObject130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34.emf"/><Relationship Id="rId20" Type="http://schemas.openxmlformats.org/officeDocument/2006/relationships/image" Target="../media/image109.e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29.emf"/><Relationship Id="rId11" Type="http://schemas.openxmlformats.org/officeDocument/2006/relationships/oleObject" Target="../embeddings/oleObject127.bin"/><Relationship Id="rId5" Type="http://schemas.openxmlformats.org/officeDocument/2006/relationships/oleObject" Target="../embeddings/oleObject124.bin"/><Relationship Id="rId15" Type="http://schemas.openxmlformats.org/officeDocument/2006/relationships/oleObject" Target="../embeddings/oleObject129.bin"/><Relationship Id="rId10" Type="http://schemas.openxmlformats.org/officeDocument/2006/relationships/image" Target="../media/image131.emf"/><Relationship Id="rId19" Type="http://schemas.openxmlformats.org/officeDocument/2006/relationships/oleObject" Target="../embeddings/oleObject104.bin"/><Relationship Id="rId4" Type="http://schemas.openxmlformats.org/officeDocument/2006/relationships/image" Target="../media/image128.emf"/><Relationship Id="rId9" Type="http://schemas.openxmlformats.org/officeDocument/2006/relationships/oleObject" Target="../embeddings/oleObject126.bin"/><Relationship Id="rId14" Type="http://schemas.openxmlformats.org/officeDocument/2006/relationships/image" Target="../media/image133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136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36.wmf"/><Relationship Id="rId5" Type="http://schemas.openxmlformats.org/officeDocument/2006/relationships/oleObject" Target="../embeddings/oleObject131.bin"/><Relationship Id="rId4" Type="http://schemas.openxmlformats.org/officeDocument/2006/relationships/image" Target="../media/image137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138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40.w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39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emf"/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38.bin"/><Relationship Id="rId12" Type="http://schemas.openxmlformats.org/officeDocument/2006/relationships/image" Target="../media/image145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42.emf"/><Relationship Id="rId11" Type="http://schemas.openxmlformats.org/officeDocument/2006/relationships/oleObject" Target="../embeddings/oleObject140.bin"/><Relationship Id="rId5" Type="http://schemas.openxmlformats.org/officeDocument/2006/relationships/oleObject" Target="../embeddings/oleObject137.bin"/><Relationship Id="rId10" Type="http://schemas.openxmlformats.org/officeDocument/2006/relationships/image" Target="../media/image144.emf"/><Relationship Id="rId4" Type="http://schemas.openxmlformats.org/officeDocument/2006/relationships/image" Target="../media/image141.emf"/><Relationship Id="rId9" Type="http://schemas.openxmlformats.org/officeDocument/2006/relationships/oleObject" Target="../embeddings/oleObject139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3" Type="http://schemas.openxmlformats.org/officeDocument/2006/relationships/oleObject" Target="NULL"/><Relationship Id="rId7" Type="http://schemas.openxmlformats.org/officeDocument/2006/relationships/oleObject" Target="../embeddings/oleObject1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47.wmf"/><Relationship Id="rId5" Type="http://schemas.openxmlformats.org/officeDocument/2006/relationships/oleObject" Target="../embeddings/oleObject141.bin"/><Relationship Id="rId4" Type="http://schemas.openxmlformats.org/officeDocument/2006/relationships/image" Target="../media/image146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emf"/><Relationship Id="rId13" Type="http://schemas.openxmlformats.org/officeDocument/2006/relationships/oleObject" Target="../embeddings/oleObject148.bin"/><Relationship Id="rId3" Type="http://schemas.openxmlformats.org/officeDocument/2006/relationships/oleObject" Target="../embeddings/oleObject143.bin"/><Relationship Id="rId7" Type="http://schemas.openxmlformats.org/officeDocument/2006/relationships/oleObject" Target="../embeddings/oleObject145.bin"/><Relationship Id="rId12" Type="http://schemas.openxmlformats.org/officeDocument/2006/relationships/image" Target="../media/image15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50.emf"/><Relationship Id="rId11" Type="http://schemas.openxmlformats.org/officeDocument/2006/relationships/oleObject" Target="../embeddings/oleObject147.bin"/><Relationship Id="rId5" Type="http://schemas.openxmlformats.org/officeDocument/2006/relationships/oleObject" Target="../embeddings/oleObject144.bin"/><Relationship Id="rId10" Type="http://schemas.openxmlformats.org/officeDocument/2006/relationships/image" Target="../media/image152.emf"/><Relationship Id="rId4" Type="http://schemas.openxmlformats.org/officeDocument/2006/relationships/image" Target="../media/image149.wmf"/><Relationship Id="rId9" Type="http://schemas.openxmlformats.org/officeDocument/2006/relationships/oleObject" Target="../embeddings/oleObject146.bin"/><Relationship Id="rId14" Type="http://schemas.openxmlformats.org/officeDocument/2006/relationships/image" Target="../media/image154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2.bin"/><Relationship Id="rId13" Type="http://schemas.openxmlformats.org/officeDocument/2006/relationships/image" Target="../media/image159.emf"/><Relationship Id="rId3" Type="http://schemas.openxmlformats.org/officeDocument/2006/relationships/oleObject" Target="../embeddings/oleObject149.bin"/><Relationship Id="rId7" Type="http://schemas.openxmlformats.org/officeDocument/2006/relationships/image" Target="../media/image156.emf"/><Relationship Id="rId12" Type="http://schemas.openxmlformats.org/officeDocument/2006/relationships/oleObject" Target="../embeddings/oleObject15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151.bin"/><Relationship Id="rId11" Type="http://schemas.openxmlformats.org/officeDocument/2006/relationships/image" Target="../media/image158.emf"/><Relationship Id="rId5" Type="http://schemas.openxmlformats.org/officeDocument/2006/relationships/oleObject" Target="../embeddings/oleObject150.bin"/><Relationship Id="rId15" Type="http://schemas.openxmlformats.org/officeDocument/2006/relationships/image" Target="../media/image160.emf"/><Relationship Id="rId10" Type="http://schemas.openxmlformats.org/officeDocument/2006/relationships/oleObject" Target="../embeddings/oleObject153.bin"/><Relationship Id="rId4" Type="http://schemas.openxmlformats.org/officeDocument/2006/relationships/image" Target="../media/image155.wmf"/><Relationship Id="rId9" Type="http://schemas.openxmlformats.org/officeDocument/2006/relationships/image" Target="../media/image157.emf"/><Relationship Id="rId14" Type="http://schemas.openxmlformats.org/officeDocument/2006/relationships/oleObject" Target="../embeddings/oleObject155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emf"/><Relationship Id="rId3" Type="http://schemas.openxmlformats.org/officeDocument/2006/relationships/oleObject" Target="../embeddings/oleObject156.bin"/><Relationship Id="rId7" Type="http://schemas.openxmlformats.org/officeDocument/2006/relationships/oleObject" Target="../embeddings/oleObject15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62.emf"/><Relationship Id="rId5" Type="http://schemas.openxmlformats.org/officeDocument/2006/relationships/oleObject" Target="../embeddings/oleObject157.bin"/><Relationship Id="rId10" Type="http://schemas.openxmlformats.org/officeDocument/2006/relationships/image" Target="../media/image164.emf"/><Relationship Id="rId4" Type="http://schemas.openxmlformats.org/officeDocument/2006/relationships/image" Target="../media/image161.emf"/><Relationship Id="rId9" Type="http://schemas.openxmlformats.org/officeDocument/2006/relationships/oleObject" Target="../embeddings/oleObject159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emf"/><Relationship Id="rId13" Type="http://schemas.openxmlformats.org/officeDocument/2006/relationships/oleObject" Target="../embeddings/oleObject165.bin"/><Relationship Id="rId18" Type="http://schemas.openxmlformats.org/officeDocument/2006/relationships/image" Target="../media/image171.emf"/><Relationship Id="rId3" Type="http://schemas.openxmlformats.org/officeDocument/2006/relationships/oleObject" Target="../embeddings/oleObject160.bin"/><Relationship Id="rId21" Type="http://schemas.openxmlformats.org/officeDocument/2006/relationships/oleObject" Target="../embeddings/oleObject169.bin"/><Relationship Id="rId7" Type="http://schemas.openxmlformats.org/officeDocument/2006/relationships/oleObject" Target="../embeddings/oleObject162.bin"/><Relationship Id="rId12" Type="http://schemas.openxmlformats.org/officeDocument/2006/relationships/image" Target="../media/image168.emf"/><Relationship Id="rId17" Type="http://schemas.openxmlformats.org/officeDocument/2006/relationships/oleObject" Target="../embeddings/oleObject167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70.emf"/><Relationship Id="rId20" Type="http://schemas.openxmlformats.org/officeDocument/2006/relationships/image" Target="../media/image172.e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66.wmf"/><Relationship Id="rId11" Type="http://schemas.openxmlformats.org/officeDocument/2006/relationships/oleObject" Target="../embeddings/oleObject164.bin"/><Relationship Id="rId5" Type="http://schemas.openxmlformats.org/officeDocument/2006/relationships/oleObject" Target="../embeddings/oleObject161.bin"/><Relationship Id="rId15" Type="http://schemas.openxmlformats.org/officeDocument/2006/relationships/oleObject" Target="../embeddings/oleObject166.bin"/><Relationship Id="rId10" Type="http://schemas.openxmlformats.org/officeDocument/2006/relationships/image" Target="../media/image167.wmf"/><Relationship Id="rId19" Type="http://schemas.openxmlformats.org/officeDocument/2006/relationships/oleObject" Target="../embeddings/oleObject168.bin"/><Relationship Id="rId4" Type="http://schemas.openxmlformats.org/officeDocument/2006/relationships/image" Target="../media/image165.wmf"/><Relationship Id="rId9" Type="http://schemas.openxmlformats.org/officeDocument/2006/relationships/oleObject" Target="../embeddings/oleObject163.bin"/><Relationship Id="rId14" Type="http://schemas.openxmlformats.org/officeDocument/2006/relationships/image" Target="../media/image169.emf"/><Relationship Id="rId22" Type="http://schemas.openxmlformats.org/officeDocument/2006/relationships/image" Target="../media/image173.e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emf"/><Relationship Id="rId13" Type="http://schemas.openxmlformats.org/officeDocument/2006/relationships/oleObject" Target="../embeddings/oleObject175.bin"/><Relationship Id="rId18" Type="http://schemas.openxmlformats.org/officeDocument/2006/relationships/image" Target="../media/image181.emf"/><Relationship Id="rId3" Type="http://schemas.openxmlformats.org/officeDocument/2006/relationships/oleObject" Target="../embeddings/oleObject170.bin"/><Relationship Id="rId7" Type="http://schemas.openxmlformats.org/officeDocument/2006/relationships/oleObject" Target="../embeddings/oleObject172.bin"/><Relationship Id="rId12" Type="http://schemas.openxmlformats.org/officeDocument/2006/relationships/image" Target="../media/image178.emf"/><Relationship Id="rId17" Type="http://schemas.openxmlformats.org/officeDocument/2006/relationships/oleObject" Target="../embeddings/oleObject177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80.e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75.emf"/><Relationship Id="rId11" Type="http://schemas.openxmlformats.org/officeDocument/2006/relationships/oleObject" Target="../embeddings/oleObject174.bin"/><Relationship Id="rId5" Type="http://schemas.openxmlformats.org/officeDocument/2006/relationships/oleObject" Target="../embeddings/oleObject171.bin"/><Relationship Id="rId15" Type="http://schemas.openxmlformats.org/officeDocument/2006/relationships/oleObject" Target="../embeddings/oleObject176.bin"/><Relationship Id="rId10" Type="http://schemas.openxmlformats.org/officeDocument/2006/relationships/image" Target="../media/image177.emf"/><Relationship Id="rId4" Type="http://schemas.openxmlformats.org/officeDocument/2006/relationships/image" Target="../media/image174.emf"/><Relationship Id="rId9" Type="http://schemas.openxmlformats.org/officeDocument/2006/relationships/oleObject" Target="../embeddings/oleObject173.bin"/><Relationship Id="rId14" Type="http://schemas.openxmlformats.org/officeDocument/2006/relationships/image" Target="../media/image179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emf"/><Relationship Id="rId3" Type="http://schemas.openxmlformats.org/officeDocument/2006/relationships/oleObject" Target="../embeddings/oleObject178.bin"/><Relationship Id="rId7" Type="http://schemas.openxmlformats.org/officeDocument/2006/relationships/oleObject" Target="../embeddings/oleObject180.bin"/><Relationship Id="rId12" Type="http://schemas.openxmlformats.org/officeDocument/2006/relationships/image" Target="../media/image186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83.emf"/><Relationship Id="rId11" Type="http://schemas.openxmlformats.org/officeDocument/2006/relationships/oleObject" Target="../embeddings/oleObject182.bin"/><Relationship Id="rId5" Type="http://schemas.openxmlformats.org/officeDocument/2006/relationships/oleObject" Target="../embeddings/oleObject179.bin"/><Relationship Id="rId10" Type="http://schemas.openxmlformats.org/officeDocument/2006/relationships/image" Target="../media/image185.wmf"/><Relationship Id="rId4" Type="http://schemas.openxmlformats.org/officeDocument/2006/relationships/image" Target="../media/image182.emf"/><Relationship Id="rId9" Type="http://schemas.openxmlformats.org/officeDocument/2006/relationships/oleObject" Target="../embeddings/oleObject181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emf"/><Relationship Id="rId13" Type="http://schemas.openxmlformats.org/officeDocument/2006/relationships/image" Target="../media/image190.emf"/><Relationship Id="rId3" Type="http://schemas.openxmlformats.org/officeDocument/2006/relationships/oleObject" Target="../embeddings/oleObject183.bin"/><Relationship Id="rId7" Type="http://schemas.openxmlformats.org/officeDocument/2006/relationships/oleObject" Target="NULL"/><Relationship Id="rId12" Type="http://schemas.openxmlformats.org/officeDocument/2006/relationships/oleObject" Target="../embeddings/oleObject18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87.emf"/><Relationship Id="rId11" Type="http://schemas.openxmlformats.org/officeDocument/2006/relationships/image" Target="../media/image189.emf"/><Relationship Id="rId5" Type="http://schemas.openxmlformats.org/officeDocument/2006/relationships/oleObject" Target="../embeddings/oleObject184.bin"/><Relationship Id="rId10" Type="http://schemas.openxmlformats.org/officeDocument/2006/relationships/oleObject" Target="../embeddings/oleObject186.bin"/><Relationship Id="rId4" Type="http://schemas.openxmlformats.org/officeDocument/2006/relationships/image" Target="../media/image155.wmf"/><Relationship Id="rId9" Type="http://schemas.openxmlformats.org/officeDocument/2006/relationships/oleObject" Target="../embeddings/oleObject185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emf"/><Relationship Id="rId3" Type="http://schemas.openxmlformats.org/officeDocument/2006/relationships/oleObject" Target="../embeddings/oleObject188.bin"/><Relationship Id="rId7" Type="http://schemas.openxmlformats.org/officeDocument/2006/relationships/oleObject" Target="../embeddings/oleObject190.bin"/><Relationship Id="rId12" Type="http://schemas.openxmlformats.org/officeDocument/2006/relationships/image" Target="../media/image195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92.emf"/><Relationship Id="rId11" Type="http://schemas.openxmlformats.org/officeDocument/2006/relationships/oleObject" Target="../embeddings/oleObject192.bin"/><Relationship Id="rId5" Type="http://schemas.openxmlformats.org/officeDocument/2006/relationships/oleObject" Target="../embeddings/oleObject189.bin"/><Relationship Id="rId10" Type="http://schemas.openxmlformats.org/officeDocument/2006/relationships/image" Target="../media/image194.emf"/><Relationship Id="rId4" Type="http://schemas.openxmlformats.org/officeDocument/2006/relationships/image" Target="../media/image191.emf"/><Relationship Id="rId9" Type="http://schemas.openxmlformats.org/officeDocument/2006/relationships/oleObject" Target="../embeddings/oleObject191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3" Type="http://schemas.openxmlformats.org/officeDocument/2006/relationships/oleObject" Target="../embeddings/oleObject193.bin"/><Relationship Id="rId7" Type="http://schemas.openxmlformats.org/officeDocument/2006/relationships/oleObject" Target="../embeddings/oleObject195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97.wmf"/><Relationship Id="rId5" Type="http://schemas.openxmlformats.org/officeDocument/2006/relationships/oleObject" Target="../embeddings/oleObject194.bin"/><Relationship Id="rId10" Type="http://schemas.openxmlformats.org/officeDocument/2006/relationships/image" Target="../media/image199.wmf"/><Relationship Id="rId4" Type="http://schemas.openxmlformats.org/officeDocument/2006/relationships/image" Target="../media/image196.wmf"/><Relationship Id="rId9" Type="http://schemas.openxmlformats.org/officeDocument/2006/relationships/oleObject" Target="../embeddings/oleObject196.bin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emf"/><Relationship Id="rId3" Type="http://schemas.openxmlformats.org/officeDocument/2006/relationships/oleObject" Target="../embeddings/oleObject197.bin"/><Relationship Id="rId7" Type="http://schemas.openxmlformats.org/officeDocument/2006/relationships/oleObject" Target="../embeddings/oleObject19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01.emf"/><Relationship Id="rId5" Type="http://schemas.openxmlformats.org/officeDocument/2006/relationships/oleObject" Target="../embeddings/oleObject198.bin"/><Relationship Id="rId10" Type="http://schemas.openxmlformats.org/officeDocument/2006/relationships/image" Target="../media/image203.emf"/><Relationship Id="rId4" Type="http://schemas.openxmlformats.org/officeDocument/2006/relationships/image" Target="../media/image200.emf"/><Relationship Id="rId9" Type="http://schemas.openxmlformats.org/officeDocument/2006/relationships/oleObject" Target="../embeddings/oleObject200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emf"/><Relationship Id="rId13" Type="http://schemas.openxmlformats.org/officeDocument/2006/relationships/oleObject" Target="../embeddings/oleObject206.bin"/><Relationship Id="rId18" Type="http://schemas.openxmlformats.org/officeDocument/2006/relationships/image" Target="../media/image211.emf"/><Relationship Id="rId3" Type="http://schemas.openxmlformats.org/officeDocument/2006/relationships/oleObject" Target="../embeddings/oleObject201.bin"/><Relationship Id="rId21" Type="http://schemas.openxmlformats.org/officeDocument/2006/relationships/image" Target="../media/image213.png"/><Relationship Id="rId7" Type="http://schemas.openxmlformats.org/officeDocument/2006/relationships/oleObject" Target="../embeddings/oleObject203.bin"/><Relationship Id="rId12" Type="http://schemas.openxmlformats.org/officeDocument/2006/relationships/image" Target="../media/image208.emf"/><Relationship Id="rId17" Type="http://schemas.openxmlformats.org/officeDocument/2006/relationships/oleObject" Target="../embeddings/oleObject208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10.emf"/><Relationship Id="rId20" Type="http://schemas.openxmlformats.org/officeDocument/2006/relationships/image" Target="../media/image212.e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205.emf"/><Relationship Id="rId11" Type="http://schemas.openxmlformats.org/officeDocument/2006/relationships/oleObject" Target="../embeddings/oleObject205.bin"/><Relationship Id="rId5" Type="http://schemas.openxmlformats.org/officeDocument/2006/relationships/oleObject" Target="../embeddings/oleObject202.bin"/><Relationship Id="rId15" Type="http://schemas.openxmlformats.org/officeDocument/2006/relationships/oleObject" Target="../embeddings/oleObject207.bin"/><Relationship Id="rId10" Type="http://schemas.openxmlformats.org/officeDocument/2006/relationships/image" Target="../media/image207.emf"/><Relationship Id="rId19" Type="http://schemas.openxmlformats.org/officeDocument/2006/relationships/oleObject" Target="../embeddings/oleObject209.bin"/><Relationship Id="rId4" Type="http://schemas.openxmlformats.org/officeDocument/2006/relationships/image" Target="../media/image204.emf"/><Relationship Id="rId9" Type="http://schemas.openxmlformats.org/officeDocument/2006/relationships/oleObject" Target="../embeddings/oleObject204.bin"/><Relationship Id="rId14" Type="http://schemas.openxmlformats.org/officeDocument/2006/relationships/image" Target="../media/image20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179512" y="404664"/>
            <a:ext cx="8856984" cy="893961"/>
          </a:xfrm>
        </p:spPr>
        <p:txBody>
          <a:bodyPr/>
          <a:lstStyle/>
          <a:p>
            <a:r>
              <a:rPr lang="en-US" altLang="zh-CN" sz="4000" dirty="0">
                <a:ea typeface="宋体" pitchFamily="2" charset="-122"/>
              </a:rPr>
              <a:t>Chapter 7 First-order Circuits</a:t>
            </a:r>
          </a:p>
        </p:txBody>
      </p:sp>
      <p:sp>
        <p:nvSpPr>
          <p:cNvPr id="36867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900113" y="1844675"/>
            <a:ext cx="7416303" cy="3529013"/>
          </a:xfrm>
          <a:noFill/>
        </p:spPr>
        <p:txBody>
          <a:bodyPr/>
          <a:lstStyle/>
          <a:p>
            <a:pPr algn="l"/>
            <a:r>
              <a:rPr kumimoji="1" lang="en-US" altLang="zh-CN" sz="2800" dirty="0">
                <a:effectLst/>
                <a:ea typeface="宋体" charset="-122"/>
              </a:rPr>
              <a:t>7.1 Introduction</a:t>
            </a:r>
          </a:p>
          <a:p>
            <a:pPr algn="l"/>
            <a:r>
              <a:rPr kumimoji="1" lang="en-US" altLang="zh-CN" sz="2800" dirty="0">
                <a:effectLst/>
                <a:ea typeface="宋体" charset="-122"/>
              </a:rPr>
              <a:t>7.2 The Source-free RC Circuit</a:t>
            </a:r>
          </a:p>
          <a:p>
            <a:pPr algn="l"/>
            <a:r>
              <a:rPr kumimoji="1" lang="en-US" altLang="zh-CN" sz="2800" dirty="0">
                <a:effectLst/>
                <a:ea typeface="宋体" charset="-122"/>
              </a:rPr>
              <a:t>7.3 The Source-free RL Circuit</a:t>
            </a:r>
          </a:p>
          <a:p>
            <a:pPr algn="l"/>
            <a:r>
              <a:rPr kumimoji="1" lang="en-US" altLang="zh-CN" sz="2800" dirty="0">
                <a:effectLst/>
                <a:ea typeface="宋体" charset="-122"/>
              </a:rPr>
              <a:t>7.4 Singularity Functions</a:t>
            </a:r>
          </a:p>
          <a:p>
            <a:pPr algn="l"/>
            <a:r>
              <a:rPr kumimoji="1" lang="en-US" altLang="zh-CN" sz="2800" dirty="0">
                <a:effectLst/>
                <a:ea typeface="宋体" charset="-122"/>
              </a:rPr>
              <a:t>7.5 Step Response of an RC Circuit</a:t>
            </a:r>
          </a:p>
          <a:p>
            <a:pPr algn="l"/>
            <a:r>
              <a:rPr kumimoji="1" lang="en-US" altLang="zh-CN" sz="2800" dirty="0">
                <a:effectLst/>
                <a:ea typeface="宋体" charset="-122"/>
              </a:rPr>
              <a:t>7.6 Step Response of an RL Circuit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3E9D0-4E7D-494B-9FDA-030BD051EAFE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6099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 bwMode="auto">
          <a:xfrm>
            <a:off x="655820" y="153868"/>
            <a:ext cx="4276219" cy="684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FF3300"/>
                </a:solidFill>
                <a:latin typeface="Comic Sans MS" panose="030F0702030302020204" pitchFamily="66" charset="0"/>
                <a:ea typeface="宋体" pitchFamily="2" charset="-122"/>
                <a:cs typeface="+mn-cs"/>
              </a:rPr>
              <a:t>Chapter objectives</a:t>
            </a:r>
            <a:endParaRPr lang="zh-CN" altLang="en-US" sz="2800" b="1" dirty="0">
              <a:solidFill>
                <a:srgbClr val="FF3300"/>
              </a:solidFill>
              <a:latin typeface="Comic Sans MS" panose="030F0702030302020204" pitchFamily="66" charset="0"/>
              <a:ea typeface="宋体" pitchFamily="2" charset="-122"/>
              <a:cs typeface="+mn-cs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667851" y="1340768"/>
            <a:ext cx="7772400" cy="45347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buFont typeface="Wingdings" pitchFamily="2" charset="2"/>
              <a:buChar char="Ø"/>
            </a:pPr>
            <a:r>
              <a:rPr lang="en-US" altLang="zh-CN" sz="2400" b="1" dirty="0">
                <a:latin typeface="Comic Sans MS" panose="030F0702030302020204" pitchFamily="66" charset="0"/>
              </a:rPr>
              <a:t>Understand what first-order circuits are</a:t>
            </a:r>
          </a:p>
          <a:p>
            <a:pPr algn="just">
              <a:buFont typeface="Wingdings" pitchFamily="2" charset="2"/>
              <a:buChar char="Ø"/>
            </a:pPr>
            <a:r>
              <a:rPr lang="en-US" altLang="zh-CN" sz="2400" b="1" dirty="0">
                <a:latin typeface="Comic Sans MS" panose="030F0702030302020204" pitchFamily="66" charset="0"/>
              </a:rPr>
              <a:t>Learn about source-free RC and RL circuits</a:t>
            </a:r>
          </a:p>
          <a:p>
            <a:pPr algn="just">
              <a:buFont typeface="Wingdings" pitchFamily="2" charset="2"/>
              <a:buChar char="Ø"/>
            </a:pPr>
            <a:r>
              <a:rPr lang="en-US" altLang="zh-CN" sz="2400" b="1" dirty="0">
                <a:latin typeface="Comic Sans MS" panose="030F0702030302020204" pitchFamily="66" charset="0"/>
              </a:rPr>
              <a:t>Learn how to find the time-constant of a circuit</a:t>
            </a:r>
          </a:p>
          <a:p>
            <a:pPr algn="just">
              <a:buFont typeface="Wingdings" pitchFamily="2" charset="2"/>
              <a:buChar char="Ø"/>
            </a:pPr>
            <a:r>
              <a:rPr lang="en-US" altLang="zh-CN" sz="2400" b="1" dirty="0">
                <a:latin typeface="Comic Sans MS" panose="030F0702030302020204" pitchFamily="66" charset="0"/>
              </a:rPr>
              <a:t>Learn about singularity functions (unit step function)</a:t>
            </a:r>
          </a:p>
          <a:p>
            <a:pPr algn="just">
              <a:buFont typeface="Wingdings" pitchFamily="2" charset="2"/>
              <a:buChar char="Ø"/>
            </a:pPr>
            <a:r>
              <a:rPr lang="en-US" altLang="zh-CN" sz="2400" b="1" dirty="0">
                <a:latin typeface="Comic Sans MS" panose="030F0702030302020204" pitchFamily="66" charset="0"/>
              </a:rPr>
              <a:t>Learn about step response RC and RL circuits</a:t>
            </a:r>
          </a:p>
          <a:p>
            <a:pPr algn="just">
              <a:buFont typeface="Wingdings" pitchFamily="2" charset="2"/>
              <a:buChar char="Ø"/>
            </a:pPr>
            <a:r>
              <a:rPr lang="en-US" altLang="zh-CN" sz="2400" b="1" dirty="0">
                <a:latin typeface="Comic Sans MS" panose="030F0702030302020204" pitchFamily="66" charset="0"/>
              </a:rPr>
              <a:t>Understand natural, transient, and steady-state responses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3094221" y="6345186"/>
            <a:ext cx="2895600" cy="457200"/>
          </a:xfrm>
        </p:spPr>
        <p:txBody>
          <a:bodyPr/>
          <a:lstStyle/>
          <a:p>
            <a:r>
              <a:rPr lang="en-US" altLang="zh-CN" dirty="0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43D5F-2D77-4403-A0B9-A28DE7F6EBA4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7979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268216" y="6342000"/>
            <a:ext cx="2895600" cy="457200"/>
          </a:xfrm>
        </p:spPr>
        <p:txBody>
          <a:bodyPr/>
          <a:lstStyle/>
          <a:p>
            <a:r>
              <a:rPr lang="en-US" altLang="zh-CN" dirty="0"/>
              <a:t>TJU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F972-F0C1-4F4F-931F-049B1B2D7D4D}" type="slidenum">
              <a:rPr lang="en-US" altLang="zh-CN" smtClean="0"/>
              <a:pPr/>
              <a:t>3</a:t>
            </a:fld>
            <a:endParaRPr lang="en-US" altLang="zh-CN"/>
          </a:p>
        </p:txBody>
      </p:sp>
      <p:sp>
        <p:nvSpPr>
          <p:cNvPr id="6" name="TextBox 5"/>
          <p:cNvSpPr txBox="1"/>
          <p:nvPr/>
        </p:nvSpPr>
        <p:spPr>
          <a:xfrm>
            <a:off x="539552" y="251936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Key points:</a:t>
            </a:r>
            <a:endParaRPr lang="zh-CN" altLang="en-US" sz="32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9552" y="964266"/>
            <a:ext cx="835292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itchFamily="2" charset="2"/>
              <a:buChar char="ü"/>
            </a:pPr>
            <a:r>
              <a:rPr lang="en-US" altLang="zh-CN" sz="3200" b="1" dirty="0"/>
              <a:t>The calculation of the initial value</a:t>
            </a: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ü"/>
            </a:pPr>
            <a:r>
              <a:rPr lang="en-US" altLang="zh-CN" sz="3200" b="1" dirty="0"/>
              <a:t>The time constant </a:t>
            </a:r>
            <a:r>
              <a:rPr lang="el-GR" altLang="zh-CN" sz="3200" b="1" dirty="0"/>
              <a:t>τ</a:t>
            </a:r>
            <a:r>
              <a:rPr lang="en-US" altLang="zh-CN" sz="3200" b="1" dirty="0"/>
              <a:t> of the circuit</a:t>
            </a: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ü"/>
            </a:pPr>
            <a:r>
              <a:rPr lang="en-US" altLang="zh-CN" sz="3200" b="1" dirty="0"/>
              <a:t>Zero-input response, zero-state response and complete response</a:t>
            </a: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ü"/>
            </a:pPr>
            <a:r>
              <a:rPr lang="en-US" altLang="zh-CN" sz="3200" b="1" dirty="0"/>
              <a:t>Shortcut method (three factors)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568" y="3517672"/>
            <a:ext cx="4032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Difficult points:</a:t>
            </a:r>
            <a:endParaRPr lang="zh-CN" altLang="en-US" sz="32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3568" y="4293096"/>
            <a:ext cx="77048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FF0000"/>
              </a:buClr>
              <a:buFont typeface="Times New Roman" pitchFamily="18" charset="0"/>
              <a:buChar char="*"/>
            </a:pPr>
            <a:r>
              <a:rPr lang="en-US" altLang="zh-CN" sz="3200" b="1" dirty="0"/>
              <a:t>The calculation of the initial value</a:t>
            </a:r>
          </a:p>
          <a:p>
            <a:pPr marL="457200" indent="-457200">
              <a:buClr>
                <a:srgbClr val="FF0000"/>
              </a:buClr>
              <a:buFont typeface="Times New Roman" pitchFamily="18" charset="0"/>
              <a:buChar char="*"/>
            </a:pPr>
            <a:r>
              <a:rPr lang="en-US" altLang="zh-CN" sz="3200" b="1" dirty="0"/>
              <a:t>The time constant </a:t>
            </a:r>
            <a:r>
              <a:rPr lang="el-GR" altLang="zh-CN" sz="3200" b="1" dirty="0"/>
              <a:t>τ</a:t>
            </a:r>
            <a:r>
              <a:rPr lang="en-US" altLang="zh-CN" sz="3200" b="1" dirty="0"/>
              <a:t> of the circuit</a:t>
            </a:r>
          </a:p>
          <a:p>
            <a:pPr marL="457200" indent="-457200">
              <a:buClr>
                <a:srgbClr val="FF0000"/>
              </a:buClr>
              <a:buFont typeface="Times New Roman" pitchFamily="18" charset="0"/>
              <a:buChar char="*"/>
            </a:pPr>
            <a:r>
              <a:rPr lang="en-US" altLang="zh-CN" sz="3200" b="1" dirty="0"/>
              <a:t>Shortcut method (three factors)</a:t>
            </a:r>
          </a:p>
        </p:txBody>
      </p:sp>
    </p:spTree>
    <p:extLst>
      <p:ext uri="{BB962C8B-B14F-4D97-AF65-F5344CB8AC3E}">
        <p14:creationId xmlns:p14="http://schemas.microsoft.com/office/powerpoint/2010/main" val="4277012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1" name="Text Box 3"/>
          <p:cNvSpPr txBox="1">
            <a:spLocks noChangeArrowheads="1"/>
          </p:cNvSpPr>
          <p:nvPr/>
        </p:nvSpPr>
        <p:spPr bwMode="auto">
          <a:xfrm>
            <a:off x="223838" y="1206500"/>
            <a:ext cx="299402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Differential equation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88772" name="Text Box 4"/>
          <p:cNvSpPr txBox="1">
            <a:spLocks noChangeArrowheads="1"/>
          </p:cNvSpPr>
          <p:nvPr/>
        </p:nvSpPr>
        <p:spPr bwMode="auto">
          <a:xfrm>
            <a:off x="4710113" y="1225715"/>
            <a:ext cx="2770187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</a:rPr>
              <a:t>Algebraic equation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288773" name="Object 5"/>
          <p:cNvGraphicFramePr>
            <a:graphicFrameLocks noChangeAspect="1"/>
          </p:cNvGraphicFramePr>
          <p:nvPr/>
        </p:nvGraphicFramePr>
        <p:xfrm>
          <a:off x="976313" y="5287963"/>
          <a:ext cx="2579687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" name="公式" r:id="rId3" imgW="1155600" imgH="431640" progId="Equation.3">
                  <p:embed/>
                </p:oleObj>
              </mc:Choice>
              <mc:Fallback>
                <p:oleObj name="公式" r:id="rId3" imgW="11556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313" y="5287963"/>
                        <a:ext cx="2579687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774" name="Object 6"/>
          <p:cNvGraphicFramePr>
            <a:graphicFrameLocks noChangeAspect="1"/>
          </p:cNvGraphicFramePr>
          <p:nvPr/>
        </p:nvGraphicFramePr>
        <p:xfrm>
          <a:off x="4622800" y="4675188"/>
          <a:ext cx="3822700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7" name="公式" r:id="rId5" imgW="1904760" imgH="685800" progId="Equation.3">
                  <p:embed/>
                </p:oleObj>
              </mc:Choice>
              <mc:Fallback>
                <p:oleObj name="公式" r:id="rId5" imgW="190476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2800" y="4675188"/>
                        <a:ext cx="3822700" cy="137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75" name="Line 7"/>
          <p:cNvSpPr>
            <a:spLocks noChangeShapeType="1"/>
          </p:cNvSpPr>
          <p:nvPr/>
        </p:nvSpPr>
        <p:spPr bwMode="auto">
          <a:xfrm flipV="1">
            <a:off x="4267200" y="1143000"/>
            <a:ext cx="0" cy="51054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rgbClr val="006699"/>
              </a:solidFill>
            </a:endParaRPr>
          </a:p>
        </p:txBody>
      </p:sp>
      <p:sp>
        <p:nvSpPr>
          <p:cNvPr id="288776" name="Rectangle 8"/>
          <p:cNvSpPr>
            <a:spLocks noChangeArrowheads="1"/>
          </p:cNvSpPr>
          <p:nvPr/>
        </p:nvSpPr>
        <p:spPr bwMode="auto">
          <a:xfrm>
            <a:off x="250825" y="723900"/>
            <a:ext cx="28082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6666"/>
                </a:solidFill>
              </a:rPr>
              <a:t>Dynamic circuit</a:t>
            </a:r>
            <a:endParaRPr lang="zh-CN" altLang="en-US" b="1" dirty="0">
              <a:solidFill>
                <a:srgbClr val="006666"/>
              </a:solidFill>
            </a:endParaRPr>
          </a:p>
        </p:txBody>
      </p:sp>
      <p:sp>
        <p:nvSpPr>
          <p:cNvPr id="288777" name="Rectangle 9"/>
          <p:cNvSpPr>
            <a:spLocks noChangeArrowheads="1"/>
          </p:cNvSpPr>
          <p:nvPr/>
        </p:nvSpPr>
        <p:spPr bwMode="auto">
          <a:xfrm>
            <a:off x="4377832" y="728365"/>
            <a:ext cx="23383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6666"/>
                </a:solidFill>
              </a:rPr>
              <a:t>Resistive circuit</a:t>
            </a:r>
          </a:p>
        </p:txBody>
      </p:sp>
      <p:grpSp>
        <p:nvGrpSpPr>
          <p:cNvPr id="288778" name="Group 10"/>
          <p:cNvGrpSpPr>
            <a:grpSpLocks/>
          </p:cNvGrpSpPr>
          <p:nvPr/>
        </p:nvGrpSpPr>
        <p:grpSpPr bwMode="auto">
          <a:xfrm>
            <a:off x="5010150" y="2095500"/>
            <a:ext cx="3403600" cy="1828800"/>
            <a:chOff x="3096" y="1488"/>
            <a:chExt cx="2144" cy="1152"/>
          </a:xfrm>
        </p:grpSpPr>
        <p:grpSp>
          <p:nvGrpSpPr>
            <p:cNvPr id="288779" name="Group 11"/>
            <p:cNvGrpSpPr>
              <a:grpSpLocks/>
            </p:cNvGrpSpPr>
            <p:nvPr/>
          </p:nvGrpSpPr>
          <p:grpSpPr bwMode="auto">
            <a:xfrm>
              <a:off x="4296" y="1509"/>
              <a:ext cx="384" cy="288"/>
              <a:chOff x="1824" y="2832"/>
              <a:chExt cx="384" cy="288"/>
            </a:xfrm>
          </p:grpSpPr>
          <p:sp>
            <p:nvSpPr>
              <p:cNvPr id="288780" name="Line 12"/>
              <p:cNvSpPr>
                <a:spLocks noChangeShapeType="1"/>
              </p:cNvSpPr>
              <p:nvPr/>
            </p:nvSpPr>
            <p:spPr bwMode="auto">
              <a:xfrm>
                <a:off x="1824" y="3120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solidFill>
                    <a:srgbClr val="006699"/>
                  </a:solidFill>
                </a:endParaRPr>
              </a:p>
            </p:txBody>
          </p:sp>
          <p:sp>
            <p:nvSpPr>
              <p:cNvPr id="288781" name="Text Box 13"/>
              <p:cNvSpPr txBox="1">
                <a:spLocks noChangeArrowheads="1"/>
              </p:cNvSpPr>
              <p:nvPr/>
            </p:nvSpPr>
            <p:spPr bwMode="auto">
              <a:xfrm>
                <a:off x="1920" y="2832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2000" b="1" i="1" dirty="0">
                    <a:solidFill>
                      <a:srgbClr val="006699"/>
                    </a:solidFill>
                  </a:rPr>
                  <a:t>I</a:t>
                </a:r>
              </a:p>
            </p:txBody>
          </p:sp>
        </p:grpSp>
        <p:sp>
          <p:nvSpPr>
            <p:cNvPr id="288782" name="Line 14"/>
            <p:cNvSpPr>
              <a:spLocks noChangeShapeType="1"/>
            </p:cNvSpPr>
            <p:nvPr/>
          </p:nvSpPr>
          <p:spPr bwMode="auto">
            <a:xfrm>
              <a:off x="4848" y="1947"/>
              <a:ext cx="0" cy="6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288783" name="Text Box 15"/>
            <p:cNvSpPr txBox="1">
              <a:spLocks noChangeArrowheads="1"/>
            </p:cNvSpPr>
            <p:nvPr/>
          </p:nvSpPr>
          <p:spPr bwMode="auto">
            <a:xfrm>
              <a:off x="4808" y="196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b="1" i="1" dirty="0">
                  <a:solidFill>
                    <a:srgbClr val="006699"/>
                  </a:solidFill>
                </a:rPr>
                <a:t>U</a:t>
              </a:r>
              <a:r>
                <a:rPr kumimoji="0" lang="en-US" altLang="zh-CN" b="1" baseline="-25000" dirty="0">
                  <a:solidFill>
                    <a:srgbClr val="006699"/>
                  </a:solidFill>
                </a:rPr>
                <a:t>3</a:t>
              </a:r>
              <a:endParaRPr kumimoji="0" lang="en-US" altLang="zh-CN" b="1" dirty="0">
                <a:solidFill>
                  <a:srgbClr val="006699"/>
                </a:solidFill>
              </a:endParaRPr>
            </a:p>
          </p:txBody>
        </p:sp>
        <p:sp>
          <p:nvSpPr>
            <p:cNvPr id="288784" name="Rectangle 16"/>
            <p:cNvSpPr>
              <a:spLocks noChangeArrowheads="1"/>
            </p:cNvSpPr>
            <p:nvPr/>
          </p:nvSpPr>
          <p:spPr bwMode="auto">
            <a:xfrm>
              <a:off x="3816" y="1824"/>
              <a:ext cx="240" cy="96"/>
            </a:xfrm>
            <a:prstGeom prst="rect">
              <a:avLst/>
            </a:prstGeom>
            <a:solidFill>
              <a:srgbClr val="99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288785" name="Rectangle 17"/>
            <p:cNvSpPr>
              <a:spLocks noChangeArrowheads="1"/>
            </p:cNvSpPr>
            <p:nvPr/>
          </p:nvSpPr>
          <p:spPr bwMode="auto">
            <a:xfrm>
              <a:off x="4200" y="2112"/>
              <a:ext cx="96" cy="240"/>
            </a:xfrm>
            <a:prstGeom prst="rect">
              <a:avLst/>
            </a:prstGeom>
            <a:solidFill>
              <a:srgbClr val="99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288786" name="Rectangle 18"/>
            <p:cNvSpPr>
              <a:spLocks noChangeArrowheads="1"/>
            </p:cNvSpPr>
            <p:nvPr/>
          </p:nvSpPr>
          <p:spPr bwMode="auto">
            <a:xfrm>
              <a:off x="4632" y="2208"/>
              <a:ext cx="96" cy="240"/>
            </a:xfrm>
            <a:prstGeom prst="rect">
              <a:avLst/>
            </a:prstGeom>
            <a:solidFill>
              <a:srgbClr val="99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288787" name="Oval 19"/>
            <p:cNvSpPr>
              <a:spLocks noChangeArrowheads="1"/>
            </p:cNvSpPr>
            <p:nvPr/>
          </p:nvSpPr>
          <p:spPr bwMode="auto">
            <a:xfrm>
              <a:off x="3192" y="2112"/>
              <a:ext cx="272" cy="272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6699"/>
                </a:solidFill>
              </a:endParaRPr>
            </a:p>
          </p:txBody>
        </p:sp>
        <p:sp>
          <p:nvSpPr>
            <p:cNvPr id="288788" name="Line 20"/>
            <p:cNvSpPr>
              <a:spLocks noChangeShapeType="1"/>
            </p:cNvSpPr>
            <p:nvPr/>
          </p:nvSpPr>
          <p:spPr bwMode="auto">
            <a:xfrm>
              <a:off x="3336" y="1872"/>
              <a:ext cx="0" cy="7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288789" name="Line 21"/>
            <p:cNvSpPr>
              <a:spLocks noChangeShapeType="1"/>
            </p:cNvSpPr>
            <p:nvPr/>
          </p:nvSpPr>
          <p:spPr bwMode="auto">
            <a:xfrm>
              <a:off x="3576" y="1872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288790" name="Line 22"/>
            <p:cNvSpPr>
              <a:spLocks noChangeShapeType="1"/>
            </p:cNvSpPr>
            <p:nvPr/>
          </p:nvSpPr>
          <p:spPr bwMode="auto">
            <a:xfrm>
              <a:off x="4056" y="1872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288791" name="Line 23"/>
            <p:cNvSpPr>
              <a:spLocks noChangeShapeType="1"/>
            </p:cNvSpPr>
            <p:nvPr/>
          </p:nvSpPr>
          <p:spPr bwMode="auto">
            <a:xfrm>
              <a:off x="4248" y="1872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288792" name="Line 24"/>
            <p:cNvSpPr>
              <a:spLocks noChangeShapeType="1"/>
            </p:cNvSpPr>
            <p:nvPr/>
          </p:nvSpPr>
          <p:spPr bwMode="auto">
            <a:xfrm>
              <a:off x="4248" y="2352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288793" name="Line 25"/>
            <p:cNvSpPr>
              <a:spLocks noChangeShapeType="1"/>
            </p:cNvSpPr>
            <p:nvPr/>
          </p:nvSpPr>
          <p:spPr bwMode="auto">
            <a:xfrm>
              <a:off x="4200" y="1872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288794" name="Line 26"/>
            <p:cNvSpPr>
              <a:spLocks noChangeShapeType="1"/>
            </p:cNvSpPr>
            <p:nvPr/>
          </p:nvSpPr>
          <p:spPr bwMode="auto">
            <a:xfrm>
              <a:off x="4680" y="1872"/>
              <a:ext cx="0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288795" name="Line 27"/>
            <p:cNvSpPr>
              <a:spLocks noChangeShapeType="1"/>
            </p:cNvSpPr>
            <p:nvPr/>
          </p:nvSpPr>
          <p:spPr bwMode="auto">
            <a:xfrm>
              <a:off x="4680" y="2448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288796" name="Line 28"/>
            <p:cNvSpPr>
              <a:spLocks noChangeShapeType="1"/>
            </p:cNvSpPr>
            <p:nvPr/>
          </p:nvSpPr>
          <p:spPr bwMode="auto">
            <a:xfrm>
              <a:off x="3336" y="2640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288797" name="Line 29"/>
            <p:cNvSpPr>
              <a:spLocks noChangeShapeType="1"/>
            </p:cNvSpPr>
            <p:nvPr/>
          </p:nvSpPr>
          <p:spPr bwMode="auto">
            <a:xfrm>
              <a:off x="3384" y="1728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288798" name="Line 30"/>
            <p:cNvSpPr>
              <a:spLocks noChangeShapeType="1"/>
            </p:cNvSpPr>
            <p:nvPr/>
          </p:nvSpPr>
          <p:spPr bwMode="auto">
            <a:xfrm>
              <a:off x="3336" y="1872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288799" name="Line 31"/>
            <p:cNvSpPr>
              <a:spLocks noChangeShapeType="1"/>
            </p:cNvSpPr>
            <p:nvPr/>
          </p:nvSpPr>
          <p:spPr bwMode="auto">
            <a:xfrm flipH="1">
              <a:off x="3480" y="1632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288800" name="Text Box 32"/>
            <p:cNvSpPr txBox="1">
              <a:spLocks noChangeArrowheads="1"/>
            </p:cNvSpPr>
            <p:nvPr/>
          </p:nvSpPr>
          <p:spPr bwMode="auto">
            <a:xfrm>
              <a:off x="3096" y="1858"/>
              <a:ext cx="224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zh-CN" altLang="en-US" b="1">
                  <a:solidFill>
                    <a:srgbClr val="006699"/>
                  </a:solidFill>
                </a:rPr>
                <a:t>+</a:t>
              </a:r>
            </a:p>
            <a:p>
              <a:endParaRPr lang="zh-CN" altLang="en-US" b="1">
                <a:solidFill>
                  <a:srgbClr val="006699"/>
                </a:solidFill>
              </a:endParaRPr>
            </a:p>
            <a:p>
              <a:r>
                <a:rPr lang="zh-CN" altLang="en-US" b="1">
                  <a:solidFill>
                    <a:srgbClr val="006699"/>
                  </a:solidFill>
                </a:rPr>
                <a:t>-</a:t>
              </a:r>
            </a:p>
          </p:txBody>
        </p:sp>
        <p:sp>
          <p:nvSpPr>
            <p:cNvPr id="288801" name="Text Box 33"/>
            <p:cNvSpPr txBox="1">
              <a:spLocks noChangeArrowheads="1"/>
            </p:cNvSpPr>
            <p:nvPr/>
          </p:nvSpPr>
          <p:spPr bwMode="auto">
            <a:xfrm>
              <a:off x="3411" y="2304"/>
              <a:ext cx="3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i="1">
                  <a:solidFill>
                    <a:srgbClr val="006699"/>
                  </a:solidFill>
                </a:rPr>
                <a:t>U</a:t>
              </a:r>
              <a:r>
                <a:rPr lang="en-US" altLang="zh-CN" b="1" i="1" baseline="-25000">
                  <a:solidFill>
                    <a:srgbClr val="006699"/>
                  </a:solidFill>
                </a:rPr>
                <a:t>s</a:t>
              </a:r>
              <a:endParaRPr lang="en-US" altLang="zh-CN" b="1">
                <a:solidFill>
                  <a:srgbClr val="006699"/>
                </a:solidFill>
              </a:endParaRPr>
            </a:p>
          </p:txBody>
        </p:sp>
        <p:sp>
          <p:nvSpPr>
            <p:cNvPr id="288802" name="Text Box 34"/>
            <p:cNvSpPr txBox="1">
              <a:spLocks noChangeArrowheads="1"/>
            </p:cNvSpPr>
            <p:nvPr/>
          </p:nvSpPr>
          <p:spPr bwMode="auto">
            <a:xfrm>
              <a:off x="3758" y="187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i="1">
                  <a:solidFill>
                    <a:srgbClr val="006699"/>
                  </a:solidFill>
                </a:rPr>
                <a:t>R</a:t>
              </a:r>
              <a:r>
                <a:rPr lang="en-US" altLang="zh-CN" b="1" baseline="-25000">
                  <a:solidFill>
                    <a:srgbClr val="006699"/>
                  </a:solidFill>
                </a:rPr>
                <a:t>1</a:t>
              </a:r>
              <a:endParaRPr lang="en-US" altLang="zh-CN" b="1">
                <a:solidFill>
                  <a:srgbClr val="006699"/>
                </a:solidFill>
              </a:endParaRPr>
            </a:p>
          </p:txBody>
        </p:sp>
        <p:sp>
          <p:nvSpPr>
            <p:cNvPr id="288803" name="Text Box 35"/>
            <p:cNvSpPr txBox="1">
              <a:spLocks noChangeArrowheads="1"/>
            </p:cNvSpPr>
            <p:nvPr/>
          </p:nvSpPr>
          <p:spPr bwMode="auto">
            <a:xfrm>
              <a:off x="3902" y="225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i="1">
                  <a:solidFill>
                    <a:srgbClr val="006699"/>
                  </a:solidFill>
                </a:rPr>
                <a:t>R</a:t>
              </a:r>
              <a:r>
                <a:rPr lang="en-US" altLang="zh-CN" b="1" baseline="-25000">
                  <a:solidFill>
                    <a:srgbClr val="006699"/>
                  </a:solidFill>
                </a:rPr>
                <a:t>2</a:t>
              </a:r>
              <a:endParaRPr lang="en-US" altLang="zh-CN" b="1">
                <a:solidFill>
                  <a:srgbClr val="006699"/>
                </a:solidFill>
              </a:endParaRPr>
            </a:p>
          </p:txBody>
        </p:sp>
        <p:sp>
          <p:nvSpPr>
            <p:cNvPr id="288804" name="Text Box 36"/>
            <p:cNvSpPr txBox="1">
              <a:spLocks noChangeArrowheads="1"/>
            </p:cNvSpPr>
            <p:nvPr/>
          </p:nvSpPr>
          <p:spPr bwMode="auto">
            <a:xfrm>
              <a:off x="4344" y="225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i="1">
                  <a:solidFill>
                    <a:srgbClr val="006699"/>
                  </a:solidFill>
                </a:rPr>
                <a:t>R</a:t>
              </a:r>
              <a:r>
                <a:rPr lang="en-US" altLang="zh-CN" b="1" baseline="-25000">
                  <a:solidFill>
                    <a:srgbClr val="006699"/>
                  </a:solidFill>
                </a:rPr>
                <a:t>3</a:t>
              </a:r>
              <a:endParaRPr lang="en-US" altLang="zh-CN" b="1">
                <a:solidFill>
                  <a:srgbClr val="006699"/>
                </a:solidFill>
              </a:endParaRPr>
            </a:p>
          </p:txBody>
        </p:sp>
        <p:sp>
          <p:nvSpPr>
            <p:cNvPr id="288805" name="Text Box 37"/>
            <p:cNvSpPr txBox="1">
              <a:spLocks noChangeArrowheads="1"/>
            </p:cNvSpPr>
            <p:nvPr/>
          </p:nvSpPr>
          <p:spPr bwMode="auto">
            <a:xfrm>
              <a:off x="3576" y="1488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000" b="1" i="1">
                  <a:solidFill>
                    <a:srgbClr val="006699"/>
                  </a:solidFill>
                </a:rPr>
                <a:t>S</a:t>
              </a:r>
              <a:r>
                <a:rPr kumimoji="0" lang="en-US" altLang="zh-CN" sz="2000" b="1">
                  <a:solidFill>
                    <a:srgbClr val="006699"/>
                  </a:solidFill>
                </a:rPr>
                <a:t>(t=0)</a:t>
              </a:r>
            </a:p>
          </p:txBody>
        </p:sp>
      </p:grpSp>
      <p:sp>
        <p:nvSpPr>
          <p:cNvPr id="288806" name="Rectangle 38"/>
          <p:cNvSpPr>
            <a:spLocks noChangeArrowheads="1"/>
          </p:cNvSpPr>
          <p:nvPr/>
        </p:nvSpPr>
        <p:spPr bwMode="auto">
          <a:xfrm>
            <a:off x="6991350" y="230133"/>
            <a:ext cx="1225549" cy="461665"/>
          </a:xfrm>
          <a:prstGeom prst="rect">
            <a:avLst/>
          </a:prstGeom>
          <a:noFill/>
          <a:ln w="3175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6699"/>
                </a:solidFill>
              </a:rPr>
              <a:t>review</a:t>
            </a:r>
            <a:endParaRPr lang="zh-CN" altLang="en-US" b="1" dirty="0">
              <a:solidFill>
                <a:srgbClr val="006699"/>
              </a:solidFill>
            </a:endParaRPr>
          </a:p>
        </p:txBody>
      </p:sp>
      <p:grpSp>
        <p:nvGrpSpPr>
          <p:cNvPr id="288807" name="Group 39"/>
          <p:cNvGrpSpPr>
            <a:grpSpLocks/>
          </p:cNvGrpSpPr>
          <p:nvPr/>
        </p:nvGrpSpPr>
        <p:grpSpPr bwMode="auto">
          <a:xfrm>
            <a:off x="6608218" y="749300"/>
            <a:ext cx="2428876" cy="461963"/>
            <a:chOff x="3984" y="420"/>
            <a:chExt cx="1530" cy="291"/>
          </a:xfrm>
        </p:grpSpPr>
        <p:sp>
          <p:nvSpPr>
            <p:cNvPr id="288808" name="Text Box 40"/>
            <p:cNvSpPr txBox="1">
              <a:spLocks noChangeArrowheads="1"/>
            </p:cNvSpPr>
            <p:nvPr/>
          </p:nvSpPr>
          <p:spPr bwMode="auto">
            <a:xfrm>
              <a:off x="4297" y="420"/>
              <a:ext cx="121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00CC"/>
                  </a:solidFill>
                </a:rPr>
                <a:t>Static circuit</a:t>
              </a:r>
              <a:endParaRPr lang="zh-CN" altLang="en-US" b="1" dirty="0">
                <a:solidFill>
                  <a:srgbClr val="0000CC"/>
                </a:solidFill>
              </a:endParaRPr>
            </a:p>
          </p:txBody>
        </p:sp>
        <p:sp>
          <p:nvSpPr>
            <p:cNvPr id="288809" name="Line 41"/>
            <p:cNvSpPr>
              <a:spLocks noChangeShapeType="1"/>
            </p:cNvSpPr>
            <p:nvPr/>
          </p:nvSpPr>
          <p:spPr bwMode="auto">
            <a:xfrm>
              <a:off x="3984" y="576"/>
              <a:ext cx="33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</p:grpSp>
      <p:graphicFrame>
        <p:nvGraphicFramePr>
          <p:cNvPr id="288810" name="Object 42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7727950" y="1762948"/>
          <a:ext cx="812179" cy="437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8" name="公式" r:id="rId7" imgW="330120" imgH="177480" progId="Equation.3">
                  <p:embed/>
                </p:oleObj>
              </mc:Choice>
              <mc:Fallback>
                <p:oleObj name="公式" r:id="rId7" imgW="33012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7950" y="1762948"/>
                        <a:ext cx="812179" cy="4373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811" name="Object 4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23838" y="4089400"/>
          <a:ext cx="557212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" name="公式" r:id="rId9" imgW="330120" imgH="177480" progId="Equation.3">
                  <p:embed/>
                </p:oleObj>
              </mc:Choice>
              <mc:Fallback>
                <p:oleObj name="公式" r:id="rId9" imgW="33012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38" y="4089400"/>
                        <a:ext cx="557212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>
                <a:solidFill>
                  <a:srgbClr val="006699"/>
                </a:solidFill>
              </a:rPr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ADBD-3689-45E3-AA7C-EB65285A4449}" type="slidenum">
              <a:rPr lang="zh-CN" altLang="en-US" smtClean="0">
                <a:solidFill>
                  <a:srgbClr val="006699"/>
                </a:solidFill>
              </a:rPr>
              <a:pPr/>
              <a:t>4</a:t>
            </a:fld>
            <a:endParaRPr lang="en-US" altLang="zh-CN">
              <a:solidFill>
                <a:srgbClr val="006699"/>
              </a:solidFill>
            </a:endParaRPr>
          </a:p>
        </p:txBody>
      </p:sp>
      <p:grpSp>
        <p:nvGrpSpPr>
          <p:cNvPr id="288812" name="Group 44"/>
          <p:cNvGrpSpPr>
            <a:grpSpLocks/>
          </p:cNvGrpSpPr>
          <p:nvPr/>
        </p:nvGrpSpPr>
        <p:grpSpPr bwMode="auto">
          <a:xfrm>
            <a:off x="290513" y="1993900"/>
            <a:ext cx="3455987" cy="1879600"/>
            <a:chOff x="56" y="1087"/>
            <a:chExt cx="2177" cy="1184"/>
          </a:xfrm>
        </p:grpSpPr>
        <p:grpSp>
          <p:nvGrpSpPr>
            <p:cNvPr id="288813" name="Group 45"/>
            <p:cNvGrpSpPr>
              <a:grpSpLocks/>
            </p:cNvGrpSpPr>
            <p:nvPr/>
          </p:nvGrpSpPr>
          <p:grpSpPr bwMode="auto">
            <a:xfrm>
              <a:off x="1700" y="1869"/>
              <a:ext cx="267" cy="65"/>
              <a:chOff x="2112" y="3648"/>
              <a:chExt cx="192" cy="48"/>
            </a:xfrm>
          </p:grpSpPr>
          <p:sp>
            <p:nvSpPr>
              <p:cNvPr id="288814" name="Line 46"/>
              <p:cNvSpPr>
                <a:spLocks noChangeShapeType="1"/>
              </p:cNvSpPr>
              <p:nvPr/>
            </p:nvSpPr>
            <p:spPr bwMode="auto">
              <a:xfrm>
                <a:off x="2112" y="3648"/>
                <a:ext cx="1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6699"/>
                  </a:solidFill>
                </a:endParaRPr>
              </a:p>
            </p:txBody>
          </p:sp>
          <p:sp>
            <p:nvSpPr>
              <p:cNvPr id="288815" name="Line 47"/>
              <p:cNvSpPr>
                <a:spLocks noChangeShapeType="1"/>
              </p:cNvSpPr>
              <p:nvPr/>
            </p:nvSpPr>
            <p:spPr bwMode="auto">
              <a:xfrm>
                <a:off x="2112" y="3696"/>
                <a:ext cx="1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6699"/>
                  </a:solidFill>
                </a:endParaRPr>
              </a:p>
            </p:txBody>
          </p:sp>
        </p:grpSp>
        <p:grpSp>
          <p:nvGrpSpPr>
            <p:cNvPr id="288816" name="Group 48"/>
            <p:cNvGrpSpPr>
              <a:grpSpLocks/>
            </p:cNvGrpSpPr>
            <p:nvPr/>
          </p:nvGrpSpPr>
          <p:grpSpPr bwMode="auto">
            <a:xfrm>
              <a:off x="1885" y="1467"/>
              <a:ext cx="228" cy="804"/>
              <a:chOff x="1661" y="1285"/>
              <a:chExt cx="164" cy="598"/>
            </a:xfrm>
          </p:grpSpPr>
          <p:sp>
            <p:nvSpPr>
              <p:cNvPr id="288817" name="Text Box 49"/>
              <p:cNvSpPr txBox="1">
                <a:spLocks noChangeArrowheads="1"/>
              </p:cNvSpPr>
              <p:nvPr/>
            </p:nvSpPr>
            <p:spPr bwMode="auto">
              <a:xfrm>
                <a:off x="1663" y="1285"/>
                <a:ext cx="162" cy="2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>
                    <a:solidFill>
                      <a:srgbClr val="006699"/>
                    </a:solidFill>
                  </a:rPr>
                  <a:t>+</a:t>
                </a:r>
              </a:p>
            </p:txBody>
          </p:sp>
          <p:sp>
            <p:nvSpPr>
              <p:cNvPr id="288818" name="Text Box 50"/>
              <p:cNvSpPr txBox="1">
                <a:spLocks noChangeArrowheads="1"/>
              </p:cNvSpPr>
              <p:nvPr/>
            </p:nvSpPr>
            <p:spPr bwMode="auto">
              <a:xfrm>
                <a:off x="1661" y="1669"/>
                <a:ext cx="152" cy="2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>
                    <a:solidFill>
                      <a:srgbClr val="006699"/>
                    </a:solidFill>
                  </a:rPr>
                  <a:t>–</a:t>
                </a:r>
              </a:p>
            </p:txBody>
          </p:sp>
        </p:grpSp>
        <p:sp>
          <p:nvSpPr>
            <p:cNvPr id="288819" name="Text Box 51"/>
            <p:cNvSpPr txBox="1">
              <a:spLocks noChangeArrowheads="1"/>
            </p:cNvSpPr>
            <p:nvPr/>
          </p:nvSpPr>
          <p:spPr bwMode="auto">
            <a:xfrm>
              <a:off x="1953" y="1731"/>
              <a:ext cx="2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6699"/>
                  </a:solidFill>
                </a:rPr>
                <a:t>u</a:t>
              </a:r>
              <a:r>
                <a:rPr lang="en-US" altLang="zh-CN" sz="2000" b="1" baseline="-25000">
                  <a:solidFill>
                    <a:srgbClr val="006699"/>
                  </a:solidFill>
                </a:rPr>
                <a:t>C</a:t>
              </a:r>
              <a:endParaRPr lang="en-US" altLang="zh-CN" sz="2000" b="1">
                <a:solidFill>
                  <a:srgbClr val="006699"/>
                </a:solidFill>
              </a:endParaRPr>
            </a:p>
          </p:txBody>
        </p:sp>
        <p:sp>
          <p:nvSpPr>
            <p:cNvPr id="288820" name="Text Box 52"/>
            <p:cNvSpPr txBox="1">
              <a:spLocks noChangeArrowheads="1"/>
            </p:cNvSpPr>
            <p:nvPr/>
          </p:nvSpPr>
          <p:spPr bwMode="auto">
            <a:xfrm>
              <a:off x="56" y="1744"/>
              <a:ext cx="2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6699"/>
                  </a:solidFill>
                </a:rPr>
                <a:t>U</a:t>
              </a:r>
              <a:r>
                <a:rPr lang="en-US" altLang="zh-CN" sz="2000" b="1" i="1" baseline="-25000">
                  <a:solidFill>
                    <a:srgbClr val="006699"/>
                  </a:solidFill>
                </a:rPr>
                <a:t>s</a:t>
              </a:r>
              <a:endParaRPr lang="en-US" altLang="zh-CN" sz="2000" b="1">
                <a:solidFill>
                  <a:srgbClr val="006699"/>
                </a:solidFill>
              </a:endParaRPr>
            </a:p>
          </p:txBody>
        </p:sp>
        <p:grpSp>
          <p:nvGrpSpPr>
            <p:cNvPr id="288821" name="Group 53"/>
            <p:cNvGrpSpPr>
              <a:grpSpLocks/>
            </p:cNvGrpSpPr>
            <p:nvPr/>
          </p:nvGrpSpPr>
          <p:grpSpPr bwMode="auto">
            <a:xfrm>
              <a:off x="299" y="1482"/>
              <a:ext cx="1535" cy="774"/>
              <a:chOff x="816" y="2880"/>
              <a:chExt cx="1104" cy="576"/>
            </a:xfrm>
          </p:grpSpPr>
          <p:sp>
            <p:nvSpPr>
              <p:cNvPr id="288822" name="Line 54"/>
              <p:cNvSpPr>
                <a:spLocks noChangeShapeType="1"/>
              </p:cNvSpPr>
              <p:nvPr/>
            </p:nvSpPr>
            <p:spPr bwMode="auto">
              <a:xfrm>
                <a:off x="912" y="2880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6699"/>
                  </a:solidFill>
                </a:endParaRPr>
              </a:p>
            </p:txBody>
          </p:sp>
          <p:sp>
            <p:nvSpPr>
              <p:cNvPr id="288823" name="Line 55"/>
              <p:cNvSpPr>
                <a:spLocks noChangeShapeType="1"/>
              </p:cNvSpPr>
              <p:nvPr/>
            </p:nvSpPr>
            <p:spPr bwMode="auto">
              <a:xfrm>
                <a:off x="912" y="3456"/>
                <a:ext cx="100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6699"/>
                  </a:solidFill>
                </a:endParaRPr>
              </a:p>
            </p:txBody>
          </p:sp>
          <p:sp>
            <p:nvSpPr>
              <p:cNvPr id="288824" name="Line 56"/>
              <p:cNvSpPr>
                <a:spLocks noChangeShapeType="1"/>
              </p:cNvSpPr>
              <p:nvPr/>
            </p:nvSpPr>
            <p:spPr bwMode="auto">
              <a:xfrm flipH="1">
                <a:off x="1344" y="2880"/>
                <a:ext cx="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6699"/>
                  </a:solidFill>
                </a:endParaRPr>
              </a:p>
            </p:txBody>
          </p:sp>
          <p:sp>
            <p:nvSpPr>
              <p:cNvPr id="288825" name="Line 57"/>
              <p:cNvSpPr>
                <a:spLocks noChangeShapeType="1"/>
              </p:cNvSpPr>
              <p:nvPr/>
            </p:nvSpPr>
            <p:spPr bwMode="auto">
              <a:xfrm>
                <a:off x="816" y="3168"/>
                <a:ext cx="1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6699"/>
                  </a:solidFill>
                </a:endParaRPr>
              </a:p>
            </p:txBody>
          </p:sp>
          <p:sp>
            <p:nvSpPr>
              <p:cNvPr id="288826" name="Line 58"/>
              <p:cNvSpPr>
                <a:spLocks noChangeShapeType="1"/>
              </p:cNvSpPr>
              <p:nvPr/>
            </p:nvSpPr>
            <p:spPr bwMode="auto">
              <a:xfrm>
                <a:off x="864" y="3216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6699"/>
                  </a:solidFill>
                </a:endParaRPr>
              </a:p>
            </p:txBody>
          </p:sp>
          <p:sp>
            <p:nvSpPr>
              <p:cNvPr id="288827" name="Line 59"/>
              <p:cNvSpPr>
                <a:spLocks noChangeShapeType="1"/>
              </p:cNvSpPr>
              <p:nvPr/>
            </p:nvSpPr>
            <p:spPr bwMode="auto">
              <a:xfrm flipV="1">
                <a:off x="912" y="3216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6699"/>
                  </a:solidFill>
                </a:endParaRPr>
              </a:p>
            </p:txBody>
          </p:sp>
          <p:sp>
            <p:nvSpPr>
              <p:cNvPr id="288828" name="Line 60"/>
              <p:cNvSpPr>
                <a:spLocks noChangeShapeType="1"/>
              </p:cNvSpPr>
              <p:nvPr/>
            </p:nvSpPr>
            <p:spPr bwMode="auto">
              <a:xfrm>
                <a:off x="912" y="2880"/>
                <a:ext cx="0" cy="28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6699"/>
                  </a:solidFill>
                </a:endParaRPr>
              </a:p>
            </p:txBody>
          </p:sp>
          <p:sp>
            <p:nvSpPr>
              <p:cNvPr id="288829" name="Line 61"/>
              <p:cNvSpPr>
                <a:spLocks noChangeShapeType="1"/>
              </p:cNvSpPr>
              <p:nvPr/>
            </p:nvSpPr>
            <p:spPr bwMode="auto">
              <a:xfrm>
                <a:off x="1920" y="2880"/>
                <a:ext cx="0" cy="28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6699"/>
                  </a:solidFill>
                </a:endParaRPr>
              </a:p>
            </p:txBody>
          </p:sp>
          <p:sp>
            <p:nvSpPr>
              <p:cNvPr id="288830" name="Line 62"/>
              <p:cNvSpPr>
                <a:spLocks noChangeShapeType="1"/>
              </p:cNvSpPr>
              <p:nvPr/>
            </p:nvSpPr>
            <p:spPr bwMode="auto">
              <a:xfrm flipV="1">
                <a:off x="1920" y="3216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6699"/>
                  </a:solidFill>
                </a:endParaRPr>
              </a:p>
            </p:txBody>
          </p:sp>
        </p:grpSp>
        <p:grpSp>
          <p:nvGrpSpPr>
            <p:cNvPr id="288831" name="Group 63"/>
            <p:cNvGrpSpPr>
              <a:grpSpLocks/>
            </p:cNvGrpSpPr>
            <p:nvPr/>
          </p:nvGrpSpPr>
          <p:grpSpPr bwMode="auto">
            <a:xfrm>
              <a:off x="1251" y="1413"/>
              <a:ext cx="411" cy="382"/>
              <a:chOff x="1480" y="2832"/>
              <a:chExt cx="296" cy="285"/>
            </a:xfrm>
          </p:grpSpPr>
          <p:sp>
            <p:nvSpPr>
              <p:cNvPr id="288832" name="Text Box 64"/>
              <p:cNvSpPr txBox="1">
                <a:spLocks noChangeArrowheads="1"/>
              </p:cNvSpPr>
              <p:nvPr/>
            </p:nvSpPr>
            <p:spPr bwMode="auto">
              <a:xfrm>
                <a:off x="1480" y="2930"/>
                <a:ext cx="161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1">
                    <a:solidFill>
                      <a:srgbClr val="006699"/>
                    </a:solidFill>
                  </a:rPr>
                  <a:t>R</a:t>
                </a:r>
                <a:endParaRPr lang="en-US" altLang="zh-CN" sz="2000" b="1">
                  <a:solidFill>
                    <a:srgbClr val="006699"/>
                  </a:solidFill>
                </a:endParaRPr>
              </a:p>
            </p:txBody>
          </p:sp>
          <p:sp>
            <p:nvSpPr>
              <p:cNvPr id="288833" name="Rectangle 65"/>
              <p:cNvSpPr>
                <a:spLocks noChangeArrowheads="1"/>
              </p:cNvSpPr>
              <p:nvPr/>
            </p:nvSpPr>
            <p:spPr bwMode="auto">
              <a:xfrm>
                <a:off x="1536" y="2832"/>
                <a:ext cx="240" cy="96"/>
              </a:xfrm>
              <a:prstGeom prst="rect">
                <a:avLst/>
              </a:prstGeom>
              <a:solidFill>
                <a:srgbClr val="99FF99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6699"/>
                  </a:solidFill>
                </a:endParaRPr>
              </a:p>
            </p:txBody>
          </p:sp>
        </p:grpSp>
        <p:sp>
          <p:nvSpPr>
            <p:cNvPr id="288834" name="Text Box 66"/>
            <p:cNvSpPr txBox="1">
              <a:spLocks noChangeArrowheads="1"/>
            </p:cNvSpPr>
            <p:nvPr/>
          </p:nvSpPr>
          <p:spPr bwMode="auto">
            <a:xfrm>
              <a:off x="1499" y="1755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6699"/>
                  </a:solidFill>
                </a:rPr>
                <a:t>C</a:t>
              </a:r>
              <a:endParaRPr lang="en-US" altLang="zh-CN" sz="2000" b="1">
                <a:solidFill>
                  <a:srgbClr val="006699"/>
                </a:solidFill>
              </a:endParaRPr>
            </a:p>
          </p:txBody>
        </p:sp>
        <p:grpSp>
          <p:nvGrpSpPr>
            <p:cNvPr id="288835" name="Group 67"/>
            <p:cNvGrpSpPr>
              <a:grpSpLocks/>
            </p:cNvGrpSpPr>
            <p:nvPr/>
          </p:nvGrpSpPr>
          <p:grpSpPr bwMode="auto">
            <a:xfrm>
              <a:off x="1668" y="1087"/>
              <a:ext cx="232" cy="331"/>
              <a:chOff x="1801" y="2586"/>
              <a:chExt cx="167" cy="246"/>
            </a:xfrm>
          </p:grpSpPr>
          <p:sp>
            <p:nvSpPr>
              <p:cNvPr id="288836" name="Text Box 68"/>
              <p:cNvSpPr txBox="1">
                <a:spLocks noChangeArrowheads="1"/>
              </p:cNvSpPr>
              <p:nvPr/>
            </p:nvSpPr>
            <p:spPr bwMode="auto">
              <a:xfrm>
                <a:off x="1801" y="2586"/>
                <a:ext cx="128" cy="2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1">
                    <a:solidFill>
                      <a:srgbClr val="006699"/>
                    </a:solidFill>
                  </a:rPr>
                  <a:t>i</a:t>
                </a:r>
                <a:endParaRPr lang="en-US" altLang="zh-CN" sz="2800" b="1">
                  <a:solidFill>
                    <a:srgbClr val="006699"/>
                  </a:solidFill>
                </a:endParaRPr>
              </a:p>
            </p:txBody>
          </p:sp>
          <p:sp>
            <p:nvSpPr>
              <p:cNvPr id="288837" name="Line 69"/>
              <p:cNvSpPr>
                <a:spLocks noChangeShapeType="1"/>
              </p:cNvSpPr>
              <p:nvPr/>
            </p:nvSpPr>
            <p:spPr bwMode="auto">
              <a:xfrm>
                <a:off x="1824" y="2832"/>
                <a:ext cx="1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6699"/>
                  </a:solidFill>
                </a:endParaRPr>
              </a:p>
            </p:txBody>
          </p:sp>
        </p:grpSp>
        <p:sp>
          <p:nvSpPr>
            <p:cNvPr id="288838" name="Line 70"/>
            <p:cNvSpPr>
              <a:spLocks noChangeShapeType="1"/>
            </p:cNvSpPr>
            <p:nvPr/>
          </p:nvSpPr>
          <p:spPr bwMode="auto">
            <a:xfrm flipH="1">
              <a:off x="833" y="1482"/>
              <a:ext cx="200" cy="25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288839" name="Line 71"/>
            <p:cNvSpPr>
              <a:spLocks noChangeShapeType="1"/>
            </p:cNvSpPr>
            <p:nvPr/>
          </p:nvSpPr>
          <p:spPr bwMode="auto">
            <a:xfrm>
              <a:off x="899" y="1741"/>
              <a:ext cx="0" cy="5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288840" name="Line 72"/>
            <p:cNvSpPr>
              <a:spLocks noChangeShapeType="1"/>
            </p:cNvSpPr>
            <p:nvPr/>
          </p:nvSpPr>
          <p:spPr bwMode="auto">
            <a:xfrm flipH="1" flipV="1">
              <a:off x="927" y="1482"/>
              <a:ext cx="67" cy="1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288841" name="Text Box 73"/>
            <p:cNvSpPr txBox="1">
              <a:spLocks noChangeArrowheads="1"/>
            </p:cNvSpPr>
            <p:nvPr/>
          </p:nvSpPr>
          <p:spPr bwMode="auto">
            <a:xfrm>
              <a:off x="671" y="1217"/>
              <a:ext cx="64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rgbClr val="006699"/>
                  </a:solidFill>
                </a:rPr>
                <a:t> </a:t>
              </a:r>
              <a:r>
                <a:rPr lang="en-US" altLang="zh-CN" sz="2000">
                  <a:solidFill>
                    <a:srgbClr val="006699"/>
                  </a:solidFill>
                </a:rPr>
                <a:t>S(</a:t>
              </a:r>
              <a:r>
                <a:rPr lang="en-US" altLang="zh-CN" sz="2000" b="1" i="1">
                  <a:solidFill>
                    <a:srgbClr val="006699"/>
                  </a:solidFill>
                </a:rPr>
                <a:t>t </a:t>
              </a:r>
              <a:r>
                <a:rPr lang="en-US" altLang="zh-CN" sz="2000" b="1">
                  <a:solidFill>
                    <a:srgbClr val="006699"/>
                  </a:solidFill>
                </a:rPr>
                <a:t>=</a:t>
              </a:r>
              <a:r>
                <a:rPr lang="en-US" altLang="zh-CN" sz="2000">
                  <a:solidFill>
                    <a:srgbClr val="006699"/>
                  </a:solidFill>
                </a:rPr>
                <a:t> 0)</a:t>
              </a:r>
            </a:p>
          </p:txBody>
        </p:sp>
        <p:sp>
          <p:nvSpPr>
            <p:cNvPr id="288842" name="Oval 74"/>
            <p:cNvSpPr>
              <a:spLocks noChangeArrowheads="1"/>
            </p:cNvSpPr>
            <p:nvPr/>
          </p:nvSpPr>
          <p:spPr bwMode="auto">
            <a:xfrm>
              <a:off x="871" y="1733"/>
              <a:ext cx="56" cy="56"/>
            </a:xfrm>
            <a:prstGeom prst="ellipse">
              <a:avLst/>
            </a:prstGeom>
            <a:solidFill>
              <a:schemeClr val="tx1"/>
            </a:solidFill>
            <a:ln w="317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288843" name="Oval 75"/>
            <p:cNvSpPr>
              <a:spLocks noChangeArrowheads="1"/>
            </p:cNvSpPr>
            <p:nvPr/>
          </p:nvSpPr>
          <p:spPr bwMode="auto">
            <a:xfrm>
              <a:off x="805" y="1452"/>
              <a:ext cx="56" cy="56"/>
            </a:xfrm>
            <a:prstGeom prst="ellipse">
              <a:avLst/>
            </a:prstGeom>
            <a:solidFill>
              <a:schemeClr val="tx1"/>
            </a:solidFill>
            <a:ln w="317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288844" name="Text Box 76"/>
            <p:cNvSpPr txBox="1">
              <a:spLocks noChangeArrowheads="1"/>
            </p:cNvSpPr>
            <p:nvPr/>
          </p:nvSpPr>
          <p:spPr bwMode="auto">
            <a:xfrm>
              <a:off x="885" y="1664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006699"/>
                  </a:solidFill>
                </a:rPr>
                <a:t>a</a:t>
              </a:r>
            </a:p>
          </p:txBody>
        </p:sp>
        <p:sp>
          <p:nvSpPr>
            <p:cNvPr id="288845" name="Text Box 77"/>
            <p:cNvSpPr txBox="1">
              <a:spLocks noChangeArrowheads="1"/>
            </p:cNvSpPr>
            <p:nvPr/>
          </p:nvSpPr>
          <p:spPr bwMode="auto">
            <a:xfrm>
              <a:off x="703" y="1441"/>
              <a:ext cx="2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006699"/>
                  </a:solidFill>
                </a:rPr>
                <a:t>b</a:t>
              </a:r>
            </a:p>
          </p:txBody>
        </p:sp>
      </p:grpSp>
      <p:grpSp>
        <p:nvGrpSpPr>
          <p:cNvPr id="288846" name="Group 78"/>
          <p:cNvGrpSpPr>
            <a:grpSpLocks/>
          </p:cNvGrpSpPr>
          <p:nvPr/>
        </p:nvGrpSpPr>
        <p:grpSpPr bwMode="auto">
          <a:xfrm>
            <a:off x="1157288" y="4614863"/>
            <a:ext cx="2055812" cy="804862"/>
            <a:chOff x="730" y="2971"/>
            <a:chExt cx="1295" cy="507"/>
          </a:xfrm>
        </p:grpSpPr>
        <p:graphicFrame>
          <p:nvGraphicFramePr>
            <p:cNvPr id="288847" name="Object 79"/>
            <p:cNvGraphicFramePr>
              <a:graphicFrameLocks noChangeAspect="1"/>
            </p:cNvGraphicFramePr>
            <p:nvPr/>
          </p:nvGraphicFramePr>
          <p:xfrm>
            <a:off x="1216" y="2971"/>
            <a:ext cx="809" cy="5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0" name="公式" r:id="rId11" imgW="647640" imgH="406080" progId="Equation.3">
                    <p:embed/>
                  </p:oleObj>
                </mc:Choice>
                <mc:Fallback>
                  <p:oleObj name="公式" r:id="rId11" imgW="64764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6" y="2971"/>
                          <a:ext cx="809" cy="5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8848" name="Text Box 80"/>
            <p:cNvSpPr txBox="1">
              <a:spLocks noChangeArrowheads="1"/>
            </p:cNvSpPr>
            <p:nvPr/>
          </p:nvSpPr>
          <p:spPr bwMode="auto">
            <a:xfrm>
              <a:off x="730" y="3052"/>
              <a:ext cx="69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sz="2000" b="1" dirty="0">
                <a:solidFill>
                  <a:srgbClr val="006699"/>
                </a:solidFill>
              </a:endParaRPr>
            </a:p>
          </p:txBody>
        </p:sp>
      </p:grpSp>
      <p:grpSp>
        <p:nvGrpSpPr>
          <p:cNvPr id="288849" name="Group 81"/>
          <p:cNvGrpSpPr>
            <a:grpSpLocks/>
          </p:cNvGrpSpPr>
          <p:nvPr/>
        </p:nvGrpSpPr>
        <p:grpSpPr bwMode="auto">
          <a:xfrm>
            <a:off x="1158875" y="4138613"/>
            <a:ext cx="2544763" cy="476250"/>
            <a:chOff x="730" y="2671"/>
            <a:chExt cx="1603" cy="300"/>
          </a:xfrm>
        </p:grpSpPr>
        <p:graphicFrame>
          <p:nvGraphicFramePr>
            <p:cNvPr id="288850" name="Object 82"/>
            <p:cNvGraphicFramePr>
              <a:graphicFrameLocks noChangeAspect="1"/>
            </p:cNvGraphicFramePr>
            <p:nvPr/>
          </p:nvGraphicFramePr>
          <p:xfrm>
            <a:off x="1216" y="2671"/>
            <a:ext cx="1117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1" name="公式" r:id="rId13" imgW="850680" imgH="228600" progId="Equation.3">
                    <p:embed/>
                  </p:oleObj>
                </mc:Choice>
                <mc:Fallback>
                  <p:oleObj name="公式" r:id="rId13" imgW="85068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6" y="2671"/>
                          <a:ext cx="1117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8851" name="Text Box 83"/>
            <p:cNvSpPr txBox="1">
              <a:spLocks noChangeArrowheads="1"/>
            </p:cNvSpPr>
            <p:nvPr/>
          </p:nvSpPr>
          <p:spPr bwMode="auto">
            <a:xfrm>
              <a:off x="730" y="2671"/>
              <a:ext cx="7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006699"/>
                  </a:solidFill>
                </a:rPr>
                <a:t>KVL</a:t>
              </a:r>
            </a:p>
          </p:txBody>
        </p:sp>
      </p:grpSp>
      <p:grpSp>
        <p:nvGrpSpPr>
          <p:cNvPr id="288852" name="Group 84"/>
          <p:cNvGrpSpPr>
            <a:grpSpLocks/>
          </p:cNvGrpSpPr>
          <p:nvPr/>
        </p:nvGrpSpPr>
        <p:grpSpPr bwMode="auto">
          <a:xfrm>
            <a:off x="1266825" y="2212975"/>
            <a:ext cx="933450" cy="1622425"/>
            <a:chOff x="798" y="1394"/>
            <a:chExt cx="588" cy="1022"/>
          </a:xfrm>
        </p:grpSpPr>
        <p:sp>
          <p:nvSpPr>
            <p:cNvPr id="288853" name="Rectangle 85"/>
            <p:cNvSpPr>
              <a:spLocks noChangeArrowheads="1"/>
            </p:cNvSpPr>
            <p:nvPr/>
          </p:nvSpPr>
          <p:spPr bwMode="auto">
            <a:xfrm>
              <a:off x="806" y="1394"/>
              <a:ext cx="580" cy="10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288854" name="Line 86"/>
            <p:cNvSpPr>
              <a:spLocks noChangeShapeType="1"/>
            </p:cNvSpPr>
            <p:nvPr/>
          </p:nvSpPr>
          <p:spPr bwMode="auto">
            <a:xfrm flipH="1">
              <a:off x="798" y="1651"/>
              <a:ext cx="58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</p:grpSp>
      <p:grpSp>
        <p:nvGrpSpPr>
          <p:cNvPr id="288855" name="Group 87"/>
          <p:cNvGrpSpPr>
            <a:grpSpLocks/>
          </p:cNvGrpSpPr>
          <p:nvPr/>
        </p:nvGrpSpPr>
        <p:grpSpPr bwMode="auto">
          <a:xfrm>
            <a:off x="5365750" y="2128838"/>
            <a:ext cx="1244600" cy="652462"/>
            <a:chOff x="3380" y="1341"/>
            <a:chExt cx="784" cy="411"/>
          </a:xfrm>
        </p:grpSpPr>
        <p:sp>
          <p:nvSpPr>
            <p:cNvPr id="288856" name="Rectangle 88"/>
            <p:cNvSpPr>
              <a:spLocks noChangeArrowheads="1"/>
            </p:cNvSpPr>
            <p:nvPr/>
          </p:nvSpPr>
          <p:spPr bwMode="auto">
            <a:xfrm>
              <a:off x="3380" y="1341"/>
              <a:ext cx="784" cy="2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288857" name="Rectangle 89"/>
            <p:cNvSpPr>
              <a:spLocks noChangeArrowheads="1"/>
            </p:cNvSpPr>
            <p:nvPr/>
          </p:nvSpPr>
          <p:spPr bwMode="auto">
            <a:xfrm>
              <a:off x="3412" y="1608"/>
              <a:ext cx="336" cy="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288858" name="Line 90"/>
            <p:cNvSpPr>
              <a:spLocks noChangeShapeType="1"/>
            </p:cNvSpPr>
            <p:nvPr/>
          </p:nvSpPr>
          <p:spPr bwMode="auto">
            <a:xfrm>
              <a:off x="3404" y="1704"/>
              <a:ext cx="352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</p:grpSp>
      <p:sp>
        <p:nvSpPr>
          <p:cNvPr id="92" name="AutoShape 48"/>
          <p:cNvSpPr>
            <a:spLocks noChangeArrowheads="1"/>
          </p:cNvSpPr>
          <p:nvPr/>
        </p:nvSpPr>
        <p:spPr bwMode="auto">
          <a:xfrm>
            <a:off x="3464471" y="4743450"/>
            <a:ext cx="1295400" cy="1152525"/>
          </a:xfrm>
          <a:prstGeom prst="wedgeRoundRectCallout">
            <a:avLst>
              <a:gd name="adj1" fmla="val -80269"/>
              <a:gd name="adj2" fmla="val -126583"/>
              <a:gd name="adj3" fmla="val 16667"/>
            </a:avLst>
          </a:prstGeom>
          <a:solidFill>
            <a:srgbClr val="FFC000"/>
          </a:solidFill>
          <a:ln>
            <a:noFill/>
          </a:ln>
          <a:effectLst/>
        </p:spPr>
        <p:txBody>
          <a:bodyPr/>
          <a:lstStyle/>
          <a:p>
            <a:r>
              <a:rPr lang="en-US" altLang="zh-CN" sz="2000" b="1" dirty="0">
                <a:solidFill>
                  <a:srgbClr val="006699"/>
                </a:solidFill>
                <a:latin typeface="Arial" charset="0"/>
                <a:ea typeface="仿宋_GB2312" pitchFamily="49" charset="-122"/>
              </a:rPr>
              <a:t>First-order circuit</a:t>
            </a:r>
          </a:p>
        </p:txBody>
      </p:sp>
      <p:sp>
        <p:nvSpPr>
          <p:cNvPr id="93" name="Rectangle 2">
            <a:extLst>
              <a:ext uri="{FF2B5EF4-FFF2-40B4-BE49-F238E27FC236}">
                <a16:creationId xmlns:a16="http://schemas.microsoft.com/office/drawing/2014/main" id="{51B83279-1FA8-9B4A-A785-3EC94DCD22E3}"/>
              </a:ext>
            </a:extLst>
          </p:cNvPr>
          <p:cNvSpPr txBox="1">
            <a:spLocks noRot="1" noChangeArrowheads="1"/>
          </p:cNvSpPr>
          <p:nvPr/>
        </p:nvSpPr>
        <p:spPr bwMode="auto">
          <a:xfrm>
            <a:off x="1779587" y="74276"/>
            <a:ext cx="54737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r>
              <a:rPr lang="en-US" altLang="zh-CN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宋体" pitchFamily="2" charset="-122"/>
              </a:rPr>
              <a:t>7.1 Introduction</a:t>
            </a:r>
          </a:p>
        </p:txBody>
      </p:sp>
    </p:spTree>
    <p:extLst>
      <p:ext uri="{BB962C8B-B14F-4D97-AF65-F5344CB8AC3E}">
        <p14:creationId xmlns:p14="http://schemas.microsoft.com/office/powerpoint/2010/main" val="1447528828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8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8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8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8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8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8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8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8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8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8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8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8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8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8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8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8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8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88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88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88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8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88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8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8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88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88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88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88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887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88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88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88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8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1" grpId="0" animBg="1"/>
      <p:bldP spid="288772" grpId="0" animBg="1"/>
      <p:bldP spid="288775" grpId="0" animBg="1"/>
      <p:bldP spid="288776" grpId="0"/>
      <p:bldP spid="288777" grpId="0"/>
      <p:bldP spid="288806" grpId="0" animBg="1"/>
      <p:bldP spid="9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5" name="Rectangle 7"/>
          <p:cNvSpPr>
            <a:spLocks noRot="1" noChangeArrowheads="1"/>
          </p:cNvSpPr>
          <p:nvPr/>
        </p:nvSpPr>
        <p:spPr bwMode="auto">
          <a:xfrm>
            <a:off x="503337" y="1282407"/>
            <a:ext cx="7777163" cy="1079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800" b="1" i="1" dirty="0">
                <a:solidFill>
                  <a:srgbClr val="FF6600"/>
                </a:solidFill>
              </a:rPr>
              <a:t>RC</a:t>
            </a:r>
            <a:r>
              <a:rPr lang="en-US" altLang="zh-CN" sz="2800" b="1" dirty="0">
                <a:solidFill>
                  <a:srgbClr val="FF6600"/>
                </a:solidFill>
              </a:rPr>
              <a:t> </a:t>
            </a:r>
            <a:r>
              <a:rPr lang="en-US" altLang="zh-CN" sz="2800" b="1" i="1" dirty="0">
                <a:solidFill>
                  <a:srgbClr val="FF6600"/>
                </a:solidFill>
              </a:rPr>
              <a:t>circuit:</a:t>
            </a:r>
            <a:r>
              <a:rPr lang="en-US" altLang="zh-CN" sz="2400" dirty="0">
                <a:solidFill>
                  <a:srgbClr val="FF6600"/>
                </a:solidFill>
              </a:rPr>
              <a:t> </a:t>
            </a:r>
            <a:r>
              <a:rPr lang="en-US" altLang="zh-CN" sz="2400" dirty="0"/>
              <a:t>a circuit comprising a resistor and a capacitor</a:t>
            </a:r>
          </a:p>
          <a:p>
            <a:pPr marL="609600" indent="-609600" algn="l"/>
            <a:r>
              <a:rPr lang="en-US" altLang="zh-CN" sz="2800" b="1" i="1" dirty="0">
                <a:solidFill>
                  <a:srgbClr val="FF6600"/>
                </a:solidFill>
              </a:rPr>
              <a:t>RL circuit: </a:t>
            </a:r>
            <a:r>
              <a:rPr lang="en-US" altLang="zh-CN" sz="2400" dirty="0"/>
              <a:t>a circuit comprising a resistor and an inductor</a:t>
            </a:r>
          </a:p>
        </p:txBody>
      </p:sp>
      <p:graphicFrame>
        <p:nvGraphicFramePr>
          <p:cNvPr id="5327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7712116"/>
              </p:ext>
            </p:extLst>
          </p:nvPr>
        </p:nvGraphicFramePr>
        <p:xfrm>
          <a:off x="539750" y="2492896"/>
          <a:ext cx="7642225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" name="Equation" r:id="rId3" imgW="3479760" imgH="482400" progId="Equation.DSMT4">
                  <p:embed/>
                </p:oleObj>
              </mc:Choice>
              <mc:Fallback>
                <p:oleObj name="Equation" r:id="rId3" imgW="34797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492896"/>
                        <a:ext cx="7642225" cy="10620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74" name="Rectangle 26"/>
          <p:cNvSpPr>
            <a:spLocks noRot="1" noChangeArrowheads="1"/>
          </p:cNvSpPr>
          <p:nvPr/>
        </p:nvSpPr>
        <p:spPr bwMode="auto">
          <a:xfrm>
            <a:off x="539750" y="3717032"/>
            <a:ext cx="7777163" cy="23762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800" b="1" i="1" dirty="0">
                <a:solidFill>
                  <a:srgbClr val="FF6600"/>
                </a:solidFill>
              </a:rPr>
              <a:t>A first-order circuit: </a:t>
            </a:r>
            <a:r>
              <a:rPr lang="en-US" altLang="zh-CN" sz="2400" dirty="0"/>
              <a:t>is characterized by a </a:t>
            </a:r>
            <a:r>
              <a:rPr lang="en-US" altLang="zh-CN" sz="2400" u="sng" dirty="0"/>
              <a:t>first-order differential equation</a:t>
            </a:r>
            <a:r>
              <a:rPr lang="en-US" altLang="zh-CN" sz="2400" dirty="0"/>
              <a:t>.</a:t>
            </a:r>
          </a:p>
          <a:p>
            <a:pPr marL="609600" indent="-609600" algn="l"/>
            <a:r>
              <a:rPr lang="en-US" altLang="zh-CN" sz="2800" b="1" i="1" dirty="0">
                <a:solidFill>
                  <a:srgbClr val="FF6600"/>
                </a:solidFill>
              </a:rPr>
              <a:t>A second-order circuit: </a:t>
            </a:r>
            <a:r>
              <a:rPr lang="en-US" altLang="zh-CN" sz="2400" dirty="0"/>
              <a:t>is characterized by a </a:t>
            </a:r>
            <a:r>
              <a:rPr lang="en-US" altLang="zh-CN" sz="2400" u="sng" dirty="0"/>
              <a:t>second-order differential equation</a:t>
            </a:r>
            <a:r>
              <a:rPr lang="en-US" altLang="zh-CN" sz="2400" dirty="0"/>
              <a:t>. It consists of resistors and the equivalent of two energy storage elements.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3131840" y="6309419"/>
            <a:ext cx="2895600" cy="457200"/>
          </a:xfrm>
        </p:spPr>
        <p:txBody>
          <a:bodyPr/>
          <a:lstStyle/>
          <a:p>
            <a:r>
              <a:rPr lang="en-US" altLang="zh-CN" dirty="0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3E9D0-4E7D-494B-9FDA-030BD051EAFE}" type="slidenum">
              <a:rPr lang="en-US" altLang="zh-CN" smtClean="0"/>
              <a:pPr/>
              <a:t>5</a:t>
            </a:fld>
            <a:endParaRPr lang="en-US" altLang="zh-CN"/>
          </a:p>
        </p:txBody>
      </p:sp>
      <p:sp>
        <p:nvSpPr>
          <p:cNvPr id="4" name="TextBox 3"/>
          <p:cNvSpPr txBox="1"/>
          <p:nvPr/>
        </p:nvSpPr>
        <p:spPr>
          <a:xfrm>
            <a:off x="503337" y="260648"/>
            <a:ext cx="7849988" cy="8925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srgbClr val="FF6600"/>
                </a:solidFill>
              </a:rPr>
              <a:t>Dynamic circuit: </a:t>
            </a:r>
            <a:r>
              <a:rPr lang="en-US" altLang="zh-CN" dirty="0"/>
              <a:t>a circuit containing energy storage elements.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2337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5" grpId="0" animBg="1"/>
      <p:bldP spid="5327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218" name="Group 2"/>
          <p:cNvGrpSpPr>
            <a:grpSpLocks/>
          </p:cNvGrpSpPr>
          <p:nvPr/>
        </p:nvGrpSpPr>
        <p:grpSpPr bwMode="auto">
          <a:xfrm>
            <a:off x="4572000" y="-26988"/>
            <a:ext cx="4375150" cy="2617788"/>
            <a:chOff x="-114" y="164"/>
            <a:chExt cx="2756" cy="1649"/>
          </a:xfrm>
        </p:grpSpPr>
        <p:sp>
          <p:nvSpPr>
            <p:cNvPr id="137219" name="Oval 3"/>
            <p:cNvSpPr>
              <a:spLocks noChangeArrowheads="1"/>
            </p:cNvSpPr>
            <p:nvPr/>
          </p:nvSpPr>
          <p:spPr bwMode="auto">
            <a:xfrm>
              <a:off x="565" y="799"/>
              <a:ext cx="348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grpSp>
          <p:nvGrpSpPr>
            <p:cNvPr id="137220" name="Group 4"/>
            <p:cNvGrpSpPr>
              <a:grpSpLocks/>
            </p:cNvGrpSpPr>
            <p:nvPr/>
          </p:nvGrpSpPr>
          <p:grpSpPr bwMode="auto">
            <a:xfrm>
              <a:off x="1754" y="569"/>
              <a:ext cx="396" cy="840"/>
              <a:chOff x="1576" y="1290"/>
              <a:chExt cx="251" cy="587"/>
            </a:xfrm>
          </p:grpSpPr>
          <p:grpSp>
            <p:nvGrpSpPr>
              <p:cNvPr id="137221" name="Group 5"/>
              <p:cNvGrpSpPr>
                <a:grpSpLocks/>
              </p:cNvGrpSpPr>
              <p:nvPr/>
            </p:nvGrpSpPr>
            <p:grpSpPr bwMode="auto">
              <a:xfrm>
                <a:off x="1670" y="1290"/>
                <a:ext cx="146" cy="587"/>
                <a:chOff x="1670" y="1290"/>
                <a:chExt cx="146" cy="587"/>
              </a:xfrm>
            </p:grpSpPr>
            <p:sp>
              <p:nvSpPr>
                <p:cNvPr id="137222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1673" y="1290"/>
                  <a:ext cx="143" cy="2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b="1">
                      <a:solidFill>
                        <a:srgbClr val="006699"/>
                      </a:solidFill>
                    </a:rPr>
                    <a:t>+</a:t>
                  </a:r>
                </a:p>
              </p:txBody>
            </p:sp>
            <p:sp>
              <p:nvSpPr>
                <p:cNvPr id="137223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670" y="1674"/>
                  <a:ext cx="135" cy="2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b="1">
                      <a:solidFill>
                        <a:srgbClr val="006699"/>
                      </a:solidFill>
                    </a:rPr>
                    <a:t>–</a:t>
                  </a:r>
                </a:p>
              </p:txBody>
            </p:sp>
          </p:grpSp>
          <p:sp>
            <p:nvSpPr>
              <p:cNvPr id="137224" name="Text Box 8"/>
              <p:cNvSpPr txBox="1">
                <a:spLocks noChangeArrowheads="1"/>
              </p:cNvSpPr>
              <p:nvPr/>
            </p:nvSpPr>
            <p:spPr bwMode="auto">
              <a:xfrm>
                <a:off x="1576" y="1472"/>
                <a:ext cx="251" cy="2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>
                    <a:solidFill>
                      <a:srgbClr val="006699"/>
                    </a:solidFill>
                  </a:rPr>
                  <a:t>v</a:t>
                </a:r>
                <a:r>
                  <a:rPr lang="en-US" altLang="zh-CN" b="1" baseline="-25000">
                    <a:solidFill>
                      <a:srgbClr val="006699"/>
                    </a:solidFill>
                  </a:rPr>
                  <a:t>L</a:t>
                </a:r>
                <a:endParaRPr lang="en-US" altLang="zh-CN" b="1">
                  <a:solidFill>
                    <a:srgbClr val="006699"/>
                  </a:solidFill>
                </a:endParaRPr>
              </a:p>
            </p:txBody>
          </p:sp>
        </p:grpSp>
        <p:sp>
          <p:nvSpPr>
            <p:cNvPr id="137225" name="Text Box 9"/>
            <p:cNvSpPr txBox="1">
              <a:spLocks noChangeArrowheads="1"/>
            </p:cNvSpPr>
            <p:nvPr/>
          </p:nvSpPr>
          <p:spPr bwMode="auto">
            <a:xfrm>
              <a:off x="-114" y="845"/>
              <a:ext cx="8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006699"/>
                  </a:solidFill>
                </a:rPr>
                <a:t>v</a:t>
              </a:r>
              <a:r>
                <a:rPr lang="en-US" altLang="zh-CN" b="1" baseline="-25000">
                  <a:solidFill>
                    <a:srgbClr val="006699"/>
                  </a:solidFill>
                </a:rPr>
                <a:t>S</a:t>
              </a:r>
              <a:r>
                <a:rPr lang="en-US" altLang="zh-CN" b="1">
                  <a:solidFill>
                    <a:srgbClr val="006699"/>
                  </a:solidFill>
                </a:rPr>
                <a:t>(t)</a:t>
              </a:r>
            </a:p>
          </p:txBody>
        </p:sp>
        <p:sp>
          <p:nvSpPr>
            <p:cNvPr id="137226" name="Line 10"/>
            <p:cNvSpPr>
              <a:spLocks noChangeShapeType="1"/>
            </p:cNvSpPr>
            <p:nvPr/>
          </p:nvSpPr>
          <p:spPr bwMode="auto">
            <a:xfrm>
              <a:off x="690" y="573"/>
              <a:ext cx="45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137227" name="Line 11"/>
            <p:cNvSpPr>
              <a:spLocks noChangeShapeType="1"/>
            </p:cNvSpPr>
            <p:nvPr/>
          </p:nvSpPr>
          <p:spPr bwMode="auto">
            <a:xfrm flipV="1">
              <a:off x="690" y="1389"/>
              <a:ext cx="718" cy="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137228" name="Line 12"/>
            <p:cNvSpPr>
              <a:spLocks noChangeShapeType="1"/>
            </p:cNvSpPr>
            <p:nvPr/>
          </p:nvSpPr>
          <p:spPr bwMode="auto">
            <a:xfrm flipH="1">
              <a:off x="1372" y="573"/>
              <a:ext cx="91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grpSp>
          <p:nvGrpSpPr>
            <p:cNvPr id="137229" name="Group 13"/>
            <p:cNvGrpSpPr>
              <a:grpSpLocks/>
            </p:cNvGrpSpPr>
            <p:nvPr/>
          </p:nvGrpSpPr>
          <p:grpSpPr bwMode="auto">
            <a:xfrm>
              <a:off x="1592" y="505"/>
              <a:ext cx="462" cy="417"/>
              <a:chOff x="1484" y="2832"/>
              <a:chExt cx="292" cy="292"/>
            </a:xfrm>
          </p:grpSpPr>
          <p:sp>
            <p:nvSpPr>
              <p:cNvPr id="137230" name="Text Box 14"/>
              <p:cNvSpPr txBox="1">
                <a:spLocks noChangeArrowheads="1"/>
              </p:cNvSpPr>
              <p:nvPr/>
            </p:nvSpPr>
            <p:spPr bwMode="auto">
              <a:xfrm>
                <a:off x="1484" y="2922"/>
                <a:ext cx="154" cy="2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>
                    <a:solidFill>
                      <a:srgbClr val="006699"/>
                    </a:solidFill>
                  </a:rPr>
                  <a:t>R</a:t>
                </a:r>
                <a:endParaRPr lang="en-US" altLang="zh-CN" b="1">
                  <a:solidFill>
                    <a:srgbClr val="006699"/>
                  </a:solidFill>
                </a:endParaRPr>
              </a:p>
            </p:txBody>
          </p:sp>
          <p:sp>
            <p:nvSpPr>
              <p:cNvPr id="137231" name="Rectangle 15"/>
              <p:cNvSpPr>
                <a:spLocks noChangeArrowheads="1"/>
              </p:cNvSpPr>
              <p:nvPr/>
            </p:nvSpPr>
            <p:spPr bwMode="auto">
              <a:xfrm>
                <a:off x="1536" y="2832"/>
                <a:ext cx="240" cy="9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6699"/>
                  </a:solidFill>
                </a:endParaRPr>
              </a:p>
            </p:txBody>
          </p:sp>
        </p:grpSp>
        <p:sp>
          <p:nvSpPr>
            <p:cNvPr id="137232" name="Text Box 16"/>
            <p:cNvSpPr txBox="1">
              <a:spLocks noChangeArrowheads="1"/>
            </p:cNvSpPr>
            <p:nvPr/>
          </p:nvSpPr>
          <p:spPr bwMode="auto">
            <a:xfrm>
              <a:off x="2409" y="799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006699"/>
                  </a:solidFill>
                </a:rPr>
                <a:t>L</a:t>
              </a:r>
              <a:endParaRPr lang="en-US" altLang="zh-CN" b="1">
                <a:solidFill>
                  <a:srgbClr val="006699"/>
                </a:solidFill>
              </a:endParaRPr>
            </a:p>
          </p:txBody>
        </p:sp>
        <p:grpSp>
          <p:nvGrpSpPr>
            <p:cNvPr id="137233" name="Group 17"/>
            <p:cNvGrpSpPr>
              <a:grpSpLocks/>
            </p:cNvGrpSpPr>
            <p:nvPr/>
          </p:nvGrpSpPr>
          <p:grpSpPr bwMode="auto">
            <a:xfrm>
              <a:off x="2103" y="164"/>
              <a:ext cx="254" cy="341"/>
              <a:chOff x="1808" y="2594"/>
              <a:chExt cx="160" cy="238"/>
            </a:xfrm>
          </p:grpSpPr>
          <p:sp>
            <p:nvSpPr>
              <p:cNvPr id="137234" name="Text Box 18"/>
              <p:cNvSpPr txBox="1">
                <a:spLocks noChangeArrowheads="1"/>
              </p:cNvSpPr>
              <p:nvPr/>
            </p:nvSpPr>
            <p:spPr bwMode="auto">
              <a:xfrm>
                <a:off x="1808" y="2594"/>
                <a:ext cx="113" cy="2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1">
                    <a:solidFill>
                      <a:srgbClr val="006699"/>
                    </a:solidFill>
                  </a:rPr>
                  <a:t>i</a:t>
                </a:r>
                <a:endParaRPr lang="en-US" altLang="zh-CN" sz="2800" b="1">
                  <a:solidFill>
                    <a:srgbClr val="006699"/>
                  </a:solidFill>
                </a:endParaRPr>
              </a:p>
            </p:txBody>
          </p:sp>
          <p:sp>
            <p:nvSpPr>
              <p:cNvPr id="137235" name="Line 19"/>
              <p:cNvSpPr>
                <a:spLocks noChangeShapeType="1"/>
              </p:cNvSpPr>
              <p:nvPr/>
            </p:nvSpPr>
            <p:spPr bwMode="auto">
              <a:xfrm>
                <a:off x="1824" y="2832"/>
                <a:ext cx="144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6699"/>
                  </a:solidFill>
                </a:endParaRPr>
              </a:p>
            </p:txBody>
          </p:sp>
        </p:grpSp>
        <p:sp>
          <p:nvSpPr>
            <p:cNvPr id="137236" name="Text Box 20"/>
            <p:cNvSpPr txBox="1">
              <a:spLocks noChangeArrowheads="1"/>
            </p:cNvSpPr>
            <p:nvPr/>
          </p:nvSpPr>
          <p:spPr bwMode="auto">
            <a:xfrm>
              <a:off x="815" y="264"/>
              <a:ext cx="66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006699"/>
                  </a:solidFill>
                </a:rPr>
                <a:t> </a:t>
              </a:r>
              <a:r>
                <a:rPr lang="en-US" altLang="zh-CN">
                  <a:solidFill>
                    <a:srgbClr val="006699"/>
                  </a:solidFill>
                </a:rPr>
                <a:t>(</a:t>
              </a:r>
              <a:r>
                <a:rPr lang="en-US" altLang="zh-CN" sz="2800" b="1" i="1">
                  <a:solidFill>
                    <a:srgbClr val="006699"/>
                  </a:solidFill>
                </a:rPr>
                <a:t>t </a:t>
              </a:r>
              <a:r>
                <a:rPr lang="en-US" altLang="zh-CN" sz="2800" b="1" i="1">
                  <a:solidFill>
                    <a:srgbClr val="006699"/>
                  </a:solidFill>
                  <a:cs typeface="Times New Roman" pitchFamily="18" charset="0"/>
                </a:rPr>
                <a:t>&gt;</a:t>
              </a:r>
              <a:r>
                <a:rPr lang="en-US" altLang="zh-CN" sz="2800" b="1">
                  <a:solidFill>
                    <a:srgbClr val="006699"/>
                  </a:solidFill>
                  <a:cs typeface="Times New Roman" pitchFamily="18" charset="0"/>
                </a:rPr>
                <a:t>0</a:t>
              </a:r>
              <a:r>
                <a:rPr lang="en-US" altLang="zh-CN" sz="2800">
                  <a:solidFill>
                    <a:srgbClr val="006699"/>
                  </a:solidFill>
                </a:rPr>
                <a:t>)</a:t>
              </a:r>
              <a:endParaRPr lang="en-US" altLang="zh-CN">
                <a:solidFill>
                  <a:srgbClr val="006699"/>
                </a:solidFill>
              </a:endParaRPr>
            </a:p>
          </p:txBody>
        </p:sp>
        <p:sp>
          <p:nvSpPr>
            <p:cNvPr id="137237" name="Line 21"/>
            <p:cNvSpPr>
              <a:spLocks noChangeShapeType="1"/>
            </p:cNvSpPr>
            <p:nvPr/>
          </p:nvSpPr>
          <p:spPr bwMode="auto">
            <a:xfrm>
              <a:off x="1060" y="572"/>
              <a:ext cx="39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graphicFrame>
          <p:nvGraphicFramePr>
            <p:cNvPr id="137238" name="Object 22"/>
            <p:cNvGraphicFramePr>
              <a:graphicFrameLocks noChangeAspect="1"/>
            </p:cNvGraphicFramePr>
            <p:nvPr/>
          </p:nvGraphicFramePr>
          <p:xfrm>
            <a:off x="2250" y="527"/>
            <a:ext cx="179" cy="8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3" name="Visio" r:id="rId3" imgW="117009" imgH="585968" progId="Visio.Drawing.6">
                    <p:embed/>
                  </p:oleObj>
                </mc:Choice>
                <mc:Fallback>
                  <p:oleObj name="Visio" r:id="rId3" imgW="117009" imgH="585968" progId="Visio.Drawing.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0" y="527"/>
                          <a:ext cx="179" cy="8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7239" name="Line 23"/>
            <p:cNvSpPr>
              <a:spLocks noChangeShapeType="1"/>
            </p:cNvSpPr>
            <p:nvPr/>
          </p:nvSpPr>
          <p:spPr bwMode="auto">
            <a:xfrm>
              <a:off x="2300" y="1252"/>
              <a:ext cx="0" cy="13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grpSp>
          <p:nvGrpSpPr>
            <p:cNvPr id="137240" name="Group 24"/>
            <p:cNvGrpSpPr>
              <a:grpSpLocks/>
            </p:cNvGrpSpPr>
            <p:nvPr/>
          </p:nvGrpSpPr>
          <p:grpSpPr bwMode="auto">
            <a:xfrm>
              <a:off x="1409" y="1253"/>
              <a:ext cx="98" cy="272"/>
              <a:chOff x="1202" y="1344"/>
              <a:chExt cx="90" cy="272"/>
            </a:xfrm>
          </p:grpSpPr>
          <p:sp>
            <p:nvSpPr>
              <p:cNvPr id="137241" name="Line 25"/>
              <p:cNvSpPr>
                <a:spLocks noChangeShapeType="1"/>
              </p:cNvSpPr>
              <p:nvPr/>
            </p:nvSpPr>
            <p:spPr bwMode="auto">
              <a:xfrm>
                <a:off x="1202" y="1344"/>
                <a:ext cx="0" cy="272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006699"/>
                  </a:solidFill>
                </a:endParaRPr>
              </a:p>
            </p:txBody>
          </p:sp>
          <p:sp>
            <p:nvSpPr>
              <p:cNvPr id="137242" name="Line 26"/>
              <p:cNvSpPr>
                <a:spLocks noChangeShapeType="1"/>
              </p:cNvSpPr>
              <p:nvPr/>
            </p:nvSpPr>
            <p:spPr bwMode="auto">
              <a:xfrm>
                <a:off x="1292" y="1344"/>
                <a:ext cx="0" cy="272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006699"/>
                  </a:solidFill>
                </a:endParaRPr>
              </a:p>
            </p:txBody>
          </p:sp>
        </p:grpSp>
        <p:sp>
          <p:nvSpPr>
            <p:cNvPr id="137243" name="Line 27"/>
            <p:cNvSpPr>
              <a:spLocks noChangeShapeType="1"/>
            </p:cNvSpPr>
            <p:nvPr/>
          </p:nvSpPr>
          <p:spPr bwMode="auto">
            <a:xfrm>
              <a:off x="1507" y="1389"/>
              <a:ext cx="84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137244" name="Text Box 28"/>
            <p:cNvSpPr txBox="1">
              <a:spLocks noChangeArrowheads="1"/>
            </p:cNvSpPr>
            <p:nvPr/>
          </p:nvSpPr>
          <p:spPr bwMode="auto">
            <a:xfrm>
              <a:off x="1319" y="1525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006699"/>
                  </a:solidFill>
                </a:rPr>
                <a:t>C</a:t>
              </a:r>
              <a:endParaRPr lang="en-US" altLang="zh-CN" b="1">
                <a:solidFill>
                  <a:srgbClr val="006699"/>
                </a:solidFill>
              </a:endParaRPr>
            </a:p>
          </p:txBody>
        </p:sp>
        <p:sp>
          <p:nvSpPr>
            <p:cNvPr id="137245" name="Text Box 29"/>
            <p:cNvSpPr txBox="1">
              <a:spLocks noChangeArrowheads="1"/>
            </p:cNvSpPr>
            <p:nvPr/>
          </p:nvSpPr>
          <p:spPr bwMode="auto">
            <a:xfrm>
              <a:off x="1308" y="927"/>
              <a:ext cx="39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006699"/>
                  </a:solidFill>
                </a:rPr>
                <a:t>v</a:t>
              </a:r>
              <a:r>
                <a:rPr lang="en-US" altLang="zh-CN" b="1" baseline="-25000">
                  <a:solidFill>
                    <a:srgbClr val="006699"/>
                  </a:solidFill>
                </a:rPr>
                <a:t>C</a:t>
              </a:r>
              <a:endParaRPr lang="en-US" altLang="zh-CN" b="1">
                <a:solidFill>
                  <a:srgbClr val="006699"/>
                </a:solidFill>
              </a:endParaRPr>
            </a:p>
          </p:txBody>
        </p:sp>
        <p:sp>
          <p:nvSpPr>
            <p:cNvPr id="137246" name="Text Box 30"/>
            <p:cNvSpPr txBox="1">
              <a:spLocks noChangeArrowheads="1"/>
            </p:cNvSpPr>
            <p:nvPr/>
          </p:nvSpPr>
          <p:spPr bwMode="auto">
            <a:xfrm>
              <a:off x="1556" y="1116"/>
              <a:ext cx="2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006699"/>
                  </a:solidFill>
                  <a:ea typeface="仿宋_GB2312" pitchFamily="49" charset="-122"/>
                </a:rPr>
                <a:t>＋</a:t>
              </a:r>
            </a:p>
          </p:txBody>
        </p:sp>
        <p:sp>
          <p:nvSpPr>
            <p:cNvPr id="137247" name="Text Box 31"/>
            <p:cNvSpPr txBox="1">
              <a:spLocks noChangeArrowheads="1"/>
            </p:cNvSpPr>
            <p:nvPr/>
          </p:nvSpPr>
          <p:spPr bwMode="auto">
            <a:xfrm>
              <a:off x="1011" y="1101"/>
              <a:ext cx="2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006699"/>
                  </a:solidFill>
                  <a:ea typeface="仿宋_GB2312" pitchFamily="49" charset="-122"/>
                </a:rPr>
                <a:t>－</a:t>
              </a:r>
            </a:p>
          </p:txBody>
        </p:sp>
        <p:sp>
          <p:nvSpPr>
            <p:cNvPr id="137248" name="Line 32"/>
            <p:cNvSpPr>
              <a:spLocks noChangeShapeType="1"/>
            </p:cNvSpPr>
            <p:nvPr/>
          </p:nvSpPr>
          <p:spPr bwMode="auto">
            <a:xfrm>
              <a:off x="714" y="572"/>
              <a:ext cx="0" cy="81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6699"/>
                </a:solidFill>
              </a:endParaRPr>
            </a:p>
          </p:txBody>
        </p:sp>
        <p:sp>
          <p:nvSpPr>
            <p:cNvPr id="137249" name="Text Box 33"/>
            <p:cNvSpPr txBox="1">
              <a:spLocks noChangeArrowheads="1"/>
            </p:cNvSpPr>
            <p:nvPr/>
          </p:nvSpPr>
          <p:spPr bwMode="auto">
            <a:xfrm>
              <a:off x="368" y="527"/>
              <a:ext cx="2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006699"/>
                  </a:solidFill>
                  <a:ea typeface="仿宋_GB2312" pitchFamily="49" charset="-122"/>
                </a:rPr>
                <a:t>＋</a:t>
              </a:r>
            </a:p>
          </p:txBody>
        </p:sp>
        <p:sp>
          <p:nvSpPr>
            <p:cNvPr id="137250" name="Text Box 34"/>
            <p:cNvSpPr txBox="1">
              <a:spLocks noChangeArrowheads="1"/>
            </p:cNvSpPr>
            <p:nvPr/>
          </p:nvSpPr>
          <p:spPr bwMode="auto">
            <a:xfrm>
              <a:off x="368" y="1116"/>
              <a:ext cx="2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006699"/>
                  </a:solidFill>
                  <a:ea typeface="仿宋_GB2312" pitchFamily="49" charset="-122"/>
                </a:rPr>
                <a:t>－</a:t>
              </a:r>
            </a:p>
          </p:txBody>
        </p:sp>
      </p:grpSp>
      <p:graphicFrame>
        <p:nvGraphicFramePr>
          <p:cNvPr id="137251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4789225"/>
              </p:ext>
            </p:extLst>
          </p:nvPr>
        </p:nvGraphicFramePr>
        <p:xfrm>
          <a:off x="1435100" y="2020888"/>
          <a:ext cx="46974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4" name="Equation" r:id="rId5" imgW="1854000" imgH="419040" progId="Equation.DSMT4">
                  <p:embed/>
                </p:oleObj>
              </mc:Choice>
              <mc:Fallback>
                <p:oleObj name="Equation" r:id="rId5" imgW="18540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100" y="2020888"/>
                        <a:ext cx="4697413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52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6548884"/>
              </p:ext>
            </p:extLst>
          </p:nvPr>
        </p:nvGraphicFramePr>
        <p:xfrm>
          <a:off x="771525" y="115888"/>
          <a:ext cx="327025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5" name="Equation" r:id="rId7" imgW="1155600" imgH="228600" progId="Equation.DSMT4">
                  <p:embed/>
                </p:oleObj>
              </mc:Choice>
              <mc:Fallback>
                <p:oleObj name="Equation" r:id="rId7" imgW="1155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" y="115888"/>
                        <a:ext cx="3270250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53" name="AutoShape 37"/>
          <p:cNvSpPr>
            <a:spLocks noChangeArrowheads="1"/>
          </p:cNvSpPr>
          <p:nvPr/>
        </p:nvSpPr>
        <p:spPr bwMode="auto">
          <a:xfrm>
            <a:off x="468313" y="2420938"/>
            <a:ext cx="720725" cy="215900"/>
          </a:xfrm>
          <a:prstGeom prst="rightArrow">
            <a:avLst>
              <a:gd name="adj1" fmla="val 50000"/>
              <a:gd name="adj2" fmla="val 83456"/>
            </a:avLst>
          </a:prstGeom>
          <a:solidFill>
            <a:srgbClr val="00206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>
              <a:solidFill>
                <a:srgbClr val="006699"/>
              </a:solidFill>
            </a:endParaRPr>
          </a:p>
        </p:txBody>
      </p:sp>
      <p:graphicFrame>
        <p:nvGraphicFramePr>
          <p:cNvPr id="137255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6356065"/>
              </p:ext>
            </p:extLst>
          </p:nvPr>
        </p:nvGraphicFramePr>
        <p:xfrm>
          <a:off x="661988" y="815975"/>
          <a:ext cx="1600200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" name="Equation" r:id="rId9" imgW="596880" imgH="393480" progId="Equation.DSMT4">
                  <p:embed/>
                </p:oleObj>
              </mc:Choice>
              <mc:Fallback>
                <p:oleObj name="Equation" r:id="rId9" imgW="5968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8" y="815975"/>
                        <a:ext cx="1600200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56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4272301"/>
              </p:ext>
            </p:extLst>
          </p:nvPr>
        </p:nvGraphicFramePr>
        <p:xfrm>
          <a:off x="2901950" y="882650"/>
          <a:ext cx="1393825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" name="Equation" r:id="rId11" imgW="596880" imgH="393480" progId="Equation.DSMT4">
                  <p:embed/>
                </p:oleObj>
              </mc:Choice>
              <mc:Fallback>
                <p:oleObj name="Equation" r:id="rId11" imgW="5968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1950" y="882650"/>
                        <a:ext cx="1393825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58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309541"/>
              </p:ext>
            </p:extLst>
          </p:nvPr>
        </p:nvGraphicFramePr>
        <p:xfrm>
          <a:off x="611188" y="3933825"/>
          <a:ext cx="4454525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8" name="Equation" r:id="rId13" imgW="1574640" imgH="393480" progId="Equation.DSMT4">
                  <p:embed/>
                </p:oleObj>
              </mc:Choice>
              <mc:Fallback>
                <p:oleObj name="Equation" r:id="rId13" imgW="15746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933825"/>
                        <a:ext cx="4454525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59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108248"/>
              </p:ext>
            </p:extLst>
          </p:nvPr>
        </p:nvGraphicFramePr>
        <p:xfrm>
          <a:off x="1763713" y="5157788"/>
          <a:ext cx="4705350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9" name="Equation" r:id="rId15" imgW="1663560" imgH="419040" progId="Equation.DSMT4">
                  <p:embed/>
                </p:oleObj>
              </mc:Choice>
              <mc:Fallback>
                <p:oleObj name="Equation" r:id="rId15" imgW="16635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157788"/>
                        <a:ext cx="4705350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68" name="AutoShape 52"/>
          <p:cNvSpPr>
            <a:spLocks noChangeArrowheads="1"/>
          </p:cNvSpPr>
          <p:nvPr/>
        </p:nvSpPr>
        <p:spPr bwMode="auto">
          <a:xfrm>
            <a:off x="7596188" y="3045619"/>
            <a:ext cx="1295400" cy="1223962"/>
          </a:xfrm>
          <a:prstGeom prst="wedgeRoundRectCallout">
            <a:avLst>
              <a:gd name="adj1" fmla="val -60907"/>
              <a:gd name="adj2" fmla="val -138069"/>
              <a:gd name="adj3" fmla="val 16667"/>
            </a:avLst>
          </a:prstGeom>
          <a:solidFill>
            <a:srgbClr val="FFC000"/>
          </a:solidFill>
          <a:ln>
            <a:noFill/>
          </a:ln>
          <a:effectLst/>
        </p:spPr>
        <p:txBody>
          <a:bodyPr/>
          <a:lstStyle/>
          <a:p>
            <a:r>
              <a:rPr lang="en-US" altLang="zh-CN" sz="2000" b="1" dirty="0">
                <a:solidFill>
                  <a:srgbClr val="006699"/>
                </a:solidFill>
                <a:latin typeface="Arial" charset="0"/>
                <a:ea typeface="仿宋_GB2312" pitchFamily="49" charset="-122"/>
              </a:rPr>
              <a:t>Second-order circuit</a:t>
            </a:r>
          </a:p>
        </p:txBody>
      </p:sp>
      <p:sp>
        <p:nvSpPr>
          <p:cNvPr id="137269" name="Text Box 53"/>
          <p:cNvSpPr txBox="1">
            <a:spLocks noChangeArrowheads="1"/>
          </p:cNvSpPr>
          <p:nvPr/>
        </p:nvSpPr>
        <p:spPr bwMode="auto">
          <a:xfrm>
            <a:off x="468313" y="3429000"/>
            <a:ext cx="4968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6699"/>
                </a:solidFill>
                <a:ea typeface="仿宋_GB2312" pitchFamily="49" charset="-122"/>
              </a:rPr>
              <a:t>Taking current as circuit variable:</a:t>
            </a:r>
          </a:p>
        </p:txBody>
      </p:sp>
      <p:sp>
        <p:nvSpPr>
          <p:cNvPr id="137270" name="AutoShape 54"/>
          <p:cNvSpPr>
            <a:spLocks noChangeArrowheads="1"/>
          </p:cNvSpPr>
          <p:nvPr/>
        </p:nvSpPr>
        <p:spPr bwMode="auto">
          <a:xfrm>
            <a:off x="827088" y="5661025"/>
            <a:ext cx="720725" cy="215900"/>
          </a:xfrm>
          <a:prstGeom prst="rightArrow">
            <a:avLst>
              <a:gd name="adj1" fmla="val 50000"/>
              <a:gd name="adj2" fmla="val 83456"/>
            </a:avLst>
          </a:prstGeom>
          <a:solidFill>
            <a:srgbClr val="00206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>
              <a:solidFill>
                <a:srgbClr val="006699"/>
              </a:solidFill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>
                <a:solidFill>
                  <a:srgbClr val="006699"/>
                </a:solidFill>
              </a:rPr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F6B5D-BAA9-462E-91DC-0C4220222717}" type="slidenum">
              <a:rPr lang="en-US" altLang="zh-CN" smtClean="0">
                <a:solidFill>
                  <a:srgbClr val="006699"/>
                </a:solidFill>
              </a:rPr>
              <a:pPr/>
              <a:t>6</a:t>
            </a:fld>
            <a:endParaRPr lang="en-US" altLang="zh-CN">
              <a:solidFill>
                <a:srgbClr val="00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009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0"/>
                                        <p:tgtEl>
                                          <p:spTgt spid="137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3000"/>
                                        <p:tgtEl>
                                          <p:spTgt spid="137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3000"/>
                                        <p:tgtEl>
                                          <p:spTgt spid="137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137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3000"/>
                                        <p:tgtEl>
                                          <p:spTgt spid="137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7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7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0"/>
                                        <p:tgtEl>
                                          <p:spTgt spid="137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137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000"/>
                                        <p:tgtEl>
                                          <p:spTgt spid="137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7" dur="2000"/>
                                        <p:tgtEl>
                                          <p:spTgt spid="13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53" grpId="0" animBg="1"/>
      <p:bldP spid="137268" grpId="0" animBg="1"/>
      <p:bldP spid="137269" grpId="0"/>
      <p:bldP spid="13727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820702" y="302667"/>
            <a:ext cx="8085937" cy="604837"/>
          </a:xfrm>
        </p:spPr>
        <p:txBody>
          <a:bodyPr/>
          <a:lstStyle/>
          <a:p>
            <a:pPr algn="l"/>
            <a:r>
              <a:rPr kumimoji="1" lang="en-US" altLang="zh-CN" sz="3600" kern="1200" dirty="0">
                <a:ea typeface="宋体" pitchFamily="2" charset="-122"/>
              </a:rPr>
              <a:t>7.2 The source-free RC circuit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7064821" y="6237312"/>
            <a:ext cx="1905000" cy="457200"/>
          </a:xfrm>
        </p:spPr>
        <p:txBody>
          <a:bodyPr/>
          <a:lstStyle/>
          <a:p>
            <a:fld id="{2213E9D0-4E7D-494B-9FDA-030BD051EAFE}" type="slidenum">
              <a:rPr lang="en-US" altLang="zh-CN" smtClean="0"/>
              <a:pPr/>
              <a:t>7</a:t>
            </a:fld>
            <a:endParaRPr lang="en-US" altLang="zh-CN"/>
          </a:p>
        </p:txBody>
      </p:sp>
      <p:grpSp>
        <p:nvGrpSpPr>
          <p:cNvPr id="155654" name="Group 6"/>
          <p:cNvGrpSpPr>
            <a:grpSpLocks/>
          </p:cNvGrpSpPr>
          <p:nvPr/>
        </p:nvGrpSpPr>
        <p:grpSpPr bwMode="auto">
          <a:xfrm>
            <a:off x="6227763" y="908050"/>
            <a:ext cx="2678876" cy="2073275"/>
            <a:chOff x="475" y="782"/>
            <a:chExt cx="1717" cy="1100"/>
          </a:xfrm>
        </p:grpSpPr>
        <p:sp>
          <p:nvSpPr>
            <p:cNvPr id="155655" name="Line 7"/>
            <p:cNvSpPr>
              <a:spLocks noChangeShapeType="1"/>
            </p:cNvSpPr>
            <p:nvPr/>
          </p:nvSpPr>
          <p:spPr bwMode="auto">
            <a:xfrm>
              <a:off x="1541" y="1199"/>
              <a:ext cx="28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656" name="Text Box 8"/>
            <p:cNvSpPr txBox="1">
              <a:spLocks noChangeArrowheads="1"/>
            </p:cNvSpPr>
            <p:nvPr/>
          </p:nvSpPr>
          <p:spPr bwMode="auto">
            <a:xfrm>
              <a:off x="1549" y="934"/>
              <a:ext cx="173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b="1" i="1"/>
                <a:t>i</a:t>
              </a:r>
              <a:endParaRPr kumimoji="1" lang="en-US" altLang="zh-CN" sz="2400" b="1"/>
            </a:p>
          </p:txBody>
        </p:sp>
        <p:sp>
          <p:nvSpPr>
            <p:cNvPr id="155657" name="Line 9"/>
            <p:cNvSpPr>
              <a:spLocks noChangeShapeType="1"/>
            </p:cNvSpPr>
            <p:nvPr/>
          </p:nvSpPr>
          <p:spPr bwMode="auto">
            <a:xfrm flipH="1">
              <a:off x="1274" y="975"/>
              <a:ext cx="170" cy="16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658" name="Text Box 10"/>
            <p:cNvSpPr txBox="1">
              <a:spLocks noChangeArrowheads="1"/>
            </p:cNvSpPr>
            <p:nvPr/>
          </p:nvSpPr>
          <p:spPr bwMode="auto">
            <a:xfrm>
              <a:off x="854" y="782"/>
              <a:ext cx="663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/>
                <a:t>K(</a:t>
              </a:r>
              <a:r>
                <a:rPr kumimoji="1" lang="en-US" altLang="zh-CN" sz="2400" b="1" i="1"/>
                <a:t>t</a:t>
              </a:r>
              <a:r>
                <a:rPr kumimoji="1" lang="en-US" altLang="zh-CN" sz="2400" b="1"/>
                <a:t>=0)</a:t>
              </a:r>
            </a:p>
          </p:txBody>
        </p:sp>
        <p:sp>
          <p:nvSpPr>
            <p:cNvPr id="155659" name="Text Box 11"/>
            <p:cNvSpPr txBox="1">
              <a:spLocks noChangeArrowheads="1"/>
            </p:cNvSpPr>
            <p:nvPr/>
          </p:nvSpPr>
          <p:spPr bwMode="auto">
            <a:xfrm>
              <a:off x="1890" y="1228"/>
              <a:ext cx="230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/>
                <a:t>+</a:t>
              </a:r>
            </a:p>
          </p:txBody>
        </p:sp>
        <p:sp>
          <p:nvSpPr>
            <p:cNvPr id="155660" name="Text Box 12"/>
            <p:cNvSpPr txBox="1">
              <a:spLocks noChangeArrowheads="1"/>
            </p:cNvSpPr>
            <p:nvPr/>
          </p:nvSpPr>
          <p:spPr bwMode="auto">
            <a:xfrm>
              <a:off x="1890" y="1639"/>
              <a:ext cx="216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/>
                <a:t>–</a:t>
              </a:r>
            </a:p>
          </p:txBody>
        </p:sp>
        <p:sp>
          <p:nvSpPr>
            <p:cNvPr id="155661" name="Text Box 13"/>
            <p:cNvSpPr txBox="1">
              <a:spLocks noChangeArrowheads="1"/>
            </p:cNvSpPr>
            <p:nvPr/>
          </p:nvSpPr>
          <p:spPr bwMode="auto">
            <a:xfrm>
              <a:off x="1899" y="1392"/>
              <a:ext cx="293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b="1" i="1"/>
                <a:t>v</a:t>
              </a:r>
              <a:r>
                <a:rPr kumimoji="1" lang="en-US" altLang="zh-CN" sz="2400" b="1" i="1" baseline="-25000"/>
                <a:t>R</a:t>
              </a:r>
              <a:endParaRPr kumimoji="1" lang="en-US" altLang="zh-CN" sz="2400" b="1" baseline="-25000"/>
            </a:p>
          </p:txBody>
        </p:sp>
        <p:sp>
          <p:nvSpPr>
            <p:cNvPr id="155662" name="Line 14"/>
            <p:cNvSpPr>
              <a:spLocks noChangeShapeType="1"/>
            </p:cNvSpPr>
            <p:nvPr/>
          </p:nvSpPr>
          <p:spPr bwMode="auto">
            <a:xfrm>
              <a:off x="1395" y="1208"/>
              <a:ext cx="45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663" name="Line 15"/>
            <p:cNvSpPr>
              <a:spLocks noChangeShapeType="1"/>
            </p:cNvSpPr>
            <p:nvPr/>
          </p:nvSpPr>
          <p:spPr bwMode="auto">
            <a:xfrm>
              <a:off x="828" y="1208"/>
              <a:ext cx="39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664" name="Text Box 16"/>
            <p:cNvSpPr txBox="1">
              <a:spLocks noChangeArrowheads="1"/>
            </p:cNvSpPr>
            <p:nvPr/>
          </p:nvSpPr>
          <p:spPr bwMode="auto">
            <a:xfrm>
              <a:off x="475" y="1356"/>
              <a:ext cx="248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 i="1"/>
                <a:t>C</a:t>
              </a:r>
              <a:endParaRPr kumimoji="1" lang="en-US" altLang="zh-CN" sz="2400" b="1"/>
            </a:p>
          </p:txBody>
        </p:sp>
        <p:sp>
          <p:nvSpPr>
            <p:cNvPr id="155665" name="Text Box 17"/>
            <p:cNvSpPr txBox="1">
              <a:spLocks noChangeArrowheads="1"/>
            </p:cNvSpPr>
            <p:nvPr/>
          </p:nvSpPr>
          <p:spPr bwMode="auto">
            <a:xfrm>
              <a:off x="1008" y="1225"/>
              <a:ext cx="230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/>
                <a:t>+</a:t>
              </a:r>
            </a:p>
          </p:txBody>
        </p:sp>
        <p:sp>
          <p:nvSpPr>
            <p:cNvPr id="155666" name="Text Box 18"/>
            <p:cNvSpPr txBox="1">
              <a:spLocks noChangeArrowheads="1"/>
            </p:cNvSpPr>
            <p:nvPr/>
          </p:nvSpPr>
          <p:spPr bwMode="auto">
            <a:xfrm>
              <a:off x="1016" y="1579"/>
              <a:ext cx="217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/>
                <a:t>–</a:t>
              </a:r>
            </a:p>
          </p:txBody>
        </p:sp>
        <p:sp>
          <p:nvSpPr>
            <p:cNvPr id="155667" name="Text Box 19"/>
            <p:cNvSpPr txBox="1">
              <a:spLocks noChangeArrowheads="1"/>
            </p:cNvSpPr>
            <p:nvPr/>
          </p:nvSpPr>
          <p:spPr bwMode="auto">
            <a:xfrm>
              <a:off x="920" y="1344"/>
              <a:ext cx="293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b="1" i="1" dirty="0" err="1"/>
                <a:t>v</a:t>
              </a:r>
              <a:r>
                <a:rPr kumimoji="1" lang="en-US" altLang="zh-CN" sz="2400" b="1" i="1" baseline="-25000" dirty="0" err="1"/>
                <a:t>C</a:t>
              </a:r>
              <a:endParaRPr kumimoji="1" lang="en-US" altLang="zh-CN" sz="2400" b="1" dirty="0"/>
            </a:p>
          </p:txBody>
        </p:sp>
        <p:grpSp>
          <p:nvGrpSpPr>
            <p:cNvPr id="155668" name="Group 20"/>
            <p:cNvGrpSpPr>
              <a:grpSpLocks/>
            </p:cNvGrpSpPr>
            <p:nvPr/>
          </p:nvGrpSpPr>
          <p:grpSpPr bwMode="auto">
            <a:xfrm>
              <a:off x="715" y="1426"/>
              <a:ext cx="227" cy="109"/>
              <a:chOff x="1824" y="1680"/>
              <a:chExt cx="192" cy="96"/>
            </a:xfrm>
          </p:grpSpPr>
          <p:sp>
            <p:nvSpPr>
              <p:cNvPr id="155669" name="Line 21"/>
              <p:cNvSpPr>
                <a:spLocks noChangeShapeType="1"/>
              </p:cNvSpPr>
              <p:nvPr/>
            </p:nvSpPr>
            <p:spPr bwMode="auto">
              <a:xfrm>
                <a:off x="1824" y="1680"/>
                <a:ext cx="192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670" name="Line 22"/>
              <p:cNvSpPr>
                <a:spLocks noChangeShapeType="1"/>
              </p:cNvSpPr>
              <p:nvPr/>
            </p:nvSpPr>
            <p:spPr bwMode="auto">
              <a:xfrm>
                <a:off x="1824" y="1776"/>
                <a:ext cx="192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5671" name="Line 23"/>
            <p:cNvSpPr>
              <a:spLocks noChangeShapeType="1"/>
            </p:cNvSpPr>
            <p:nvPr/>
          </p:nvSpPr>
          <p:spPr bwMode="auto">
            <a:xfrm flipV="1">
              <a:off x="828" y="1535"/>
              <a:ext cx="0" cy="27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672" name="Line 24"/>
            <p:cNvSpPr>
              <a:spLocks noChangeShapeType="1"/>
            </p:cNvSpPr>
            <p:nvPr/>
          </p:nvSpPr>
          <p:spPr bwMode="auto">
            <a:xfrm flipV="1">
              <a:off x="828" y="1208"/>
              <a:ext cx="0" cy="2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673" name="Line 25"/>
            <p:cNvSpPr>
              <a:spLocks noChangeShapeType="1"/>
            </p:cNvSpPr>
            <p:nvPr/>
          </p:nvSpPr>
          <p:spPr bwMode="auto">
            <a:xfrm flipH="1" flipV="1">
              <a:off x="1225" y="1099"/>
              <a:ext cx="170" cy="109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674" name="Line 26"/>
            <p:cNvSpPr>
              <a:spLocks noChangeShapeType="1"/>
            </p:cNvSpPr>
            <p:nvPr/>
          </p:nvSpPr>
          <p:spPr bwMode="auto">
            <a:xfrm>
              <a:off x="828" y="1808"/>
              <a:ext cx="102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675" name="Line 27"/>
            <p:cNvSpPr>
              <a:spLocks noChangeShapeType="1"/>
            </p:cNvSpPr>
            <p:nvPr/>
          </p:nvSpPr>
          <p:spPr bwMode="auto">
            <a:xfrm flipV="1">
              <a:off x="1849" y="1208"/>
              <a:ext cx="0" cy="60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5676" name="Group 28"/>
            <p:cNvGrpSpPr>
              <a:grpSpLocks/>
            </p:cNvGrpSpPr>
            <p:nvPr/>
          </p:nvGrpSpPr>
          <p:grpSpPr bwMode="auto">
            <a:xfrm>
              <a:off x="1544" y="1444"/>
              <a:ext cx="378" cy="286"/>
              <a:chOff x="1120" y="2244"/>
              <a:chExt cx="320" cy="252"/>
            </a:xfrm>
          </p:grpSpPr>
          <p:sp>
            <p:nvSpPr>
              <p:cNvPr id="155677" name="Text Box 29"/>
              <p:cNvSpPr txBox="1">
                <a:spLocks noChangeArrowheads="1"/>
              </p:cNvSpPr>
              <p:nvPr/>
            </p:nvSpPr>
            <p:spPr bwMode="auto">
              <a:xfrm>
                <a:off x="1120" y="2244"/>
                <a:ext cx="212" cy="2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sz="2400" b="1" i="1"/>
                  <a:t>R</a:t>
                </a:r>
                <a:endParaRPr kumimoji="1" lang="en-US" altLang="zh-CN" sz="2400" b="1"/>
              </a:p>
            </p:txBody>
          </p:sp>
          <p:sp>
            <p:nvSpPr>
              <p:cNvPr id="155678" name="Rectangle 30"/>
              <p:cNvSpPr>
                <a:spLocks noChangeArrowheads="1"/>
              </p:cNvSpPr>
              <p:nvPr/>
            </p:nvSpPr>
            <p:spPr bwMode="auto">
              <a:xfrm>
                <a:off x="1344" y="2256"/>
                <a:ext cx="96" cy="24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15567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6823839"/>
              </p:ext>
            </p:extLst>
          </p:nvPr>
        </p:nvGraphicFramePr>
        <p:xfrm>
          <a:off x="412750" y="1196975"/>
          <a:ext cx="36004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4" name="Equation" r:id="rId3" imgW="1638000" imgH="228600" progId="Equation.DSMT4">
                  <p:embed/>
                </p:oleObj>
              </mc:Choice>
              <mc:Fallback>
                <p:oleObj name="Equation" r:id="rId3" imgW="1638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" y="1196975"/>
                        <a:ext cx="3600450" cy="5032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82" name="Object 34"/>
          <p:cNvGraphicFramePr>
            <a:graphicFrameLocks noChangeAspect="1"/>
          </p:cNvGraphicFramePr>
          <p:nvPr/>
        </p:nvGraphicFramePr>
        <p:xfrm>
          <a:off x="109538" y="1916113"/>
          <a:ext cx="5105400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5" name="Equation" r:id="rId5" imgW="2323800" imgH="393480" progId="Equation.DSMT4">
                  <p:embed/>
                </p:oleObj>
              </mc:Choice>
              <mc:Fallback>
                <p:oleObj name="Equation" r:id="rId5" imgW="23238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38" y="1916113"/>
                        <a:ext cx="5105400" cy="8651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83" name="Object 35"/>
          <p:cNvGraphicFramePr>
            <a:graphicFrameLocks noChangeAspect="1"/>
          </p:cNvGraphicFramePr>
          <p:nvPr/>
        </p:nvGraphicFramePr>
        <p:xfrm>
          <a:off x="250825" y="2924175"/>
          <a:ext cx="4240213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6" name="Equation" r:id="rId7" imgW="1930320" imgH="393480" progId="Equation.DSMT4">
                  <p:embed/>
                </p:oleObj>
              </mc:Choice>
              <mc:Fallback>
                <p:oleObj name="Equation" r:id="rId7" imgW="19303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924175"/>
                        <a:ext cx="4240213" cy="8651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84" name="Object 36"/>
          <p:cNvGraphicFramePr>
            <a:graphicFrameLocks noChangeAspect="1"/>
          </p:cNvGraphicFramePr>
          <p:nvPr/>
        </p:nvGraphicFramePr>
        <p:xfrm>
          <a:off x="323850" y="4149725"/>
          <a:ext cx="41910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7" name="Equation" r:id="rId9" imgW="190440" imgH="152280" progId="Equation.DSMT4">
                  <p:embed/>
                </p:oleObj>
              </mc:Choice>
              <mc:Fallback>
                <p:oleObj name="Equation" r:id="rId9" imgW="19044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149725"/>
                        <a:ext cx="419100" cy="3349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85" name="Object 37"/>
          <p:cNvGraphicFramePr>
            <a:graphicFrameLocks noChangeAspect="1"/>
          </p:cNvGraphicFramePr>
          <p:nvPr/>
        </p:nvGraphicFramePr>
        <p:xfrm>
          <a:off x="900113" y="3933825"/>
          <a:ext cx="19812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8" name="Equation" r:id="rId11" imgW="901440" imgH="393480" progId="Equation.DSMT4">
                  <p:embed/>
                </p:oleObj>
              </mc:Choice>
              <mc:Fallback>
                <p:oleObj name="Equation" r:id="rId11" imgW="9014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933825"/>
                        <a:ext cx="1981200" cy="8667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86" name="Object 38"/>
          <p:cNvGraphicFramePr>
            <a:graphicFrameLocks noChangeAspect="1"/>
          </p:cNvGraphicFramePr>
          <p:nvPr/>
        </p:nvGraphicFramePr>
        <p:xfrm>
          <a:off x="323850" y="5373688"/>
          <a:ext cx="41910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9" name="Equation" r:id="rId13" imgW="190440" imgH="152280" progId="Equation.DSMT4">
                  <p:embed/>
                </p:oleObj>
              </mc:Choice>
              <mc:Fallback>
                <p:oleObj name="Equation" r:id="rId13" imgW="19044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373688"/>
                        <a:ext cx="419100" cy="3349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87" name="Object 39"/>
          <p:cNvGraphicFramePr>
            <a:graphicFrameLocks noChangeAspect="1"/>
          </p:cNvGraphicFramePr>
          <p:nvPr/>
        </p:nvGraphicFramePr>
        <p:xfrm>
          <a:off x="900113" y="5013325"/>
          <a:ext cx="2036762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0" name="Equation" r:id="rId15" imgW="927000" imgH="431640" progId="Equation.DSMT4">
                  <p:embed/>
                </p:oleObj>
              </mc:Choice>
              <mc:Fallback>
                <p:oleObj name="Equation" r:id="rId15" imgW="927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013325"/>
                        <a:ext cx="2036762" cy="9509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88" name="Object 40"/>
          <p:cNvGraphicFramePr>
            <a:graphicFrameLocks noChangeAspect="1"/>
          </p:cNvGraphicFramePr>
          <p:nvPr/>
        </p:nvGraphicFramePr>
        <p:xfrm>
          <a:off x="4716463" y="3141663"/>
          <a:ext cx="41275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1" name="Equation" r:id="rId17" imgW="1879560" imgH="203040" progId="Equation.DSMT4">
                  <p:embed/>
                </p:oleObj>
              </mc:Choice>
              <mc:Fallback>
                <p:oleObj name="Equation" r:id="rId17" imgW="1879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3141663"/>
                        <a:ext cx="4127500" cy="447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89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9804539"/>
              </p:ext>
            </p:extLst>
          </p:nvPr>
        </p:nvGraphicFramePr>
        <p:xfrm>
          <a:off x="5106988" y="3716338"/>
          <a:ext cx="276225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2" name="Equation" r:id="rId19" imgW="1257120" imgH="393480" progId="Equation.DSMT4">
                  <p:embed/>
                </p:oleObj>
              </mc:Choice>
              <mc:Fallback>
                <p:oleObj name="Equation" r:id="rId19" imgW="12571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6988" y="3716338"/>
                        <a:ext cx="2762250" cy="8667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9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929853"/>
              </p:ext>
            </p:extLst>
          </p:nvPr>
        </p:nvGraphicFramePr>
        <p:xfrm>
          <a:off x="3794125" y="4652963"/>
          <a:ext cx="51022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3" name="Equation" r:id="rId21" imgW="2323800" imgH="203040" progId="Equation.DSMT4">
                  <p:embed/>
                </p:oleObj>
              </mc:Choice>
              <mc:Fallback>
                <p:oleObj name="Equation" r:id="rId21" imgW="2323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4125" y="4652963"/>
                        <a:ext cx="5102225" cy="447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91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8705039"/>
              </p:ext>
            </p:extLst>
          </p:nvPr>
        </p:nvGraphicFramePr>
        <p:xfrm>
          <a:off x="3792538" y="5229225"/>
          <a:ext cx="1843087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4" name="Equation" r:id="rId23" imgW="838080" imgH="393480" progId="Equation.DSMT4">
                  <p:embed/>
                </p:oleObj>
              </mc:Choice>
              <mc:Fallback>
                <p:oleObj name="Equation" r:id="rId23" imgW="8380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8" y="5229225"/>
                        <a:ext cx="1843087" cy="8683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92" name="Object 44"/>
          <p:cNvGraphicFramePr>
            <a:graphicFrameLocks noChangeAspect="1"/>
          </p:cNvGraphicFramePr>
          <p:nvPr/>
        </p:nvGraphicFramePr>
        <p:xfrm>
          <a:off x="5795963" y="5516563"/>
          <a:ext cx="41910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5" name="Equation" r:id="rId25" imgW="190440" imgH="152280" progId="Equation.DSMT4">
                  <p:embed/>
                </p:oleObj>
              </mc:Choice>
              <mc:Fallback>
                <p:oleObj name="Equation" r:id="rId25" imgW="19044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5516563"/>
                        <a:ext cx="419100" cy="3349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93" name="Object 45"/>
          <p:cNvGraphicFramePr>
            <a:graphicFrameLocks noChangeAspect="1"/>
          </p:cNvGraphicFramePr>
          <p:nvPr/>
        </p:nvGraphicFramePr>
        <p:xfrm>
          <a:off x="6372225" y="5300663"/>
          <a:ext cx="2009775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6" name="Equation" r:id="rId27" imgW="914400" imgH="291960" progId="Equation.DSMT4">
                  <p:embed/>
                </p:oleObj>
              </mc:Choice>
              <mc:Fallback>
                <p:oleObj name="Equation" r:id="rId27" imgW="9144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5300663"/>
                        <a:ext cx="2009775" cy="6429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94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0875804"/>
              </p:ext>
            </p:extLst>
          </p:nvPr>
        </p:nvGraphicFramePr>
        <p:xfrm>
          <a:off x="3003550" y="6238875"/>
          <a:ext cx="19240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7" name="Equation" r:id="rId29" imgW="876240" imgH="228600" progId="Equation.DSMT4">
                  <p:embed/>
                </p:oleObj>
              </mc:Choice>
              <mc:Fallback>
                <p:oleObj name="Equation" r:id="rId29" imgW="876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3550" y="6238875"/>
                        <a:ext cx="1924050" cy="5032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95" name="Object 47"/>
          <p:cNvGraphicFramePr>
            <a:graphicFrameLocks noChangeAspect="1"/>
          </p:cNvGraphicFramePr>
          <p:nvPr/>
        </p:nvGraphicFramePr>
        <p:xfrm>
          <a:off x="5076825" y="6308725"/>
          <a:ext cx="41910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8" name="Equation" r:id="rId31" imgW="190440" imgH="152280" progId="Equation.DSMT4">
                  <p:embed/>
                </p:oleObj>
              </mc:Choice>
              <mc:Fallback>
                <p:oleObj name="Equation" r:id="rId31" imgW="19044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6308725"/>
                        <a:ext cx="419100" cy="3349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96" name="Object 48"/>
          <p:cNvGraphicFramePr>
            <a:graphicFrameLocks noChangeAspect="1"/>
          </p:cNvGraphicFramePr>
          <p:nvPr/>
        </p:nvGraphicFramePr>
        <p:xfrm>
          <a:off x="5853113" y="6092825"/>
          <a:ext cx="203835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9" name="Equation" r:id="rId33" imgW="927000" imgH="291960" progId="Equation.DSMT4">
                  <p:embed/>
                </p:oleObj>
              </mc:Choice>
              <mc:Fallback>
                <p:oleObj name="Equation" r:id="rId33" imgW="9270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3113" y="6092825"/>
                        <a:ext cx="2038350" cy="6429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288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5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5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5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5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5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5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5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5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5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5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5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5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5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5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5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5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5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5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5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5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5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5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5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55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5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55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55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55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55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55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5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55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55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61" name="Text Box 89"/>
          <p:cNvSpPr txBox="1">
            <a:spLocks noChangeArrowheads="1"/>
          </p:cNvSpPr>
          <p:nvPr/>
        </p:nvSpPr>
        <p:spPr bwMode="auto">
          <a:xfrm>
            <a:off x="106363" y="160338"/>
            <a:ext cx="3097485" cy="53181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b="1" dirty="0">
                <a:solidFill>
                  <a:schemeClr val="bg1"/>
                </a:solidFill>
              </a:rPr>
              <a:t>Natural Response </a:t>
            </a:r>
            <a:endParaRPr lang="en-US" altLang="zh-CN" sz="3600" b="1" dirty="0">
              <a:solidFill>
                <a:schemeClr val="bg1"/>
              </a:solidFill>
              <a:ea typeface="仿宋_GB2312" pitchFamily="49" charset="-122"/>
            </a:endParaRPr>
          </a:p>
        </p:txBody>
      </p:sp>
      <p:sp>
        <p:nvSpPr>
          <p:cNvPr id="156762" name="Rectangle 90"/>
          <p:cNvSpPr>
            <a:spLocks noRot="1" noChangeArrowheads="1"/>
          </p:cNvSpPr>
          <p:nvPr/>
        </p:nvSpPr>
        <p:spPr bwMode="auto">
          <a:xfrm>
            <a:off x="468313" y="908050"/>
            <a:ext cx="7777162" cy="1223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400" dirty="0"/>
              <a:t>The natural response of a circuit refers to the behavior (in terms of voltages and currents) of the circuit itself, with no </a:t>
            </a:r>
            <a:r>
              <a:rPr lang="en-US" altLang="zh-CN" sz="2400" u="sng" dirty="0"/>
              <a:t>external sources of excitation</a:t>
            </a:r>
            <a:r>
              <a:rPr lang="en-US" altLang="zh-CN" sz="2400" dirty="0"/>
              <a:t>.</a:t>
            </a:r>
          </a:p>
        </p:txBody>
      </p:sp>
      <p:sp>
        <p:nvSpPr>
          <p:cNvPr id="156763" name="Text Box 91"/>
          <p:cNvSpPr txBox="1">
            <a:spLocks noChangeArrowheads="1"/>
          </p:cNvSpPr>
          <p:nvPr/>
        </p:nvSpPr>
        <p:spPr bwMode="auto">
          <a:xfrm>
            <a:off x="179389" y="2276475"/>
            <a:ext cx="2664419" cy="53181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b="1" dirty="0">
                <a:solidFill>
                  <a:schemeClr val="bg1"/>
                </a:solidFill>
              </a:rPr>
              <a:t>Time Constant </a:t>
            </a:r>
            <a:endParaRPr lang="en-US" altLang="zh-CN" sz="3600" b="1" dirty="0">
              <a:solidFill>
                <a:schemeClr val="bg1"/>
              </a:solidFill>
              <a:ea typeface="仿宋_GB2312" pitchFamily="49" charset="-122"/>
            </a:endParaRPr>
          </a:p>
        </p:txBody>
      </p:sp>
      <p:sp>
        <p:nvSpPr>
          <p:cNvPr id="156764" name="Rectangle 92"/>
          <p:cNvSpPr>
            <a:spLocks noRot="1" noChangeArrowheads="1"/>
          </p:cNvSpPr>
          <p:nvPr/>
        </p:nvSpPr>
        <p:spPr bwMode="auto">
          <a:xfrm>
            <a:off x="468313" y="2925763"/>
            <a:ext cx="7920037" cy="1223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400" dirty="0"/>
              <a:t>The time constant of a circuit is the time required for the response to </a:t>
            </a:r>
            <a:r>
              <a:rPr lang="en-US" altLang="zh-CN" sz="2400" u="sng" dirty="0"/>
              <a:t>decay</a:t>
            </a:r>
            <a:r>
              <a:rPr lang="en-US" altLang="zh-CN" sz="2400" dirty="0"/>
              <a:t> by a factor of </a:t>
            </a:r>
            <a:r>
              <a:rPr lang="en-US" altLang="zh-CN" sz="2400" i="1" dirty="0"/>
              <a:t>1/e </a:t>
            </a:r>
            <a:r>
              <a:rPr lang="en-US" altLang="zh-CN" sz="2400" dirty="0"/>
              <a:t>or 36.8 percent of its initial value.</a:t>
            </a:r>
          </a:p>
        </p:txBody>
      </p:sp>
      <p:graphicFrame>
        <p:nvGraphicFramePr>
          <p:cNvPr id="156765" name="Object 93"/>
          <p:cNvGraphicFramePr>
            <a:graphicFrameLocks noChangeAspect="1"/>
          </p:cNvGraphicFramePr>
          <p:nvPr/>
        </p:nvGraphicFramePr>
        <p:xfrm>
          <a:off x="611188" y="4508500"/>
          <a:ext cx="11985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3" name="Equation" r:id="rId3" imgW="545760" imgH="203040" progId="Equation.DSMT4">
                  <p:embed/>
                </p:oleObj>
              </mc:Choice>
              <mc:Fallback>
                <p:oleObj name="Equation" r:id="rId3" imgW="545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508500"/>
                        <a:ext cx="1198562" cy="447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766" name="Object 94"/>
          <p:cNvGraphicFramePr>
            <a:graphicFrameLocks noChangeAspect="1"/>
          </p:cNvGraphicFramePr>
          <p:nvPr/>
        </p:nvGraphicFramePr>
        <p:xfrm>
          <a:off x="2124075" y="4365625"/>
          <a:ext cx="4411663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4" name="Equation" r:id="rId5" imgW="2006280" imgH="291960" progId="Equation.DSMT4">
                  <p:embed/>
                </p:oleObj>
              </mc:Choice>
              <mc:Fallback>
                <p:oleObj name="Equation" r:id="rId5" imgW="200628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365625"/>
                        <a:ext cx="4411663" cy="6429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767" name="Object 95"/>
          <p:cNvGraphicFramePr>
            <a:graphicFrameLocks noChangeAspect="1"/>
          </p:cNvGraphicFramePr>
          <p:nvPr/>
        </p:nvGraphicFramePr>
        <p:xfrm>
          <a:off x="6732588" y="4508500"/>
          <a:ext cx="161766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5" name="Equation" r:id="rId7" imgW="736560" imgH="177480" progId="Equation.DSMT4">
                  <p:embed/>
                </p:oleObj>
              </mc:Choice>
              <mc:Fallback>
                <p:oleObj name="Equation" r:id="rId7" imgW="7365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4508500"/>
                        <a:ext cx="1617662" cy="3905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768" name="Object 96"/>
          <p:cNvGraphicFramePr>
            <a:graphicFrameLocks noChangeAspect="1"/>
          </p:cNvGraphicFramePr>
          <p:nvPr/>
        </p:nvGraphicFramePr>
        <p:xfrm>
          <a:off x="827088" y="5373688"/>
          <a:ext cx="281940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6" name="Equation" r:id="rId9" imgW="1282680" imgH="291960" progId="Equation.DSMT4">
                  <p:embed/>
                </p:oleObj>
              </mc:Choice>
              <mc:Fallback>
                <p:oleObj name="Equation" r:id="rId9" imgW="128268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373688"/>
                        <a:ext cx="2819400" cy="6429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769" name="Object 9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5241844"/>
              </p:ext>
            </p:extLst>
          </p:nvPr>
        </p:nvGraphicFramePr>
        <p:xfrm>
          <a:off x="5580038" y="5085184"/>
          <a:ext cx="2808312" cy="1397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7" name="Visio" r:id="rId11" imgW="2702880" imgH="1346400" progId="Visio.Drawing.11">
                  <p:embed/>
                </p:oleObj>
              </mc:Choice>
              <mc:Fallback>
                <p:oleObj name="Visio" r:id="rId11" imgW="2702880" imgH="13464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38" y="5085184"/>
                        <a:ext cx="2808312" cy="139797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7092280" y="6309320"/>
            <a:ext cx="1905000" cy="457200"/>
          </a:xfrm>
        </p:spPr>
        <p:txBody>
          <a:bodyPr/>
          <a:lstStyle/>
          <a:p>
            <a:fld id="{607F6B5D-BAA9-462E-91DC-0C4220222717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166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6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6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6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6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6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6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6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6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6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6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6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6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6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6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6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6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761" grpId="0" animBg="1" autoUpdateAnimBg="0"/>
      <p:bldP spid="156762" grpId="0" animBg="1"/>
      <p:bldP spid="156763" grpId="0" animBg="1" autoUpdateAnimBg="0"/>
      <p:bldP spid="15676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Text Box 2"/>
          <p:cNvSpPr txBox="1">
            <a:spLocks noChangeArrowheads="1"/>
          </p:cNvSpPr>
          <p:nvPr/>
        </p:nvSpPr>
        <p:spPr bwMode="auto">
          <a:xfrm>
            <a:off x="395288" y="160338"/>
            <a:ext cx="2160587" cy="53181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b="1" dirty="0">
                <a:solidFill>
                  <a:schemeClr val="bg1"/>
                </a:solidFill>
              </a:rPr>
              <a:t>Decay Rate</a:t>
            </a:r>
            <a:endParaRPr lang="en-US" altLang="zh-CN" sz="3600" b="1" dirty="0">
              <a:solidFill>
                <a:schemeClr val="bg1"/>
              </a:solidFill>
              <a:ea typeface="仿宋_GB2312" pitchFamily="49" charset="-122"/>
            </a:endParaRPr>
          </a:p>
        </p:txBody>
      </p:sp>
      <p:graphicFrame>
        <p:nvGraphicFramePr>
          <p:cNvPr id="157702" name="Object 6"/>
          <p:cNvGraphicFramePr>
            <a:graphicFrameLocks noChangeAspect="1"/>
          </p:cNvGraphicFramePr>
          <p:nvPr/>
        </p:nvGraphicFramePr>
        <p:xfrm>
          <a:off x="250825" y="3500438"/>
          <a:ext cx="8526463" cy="195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7" name="Equation" r:id="rId3" imgW="3886200" imgH="888840" progId="Equation.DSMT4">
                  <p:embed/>
                </p:oleObj>
              </mc:Choice>
              <mc:Fallback>
                <p:oleObj name="Equation" r:id="rId3" imgW="388620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500438"/>
                        <a:ext cx="8526463" cy="19573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1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4384759"/>
              </p:ext>
            </p:extLst>
          </p:nvPr>
        </p:nvGraphicFramePr>
        <p:xfrm>
          <a:off x="5938838" y="454025"/>
          <a:ext cx="2074862" cy="268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8" name="Visio" r:id="rId5" imgW="1294636" imgH="1680067" progId="Visio.Drawing.11">
                  <p:embed/>
                </p:oleObj>
              </mc:Choice>
              <mc:Fallback>
                <p:oleObj name="Visio" r:id="rId5" imgW="1294636" imgH="1680067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8838" y="454025"/>
                        <a:ext cx="2074862" cy="26892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1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705527"/>
              </p:ext>
            </p:extLst>
          </p:nvPr>
        </p:nvGraphicFramePr>
        <p:xfrm>
          <a:off x="1604963" y="1271588"/>
          <a:ext cx="3243262" cy="161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9" name="Visio" r:id="rId7" imgW="2026986" imgH="1009822" progId="Visio.Drawing.11">
                  <p:embed/>
                </p:oleObj>
              </mc:Choice>
              <mc:Fallback>
                <p:oleObj name="Visio" r:id="rId7" imgW="2026986" imgH="100982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963" y="1271588"/>
                        <a:ext cx="3243262" cy="16144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F6B5D-BAA9-462E-91DC-0C4220222717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6592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57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8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7" name="Rectangle 3"/>
          <p:cNvSpPr>
            <a:spLocks noChangeArrowheads="1"/>
          </p:cNvSpPr>
          <p:nvPr/>
        </p:nvSpPr>
        <p:spPr bwMode="auto">
          <a:xfrm>
            <a:off x="6804025" y="2636838"/>
            <a:ext cx="1541463" cy="579437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FFCC00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en-US" altLang="zh-CN" b="1" i="1">
                <a:sym typeface="Symbol" pitchFamily="18" charset="2"/>
              </a:rPr>
              <a:t></a:t>
            </a:r>
            <a:r>
              <a:rPr kumimoji="1" lang="en-US" altLang="zh-CN" b="1">
                <a:sym typeface="Symbol" pitchFamily="18" charset="2"/>
              </a:rPr>
              <a:t>  = </a:t>
            </a:r>
            <a:r>
              <a:rPr kumimoji="1" lang="en-US" altLang="zh-CN" b="1" i="1">
                <a:sym typeface="Symbol" pitchFamily="18" charset="2"/>
              </a:rPr>
              <a:t>R C</a:t>
            </a:r>
          </a:p>
        </p:txBody>
      </p:sp>
      <p:graphicFrame>
        <p:nvGraphicFramePr>
          <p:cNvPr id="159780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74931"/>
              </p:ext>
            </p:extLst>
          </p:nvPr>
        </p:nvGraphicFramePr>
        <p:xfrm>
          <a:off x="827834" y="186992"/>
          <a:ext cx="6048672" cy="3567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6" name="Visio" r:id="rId3" imgW="2368601" imgH="1396289" progId="Visio.Drawing.11">
                  <p:embed/>
                </p:oleObj>
              </mc:Choice>
              <mc:Fallback>
                <p:oleObj name="Visio" r:id="rId3" imgW="2368601" imgH="139628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834" y="186992"/>
                        <a:ext cx="6048672" cy="356787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8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48952"/>
              </p:ext>
            </p:extLst>
          </p:nvPr>
        </p:nvGraphicFramePr>
        <p:xfrm>
          <a:off x="827834" y="3759703"/>
          <a:ext cx="7056534" cy="233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7" name="Equation" r:id="rId5" imgW="1917360" imgH="888840" progId="Equation.DSMT4">
                  <p:embed/>
                </p:oleObj>
              </mc:Choice>
              <mc:Fallback>
                <p:oleObj name="Equation" r:id="rId5" imgW="191736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834" y="3759703"/>
                        <a:ext cx="7056534" cy="23315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F6B5D-BAA9-462E-91DC-0C4220222717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600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9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9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Text Box 2"/>
          <p:cNvSpPr txBox="1">
            <a:spLocks noChangeArrowheads="1"/>
          </p:cNvSpPr>
          <p:nvPr/>
        </p:nvSpPr>
        <p:spPr bwMode="auto">
          <a:xfrm>
            <a:off x="468313" y="160338"/>
            <a:ext cx="2590800" cy="53181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b="1" dirty="0">
                <a:solidFill>
                  <a:schemeClr val="bg1"/>
                </a:solidFill>
              </a:rPr>
              <a:t>Current </a:t>
            </a:r>
            <a:r>
              <a:rPr lang="en-US" altLang="zh-CN" sz="2800" b="1" i="1" dirty="0" err="1">
                <a:solidFill>
                  <a:schemeClr val="bg1"/>
                </a:solidFill>
              </a:rPr>
              <a:t>i</a:t>
            </a:r>
            <a:r>
              <a:rPr lang="en-US" altLang="zh-CN" sz="2800" b="1" i="1" baseline="-25000" dirty="0" err="1">
                <a:solidFill>
                  <a:schemeClr val="bg1"/>
                </a:solidFill>
              </a:rPr>
              <a:t>R</a:t>
            </a:r>
            <a:r>
              <a:rPr lang="en-US" altLang="zh-CN" sz="2800" b="1" dirty="0">
                <a:solidFill>
                  <a:schemeClr val="bg1"/>
                </a:solidFill>
              </a:rPr>
              <a:t>(</a:t>
            </a:r>
            <a:r>
              <a:rPr lang="en-US" altLang="zh-CN" sz="2800" b="1" i="1" dirty="0">
                <a:solidFill>
                  <a:schemeClr val="bg1"/>
                </a:solidFill>
              </a:rPr>
              <a:t>t</a:t>
            </a:r>
            <a:r>
              <a:rPr lang="en-US" altLang="zh-CN" sz="2800" b="1" dirty="0">
                <a:solidFill>
                  <a:schemeClr val="bg1"/>
                </a:solidFill>
              </a:rPr>
              <a:t>)</a:t>
            </a:r>
            <a:endParaRPr lang="en-US" altLang="zh-CN" sz="3600" b="1" dirty="0">
              <a:solidFill>
                <a:schemeClr val="bg1"/>
              </a:solidFill>
              <a:ea typeface="仿宋_GB2312" pitchFamily="49" charset="-122"/>
            </a:endParaRPr>
          </a:p>
        </p:txBody>
      </p:sp>
      <p:sp>
        <p:nvSpPr>
          <p:cNvPr id="158724" name="Text Box 4"/>
          <p:cNvSpPr txBox="1">
            <a:spLocks noChangeArrowheads="1"/>
          </p:cNvSpPr>
          <p:nvPr/>
        </p:nvSpPr>
        <p:spPr bwMode="auto">
          <a:xfrm>
            <a:off x="438134" y="2025651"/>
            <a:ext cx="5184775" cy="53181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b="1" dirty="0">
                <a:solidFill>
                  <a:schemeClr val="bg1"/>
                </a:solidFill>
              </a:rPr>
              <a:t>Power dissipated in the resistor</a:t>
            </a:r>
            <a:endParaRPr lang="en-US" altLang="zh-CN" sz="3600" b="1" dirty="0">
              <a:solidFill>
                <a:schemeClr val="bg1"/>
              </a:solidFill>
              <a:ea typeface="仿宋_GB2312" pitchFamily="49" charset="-122"/>
            </a:endParaRPr>
          </a:p>
        </p:txBody>
      </p:sp>
      <p:graphicFrame>
        <p:nvGraphicFramePr>
          <p:cNvPr id="1587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3652401"/>
              </p:ext>
            </p:extLst>
          </p:nvPr>
        </p:nvGraphicFramePr>
        <p:xfrm>
          <a:off x="987425" y="981075"/>
          <a:ext cx="4040188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0" name="Equation" r:id="rId3" imgW="1841400" imgH="393480" progId="Equation.DSMT4">
                  <p:embed/>
                </p:oleObj>
              </mc:Choice>
              <mc:Fallback>
                <p:oleObj name="Equation" r:id="rId3" imgW="18414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7425" y="981075"/>
                        <a:ext cx="4040188" cy="8683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8" name="Object 8"/>
          <p:cNvGraphicFramePr>
            <a:graphicFrameLocks noChangeAspect="1"/>
          </p:cNvGraphicFramePr>
          <p:nvPr/>
        </p:nvGraphicFramePr>
        <p:xfrm>
          <a:off x="827088" y="2636838"/>
          <a:ext cx="276225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1" name="Equation" r:id="rId5" imgW="1257120" imgH="419040" progId="Equation.DSMT4">
                  <p:embed/>
                </p:oleObj>
              </mc:Choice>
              <mc:Fallback>
                <p:oleObj name="Equation" r:id="rId5" imgW="12571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636838"/>
                        <a:ext cx="2762250" cy="9207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9" name="Object 9"/>
          <p:cNvGraphicFramePr>
            <a:graphicFrameLocks noChangeAspect="1"/>
          </p:cNvGraphicFramePr>
          <p:nvPr/>
        </p:nvGraphicFramePr>
        <p:xfrm>
          <a:off x="539750" y="4437063"/>
          <a:ext cx="5248275" cy="206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2" name="Equation" r:id="rId7" imgW="2387520" imgH="939600" progId="Equation.DSMT4">
                  <p:embed/>
                </p:oleObj>
              </mc:Choice>
              <mc:Fallback>
                <p:oleObj name="Equation" r:id="rId7" imgW="238752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437063"/>
                        <a:ext cx="5248275" cy="20685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8730" name="Group 10"/>
          <p:cNvGrpSpPr>
            <a:grpSpLocks/>
          </p:cNvGrpSpPr>
          <p:nvPr/>
        </p:nvGrpSpPr>
        <p:grpSpPr bwMode="auto">
          <a:xfrm>
            <a:off x="5795963" y="260350"/>
            <a:ext cx="2325687" cy="1814513"/>
            <a:chOff x="3876" y="1613"/>
            <a:chExt cx="1465" cy="1143"/>
          </a:xfrm>
        </p:grpSpPr>
        <p:sp>
          <p:nvSpPr>
            <p:cNvPr id="158731" name="Line 11"/>
            <p:cNvSpPr>
              <a:spLocks noChangeShapeType="1"/>
            </p:cNvSpPr>
            <p:nvPr/>
          </p:nvSpPr>
          <p:spPr bwMode="auto">
            <a:xfrm>
              <a:off x="3967" y="2448"/>
              <a:ext cx="13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8732" name="Line 12"/>
            <p:cNvSpPr>
              <a:spLocks noChangeShapeType="1"/>
            </p:cNvSpPr>
            <p:nvPr/>
          </p:nvSpPr>
          <p:spPr bwMode="auto">
            <a:xfrm flipV="1">
              <a:off x="4159" y="1728"/>
              <a:ext cx="0" cy="9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8733" name="Freeform 13"/>
            <p:cNvSpPr>
              <a:spLocks/>
            </p:cNvSpPr>
            <p:nvPr/>
          </p:nvSpPr>
          <p:spPr bwMode="auto">
            <a:xfrm>
              <a:off x="4159" y="1968"/>
              <a:ext cx="1008" cy="432"/>
            </a:xfrm>
            <a:custGeom>
              <a:avLst/>
              <a:gdLst>
                <a:gd name="T0" fmla="*/ 0 w 1008"/>
                <a:gd name="T1" fmla="*/ 0 h 432"/>
                <a:gd name="T2" fmla="*/ 240 w 1008"/>
                <a:gd name="T3" fmla="*/ 240 h 432"/>
                <a:gd name="T4" fmla="*/ 672 w 1008"/>
                <a:gd name="T5" fmla="*/ 384 h 432"/>
                <a:gd name="T6" fmla="*/ 1008 w 1008"/>
                <a:gd name="T7" fmla="*/ 432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8734" name="Text Box 14"/>
            <p:cNvSpPr txBox="1">
              <a:spLocks noChangeArrowheads="1"/>
            </p:cNvSpPr>
            <p:nvPr/>
          </p:nvSpPr>
          <p:spPr bwMode="auto">
            <a:xfrm>
              <a:off x="3876" y="1780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800" b="1" i="1"/>
                <a:t>I</a:t>
              </a:r>
              <a:r>
                <a:rPr kumimoji="1" lang="en-US" altLang="zh-CN" sz="2800" b="1" baseline="-25000"/>
                <a:t>0</a:t>
              </a:r>
              <a:endParaRPr kumimoji="1" lang="en-US" altLang="zh-CN" sz="2800" b="1"/>
            </a:p>
          </p:txBody>
        </p:sp>
        <p:sp>
          <p:nvSpPr>
            <p:cNvPr id="158735" name="Text Box 15"/>
            <p:cNvSpPr txBox="1">
              <a:spLocks noChangeArrowheads="1"/>
            </p:cNvSpPr>
            <p:nvPr/>
          </p:nvSpPr>
          <p:spPr bwMode="auto">
            <a:xfrm>
              <a:off x="5163" y="2429"/>
              <a:ext cx="1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800" b="1" i="1"/>
                <a:t>t</a:t>
              </a:r>
              <a:endParaRPr kumimoji="1" lang="en-US" altLang="zh-CN" sz="2800" b="1"/>
            </a:p>
          </p:txBody>
        </p:sp>
        <p:sp>
          <p:nvSpPr>
            <p:cNvPr id="158736" name="Text Box 16"/>
            <p:cNvSpPr txBox="1">
              <a:spLocks noChangeArrowheads="1"/>
            </p:cNvSpPr>
            <p:nvPr/>
          </p:nvSpPr>
          <p:spPr bwMode="auto">
            <a:xfrm>
              <a:off x="4252" y="1613"/>
              <a:ext cx="1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800" b="1" i="1"/>
                <a:t>i</a:t>
              </a:r>
              <a:endParaRPr kumimoji="1" lang="en-US" altLang="zh-CN" sz="2800" b="1"/>
            </a:p>
          </p:txBody>
        </p:sp>
        <p:sp>
          <p:nvSpPr>
            <p:cNvPr id="158737" name="Text Box 17"/>
            <p:cNvSpPr txBox="1">
              <a:spLocks noChangeArrowheads="1"/>
            </p:cNvSpPr>
            <p:nvPr/>
          </p:nvSpPr>
          <p:spPr bwMode="auto">
            <a:xfrm>
              <a:off x="3959" y="2381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800" b="1"/>
                <a:t>0</a:t>
              </a:r>
            </a:p>
          </p:txBody>
        </p:sp>
        <p:sp>
          <p:nvSpPr>
            <p:cNvPr id="158738" name="Line 18"/>
            <p:cNvSpPr>
              <a:spLocks noChangeShapeType="1"/>
            </p:cNvSpPr>
            <p:nvPr/>
          </p:nvSpPr>
          <p:spPr bwMode="auto">
            <a:xfrm flipV="1">
              <a:off x="4144" y="1968"/>
              <a:ext cx="0" cy="48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8739" name="Line 19"/>
            <p:cNvSpPr>
              <a:spLocks noChangeShapeType="1"/>
            </p:cNvSpPr>
            <p:nvPr/>
          </p:nvSpPr>
          <p:spPr bwMode="auto">
            <a:xfrm flipH="1" flipV="1">
              <a:off x="3918" y="2427"/>
              <a:ext cx="218" cy="1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8740" name="Text Box 20"/>
          <p:cNvSpPr txBox="1">
            <a:spLocks noChangeArrowheads="1"/>
          </p:cNvSpPr>
          <p:nvPr/>
        </p:nvSpPr>
        <p:spPr bwMode="auto">
          <a:xfrm>
            <a:off x="415131" y="3729038"/>
            <a:ext cx="5184775" cy="53181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b="1" dirty="0">
                <a:solidFill>
                  <a:schemeClr val="bg1"/>
                </a:solidFill>
              </a:rPr>
              <a:t>Energy absorbed by the resistor</a:t>
            </a:r>
            <a:endParaRPr lang="en-US" altLang="zh-CN" sz="3600" b="1" dirty="0">
              <a:solidFill>
                <a:schemeClr val="bg1"/>
              </a:solidFill>
              <a:ea typeface="仿宋_GB2312" pitchFamily="49" charset="-122"/>
            </a:endParaRPr>
          </a:p>
        </p:txBody>
      </p:sp>
      <p:graphicFrame>
        <p:nvGraphicFramePr>
          <p:cNvPr id="158741" name="Object 21"/>
          <p:cNvGraphicFramePr>
            <a:graphicFrameLocks noChangeAspect="1"/>
          </p:cNvGraphicFramePr>
          <p:nvPr/>
        </p:nvGraphicFramePr>
        <p:xfrm>
          <a:off x="5651500" y="2781300"/>
          <a:ext cx="3294063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3" name="Equation" r:id="rId9" imgW="1498320" imgH="609480" progId="Equation.DSMT4">
                  <p:embed/>
                </p:oleObj>
              </mc:Choice>
              <mc:Fallback>
                <p:oleObj name="Equation" r:id="rId9" imgW="149832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2781300"/>
                        <a:ext cx="3294063" cy="1343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3239963" y="6525344"/>
            <a:ext cx="2895600" cy="457200"/>
          </a:xfrm>
        </p:spPr>
        <p:txBody>
          <a:bodyPr/>
          <a:lstStyle/>
          <a:p>
            <a:r>
              <a:rPr lang="en-US" altLang="zh-CN" dirty="0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F6B5D-BAA9-462E-91DC-0C4220222717}" type="slidenum">
              <a:rPr lang="en-US" altLang="zh-CN" smtClean="0"/>
              <a:pPr/>
              <a:t>11</a:t>
            </a:fld>
            <a:endParaRPr lang="en-US" altLang="zh-CN"/>
          </a:p>
        </p:txBody>
      </p:sp>
      <p:grpSp>
        <p:nvGrpSpPr>
          <p:cNvPr id="21" name="Group 6">
            <a:extLst>
              <a:ext uri="{FF2B5EF4-FFF2-40B4-BE49-F238E27FC236}">
                <a16:creationId xmlns:a16="http://schemas.microsoft.com/office/drawing/2014/main" id="{BF55B93A-A619-0143-B543-3AAE16B6347E}"/>
              </a:ext>
            </a:extLst>
          </p:cNvPr>
          <p:cNvGrpSpPr>
            <a:grpSpLocks/>
          </p:cNvGrpSpPr>
          <p:nvPr/>
        </p:nvGrpSpPr>
        <p:grpSpPr bwMode="auto">
          <a:xfrm>
            <a:off x="6149517" y="4259262"/>
            <a:ext cx="2678876" cy="2073275"/>
            <a:chOff x="475" y="782"/>
            <a:chExt cx="1717" cy="1100"/>
          </a:xfrm>
        </p:grpSpPr>
        <p:sp>
          <p:nvSpPr>
            <p:cNvPr id="22" name="Line 7">
              <a:extLst>
                <a:ext uri="{FF2B5EF4-FFF2-40B4-BE49-F238E27FC236}">
                  <a16:creationId xmlns:a16="http://schemas.microsoft.com/office/drawing/2014/main" id="{05F4967F-7538-7E43-92F2-DBC232C5DF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1" y="1199"/>
              <a:ext cx="28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Text Box 8">
              <a:extLst>
                <a:ext uri="{FF2B5EF4-FFF2-40B4-BE49-F238E27FC236}">
                  <a16:creationId xmlns:a16="http://schemas.microsoft.com/office/drawing/2014/main" id="{124F620B-09C0-C243-B3CD-392C55C9FB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9" y="934"/>
              <a:ext cx="173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b="1" i="1"/>
                <a:t>i</a:t>
              </a:r>
              <a:endParaRPr kumimoji="1" lang="en-US" altLang="zh-CN" sz="2400" b="1"/>
            </a:p>
          </p:txBody>
        </p:sp>
        <p:sp>
          <p:nvSpPr>
            <p:cNvPr id="24" name="Line 9">
              <a:extLst>
                <a:ext uri="{FF2B5EF4-FFF2-40B4-BE49-F238E27FC236}">
                  <a16:creationId xmlns:a16="http://schemas.microsoft.com/office/drawing/2014/main" id="{3E10F7C6-68E1-2144-AB72-D1909155D9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74" y="975"/>
              <a:ext cx="170" cy="16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Text Box 10">
              <a:extLst>
                <a:ext uri="{FF2B5EF4-FFF2-40B4-BE49-F238E27FC236}">
                  <a16:creationId xmlns:a16="http://schemas.microsoft.com/office/drawing/2014/main" id="{CB7FB566-A63E-A74C-8AC9-21B2CCB823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4" y="782"/>
              <a:ext cx="663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/>
                <a:t>K(</a:t>
              </a:r>
              <a:r>
                <a:rPr kumimoji="1" lang="en-US" altLang="zh-CN" sz="2400" b="1" i="1"/>
                <a:t>t</a:t>
              </a:r>
              <a:r>
                <a:rPr kumimoji="1" lang="en-US" altLang="zh-CN" sz="2400" b="1"/>
                <a:t>=0)</a:t>
              </a:r>
            </a:p>
          </p:txBody>
        </p:sp>
        <p:sp>
          <p:nvSpPr>
            <p:cNvPr id="26" name="Text Box 11">
              <a:extLst>
                <a:ext uri="{FF2B5EF4-FFF2-40B4-BE49-F238E27FC236}">
                  <a16:creationId xmlns:a16="http://schemas.microsoft.com/office/drawing/2014/main" id="{5074476B-7E51-E545-9F20-87557C1A36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0" y="1228"/>
              <a:ext cx="230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/>
                <a:t>+</a:t>
              </a:r>
            </a:p>
          </p:txBody>
        </p:sp>
        <p:sp>
          <p:nvSpPr>
            <p:cNvPr id="27" name="Text Box 12">
              <a:extLst>
                <a:ext uri="{FF2B5EF4-FFF2-40B4-BE49-F238E27FC236}">
                  <a16:creationId xmlns:a16="http://schemas.microsoft.com/office/drawing/2014/main" id="{DF93D391-4857-4B4D-8D23-196F3C9A4C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0" y="1639"/>
              <a:ext cx="216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/>
                <a:t>–</a:t>
              </a:r>
            </a:p>
          </p:txBody>
        </p:sp>
        <p:sp>
          <p:nvSpPr>
            <p:cNvPr id="28" name="Text Box 13">
              <a:extLst>
                <a:ext uri="{FF2B5EF4-FFF2-40B4-BE49-F238E27FC236}">
                  <a16:creationId xmlns:a16="http://schemas.microsoft.com/office/drawing/2014/main" id="{3695F209-D3CA-9442-BC09-FF21C841C7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9" y="1392"/>
              <a:ext cx="293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b="1" i="1"/>
                <a:t>v</a:t>
              </a:r>
              <a:r>
                <a:rPr kumimoji="1" lang="en-US" altLang="zh-CN" sz="2400" b="1" i="1" baseline="-25000"/>
                <a:t>R</a:t>
              </a:r>
              <a:endParaRPr kumimoji="1" lang="en-US" altLang="zh-CN" sz="2400" b="1" baseline="-25000"/>
            </a:p>
          </p:txBody>
        </p:sp>
        <p:sp>
          <p:nvSpPr>
            <p:cNvPr id="29" name="Line 14">
              <a:extLst>
                <a:ext uri="{FF2B5EF4-FFF2-40B4-BE49-F238E27FC236}">
                  <a16:creationId xmlns:a16="http://schemas.microsoft.com/office/drawing/2014/main" id="{5C8D930C-86FC-0240-AD6D-9F9EAC1FEF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5" y="1208"/>
              <a:ext cx="45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15">
              <a:extLst>
                <a:ext uri="{FF2B5EF4-FFF2-40B4-BE49-F238E27FC236}">
                  <a16:creationId xmlns:a16="http://schemas.microsoft.com/office/drawing/2014/main" id="{2B497194-1DDE-3149-8C91-0F2C844495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" y="1208"/>
              <a:ext cx="39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Text Box 16">
              <a:extLst>
                <a:ext uri="{FF2B5EF4-FFF2-40B4-BE49-F238E27FC236}">
                  <a16:creationId xmlns:a16="http://schemas.microsoft.com/office/drawing/2014/main" id="{1556BE3D-57E3-8543-8E7A-79853A4A7E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1356"/>
              <a:ext cx="248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 i="1"/>
                <a:t>C</a:t>
              </a:r>
              <a:endParaRPr kumimoji="1" lang="en-US" altLang="zh-CN" sz="2400" b="1"/>
            </a:p>
          </p:txBody>
        </p:sp>
        <p:sp>
          <p:nvSpPr>
            <p:cNvPr id="32" name="Text Box 17">
              <a:extLst>
                <a:ext uri="{FF2B5EF4-FFF2-40B4-BE49-F238E27FC236}">
                  <a16:creationId xmlns:a16="http://schemas.microsoft.com/office/drawing/2014/main" id="{672E16DD-33B6-364B-AE38-6834C40FDF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1225"/>
              <a:ext cx="230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/>
                <a:t>+</a:t>
              </a:r>
            </a:p>
          </p:txBody>
        </p:sp>
        <p:sp>
          <p:nvSpPr>
            <p:cNvPr id="33" name="Text Box 18">
              <a:extLst>
                <a:ext uri="{FF2B5EF4-FFF2-40B4-BE49-F238E27FC236}">
                  <a16:creationId xmlns:a16="http://schemas.microsoft.com/office/drawing/2014/main" id="{1D121C73-5386-AD4A-8D97-B782429F97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6" y="1579"/>
              <a:ext cx="217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/>
                <a:t>–</a:t>
              </a:r>
            </a:p>
          </p:txBody>
        </p:sp>
        <p:sp>
          <p:nvSpPr>
            <p:cNvPr id="34" name="Text Box 19">
              <a:extLst>
                <a:ext uri="{FF2B5EF4-FFF2-40B4-BE49-F238E27FC236}">
                  <a16:creationId xmlns:a16="http://schemas.microsoft.com/office/drawing/2014/main" id="{616348EC-A3E0-1D47-9F70-86796BCE97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0" y="1344"/>
              <a:ext cx="293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b="1" i="1"/>
                <a:t>v</a:t>
              </a:r>
              <a:r>
                <a:rPr kumimoji="1" lang="en-US" altLang="zh-CN" sz="2400" b="1" i="1" baseline="-25000"/>
                <a:t>C</a:t>
              </a:r>
              <a:endParaRPr kumimoji="1" lang="en-US" altLang="zh-CN" sz="2400" b="1"/>
            </a:p>
          </p:txBody>
        </p:sp>
        <p:grpSp>
          <p:nvGrpSpPr>
            <p:cNvPr id="35" name="Group 20">
              <a:extLst>
                <a:ext uri="{FF2B5EF4-FFF2-40B4-BE49-F238E27FC236}">
                  <a16:creationId xmlns:a16="http://schemas.microsoft.com/office/drawing/2014/main" id="{EDAC5C5E-13EC-A44E-8001-D2278166B0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5" y="1426"/>
              <a:ext cx="227" cy="109"/>
              <a:chOff x="1824" y="1680"/>
              <a:chExt cx="192" cy="96"/>
            </a:xfrm>
          </p:grpSpPr>
          <p:sp>
            <p:nvSpPr>
              <p:cNvPr id="44" name="Line 21">
                <a:extLst>
                  <a:ext uri="{FF2B5EF4-FFF2-40B4-BE49-F238E27FC236}">
                    <a16:creationId xmlns:a16="http://schemas.microsoft.com/office/drawing/2014/main" id="{3C4D0B2F-212D-2044-A14D-17B3CFFA88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680"/>
                <a:ext cx="192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" name="Line 22">
                <a:extLst>
                  <a:ext uri="{FF2B5EF4-FFF2-40B4-BE49-F238E27FC236}">
                    <a16:creationId xmlns:a16="http://schemas.microsoft.com/office/drawing/2014/main" id="{E8478BC9-8D86-5F4A-B6E9-D01C89E5B6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776"/>
                <a:ext cx="192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6" name="Line 23">
              <a:extLst>
                <a:ext uri="{FF2B5EF4-FFF2-40B4-BE49-F238E27FC236}">
                  <a16:creationId xmlns:a16="http://schemas.microsoft.com/office/drawing/2014/main" id="{AA8957CF-E556-9C47-B4D5-77D4AE00F7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8" y="1535"/>
              <a:ext cx="0" cy="27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24">
              <a:extLst>
                <a:ext uri="{FF2B5EF4-FFF2-40B4-BE49-F238E27FC236}">
                  <a16:creationId xmlns:a16="http://schemas.microsoft.com/office/drawing/2014/main" id="{D9E929F8-F895-1B4C-8DA0-CC16C94702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8" y="1208"/>
              <a:ext cx="0" cy="2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25">
              <a:extLst>
                <a:ext uri="{FF2B5EF4-FFF2-40B4-BE49-F238E27FC236}">
                  <a16:creationId xmlns:a16="http://schemas.microsoft.com/office/drawing/2014/main" id="{8A4E1C50-8827-1349-B40B-B2BCC15A3B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25" y="1099"/>
              <a:ext cx="170" cy="109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26">
              <a:extLst>
                <a:ext uri="{FF2B5EF4-FFF2-40B4-BE49-F238E27FC236}">
                  <a16:creationId xmlns:a16="http://schemas.microsoft.com/office/drawing/2014/main" id="{B9A7BC8B-741B-3746-BC48-FF0CF7CFD3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" y="1808"/>
              <a:ext cx="102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2185E450-7EA8-6F40-A2E2-E97B4645F9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49" y="1208"/>
              <a:ext cx="0" cy="60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1" name="Group 28">
              <a:extLst>
                <a:ext uri="{FF2B5EF4-FFF2-40B4-BE49-F238E27FC236}">
                  <a16:creationId xmlns:a16="http://schemas.microsoft.com/office/drawing/2014/main" id="{31856122-3677-3542-B40F-CC92D8BCBD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4" y="1444"/>
              <a:ext cx="378" cy="286"/>
              <a:chOff x="1120" y="2244"/>
              <a:chExt cx="320" cy="252"/>
            </a:xfrm>
          </p:grpSpPr>
          <p:sp>
            <p:nvSpPr>
              <p:cNvPr id="42" name="Text Box 29">
                <a:extLst>
                  <a:ext uri="{FF2B5EF4-FFF2-40B4-BE49-F238E27FC236}">
                    <a16:creationId xmlns:a16="http://schemas.microsoft.com/office/drawing/2014/main" id="{AF439493-F622-BB4F-BA29-9DC64C2D51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0" y="2244"/>
                <a:ext cx="212" cy="2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sz="2400" b="1" i="1"/>
                  <a:t>R</a:t>
                </a:r>
                <a:endParaRPr kumimoji="1" lang="en-US" altLang="zh-CN" sz="2400" b="1"/>
              </a:p>
            </p:txBody>
          </p:sp>
          <p:sp>
            <p:nvSpPr>
              <p:cNvPr id="43" name="Rectangle 30">
                <a:extLst>
                  <a:ext uri="{FF2B5EF4-FFF2-40B4-BE49-F238E27FC236}">
                    <a16:creationId xmlns:a16="http://schemas.microsoft.com/office/drawing/2014/main" id="{2A7C578D-6D9A-2A44-82F9-E8AEC59F88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56"/>
                <a:ext cx="96" cy="24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43212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58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8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8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8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8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8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8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8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8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2" grpId="0" animBg="1" autoUpdateAnimBg="0"/>
      <p:bldP spid="158724" grpId="0" animBg="1" autoUpdateAnimBg="0"/>
      <p:bldP spid="158740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777" name="Object 9"/>
          <p:cNvGraphicFramePr>
            <a:graphicFrameLocks noChangeAspect="1"/>
          </p:cNvGraphicFramePr>
          <p:nvPr/>
        </p:nvGraphicFramePr>
        <p:xfrm>
          <a:off x="4643438" y="1341438"/>
          <a:ext cx="203835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6" name="Equation" r:id="rId3" imgW="927000" imgH="291960" progId="Equation.DSMT4">
                  <p:embed/>
                </p:oleObj>
              </mc:Choice>
              <mc:Fallback>
                <p:oleObj name="Equation" r:id="rId3" imgW="9270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1341438"/>
                        <a:ext cx="2038350" cy="6429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78" name="Text Box 10"/>
          <p:cNvSpPr txBox="1">
            <a:spLocks noChangeArrowheads="1"/>
          </p:cNvSpPr>
          <p:nvPr/>
        </p:nvSpPr>
        <p:spPr bwMode="auto">
          <a:xfrm>
            <a:off x="3059113" y="404813"/>
            <a:ext cx="2159000" cy="5318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Summary</a:t>
            </a:r>
            <a:endParaRPr lang="en-US" altLang="zh-CN" sz="3600" b="1" dirty="0">
              <a:solidFill>
                <a:srgbClr val="FF0000"/>
              </a:solidFill>
              <a:ea typeface="仿宋_GB2312" pitchFamily="49" charset="-122"/>
            </a:endParaRPr>
          </a:p>
        </p:txBody>
      </p:sp>
      <p:graphicFrame>
        <p:nvGraphicFramePr>
          <p:cNvPr id="160805" name="Object 37"/>
          <p:cNvGraphicFramePr>
            <a:graphicFrameLocks noChangeAspect="1"/>
          </p:cNvGraphicFramePr>
          <p:nvPr/>
        </p:nvGraphicFramePr>
        <p:xfrm>
          <a:off x="6948488" y="1484313"/>
          <a:ext cx="105886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7" name="Equation" r:id="rId5" imgW="482400" imgH="177480" progId="Equation.DSMT4">
                  <p:embed/>
                </p:oleObj>
              </mc:Choice>
              <mc:Fallback>
                <p:oleObj name="Equation" r:id="rId5" imgW="4824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1484313"/>
                        <a:ext cx="1058862" cy="3905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F6B5D-BAA9-462E-91DC-0C4220222717}" type="slidenum">
              <a:rPr lang="en-US" altLang="zh-CN" smtClean="0"/>
              <a:pPr/>
              <a:t>12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BCABC4-B85A-2149-B792-EE8DEDF2A7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63" y="3475782"/>
            <a:ext cx="7538585" cy="1888117"/>
          </a:xfrm>
          <a:prstGeom prst="rect">
            <a:avLst/>
          </a:prstGeom>
        </p:spPr>
      </p:pic>
      <p:grpSp>
        <p:nvGrpSpPr>
          <p:cNvPr id="34" name="Group 6">
            <a:extLst>
              <a:ext uri="{FF2B5EF4-FFF2-40B4-BE49-F238E27FC236}">
                <a16:creationId xmlns:a16="http://schemas.microsoft.com/office/drawing/2014/main" id="{BDEE7924-114A-6348-B6EC-DEB4089EFC9B}"/>
              </a:ext>
            </a:extLst>
          </p:cNvPr>
          <p:cNvGrpSpPr>
            <a:grpSpLocks/>
          </p:cNvGrpSpPr>
          <p:nvPr/>
        </p:nvGrpSpPr>
        <p:grpSpPr bwMode="auto">
          <a:xfrm>
            <a:off x="512520" y="1075513"/>
            <a:ext cx="2678876" cy="2073275"/>
            <a:chOff x="475" y="782"/>
            <a:chExt cx="1717" cy="1100"/>
          </a:xfrm>
        </p:grpSpPr>
        <p:sp>
          <p:nvSpPr>
            <p:cNvPr id="35" name="Line 7">
              <a:extLst>
                <a:ext uri="{FF2B5EF4-FFF2-40B4-BE49-F238E27FC236}">
                  <a16:creationId xmlns:a16="http://schemas.microsoft.com/office/drawing/2014/main" id="{55950411-BB28-7F4E-A9CA-AAE1853B2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1" y="1199"/>
              <a:ext cx="28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Text Box 8">
              <a:extLst>
                <a:ext uri="{FF2B5EF4-FFF2-40B4-BE49-F238E27FC236}">
                  <a16:creationId xmlns:a16="http://schemas.microsoft.com/office/drawing/2014/main" id="{A44AB503-4143-4D42-974D-F782C043F1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9" y="934"/>
              <a:ext cx="173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b="1" i="1"/>
                <a:t>i</a:t>
              </a:r>
              <a:endParaRPr kumimoji="1" lang="en-US" altLang="zh-CN" sz="2400" b="1"/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20F53D29-A7FA-064D-9D77-FF1A32698E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74" y="975"/>
              <a:ext cx="170" cy="16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Text Box 10">
              <a:extLst>
                <a:ext uri="{FF2B5EF4-FFF2-40B4-BE49-F238E27FC236}">
                  <a16:creationId xmlns:a16="http://schemas.microsoft.com/office/drawing/2014/main" id="{D29CBAAE-CB37-C748-8A9A-1DF5573062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4" y="782"/>
              <a:ext cx="663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/>
                <a:t>K(</a:t>
              </a:r>
              <a:r>
                <a:rPr kumimoji="1" lang="en-US" altLang="zh-CN" sz="2400" b="1" i="1"/>
                <a:t>t</a:t>
              </a:r>
              <a:r>
                <a:rPr kumimoji="1" lang="en-US" altLang="zh-CN" sz="2400" b="1"/>
                <a:t>=0)</a:t>
              </a:r>
            </a:p>
          </p:txBody>
        </p:sp>
        <p:sp>
          <p:nvSpPr>
            <p:cNvPr id="39" name="Text Box 11">
              <a:extLst>
                <a:ext uri="{FF2B5EF4-FFF2-40B4-BE49-F238E27FC236}">
                  <a16:creationId xmlns:a16="http://schemas.microsoft.com/office/drawing/2014/main" id="{42D58C9B-EECB-124D-B845-62687431A8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0" y="1228"/>
              <a:ext cx="230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/>
                <a:t>+</a:t>
              </a:r>
            </a:p>
          </p:txBody>
        </p:sp>
        <p:sp>
          <p:nvSpPr>
            <p:cNvPr id="40" name="Text Box 12">
              <a:extLst>
                <a:ext uri="{FF2B5EF4-FFF2-40B4-BE49-F238E27FC236}">
                  <a16:creationId xmlns:a16="http://schemas.microsoft.com/office/drawing/2014/main" id="{E659BA45-8B57-AC4A-9285-E582AA169F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0" y="1639"/>
              <a:ext cx="216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/>
                <a:t>–</a:t>
              </a:r>
            </a:p>
          </p:txBody>
        </p:sp>
        <p:sp>
          <p:nvSpPr>
            <p:cNvPr id="41" name="Text Box 13">
              <a:extLst>
                <a:ext uri="{FF2B5EF4-FFF2-40B4-BE49-F238E27FC236}">
                  <a16:creationId xmlns:a16="http://schemas.microsoft.com/office/drawing/2014/main" id="{617F5B90-FFB6-C547-BDA2-C128BE3E57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9" y="1392"/>
              <a:ext cx="293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b="1" i="1"/>
                <a:t>v</a:t>
              </a:r>
              <a:r>
                <a:rPr kumimoji="1" lang="en-US" altLang="zh-CN" sz="2400" b="1" i="1" baseline="-25000"/>
                <a:t>R</a:t>
              </a:r>
              <a:endParaRPr kumimoji="1" lang="en-US" altLang="zh-CN" sz="2400" b="1" baseline="-25000"/>
            </a:p>
          </p:txBody>
        </p:sp>
        <p:sp>
          <p:nvSpPr>
            <p:cNvPr id="42" name="Line 14">
              <a:extLst>
                <a:ext uri="{FF2B5EF4-FFF2-40B4-BE49-F238E27FC236}">
                  <a16:creationId xmlns:a16="http://schemas.microsoft.com/office/drawing/2014/main" id="{4D0DC63E-982D-5347-8029-89405635AA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5" y="1208"/>
              <a:ext cx="45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Line 15">
              <a:extLst>
                <a:ext uri="{FF2B5EF4-FFF2-40B4-BE49-F238E27FC236}">
                  <a16:creationId xmlns:a16="http://schemas.microsoft.com/office/drawing/2014/main" id="{E931B4BB-C132-6242-AC43-CCC18D58CE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" y="1208"/>
              <a:ext cx="39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Text Box 16">
              <a:extLst>
                <a:ext uri="{FF2B5EF4-FFF2-40B4-BE49-F238E27FC236}">
                  <a16:creationId xmlns:a16="http://schemas.microsoft.com/office/drawing/2014/main" id="{6EA3D777-665D-F644-BE0A-BD17B66B21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1356"/>
              <a:ext cx="248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 i="1"/>
                <a:t>C</a:t>
              </a:r>
              <a:endParaRPr kumimoji="1" lang="en-US" altLang="zh-CN" sz="2400" b="1"/>
            </a:p>
          </p:txBody>
        </p:sp>
        <p:sp>
          <p:nvSpPr>
            <p:cNvPr id="45" name="Text Box 17">
              <a:extLst>
                <a:ext uri="{FF2B5EF4-FFF2-40B4-BE49-F238E27FC236}">
                  <a16:creationId xmlns:a16="http://schemas.microsoft.com/office/drawing/2014/main" id="{FB748E16-D97C-DE4D-A045-EE7C03C0E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1225"/>
              <a:ext cx="230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/>
                <a:t>+</a:t>
              </a:r>
            </a:p>
          </p:txBody>
        </p:sp>
        <p:sp>
          <p:nvSpPr>
            <p:cNvPr id="46" name="Text Box 18">
              <a:extLst>
                <a:ext uri="{FF2B5EF4-FFF2-40B4-BE49-F238E27FC236}">
                  <a16:creationId xmlns:a16="http://schemas.microsoft.com/office/drawing/2014/main" id="{349E4A74-C1D5-2C44-B542-F2A6D1F6E0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6" y="1579"/>
              <a:ext cx="217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/>
                <a:t>–</a:t>
              </a:r>
            </a:p>
          </p:txBody>
        </p:sp>
        <p:sp>
          <p:nvSpPr>
            <p:cNvPr id="47" name="Text Box 19">
              <a:extLst>
                <a:ext uri="{FF2B5EF4-FFF2-40B4-BE49-F238E27FC236}">
                  <a16:creationId xmlns:a16="http://schemas.microsoft.com/office/drawing/2014/main" id="{24AC309A-A2DD-2741-9B29-73F7DC7BCE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0" y="1344"/>
              <a:ext cx="293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b="1" i="1" dirty="0" err="1"/>
                <a:t>v</a:t>
              </a:r>
              <a:r>
                <a:rPr kumimoji="1" lang="en-US" altLang="zh-CN" sz="2400" b="1" i="1" baseline="-25000" dirty="0" err="1"/>
                <a:t>C</a:t>
              </a:r>
              <a:endParaRPr kumimoji="1" lang="en-US" altLang="zh-CN" sz="2400" b="1" dirty="0"/>
            </a:p>
          </p:txBody>
        </p:sp>
        <p:grpSp>
          <p:nvGrpSpPr>
            <p:cNvPr id="48" name="Group 20">
              <a:extLst>
                <a:ext uri="{FF2B5EF4-FFF2-40B4-BE49-F238E27FC236}">
                  <a16:creationId xmlns:a16="http://schemas.microsoft.com/office/drawing/2014/main" id="{48426D1B-F303-234D-B582-C6664D21C8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5" y="1426"/>
              <a:ext cx="227" cy="109"/>
              <a:chOff x="1824" y="1680"/>
              <a:chExt cx="192" cy="96"/>
            </a:xfrm>
          </p:grpSpPr>
          <p:sp>
            <p:nvSpPr>
              <p:cNvPr id="57" name="Line 21">
                <a:extLst>
                  <a:ext uri="{FF2B5EF4-FFF2-40B4-BE49-F238E27FC236}">
                    <a16:creationId xmlns:a16="http://schemas.microsoft.com/office/drawing/2014/main" id="{9E3E6036-44D5-F343-A391-481E2B039D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680"/>
                <a:ext cx="192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" name="Line 22">
                <a:extLst>
                  <a:ext uri="{FF2B5EF4-FFF2-40B4-BE49-F238E27FC236}">
                    <a16:creationId xmlns:a16="http://schemas.microsoft.com/office/drawing/2014/main" id="{33A2B978-6069-8842-BAD7-9624F5754A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776"/>
                <a:ext cx="192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9" name="Line 23">
              <a:extLst>
                <a:ext uri="{FF2B5EF4-FFF2-40B4-BE49-F238E27FC236}">
                  <a16:creationId xmlns:a16="http://schemas.microsoft.com/office/drawing/2014/main" id="{8818B485-494A-1D47-9AEB-B68204F9B7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8" y="1535"/>
              <a:ext cx="0" cy="27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Line 24">
              <a:extLst>
                <a:ext uri="{FF2B5EF4-FFF2-40B4-BE49-F238E27FC236}">
                  <a16:creationId xmlns:a16="http://schemas.microsoft.com/office/drawing/2014/main" id="{60994BB4-BAA6-2344-A315-C2D1D52BBB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8" y="1208"/>
              <a:ext cx="0" cy="2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Line 25">
              <a:extLst>
                <a:ext uri="{FF2B5EF4-FFF2-40B4-BE49-F238E27FC236}">
                  <a16:creationId xmlns:a16="http://schemas.microsoft.com/office/drawing/2014/main" id="{CF4002C1-3EDC-5745-8420-66F47AC028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25" y="1099"/>
              <a:ext cx="170" cy="109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Line 26">
              <a:extLst>
                <a:ext uri="{FF2B5EF4-FFF2-40B4-BE49-F238E27FC236}">
                  <a16:creationId xmlns:a16="http://schemas.microsoft.com/office/drawing/2014/main" id="{186ABB2B-F29C-C644-8950-CDDE96AAE6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" y="1808"/>
              <a:ext cx="102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Line 27">
              <a:extLst>
                <a:ext uri="{FF2B5EF4-FFF2-40B4-BE49-F238E27FC236}">
                  <a16:creationId xmlns:a16="http://schemas.microsoft.com/office/drawing/2014/main" id="{32F4B8C3-873C-094F-852A-F779E3950F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49" y="1208"/>
              <a:ext cx="0" cy="60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4" name="Group 28">
              <a:extLst>
                <a:ext uri="{FF2B5EF4-FFF2-40B4-BE49-F238E27FC236}">
                  <a16:creationId xmlns:a16="http://schemas.microsoft.com/office/drawing/2014/main" id="{4B5F908A-AC36-E743-BD70-9250B74FF7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4" y="1444"/>
              <a:ext cx="378" cy="286"/>
              <a:chOff x="1120" y="2244"/>
              <a:chExt cx="320" cy="252"/>
            </a:xfrm>
          </p:grpSpPr>
          <p:sp>
            <p:nvSpPr>
              <p:cNvPr id="55" name="Text Box 29">
                <a:extLst>
                  <a:ext uri="{FF2B5EF4-FFF2-40B4-BE49-F238E27FC236}">
                    <a16:creationId xmlns:a16="http://schemas.microsoft.com/office/drawing/2014/main" id="{FCD3F11F-9489-F541-AD8A-68BF1F4B32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0" y="2244"/>
                <a:ext cx="212" cy="2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sz="2400" b="1" i="1"/>
                  <a:t>R</a:t>
                </a:r>
                <a:endParaRPr kumimoji="1" lang="en-US" altLang="zh-CN" sz="2400" b="1"/>
              </a:p>
            </p:txBody>
          </p:sp>
          <p:sp>
            <p:nvSpPr>
              <p:cNvPr id="56" name="Rectangle 30">
                <a:extLst>
                  <a:ext uri="{FF2B5EF4-FFF2-40B4-BE49-F238E27FC236}">
                    <a16:creationId xmlns:a16="http://schemas.microsoft.com/office/drawing/2014/main" id="{DD814F47-D758-3F44-A612-BEF5B6D82E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56"/>
                <a:ext cx="96" cy="24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59" name="Object 6">
            <a:extLst>
              <a:ext uri="{FF2B5EF4-FFF2-40B4-BE49-F238E27FC236}">
                <a16:creationId xmlns:a16="http://schemas.microsoft.com/office/drawing/2014/main" id="{6BEF28E1-53C0-194D-8FAE-E8E51FE73F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381485"/>
              </p:ext>
            </p:extLst>
          </p:nvPr>
        </p:nvGraphicFramePr>
        <p:xfrm>
          <a:off x="4372542" y="2357856"/>
          <a:ext cx="4040188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8" name="Equation" r:id="rId8" imgW="1841400" imgH="393480" progId="Equation.DSMT4">
                  <p:embed/>
                </p:oleObj>
              </mc:Choice>
              <mc:Fallback>
                <p:oleObj name="Equation" r:id="rId8" imgW="1841400" imgH="393480" progId="Equation.DSMT4">
                  <p:embed/>
                  <p:pic>
                    <p:nvPicPr>
                      <p:cNvPr id="1587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2542" y="2357856"/>
                        <a:ext cx="4040188" cy="8683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文本框 60">
            <a:extLst>
              <a:ext uri="{FF2B5EF4-FFF2-40B4-BE49-F238E27FC236}">
                <a16:creationId xmlns:a16="http://schemas.microsoft.com/office/drawing/2014/main" id="{74C3FA42-0B53-7E41-8937-31A448553187}"/>
              </a:ext>
            </a:extLst>
          </p:cNvPr>
          <p:cNvSpPr txBox="1"/>
          <p:nvPr/>
        </p:nvSpPr>
        <p:spPr>
          <a:xfrm>
            <a:off x="874144" y="5495998"/>
            <a:ext cx="76100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宋体" pitchFamily="2" charset="-122"/>
                <a:cs typeface="+mj-cs"/>
                <a:sym typeface="Symbol" pitchFamily="18" charset="2"/>
              </a:rPr>
              <a:t>The time constant is the same regardless of what the output is defined to be.</a:t>
            </a:r>
            <a:endParaRPr lang="zh-CN" altLang="en-US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anose="030F0702030302020204" pitchFamily="66" charset="0"/>
              <a:ea typeface="宋体" pitchFamily="2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64484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0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0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0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0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8" grpId="0" animBg="1" autoUpdateAnimBg="0"/>
      <p:bldP spid="6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0041" y="137037"/>
            <a:ext cx="7890528" cy="763497"/>
          </a:xfrm>
        </p:spPr>
        <p:txBody>
          <a:bodyPr/>
          <a:lstStyle/>
          <a:p>
            <a:pPr algn="l"/>
            <a:r>
              <a:rPr kumimoji="1" lang="en-US" altLang="zh-CN" sz="3600" kern="1200" dirty="0">
                <a:ea typeface="宋体" pitchFamily="2" charset="-122"/>
              </a:rPr>
              <a:t>7.3 The source-free RL circuit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967538" y="6393904"/>
            <a:ext cx="1905000" cy="457200"/>
          </a:xfrm>
        </p:spPr>
        <p:txBody>
          <a:bodyPr/>
          <a:lstStyle/>
          <a:p>
            <a:fld id="{2213E9D0-4E7D-494B-9FDA-030BD051EAFE}" type="slidenum">
              <a:rPr lang="en-US" altLang="zh-CN" smtClean="0"/>
              <a:pPr/>
              <a:t>13</a:t>
            </a:fld>
            <a:endParaRPr lang="en-US" altLang="zh-CN"/>
          </a:p>
        </p:txBody>
      </p:sp>
      <p:graphicFrame>
        <p:nvGraphicFramePr>
          <p:cNvPr id="161820" name="Object 28"/>
          <p:cNvGraphicFramePr>
            <a:graphicFrameLocks noChangeAspect="1"/>
          </p:cNvGraphicFramePr>
          <p:nvPr/>
        </p:nvGraphicFramePr>
        <p:xfrm>
          <a:off x="523875" y="1196975"/>
          <a:ext cx="33750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98" name="Equation" r:id="rId3" imgW="1536480" imgH="228600" progId="Equation.DSMT4">
                  <p:embed/>
                </p:oleObj>
              </mc:Choice>
              <mc:Fallback>
                <p:oleObj name="Equation" r:id="rId3" imgW="1536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75" y="1196975"/>
                        <a:ext cx="3375025" cy="5032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21" name="Object 29"/>
          <p:cNvGraphicFramePr>
            <a:graphicFrameLocks noChangeAspect="1"/>
          </p:cNvGraphicFramePr>
          <p:nvPr/>
        </p:nvGraphicFramePr>
        <p:xfrm>
          <a:off x="179388" y="1916113"/>
          <a:ext cx="4965700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99" name="Equation" r:id="rId5" imgW="2260440" imgH="393480" progId="Equation.DSMT4">
                  <p:embed/>
                </p:oleObj>
              </mc:Choice>
              <mc:Fallback>
                <p:oleObj name="Equation" r:id="rId5" imgW="22604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916113"/>
                        <a:ext cx="4965700" cy="8651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22" name="Object 30"/>
          <p:cNvGraphicFramePr>
            <a:graphicFrameLocks noChangeAspect="1"/>
          </p:cNvGraphicFramePr>
          <p:nvPr/>
        </p:nvGraphicFramePr>
        <p:xfrm>
          <a:off x="139700" y="2924175"/>
          <a:ext cx="446405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00" name="Equation" r:id="rId7" imgW="2031840" imgH="393480" progId="Equation.DSMT4">
                  <p:embed/>
                </p:oleObj>
              </mc:Choice>
              <mc:Fallback>
                <p:oleObj name="Equation" r:id="rId7" imgW="20318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00" y="2924175"/>
                        <a:ext cx="4464050" cy="8651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23" name="Object 31"/>
          <p:cNvGraphicFramePr>
            <a:graphicFrameLocks noChangeAspect="1"/>
          </p:cNvGraphicFramePr>
          <p:nvPr/>
        </p:nvGraphicFramePr>
        <p:xfrm>
          <a:off x="323850" y="4149725"/>
          <a:ext cx="41910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01" name="Equation" r:id="rId9" imgW="190440" imgH="152280" progId="Equation.DSMT4">
                  <p:embed/>
                </p:oleObj>
              </mc:Choice>
              <mc:Fallback>
                <p:oleObj name="Equation" r:id="rId9" imgW="19044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149725"/>
                        <a:ext cx="419100" cy="3349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24" name="Object 32"/>
          <p:cNvGraphicFramePr>
            <a:graphicFrameLocks noChangeAspect="1"/>
          </p:cNvGraphicFramePr>
          <p:nvPr/>
        </p:nvGraphicFramePr>
        <p:xfrm>
          <a:off x="996950" y="3933825"/>
          <a:ext cx="1785938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02" name="Equation" r:id="rId11" imgW="812520" imgH="393480" progId="Equation.DSMT4">
                  <p:embed/>
                </p:oleObj>
              </mc:Choice>
              <mc:Fallback>
                <p:oleObj name="Equation" r:id="rId11" imgW="8125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3933825"/>
                        <a:ext cx="1785938" cy="8667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25" name="Object 33"/>
          <p:cNvGraphicFramePr>
            <a:graphicFrameLocks noChangeAspect="1"/>
          </p:cNvGraphicFramePr>
          <p:nvPr/>
        </p:nvGraphicFramePr>
        <p:xfrm>
          <a:off x="323850" y="5373688"/>
          <a:ext cx="41910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03" name="Equation" r:id="rId13" imgW="190440" imgH="152280" progId="Equation.DSMT4">
                  <p:embed/>
                </p:oleObj>
              </mc:Choice>
              <mc:Fallback>
                <p:oleObj name="Equation" r:id="rId13" imgW="19044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373688"/>
                        <a:ext cx="419100" cy="3349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26" name="Object 34"/>
          <p:cNvGraphicFramePr>
            <a:graphicFrameLocks noChangeAspect="1"/>
          </p:cNvGraphicFramePr>
          <p:nvPr/>
        </p:nvGraphicFramePr>
        <p:xfrm>
          <a:off x="998538" y="5013325"/>
          <a:ext cx="1590675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04" name="Equation" r:id="rId15" imgW="723600" imgH="393480" progId="Equation.DSMT4">
                  <p:embed/>
                </p:oleObj>
              </mc:Choice>
              <mc:Fallback>
                <p:oleObj name="Equation" r:id="rId15" imgW="723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538" y="5013325"/>
                        <a:ext cx="1590675" cy="8683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27" name="Object 35"/>
          <p:cNvGraphicFramePr>
            <a:graphicFrameLocks noChangeAspect="1"/>
          </p:cNvGraphicFramePr>
          <p:nvPr/>
        </p:nvGraphicFramePr>
        <p:xfrm>
          <a:off x="4716463" y="3141663"/>
          <a:ext cx="41275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05" name="Equation" r:id="rId17" imgW="1879560" imgH="203040" progId="Equation.DSMT4">
                  <p:embed/>
                </p:oleObj>
              </mc:Choice>
              <mc:Fallback>
                <p:oleObj name="Equation" r:id="rId17" imgW="1879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3141663"/>
                        <a:ext cx="4127500" cy="447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28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826440"/>
              </p:ext>
            </p:extLst>
          </p:nvPr>
        </p:nvGraphicFramePr>
        <p:xfrm>
          <a:off x="5162550" y="3716338"/>
          <a:ext cx="265112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06" name="Equation" r:id="rId19" imgW="1206360" imgH="393480" progId="Equation.DSMT4">
                  <p:embed/>
                </p:oleObj>
              </mc:Choice>
              <mc:Fallback>
                <p:oleObj name="Equation" r:id="rId19" imgW="12063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2550" y="3716338"/>
                        <a:ext cx="2651125" cy="8667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29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325148"/>
              </p:ext>
            </p:extLst>
          </p:nvPr>
        </p:nvGraphicFramePr>
        <p:xfrm>
          <a:off x="3794125" y="4652963"/>
          <a:ext cx="51022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07" name="Equation" r:id="rId21" imgW="2323800" imgH="203040" progId="Equation.DSMT4">
                  <p:embed/>
                </p:oleObj>
              </mc:Choice>
              <mc:Fallback>
                <p:oleObj name="Equation" r:id="rId21" imgW="2323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4125" y="4652963"/>
                        <a:ext cx="5102225" cy="447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30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4802510"/>
              </p:ext>
            </p:extLst>
          </p:nvPr>
        </p:nvGraphicFramePr>
        <p:xfrm>
          <a:off x="3905250" y="5229225"/>
          <a:ext cx="1617663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08" name="Equation" r:id="rId23" imgW="736560" imgH="393480" progId="Equation.DSMT4">
                  <p:embed/>
                </p:oleObj>
              </mc:Choice>
              <mc:Fallback>
                <p:oleObj name="Equation" r:id="rId23" imgW="7365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5250" y="5229225"/>
                        <a:ext cx="1617663" cy="8683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31" name="Object 39"/>
          <p:cNvGraphicFramePr>
            <a:graphicFrameLocks noChangeAspect="1"/>
          </p:cNvGraphicFramePr>
          <p:nvPr/>
        </p:nvGraphicFramePr>
        <p:xfrm>
          <a:off x="5795963" y="5516563"/>
          <a:ext cx="41910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09" name="Equation" r:id="rId25" imgW="190440" imgH="152280" progId="Equation.DSMT4">
                  <p:embed/>
                </p:oleObj>
              </mc:Choice>
              <mc:Fallback>
                <p:oleObj name="Equation" r:id="rId25" imgW="19044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5516563"/>
                        <a:ext cx="419100" cy="3349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32" name="Object 40"/>
          <p:cNvGraphicFramePr>
            <a:graphicFrameLocks noChangeAspect="1"/>
          </p:cNvGraphicFramePr>
          <p:nvPr/>
        </p:nvGraphicFramePr>
        <p:xfrm>
          <a:off x="6511925" y="5314950"/>
          <a:ext cx="1730375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10" name="Equation" r:id="rId27" imgW="787320" imgH="279360" progId="Equation.DSMT4">
                  <p:embed/>
                </p:oleObj>
              </mc:Choice>
              <mc:Fallback>
                <p:oleObj name="Equation" r:id="rId27" imgW="7873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1925" y="5314950"/>
                        <a:ext cx="1730375" cy="6143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33" name="Object 41"/>
          <p:cNvGraphicFramePr>
            <a:graphicFrameLocks noChangeAspect="1"/>
          </p:cNvGraphicFramePr>
          <p:nvPr/>
        </p:nvGraphicFramePr>
        <p:xfrm>
          <a:off x="3100388" y="6238875"/>
          <a:ext cx="172878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11" name="Equation" r:id="rId29" imgW="787320" imgH="228600" progId="Equation.DSMT4">
                  <p:embed/>
                </p:oleObj>
              </mc:Choice>
              <mc:Fallback>
                <p:oleObj name="Equation" r:id="rId29" imgW="787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388" y="6238875"/>
                        <a:ext cx="1728787" cy="5032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34" name="Object 42"/>
          <p:cNvGraphicFramePr>
            <a:graphicFrameLocks noChangeAspect="1"/>
          </p:cNvGraphicFramePr>
          <p:nvPr/>
        </p:nvGraphicFramePr>
        <p:xfrm>
          <a:off x="5076825" y="6308725"/>
          <a:ext cx="41910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12" name="Equation" r:id="rId31" imgW="190440" imgH="152280" progId="Equation.DSMT4">
                  <p:embed/>
                </p:oleObj>
              </mc:Choice>
              <mc:Fallback>
                <p:oleObj name="Equation" r:id="rId31" imgW="19044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6308725"/>
                        <a:ext cx="419100" cy="3349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35" name="Object 43"/>
          <p:cNvGraphicFramePr>
            <a:graphicFrameLocks noChangeAspect="1"/>
          </p:cNvGraphicFramePr>
          <p:nvPr/>
        </p:nvGraphicFramePr>
        <p:xfrm>
          <a:off x="6005513" y="6092825"/>
          <a:ext cx="1731962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13" name="Equation" r:id="rId33" imgW="787320" imgH="291960" progId="Equation.DSMT4">
                  <p:embed/>
                </p:oleObj>
              </mc:Choice>
              <mc:Fallback>
                <p:oleObj name="Equation" r:id="rId33" imgW="7873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5513" y="6092825"/>
                        <a:ext cx="1731962" cy="6429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1836" name="Group 44"/>
          <p:cNvGrpSpPr>
            <a:grpSpLocks/>
          </p:cNvGrpSpPr>
          <p:nvPr/>
        </p:nvGrpSpPr>
        <p:grpSpPr bwMode="auto">
          <a:xfrm>
            <a:off x="6267450" y="754062"/>
            <a:ext cx="2481263" cy="1797050"/>
            <a:chOff x="1066" y="1972"/>
            <a:chExt cx="1563" cy="1132"/>
          </a:xfrm>
        </p:grpSpPr>
        <p:sp>
          <p:nvSpPr>
            <p:cNvPr id="161837" name="Line 45"/>
            <p:cNvSpPr>
              <a:spLocks noChangeShapeType="1"/>
            </p:cNvSpPr>
            <p:nvPr/>
          </p:nvSpPr>
          <p:spPr bwMode="auto">
            <a:xfrm>
              <a:off x="1711" y="2365"/>
              <a:ext cx="39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838" name="Line 46"/>
            <p:cNvSpPr>
              <a:spLocks noChangeShapeType="1"/>
            </p:cNvSpPr>
            <p:nvPr/>
          </p:nvSpPr>
          <p:spPr bwMode="auto">
            <a:xfrm>
              <a:off x="1973" y="2365"/>
              <a:ext cx="24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61839" name="Group 47"/>
            <p:cNvGrpSpPr>
              <a:grpSpLocks/>
            </p:cNvGrpSpPr>
            <p:nvPr/>
          </p:nvGrpSpPr>
          <p:grpSpPr bwMode="auto">
            <a:xfrm>
              <a:off x="1837" y="1972"/>
              <a:ext cx="247" cy="335"/>
              <a:chOff x="1872" y="498"/>
              <a:chExt cx="240" cy="270"/>
            </a:xfrm>
          </p:grpSpPr>
          <p:sp>
            <p:nvSpPr>
              <p:cNvPr id="161840" name="Line 48"/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1841" name="Text Box 49"/>
              <p:cNvSpPr txBox="1">
                <a:spLocks noChangeArrowheads="1"/>
              </p:cNvSpPr>
              <p:nvPr/>
            </p:nvSpPr>
            <p:spPr bwMode="auto">
              <a:xfrm>
                <a:off x="1873" y="498"/>
                <a:ext cx="165" cy="2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b="1" i="1"/>
                  <a:t>i</a:t>
                </a:r>
                <a:endParaRPr kumimoji="1" lang="en-US" altLang="zh-CN" sz="2400" b="1"/>
              </a:p>
            </p:txBody>
          </p:sp>
        </p:grpSp>
        <p:sp>
          <p:nvSpPr>
            <p:cNvPr id="161842" name="Text Box 50"/>
            <p:cNvSpPr txBox="1">
              <a:spLocks noChangeArrowheads="1"/>
            </p:cNvSpPr>
            <p:nvPr/>
          </p:nvSpPr>
          <p:spPr bwMode="auto">
            <a:xfrm>
              <a:off x="2060" y="2578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 i="1"/>
                <a:t>L</a:t>
              </a:r>
              <a:endParaRPr kumimoji="1" lang="en-US" altLang="zh-CN" sz="2400" b="1"/>
            </a:p>
          </p:txBody>
        </p:sp>
        <p:grpSp>
          <p:nvGrpSpPr>
            <p:cNvPr id="161843" name="Group 51"/>
            <p:cNvGrpSpPr>
              <a:grpSpLocks/>
            </p:cNvGrpSpPr>
            <p:nvPr/>
          </p:nvGrpSpPr>
          <p:grpSpPr bwMode="auto">
            <a:xfrm>
              <a:off x="2315" y="2340"/>
              <a:ext cx="314" cy="764"/>
              <a:chOff x="1982" y="748"/>
              <a:chExt cx="305" cy="616"/>
            </a:xfrm>
          </p:grpSpPr>
          <p:grpSp>
            <p:nvGrpSpPr>
              <p:cNvPr id="161844" name="Group 52"/>
              <p:cNvGrpSpPr>
                <a:grpSpLocks/>
              </p:cNvGrpSpPr>
              <p:nvPr/>
            </p:nvGrpSpPr>
            <p:grpSpPr bwMode="auto">
              <a:xfrm>
                <a:off x="2069" y="748"/>
                <a:ext cx="218" cy="616"/>
                <a:chOff x="1637" y="1276"/>
                <a:chExt cx="218" cy="616"/>
              </a:xfrm>
            </p:grpSpPr>
            <p:sp>
              <p:nvSpPr>
                <p:cNvPr id="161845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1637" y="1276"/>
                  <a:ext cx="218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kumimoji="1" lang="en-US" altLang="zh-CN" sz="2400" b="1"/>
                    <a:t>+</a:t>
                  </a:r>
                </a:p>
              </p:txBody>
            </p:sp>
            <p:sp>
              <p:nvSpPr>
                <p:cNvPr id="161846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1639" y="1658"/>
                  <a:ext cx="207" cy="23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kumimoji="1" lang="en-US" altLang="zh-CN" sz="2400" b="1"/>
                    <a:t>–</a:t>
                  </a:r>
                </a:p>
              </p:txBody>
            </p:sp>
          </p:grpSp>
          <p:sp>
            <p:nvSpPr>
              <p:cNvPr id="161847" name="Text Box 55"/>
              <p:cNvSpPr txBox="1">
                <a:spLocks noChangeArrowheads="1"/>
              </p:cNvSpPr>
              <p:nvPr/>
            </p:nvSpPr>
            <p:spPr bwMode="auto">
              <a:xfrm>
                <a:off x="1982" y="930"/>
                <a:ext cx="273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b="1" i="1"/>
                  <a:t>v</a:t>
                </a:r>
                <a:r>
                  <a:rPr kumimoji="1" lang="en-US" altLang="zh-CN" sz="2400" b="1" i="1" baseline="-25000"/>
                  <a:t>L</a:t>
                </a:r>
                <a:endParaRPr kumimoji="1" lang="en-US" altLang="zh-CN" sz="2400" b="1"/>
              </a:p>
            </p:txBody>
          </p:sp>
        </p:grpSp>
        <p:sp>
          <p:nvSpPr>
            <p:cNvPr id="161848" name="Line 56"/>
            <p:cNvSpPr>
              <a:spLocks noChangeShapeType="1"/>
            </p:cNvSpPr>
            <p:nvPr/>
          </p:nvSpPr>
          <p:spPr bwMode="auto">
            <a:xfrm>
              <a:off x="1069" y="2365"/>
              <a:ext cx="69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61849" name="Group 57"/>
            <p:cNvGrpSpPr>
              <a:grpSpLocks/>
            </p:cNvGrpSpPr>
            <p:nvPr/>
          </p:nvGrpSpPr>
          <p:grpSpPr bwMode="auto">
            <a:xfrm flipH="1" flipV="1">
              <a:off x="2255" y="2543"/>
              <a:ext cx="73" cy="357"/>
              <a:chOff x="2586" y="847"/>
              <a:chExt cx="71" cy="654"/>
            </a:xfrm>
          </p:grpSpPr>
          <p:sp>
            <p:nvSpPr>
              <p:cNvPr id="161850" name="Line 58"/>
              <p:cNvSpPr>
                <a:spLocks noChangeShapeType="1"/>
              </p:cNvSpPr>
              <p:nvPr/>
            </p:nvSpPr>
            <p:spPr bwMode="auto">
              <a:xfrm flipV="1">
                <a:off x="2656" y="847"/>
                <a:ext cx="1" cy="69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1851" name="Line 59"/>
              <p:cNvSpPr>
                <a:spLocks noChangeShapeType="1"/>
              </p:cNvSpPr>
              <p:nvPr/>
            </p:nvSpPr>
            <p:spPr bwMode="auto">
              <a:xfrm flipV="1">
                <a:off x="2656" y="1418"/>
                <a:ext cx="1" cy="83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1852" name="Freeform 60"/>
              <p:cNvSpPr>
                <a:spLocks/>
              </p:cNvSpPr>
              <p:nvPr/>
            </p:nvSpPr>
            <p:spPr bwMode="auto">
              <a:xfrm>
                <a:off x="2586" y="916"/>
                <a:ext cx="70" cy="502"/>
              </a:xfrm>
              <a:custGeom>
                <a:avLst/>
                <a:gdLst>
                  <a:gd name="T0" fmla="*/ 70 w 70"/>
                  <a:gd name="T1" fmla="*/ 502 h 502"/>
                  <a:gd name="T2" fmla="*/ 28 w 70"/>
                  <a:gd name="T3" fmla="*/ 488 h 502"/>
                  <a:gd name="T4" fmla="*/ 0 w 70"/>
                  <a:gd name="T5" fmla="*/ 446 h 502"/>
                  <a:gd name="T6" fmla="*/ 28 w 70"/>
                  <a:gd name="T7" fmla="*/ 404 h 502"/>
                  <a:gd name="T8" fmla="*/ 70 w 70"/>
                  <a:gd name="T9" fmla="*/ 376 h 502"/>
                  <a:gd name="T10" fmla="*/ 28 w 70"/>
                  <a:gd name="T11" fmla="*/ 362 h 502"/>
                  <a:gd name="T12" fmla="*/ 0 w 70"/>
                  <a:gd name="T13" fmla="*/ 321 h 502"/>
                  <a:gd name="T14" fmla="*/ 28 w 70"/>
                  <a:gd name="T15" fmla="*/ 279 h 502"/>
                  <a:gd name="T16" fmla="*/ 70 w 70"/>
                  <a:gd name="T17" fmla="*/ 251 h 502"/>
                  <a:gd name="T18" fmla="*/ 28 w 70"/>
                  <a:gd name="T19" fmla="*/ 237 h 502"/>
                  <a:gd name="T20" fmla="*/ 0 w 70"/>
                  <a:gd name="T21" fmla="*/ 195 h 502"/>
                  <a:gd name="T22" fmla="*/ 28 w 70"/>
                  <a:gd name="T23" fmla="*/ 154 h 502"/>
                  <a:gd name="T24" fmla="*/ 70 w 70"/>
                  <a:gd name="T25" fmla="*/ 126 h 502"/>
                  <a:gd name="T26" fmla="*/ 28 w 70"/>
                  <a:gd name="T27" fmla="*/ 112 h 502"/>
                  <a:gd name="T28" fmla="*/ 0 w 70"/>
                  <a:gd name="T29" fmla="*/ 70 h 502"/>
                  <a:gd name="T30" fmla="*/ 28 w 70"/>
                  <a:gd name="T31" fmla="*/ 28 h 502"/>
                  <a:gd name="T32" fmla="*/ 70 w 70"/>
                  <a:gd name="T33" fmla="*/ 0 h 5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0" h="502">
                    <a:moveTo>
                      <a:pt x="70" y="502"/>
                    </a:moveTo>
                    <a:lnTo>
                      <a:pt x="28" y="488"/>
                    </a:lnTo>
                    <a:lnTo>
                      <a:pt x="0" y="446"/>
                    </a:lnTo>
                    <a:lnTo>
                      <a:pt x="28" y="404"/>
                    </a:lnTo>
                    <a:lnTo>
                      <a:pt x="70" y="376"/>
                    </a:lnTo>
                    <a:lnTo>
                      <a:pt x="28" y="362"/>
                    </a:lnTo>
                    <a:lnTo>
                      <a:pt x="0" y="321"/>
                    </a:lnTo>
                    <a:lnTo>
                      <a:pt x="28" y="279"/>
                    </a:lnTo>
                    <a:lnTo>
                      <a:pt x="70" y="251"/>
                    </a:lnTo>
                    <a:lnTo>
                      <a:pt x="28" y="237"/>
                    </a:lnTo>
                    <a:lnTo>
                      <a:pt x="0" y="195"/>
                    </a:lnTo>
                    <a:lnTo>
                      <a:pt x="28" y="154"/>
                    </a:lnTo>
                    <a:lnTo>
                      <a:pt x="70" y="126"/>
                    </a:lnTo>
                    <a:lnTo>
                      <a:pt x="28" y="112"/>
                    </a:lnTo>
                    <a:lnTo>
                      <a:pt x="0" y="70"/>
                    </a:lnTo>
                    <a:lnTo>
                      <a:pt x="28" y="28"/>
                    </a:lnTo>
                    <a:lnTo>
                      <a:pt x="70" y="0"/>
                    </a:lnTo>
                  </a:path>
                </a:pathLst>
              </a:custGeom>
              <a:noFill/>
              <a:ln w="38100" cmpd="sng">
                <a:solidFill>
                  <a:srgbClr val="FF99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1853" name="Line 61"/>
            <p:cNvSpPr>
              <a:spLocks noChangeShapeType="1"/>
            </p:cNvSpPr>
            <p:nvPr/>
          </p:nvSpPr>
          <p:spPr bwMode="auto">
            <a:xfrm flipV="1">
              <a:off x="2255" y="2841"/>
              <a:ext cx="0" cy="17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854" name="Line 62"/>
            <p:cNvSpPr>
              <a:spLocks noChangeShapeType="1"/>
            </p:cNvSpPr>
            <p:nvPr/>
          </p:nvSpPr>
          <p:spPr bwMode="auto">
            <a:xfrm>
              <a:off x="2255" y="2365"/>
              <a:ext cx="0" cy="17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61855" name="Group 63"/>
            <p:cNvGrpSpPr>
              <a:grpSpLocks/>
            </p:cNvGrpSpPr>
            <p:nvPr/>
          </p:nvGrpSpPr>
          <p:grpSpPr bwMode="auto">
            <a:xfrm>
              <a:off x="1338" y="2043"/>
              <a:ext cx="348" cy="382"/>
              <a:chOff x="1008" y="556"/>
              <a:chExt cx="338" cy="308"/>
            </a:xfrm>
          </p:grpSpPr>
          <p:sp>
            <p:nvSpPr>
              <p:cNvPr id="161856" name="Text Box 64"/>
              <p:cNvSpPr txBox="1">
                <a:spLocks noChangeArrowheads="1"/>
              </p:cNvSpPr>
              <p:nvPr/>
            </p:nvSpPr>
            <p:spPr bwMode="auto">
              <a:xfrm>
                <a:off x="1109" y="556"/>
                <a:ext cx="23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sz="2400" b="1" i="1"/>
                  <a:t>R</a:t>
                </a:r>
                <a:endParaRPr kumimoji="1" lang="en-US" altLang="zh-CN" sz="2400" b="1"/>
              </a:p>
            </p:txBody>
          </p:sp>
          <p:sp>
            <p:nvSpPr>
              <p:cNvPr id="161857" name="Rectangle 65"/>
              <p:cNvSpPr>
                <a:spLocks noChangeArrowheads="1"/>
              </p:cNvSpPr>
              <p:nvPr/>
            </p:nvSpPr>
            <p:spPr bwMode="auto">
              <a:xfrm>
                <a:off x="1008" y="768"/>
                <a:ext cx="288" cy="9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CC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61858" name="Line 66"/>
            <p:cNvSpPr>
              <a:spLocks noChangeShapeType="1"/>
            </p:cNvSpPr>
            <p:nvPr/>
          </p:nvSpPr>
          <p:spPr bwMode="auto">
            <a:xfrm>
              <a:off x="1066" y="3067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59" name="Line 67"/>
            <p:cNvSpPr>
              <a:spLocks noChangeShapeType="1"/>
            </p:cNvSpPr>
            <p:nvPr/>
          </p:nvSpPr>
          <p:spPr bwMode="auto">
            <a:xfrm>
              <a:off x="1066" y="2341"/>
              <a:ext cx="0" cy="7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8160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1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1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1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1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1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1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1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1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1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1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1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1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1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1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1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1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1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1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1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1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1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1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1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1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1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1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618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61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61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1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61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61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61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61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20" name="Text Box 4"/>
          <p:cNvSpPr txBox="1">
            <a:spLocks noChangeArrowheads="1"/>
          </p:cNvSpPr>
          <p:nvPr/>
        </p:nvSpPr>
        <p:spPr bwMode="auto">
          <a:xfrm>
            <a:off x="323851" y="1268413"/>
            <a:ext cx="2519362" cy="53181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b="1" dirty="0">
                <a:solidFill>
                  <a:schemeClr val="bg1"/>
                </a:solidFill>
              </a:rPr>
              <a:t>Time Constant</a:t>
            </a:r>
            <a:endParaRPr lang="en-US" altLang="zh-CN" sz="3600" b="1" dirty="0">
              <a:solidFill>
                <a:schemeClr val="bg1"/>
              </a:solidFill>
              <a:ea typeface="仿宋_GB2312" pitchFamily="49" charset="-122"/>
            </a:endParaRPr>
          </a:p>
        </p:txBody>
      </p:sp>
      <p:graphicFrame>
        <p:nvGraphicFramePr>
          <p:cNvPr id="162823" name="Object 7"/>
          <p:cNvGraphicFramePr>
            <a:graphicFrameLocks noChangeAspect="1"/>
          </p:cNvGraphicFramePr>
          <p:nvPr/>
        </p:nvGraphicFramePr>
        <p:xfrm>
          <a:off x="3132138" y="3068638"/>
          <a:ext cx="2708275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7" name="Equation" r:id="rId3" imgW="1231560" imgH="291960" progId="Equation.DSMT4">
                  <p:embed/>
                </p:oleObj>
              </mc:Choice>
              <mc:Fallback>
                <p:oleObj name="Equation" r:id="rId3" imgW="12315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068638"/>
                        <a:ext cx="2708275" cy="6429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24" name="Object 8"/>
          <p:cNvGraphicFramePr>
            <a:graphicFrameLocks noChangeAspect="1"/>
          </p:cNvGraphicFramePr>
          <p:nvPr/>
        </p:nvGraphicFramePr>
        <p:xfrm>
          <a:off x="3276600" y="404813"/>
          <a:ext cx="1087438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8" name="Equation" r:id="rId5" imgW="495000" imgH="304560" progId="Equation.DSMT4">
                  <p:embed/>
                </p:oleObj>
              </mc:Choice>
              <mc:Fallback>
                <p:oleObj name="Equation" r:id="rId5" imgW="4950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04813"/>
                        <a:ext cx="1087438" cy="669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26" name="Object 10"/>
          <p:cNvGraphicFramePr>
            <a:graphicFrameLocks noChangeAspect="1"/>
          </p:cNvGraphicFramePr>
          <p:nvPr/>
        </p:nvGraphicFramePr>
        <p:xfrm>
          <a:off x="5580063" y="115888"/>
          <a:ext cx="3213100" cy="147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9" name="Visio" r:id="rId7" imgW="2026920" imgH="1009802" progId="Visio.Drawing.11">
                  <p:embed/>
                </p:oleObj>
              </mc:Choice>
              <mc:Fallback>
                <p:oleObj name="Visio" r:id="rId7" imgW="2026920" imgH="100980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15888"/>
                        <a:ext cx="3213100" cy="14747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27" name="Object 11"/>
          <p:cNvGraphicFramePr>
            <a:graphicFrameLocks noChangeAspect="1"/>
          </p:cNvGraphicFramePr>
          <p:nvPr/>
        </p:nvGraphicFramePr>
        <p:xfrm>
          <a:off x="1042988" y="404813"/>
          <a:ext cx="1647825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0" name="Equation" r:id="rId9" imgW="749160" imgH="291960" progId="Equation.DSMT4">
                  <p:embed/>
                </p:oleObj>
              </mc:Choice>
              <mc:Fallback>
                <p:oleObj name="Equation" r:id="rId9" imgW="7491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04813"/>
                        <a:ext cx="1647825" cy="6429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28" name="Object 12"/>
          <p:cNvGraphicFramePr>
            <a:graphicFrameLocks noChangeAspect="1"/>
          </p:cNvGraphicFramePr>
          <p:nvPr/>
        </p:nvGraphicFramePr>
        <p:xfrm>
          <a:off x="179388" y="1916113"/>
          <a:ext cx="8137525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1" name="Equation" r:id="rId11" imgW="3708360" imgH="431640" progId="Equation.DSMT4">
                  <p:embed/>
                </p:oleObj>
              </mc:Choice>
              <mc:Fallback>
                <p:oleObj name="Equation" r:id="rId11" imgW="3708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916113"/>
                        <a:ext cx="8137525" cy="9509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829" name="Text Box 13"/>
          <p:cNvSpPr txBox="1">
            <a:spLocks noChangeArrowheads="1"/>
          </p:cNvSpPr>
          <p:nvPr/>
        </p:nvSpPr>
        <p:spPr bwMode="auto">
          <a:xfrm>
            <a:off x="179388" y="3068638"/>
            <a:ext cx="2590800" cy="53181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b="1" dirty="0">
                <a:solidFill>
                  <a:schemeClr val="bg1"/>
                </a:solidFill>
              </a:rPr>
              <a:t>Voltage </a:t>
            </a:r>
            <a:r>
              <a:rPr lang="en-US" altLang="zh-CN" sz="2800" b="1" i="1" dirty="0" err="1">
                <a:solidFill>
                  <a:schemeClr val="bg1"/>
                </a:solidFill>
              </a:rPr>
              <a:t>v</a:t>
            </a:r>
            <a:r>
              <a:rPr lang="en-US" altLang="zh-CN" sz="2800" b="1" i="1" baseline="-25000" dirty="0" err="1">
                <a:solidFill>
                  <a:schemeClr val="bg1"/>
                </a:solidFill>
              </a:rPr>
              <a:t>R</a:t>
            </a:r>
            <a:r>
              <a:rPr lang="en-US" altLang="zh-CN" sz="2800" b="1" dirty="0">
                <a:solidFill>
                  <a:schemeClr val="bg1"/>
                </a:solidFill>
              </a:rPr>
              <a:t>(</a:t>
            </a:r>
            <a:r>
              <a:rPr lang="en-US" altLang="zh-CN" sz="2800" b="1" i="1" dirty="0">
                <a:solidFill>
                  <a:schemeClr val="bg1"/>
                </a:solidFill>
              </a:rPr>
              <a:t>t</a:t>
            </a:r>
            <a:r>
              <a:rPr lang="en-US" altLang="zh-CN" sz="2800" b="1" dirty="0">
                <a:solidFill>
                  <a:schemeClr val="bg1"/>
                </a:solidFill>
              </a:rPr>
              <a:t>)</a:t>
            </a:r>
            <a:endParaRPr lang="en-US" altLang="zh-CN" sz="3600" b="1" dirty="0">
              <a:solidFill>
                <a:schemeClr val="bg1"/>
              </a:solidFill>
              <a:ea typeface="仿宋_GB2312" pitchFamily="49" charset="-122"/>
            </a:endParaRPr>
          </a:p>
        </p:txBody>
      </p:sp>
      <p:sp>
        <p:nvSpPr>
          <p:cNvPr id="162830" name="Text Box 14"/>
          <p:cNvSpPr txBox="1">
            <a:spLocks noChangeArrowheads="1"/>
          </p:cNvSpPr>
          <p:nvPr/>
        </p:nvSpPr>
        <p:spPr bwMode="auto">
          <a:xfrm>
            <a:off x="179388" y="3860800"/>
            <a:ext cx="5184775" cy="53181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b="1" dirty="0">
                <a:solidFill>
                  <a:schemeClr val="bg1"/>
                </a:solidFill>
              </a:rPr>
              <a:t>Power dissipated in the resistor</a:t>
            </a:r>
            <a:endParaRPr lang="en-US" altLang="zh-CN" sz="3600" b="1" dirty="0">
              <a:solidFill>
                <a:schemeClr val="bg1"/>
              </a:solidFill>
              <a:ea typeface="仿宋_GB2312" pitchFamily="49" charset="-122"/>
            </a:endParaRPr>
          </a:p>
        </p:txBody>
      </p:sp>
      <p:graphicFrame>
        <p:nvGraphicFramePr>
          <p:cNvPr id="16283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7406361"/>
              </p:ext>
            </p:extLst>
          </p:nvPr>
        </p:nvGraphicFramePr>
        <p:xfrm>
          <a:off x="238597" y="4433885"/>
          <a:ext cx="279082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2" name="Equation" r:id="rId13" imgW="1269720" imgH="291960" progId="Equation.DSMT4">
                  <p:embed/>
                </p:oleObj>
              </mc:Choice>
              <mc:Fallback>
                <p:oleObj name="Equation" r:id="rId13" imgW="12697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597" y="4433885"/>
                        <a:ext cx="2790825" cy="6413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832" name="Text Box 16"/>
          <p:cNvSpPr txBox="1">
            <a:spLocks noChangeArrowheads="1"/>
          </p:cNvSpPr>
          <p:nvPr/>
        </p:nvSpPr>
        <p:spPr bwMode="auto">
          <a:xfrm>
            <a:off x="238597" y="5264806"/>
            <a:ext cx="5184775" cy="53181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b="1" dirty="0">
                <a:solidFill>
                  <a:schemeClr val="bg1"/>
                </a:solidFill>
              </a:rPr>
              <a:t>Energy absorbed by the resistor</a:t>
            </a:r>
            <a:endParaRPr lang="en-US" altLang="zh-CN" sz="3600" b="1" dirty="0">
              <a:solidFill>
                <a:schemeClr val="bg1"/>
              </a:solidFill>
              <a:ea typeface="仿宋_GB2312" pitchFamily="49" charset="-122"/>
            </a:endParaRPr>
          </a:p>
        </p:txBody>
      </p:sp>
      <p:graphicFrame>
        <p:nvGraphicFramePr>
          <p:cNvPr id="16283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5308802"/>
              </p:ext>
            </p:extLst>
          </p:nvPr>
        </p:nvGraphicFramePr>
        <p:xfrm>
          <a:off x="223838" y="5796619"/>
          <a:ext cx="856932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3" name="Equation" r:id="rId15" imgW="3898800" imgH="482400" progId="Equation.DSMT4">
                  <p:embed/>
                </p:oleObj>
              </mc:Choice>
              <mc:Fallback>
                <p:oleObj name="Equation" r:id="rId15" imgW="38988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38" y="5796619"/>
                        <a:ext cx="8569325" cy="10604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7164288" y="6525344"/>
            <a:ext cx="1905000" cy="457200"/>
          </a:xfrm>
        </p:spPr>
        <p:txBody>
          <a:bodyPr/>
          <a:lstStyle/>
          <a:p>
            <a:fld id="{607F6B5D-BAA9-462E-91DC-0C4220222717}" type="slidenum">
              <a:rPr lang="en-US" altLang="zh-CN" smtClean="0"/>
              <a:pPr/>
              <a:t>14</a:t>
            </a:fld>
            <a:endParaRPr lang="en-US" altLang="zh-CN" dirty="0"/>
          </a:p>
        </p:txBody>
      </p:sp>
      <p:grpSp>
        <p:nvGrpSpPr>
          <p:cNvPr id="14" name="Group 44">
            <a:extLst>
              <a:ext uri="{FF2B5EF4-FFF2-40B4-BE49-F238E27FC236}">
                <a16:creationId xmlns:a16="http://schemas.microsoft.com/office/drawing/2014/main" id="{7150C25D-9C01-C04C-BB90-900A2A0A89A8}"/>
              </a:ext>
            </a:extLst>
          </p:cNvPr>
          <p:cNvGrpSpPr>
            <a:grpSpLocks/>
          </p:cNvGrpSpPr>
          <p:nvPr/>
        </p:nvGrpSpPr>
        <p:grpSpPr bwMode="auto">
          <a:xfrm>
            <a:off x="6483349" y="2500313"/>
            <a:ext cx="2481263" cy="1797050"/>
            <a:chOff x="1066" y="1972"/>
            <a:chExt cx="1563" cy="1132"/>
          </a:xfrm>
        </p:grpSpPr>
        <p:sp>
          <p:nvSpPr>
            <p:cNvPr id="15" name="Line 45">
              <a:extLst>
                <a:ext uri="{FF2B5EF4-FFF2-40B4-BE49-F238E27FC236}">
                  <a16:creationId xmlns:a16="http://schemas.microsoft.com/office/drawing/2014/main" id="{AA158E58-912E-734E-B0E7-6413CFD7ED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1" y="2365"/>
              <a:ext cx="39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46">
              <a:extLst>
                <a:ext uri="{FF2B5EF4-FFF2-40B4-BE49-F238E27FC236}">
                  <a16:creationId xmlns:a16="http://schemas.microsoft.com/office/drawing/2014/main" id="{FF3A84E8-73E6-1041-AFE1-3CB4428F86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3" y="2365"/>
              <a:ext cx="24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" name="Group 47">
              <a:extLst>
                <a:ext uri="{FF2B5EF4-FFF2-40B4-BE49-F238E27FC236}">
                  <a16:creationId xmlns:a16="http://schemas.microsoft.com/office/drawing/2014/main" id="{C08C4206-F0DE-AE45-A883-07392D6CF6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7" y="1972"/>
              <a:ext cx="247" cy="335"/>
              <a:chOff x="1872" y="498"/>
              <a:chExt cx="240" cy="270"/>
            </a:xfrm>
          </p:grpSpPr>
          <p:sp>
            <p:nvSpPr>
              <p:cNvPr id="36" name="Line 48">
                <a:extLst>
                  <a:ext uri="{FF2B5EF4-FFF2-40B4-BE49-F238E27FC236}">
                    <a16:creationId xmlns:a16="http://schemas.microsoft.com/office/drawing/2014/main" id="{33A8D254-B5C6-C448-B760-97BC89322A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Text Box 49">
                <a:extLst>
                  <a:ext uri="{FF2B5EF4-FFF2-40B4-BE49-F238E27FC236}">
                    <a16:creationId xmlns:a16="http://schemas.microsoft.com/office/drawing/2014/main" id="{C019DD95-A21F-0E46-A93E-717759E71B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3" y="498"/>
                <a:ext cx="165" cy="2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b="1" i="1"/>
                  <a:t>i</a:t>
                </a:r>
                <a:endParaRPr kumimoji="1" lang="en-US" altLang="zh-CN" sz="2400" b="1"/>
              </a:p>
            </p:txBody>
          </p:sp>
        </p:grpSp>
        <p:sp>
          <p:nvSpPr>
            <p:cNvPr id="18" name="Text Box 50">
              <a:extLst>
                <a:ext uri="{FF2B5EF4-FFF2-40B4-BE49-F238E27FC236}">
                  <a16:creationId xmlns:a16="http://schemas.microsoft.com/office/drawing/2014/main" id="{37B62702-6F38-1147-972A-B8D2DFB52B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0" y="2578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 i="1"/>
                <a:t>L</a:t>
              </a:r>
              <a:endParaRPr kumimoji="1" lang="en-US" altLang="zh-CN" sz="2400" b="1"/>
            </a:p>
          </p:txBody>
        </p:sp>
        <p:grpSp>
          <p:nvGrpSpPr>
            <p:cNvPr id="19" name="Group 51">
              <a:extLst>
                <a:ext uri="{FF2B5EF4-FFF2-40B4-BE49-F238E27FC236}">
                  <a16:creationId xmlns:a16="http://schemas.microsoft.com/office/drawing/2014/main" id="{3F23277E-2C4D-7B45-B3AF-0322F1D101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5" y="2340"/>
              <a:ext cx="314" cy="764"/>
              <a:chOff x="1982" y="748"/>
              <a:chExt cx="305" cy="616"/>
            </a:xfrm>
          </p:grpSpPr>
          <p:grpSp>
            <p:nvGrpSpPr>
              <p:cNvPr id="32" name="Group 52">
                <a:extLst>
                  <a:ext uri="{FF2B5EF4-FFF2-40B4-BE49-F238E27FC236}">
                    <a16:creationId xmlns:a16="http://schemas.microsoft.com/office/drawing/2014/main" id="{2389E083-1C27-0640-8407-3C92CE3E9F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69" y="748"/>
                <a:ext cx="218" cy="616"/>
                <a:chOff x="1637" y="1276"/>
                <a:chExt cx="218" cy="616"/>
              </a:xfrm>
            </p:grpSpPr>
            <p:sp>
              <p:nvSpPr>
                <p:cNvPr id="34" name="Text Box 53">
                  <a:extLst>
                    <a:ext uri="{FF2B5EF4-FFF2-40B4-BE49-F238E27FC236}">
                      <a16:creationId xmlns:a16="http://schemas.microsoft.com/office/drawing/2014/main" id="{B99E4B30-02AE-A443-B0B6-90CE5E17CBE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37" y="1276"/>
                  <a:ext cx="218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kumimoji="1" lang="en-US" altLang="zh-CN" sz="2400" b="1"/>
                    <a:t>+</a:t>
                  </a:r>
                </a:p>
              </p:txBody>
            </p:sp>
            <p:sp>
              <p:nvSpPr>
                <p:cNvPr id="35" name="Text Box 54">
                  <a:extLst>
                    <a:ext uri="{FF2B5EF4-FFF2-40B4-BE49-F238E27FC236}">
                      <a16:creationId xmlns:a16="http://schemas.microsoft.com/office/drawing/2014/main" id="{101362D4-012F-734C-AE07-3463434E3C8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39" y="1658"/>
                  <a:ext cx="207" cy="23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kumimoji="1" lang="en-US" altLang="zh-CN" sz="2400" b="1"/>
                    <a:t>–</a:t>
                  </a:r>
                </a:p>
              </p:txBody>
            </p:sp>
          </p:grpSp>
          <p:sp>
            <p:nvSpPr>
              <p:cNvPr id="33" name="Text Box 55">
                <a:extLst>
                  <a:ext uri="{FF2B5EF4-FFF2-40B4-BE49-F238E27FC236}">
                    <a16:creationId xmlns:a16="http://schemas.microsoft.com/office/drawing/2014/main" id="{FA0A9CF0-D70B-BA47-B80A-73F6C21304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2" y="930"/>
                <a:ext cx="273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b="1" i="1"/>
                  <a:t>v</a:t>
                </a:r>
                <a:r>
                  <a:rPr kumimoji="1" lang="en-US" altLang="zh-CN" sz="2400" b="1" i="1" baseline="-25000"/>
                  <a:t>L</a:t>
                </a:r>
                <a:endParaRPr kumimoji="1" lang="en-US" altLang="zh-CN" sz="2400" b="1"/>
              </a:p>
            </p:txBody>
          </p:sp>
        </p:grpSp>
        <p:sp>
          <p:nvSpPr>
            <p:cNvPr id="20" name="Line 56">
              <a:extLst>
                <a:ext uri="{FF2B5EF4-FFF2-40B4-BE49-F238E27FC236}">
                  <a16:creationId xmlns:a16="http://schemas.microsoft.com/office/drawing/2014/main" id="{EDFDBAD5-43C8-5249-9C29-300A7AACB0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9" y="2365"/>
              <a:ext cx="69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1" name="Group 57">
              <a:extLst>
                <a:ext uri="{FF2B5EF4-FFF2-40B4-BE49-F238E27FC236}">
                  <a16:creationId xmlns:a16="http://schemas.microsoft.com/office/drawing/2014/main" id="{D1494B31-4429-A543-A5CA-29820BE66A83}"/>
                </a:ext>
              </a:extLst>
            </p:cNvPr>
            <p:cNvGrpSpPr>
              <a:grpSpLocks/>
            </p:cNvGrpSpPr>
            <p:nvPr/>
          </p:nvGrpSpPr>
          <p:grpSpPr bwMode="auto">
            <a:xfrm flipH="1" flipV="1">
              <a:off x="2255" y="2543"/>
              <a:ext cx="73" cy="357"/>
              <a:chOff x="2586" y="847"/>
              <a:chExt cx="71" cy="654"/>
            </a:xfrm>
          </p:grpSpPr>
          <p:sp>
            <p:nvSpPr>
              <p:cNvPr id="29" name="Line 58">
                <a:extLst>
                  <a:ext uri="{FF2B5EF4-FFF2-40B4-BE49-F238E27FC236}">
                    <a16:creationId xmlns:a16="http://schemas.microsoft.com/office/drawing/2014/main" id="{20450761-BE1F-CC43-AF94-46D0025BD8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56" y="847"/>
                <a:ext cx="1" cy="69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Line 59">
                <a:extLst>
                  <a:ext uri="{FF2B5EF4-FFF2-40B4-BE49-F238E27FC236}">
                    <a16:creationId xmlns:a16="http://schemas.microsoft.com/office/drawing/2014/main" id="{7717E817-8487-4740-95FE-4C6ED59ED0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56" y="1418"/>
                <a:ext cx="1" cy="83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60">
                <a:extLst>
                  <a:ext uri="{FF2B5EF4-FFF2-40B4-BE49-F238E27FC236}">
                    <a16:creationId xmlns:a16="http://schemas.microsoft.com/office/drawing/2014/main" id="{9254E2C8-6034-C04F-B26B-42CC74A721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6" y="916"/>
                <a:ext cx="70" cy="502"/>
              </a:xfrm>
              <a:custGeom>
                <a:avLst/>
                <a:gdLst>
                  <a:gd name="T0" fmla="*/ 70 w 70"/>
                  <a:gd name="T1" fmla="*/ 502 h 502"/>
                  <a:gd name="T2" fmla="*/ 28 w 70"/>
                  <a:gd name="T3" fmla="*/ 488 h 502"/>
                  <a:gd name="T4" fmla="*/ 0 w 70"/>
                  <a:gd name="T5" fmla="*/ 446 h 502"/>
                  <a:gd name="T6" fmla="*/ 28 w 70"/>
                  <a:gd name="T7" fmla="*/ 404 h 502"/>
                  <a:gd name="T8" fmla="*/ 70 w 70"/>
                  <a:gd name="T9" fmla="*/ 376 h 502"/>
                  <a:gd name="T10" fmla="*/ 28 w 70"/>
                  <a:gd name="T11" fmla="*/ 362 h 502"/>
                  <a:gd name="T12" fmla="*/ 0 w 70"/>
                  <a:gd name="T13" fmla="*/ 321 h 502"/>
                  <a:gd name="T14" fmla="*/ 28 w 70"/>
                  <a:gd name="T15" fmla="*/ 279 h 502"/>
                  <a:gd name="T16" fmla="*/ 70 w 70"/>
                  <a:gd name="T17" fmla="*/ 251 h 502"/>
                  <a:gd name="T18" fmla="*/ 28 w 70"/>
                  <a:gd name="T19" fmla="*/ 237 h 502"/>
                  <a:gd name="T20" fmla="*/ 0 w 70"/>
                  <a:gd name="T21" fmla="*/ 195 h 502"/>
                  <a:gd name="T22" fmla="*/ 28 w 70"/>
                  <a:gd name="T23" fmla="*/ 154 h 502"/>
                  <a:gd name="T24" fmla="*/ 70 w 70"/>
                  <a:gd name="T25" fmla="*/ 126 h 502"/>
                  <a:gd name="T26" fmla="*/ 28 w 70"/>
                  <a:gd name="T27" fmla="*/ 112 h 502"/>
                  <a:gd name="T28" fmla="*/ 0 w 70"/>
                  <a:gd name="T29" fmla="*/ 70 h 502"/>
                  <a:gd name="T30" fmla="*/ 28 w 70"/>
                  <a:gd name="T31" fmla="*/ 28 h 502"/>
                  <a:gd name="T32" fmla="*/ 70 w 70"/>
                  <a:gd name="T33" fmla="*/ 0 h 5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0" h="502">
                    <a:moveTo>
                      <a:pt x="70" y="502"/>
                    </a:moveTo>
                    <a:lnTo>
                      <a:pt x="28" y="488"/>
                    </a:lnTo>
                    <a:lnTo>
                      <a:pt x="0" y="446"/>
                    </a:lnTo>
                    <a:lnTo>
                      <a:pt x="28" y="404"/>
                    </a:lnTo>
                    <a:lnTo>
                      <a:pt x="70" y="376"/>
                    </a:lnTo>
                    <a:lnTo>
                      <a:pt x="28" y="362"/>
                    </a:lnTo>
                    <a:lnTo>
                      <a:pt x="0" y="321"/>
                    </a:lnTo>
                    <a:lnTo>
                      <a:pt x="28" y="279"/>
                    </a:lnTo>
                    <a:lnTo>
                      <a:pt x="70" y="251"/>
                    </a:lnTo>
                    <a:lnTo>
                      <a:pt x="28" y="237"/>
                    </a:lnTo>
                    <a:lnTo>
                      <a:pt x="0" y="195"/>
                    </a:lnTo>
                    <a:lnTo>
                      <a:pt x="28" y="154"/>
                    </a:lnTo>
                    <a:lnTo>
                      <a:pt x="70" y="126"/>
                    </a:lnTo>
                    <a:lnTo>
                      <a:pt x="28" y="112"/>
                    </a:lnTo>
                    <a:lnTo>
                      <a:pt x="0" y="70"/>
                    </a:lnTo>
                    <a:lnTo>
                      <a:pt x="28" y="28"/>
                    </a:lnTo>
                    <a:lnTo>
                      <a:pt x="70" y="0"/>
                    </a:lnTo>
                  </a:path>
                </a:pathLst>
              </a:custGeom>
              <a:noFill/>
              <a:ln w="38100" cmpd="sng">
                <a:solidFill>
                  <a:srgbClr val="FF99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" name="Line 61">
              <a:extLst>
                <a:ext uri="{FF2B5EF4-FFF2-40B4-BE49-F238E27FC236}">
                  <a16:creationId xmlns:a16="http://schemas.microsoft.com/office/drawing/2014/main" id="{C402FAE9-0249-0E4C-8CED-22D5D751EB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5" y="2841"/>
              <a:ext cx="0" cy="17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62">
              <a:extLst>
                <a:ext uri="{FF2B5EF4-FFF2-40B4-BE49-F238E27FC236}">
                  <a16:creationId xmlns:a16="http://schemas.microsoft.com/office/drawing/2014/main" id="{14C2B50A-1384-424D-BCE7-BE5F10DF12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5" y="2365"/>
              <a:ext cx="0" cy="17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4" name="Group 63">
              <a:extLst>
                <a:ext uri="{FF2B5EF4-FFF2-40B4-BE49-F238E27FC236}">
                  <a16:creationId xmlns:a16="http://schemas.microsoft.com/office/drawing/2014/main" id="{CA9DE615-C012-AB46-8C8E-25CDC4B804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38" y="2043"/>
              <a:ext cx="348" cy="382"/>
              <a:chOff x="1008" y="556"/>
              <a:chExt cx="338" cy="308"/>
            </a:xfrm>
          </p:grpSpPr>
          <p:sp>
            <p:nvSpPr>
              <p:cNvPr id="27" name="Text Box 64">
                <a:extLst>
                  <a:ext uri="{FF2B5EF4-FFF2-40B4-BE49-F238E27FC236}">
                    <a16:creationId xmlns:a16="http://schemas.microsoft.com/office/drawing/2014/main" id="{36E9910C-1716-E44A-B84C-3EE603BC7F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9" y="556"/>
                <a:ext cx="23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sz="2400" b="1" i="1"/>
                  <a:t>R</a:t>
                </a:r>
                <a:endParaRPr kumimoji="1" lang="en-US" altLang="zh-CN" sz="2400" b="1"/>
              </a:p>
            </p:txBody>
          </p:sp>
          <p:sp>
            <p:nvSpPr>
              <p:cNvPr id="28" name="Rectangle 65">
                <a:extLst>
                  <a:ext uri="{FF2B5EF4-FFF2-40B4-BE49-F238E27FC236}">
                    <a16:creationId xmlns:a16="http://schemas.microsoft.com/office/drawing/2014/main" id="{6908B644-6E82-E940-B29D-17657FF329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768"/>
                <a:ext cx="288" cy="9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CC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5" name="Line 66">
              <a:extLst>
                <a:ext uri="{FF2B5EF4-FFF2-40B4-BE49-F238E27FC236}">
                  <a16:creationId xmlns:a16="http://schemas.microsoft.com/office/drawing/2014/main" id="{F42C48B6-CF12-4347-9E16-CCD2D4F521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3067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67">
              <a:extLst>
                <a:ext uri="{FF2B5EF4-FFF2-40B4-BE49-F238E27FC236}">
                  <a16:creationId xmlns:a16="http://schemas.microsoft.com/office/drawing/2014/main" id="{2E0A95AA-BC3A-B540-AB28-65951AC24F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2341"/>
              <a:ext cx="0" cy="7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863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2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2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2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2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2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2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2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2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28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2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2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2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20" grpId="0" animBg="1" autoUpdateAnimBg="0"/>
      <p:bldP spid="162829" grpId="0" animBg="1" autoUpdateAnimBg="0"/>
      <p:bldP spid="162830" grpId="0" animBg="1" autoUpdateAnimBg="0"/>
      <p:bldP spid="162832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8" name="Text Box 10"/>
          <p:cNvSpPr txBox="1">
            <a:spLocks noChangeArrowheads="1"/>
          </p:cNvSpPr>
          <p:nvPr/>
        </p:nvSpPr>
        <p:spPr bwMode="auto">
          <a:xfrm>
            <a:off x="3059113" y="404813"/>
            <a:ext cx="2159000" cy="5318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Summary</a:t>
            </a:r>
            <a:endParaRPr lang="en-US" altLang="zh-CN" sz="3600" b="1" dirty="0">
              <a:solidFill>
                <a:srgbClr val="FF0000"/>
              </a:solidFill>
              <a:ea typeface="仿宋_GB2312" pitchFamily="49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F6B5D-BAA9-462E-91DC-0C4220222717}" type="slidenum">
              <a:rPr lang="en-US" altLang="zh-CN" smtClean="0"/>
              <a:pPr/>
              <a:t>15</a:t>
            </a:fld>
            <a:endParaRPr lang="en-US" altLang="zh-CN"/>
          </a:p>
        </p:txBody>
      </p:sp>
      <p:grpSp>
        <p:nvGrpSpPr>
          <p:cNvPr id="34" name="Group 44">
            <a:extLst>
              <a:ext uri="{FF2B5EF4-FFF2-40B4-BE49-F238E27FC236}">
                <a16:creationId xmlns:a16="http://schemas.microsoft.com/office/drawing/2014/main" id="{2E1D7D3F-32D4-604A-AF59-7CC3850FD9C0}"/>
              </a:ext>
            </a:extLst>
          </p:cNvPr>
          <p:cNvGrpSpPr>
            <a:grpSpLocks/>
          </p:cNvGrpSpPr>
          <p:nvPr/>
        </p:nvGrpSpPr>
        <p:grpSpPr bwMode="auto">
          <a:xfrm>
            <a:off x="788194" y="1180307"/>
            <a:ext cx="2481263" cy="1797050"/>
            <a:chOff x="1066" y="1972"/>
            <a:chExt cx="1563" cy="1132"/>
          </a:xfrm>
        </p:grpSpPr>
        <p:sp>
          <p:nvSpPr>
            <p:cNvPr id="35" name="Line 45">
              <a:extLst>
                <a:ext uri="{FF2B5EF4-FFF2-40B4-BE49-F238E27FC236}">
                  <a16:creationId xmlns:a16="http://schemas.microsoft.com/office/drawing/2014/main" id="{87AD892A-7C91-504D-902D-CA56BADF3A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1" y="2365"/>
              <a:ext cx="39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46">
              <a:extLst>
                <a:ext uri="{FF2B5EF4-FFF2-40B4-BE49-F238E27FC236}">
                  <a16:creationId xmlns:a16="http://schemas.microsoft.com/office/drawing/2014/main" id="{A6508931-43E9-5940-91D4-4B1264F89E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3" y="2365"/>
              <a:ext cx="24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7" name="Group 47">
              <a:extLst>
                <a:ext uri="{FF2B5EF4-FFF2-40B4-BE49-F238E27FC236}">
                  <a16:creationId xmlns:a16="http://schemas.microsoft.com/office/drawing/2014/main" id="{F47B54B2-9EAD-EE40-88CC-4CE280AB45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7" y="1972"/>
              <a:ext cx="247" cy="335"/>
              <a:chOff x="1872" y="498"/>
              <a:chExt cx="240" cy="270"/>
            </a:xfrm>
          </p:grpSpPr>
          <p:sp>
            <p:nvSpPr>
              <p:cNvPr id="56" name="Line 48">
                <a:extLst>
                  <a:ext uri="{FF2B5EF4-FFF2-40B4-BE49-F238E27FC236}">
                    <a16:creationId xmlns:a16="http://schemas.microsoft.com/office/drawing/2014/main" id="{62B5738A-4CB3-DA46-B92B-9B2484FF10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Text Box 49">
                <a:extLst>
                  <a:ext uri="{FF2B5EF4-FFF2-40B4-BE49-F238E27FC236}">
                    <a16:creationId xmlns:a16="http://schemas.microsoft.com/office/drawing/2014/main" id="{BDB2796B-155C-8D4C-B357-98CF764578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3" y="498"/>
                <a:ext cx="165" cy="2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b="1" i="1"/>
                  <a:t>i</a:t>
                </a:r>
                <a:endParaRPr kumimoji="1" lang="en-US" altLang="zh-CN" sz="2400" b="1"/>
              </a:p>
            </p:txBody>
          </p:sp>
        </p:grpSp>
        <p:sp>
          <p:nvSpPr>
            <p:cNvPr id="38" name="Text Box 50">
              <a:extLst>
                <a:ext uri="{FF2B5EF4-FFF2-40B4-BE49-F238E27FC236}">
                  <a16:creationId xmlns:a16="http://schemas.microsoft.com/office/drawing/2014/main" id="{2A90C3D0-3147-1747-91B2-7EC5861D5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0" y="2578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 i="1"/>
                <a:t>L</a:t>
              </a:r>
              <a:endParaRPr kumimoji="1" lang="en-US" altLang="zh-CN" sz="2400" b="1"/>
            </a:p>
          </p:txBody>
        </p:sp>
        <p:grpSp>
          <p:nvGrpSpPr>
            <p:cNvPr id="39" name="Group 51">
              <a:extLst>
                <a:ext uri="{FF2B5EF4-FFF2-40B4-BE49-F238E27FC236}">
                  <a16:creationId xmlns:a16="http://schemas.microsoft.com/office/drawing/2014/main" id="{D7EE2CA4-55AF-1344-8959-D56AB00D65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5" y="2340"/>
              <a:ext cx="314" cy="764"/>
              <a:chOff x="1982" y="748"/>
              <a:chExt cx="305" cy="616"/>
            </a:xfrm>
          </p:grpSpPr>
          <p:grpSp>
            <p:nvGrpSpPr>
              <p:cNvPr id="52" name="Group 52">
                <a:extLst>
                  <a:ext uri="{FF2B5EF4-FFF2-40B4-BE49-F238E27FC236}">
                    <a16:creationId xmlns:a16="http://schemas.microsoft.com/office/drawing/2014/main" id="{679A8B10-86B1-F541-8BCF-5E2A57EE65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69" y="748"/>
                <a:ext cx="218" cy="616"/>
                <a:chOff x="1637" y="1276"/>
                <a:chExt cx="218" cy="616"/>
              </a:xfrm>
            </p:grpSpPr>
            <p:sp>
              <p:nvSpPr>
                <p:cNvPr id="54" name="Text Box 53">
                  <a:extLst>
                    <a:ext uri="{FF2B5EF4-FFF2-40B4-BE49-F238E27FC236}">
                      <a16:creationId xmlns:a16="http://schemas.microsoft.com/office/drawing/2014/main" id="{432D1851-ECE6-C149-8E01-93D3A3F7A6E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37" y="1276"/>
                  <a:ext cx="218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kumimoji="1" lang="en-US" altLang="zh-CN" sz="2400" b="1"/>
                    <a:t>+</a:t>
                  </a:r>
                </a:p>
              </p:txBody>
            </p:sp>
            <p:sp>
              <p:nvSpPr>
                <p:cNvPr id="55" name="Text Box 54">
                  <a:extLst>
                    <a:ext uri="{FF2B5EF4-FFF2-40B4-BE49-F238E27FC236}">
                      <a16:creationId xmlns:a16="http://schemas.microsoft.com/office/drawing/2014/main" id="{54B5F1BB-FB62-A744-88B4-36ED35EBD54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39" y="1658"/>
                  <a:ext cx="207" cy="23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kumimoji="1" lang="en-US" altLang="zh-CN" sz="2400" b="1"/>
                    <a:t>–</a:t>
                  </a:r>
                </a:p>
              </p:txBody>
            </p:sp>
          </p:grpSp>
          <p:sp>
            <p:nvSpPr>
              <p:cNvPr id="53" name="Text Box 55">
                <a:extLst>
                  <a:ext uri="{FF2B5EF4-FFF2-40B4-BE49-F238E27FC236}">
                    <a16:creationId xmlns:a16="http://schemas.microsoft.com/office/drawing/2014/main" id="{F52546F8-C746-FA43-94C0-991014D8DB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2" y="930"/>
                <a:ext cx="273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b="1" i="1"/>
                  <a:t>v</a:t>
                </a:r>
                <a:r>
                  <a:rPr kumimoji="1" lang="en-US" altLang="zh-CN" sz="2400" b="1" i="1" baseline="-25000"/>
                  <a:t>L</a:t>
                </a:r>
                <a:endParaRPr kumimoji="1" lang="en-US" altLang="zh-CN" sz="2400" b="1"/>
              </a:p>
            </p:txBody>
          </p:sp>
        </p:grpSp>
        <p:sp>
          <p:nvSpPr>
            <p:cNvPr id="40" name="Line 56">
              <a:extLst>
                <a:ext uri="{FF2B5EF4-FFF2-40B4-BE49-F238E27FC236}">
                  <a16:creationId xmlns:a16="http://schemas.microsoft.com/office/drawing/2014/main" id="{CD693F5A-E9E2-8E46-90A6-213E0F711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9" y="2365"/>
              <a:ext cx="69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1" name="Group 57">
              <a:extLst>
                <a:ext uri="{FF2B5EF4-FFF2-40B4-BE49-F238E27FC236}">
                  <a16:creationId xmlns:a16="http://schemas.microsoft.com/office/drawing/2014/main" id="{6119531E-4C11-B845-9879-F3BA476E1C12}"/>
                </a:ext>
              </a:extLst>
            </p:cNvPr>
            <p:cNvGrpSpPr>
              <a:grpSpLocks/>
            </p:cNvGrpSpPr>
            <p:nvPr/>
          </p:nvGrpSpPr>
          <p:grpSpPr bwMode="auto">
            <a:xfrm flipH="1" flipV="1">
              <a:off x="2255" y="2543"/>
              <a:ext cx="73" cy="357"/>
              <a:chOff x="2586" y="847"/>
              <a:chExt cx="71" cy="654"/>
            </a:xfrm>
          </p:grpSpPr>
          <p:sp>
            <p:nvSpPr>
              <p:cNvPr id="49" name="Line 58">
                <a:extLst>
                  <a:ext uri="{FF2B5EF4-FFF2-40B4-BE49-F238E27FC236}">
                    <a16:creationId xmlns:a16="http://schemas.microsoft.com/office/drawing/2014/main" id="{C29CF0CD-49E3-454F-8EBA-6B8FFADF83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56" y="847"/>
                <a:ext cx="1" cy="69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Line 59">
                <a:extLst>
                  <a:ext uri="{FF2B5EF4-FFF2-40B4-BE49-F238E27FC236}">
                    <a16:creationId xmlns:a16="http://schemas.microsoft.com/office/drawing/2014/main" id="{6BCCA362-97DC-104A-A747-DB195E280A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56" y="1418"/>
                <a:ext cx="1" cy="83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60">
                <a:extLst>
                  <a:ext uri="{FF2B5EF4-FFF2-40B4-BE49-F238E27FC236}">
                    <a16:creationId xmlns:a16="http://schemas.microsoft.com/office/drawing/2014/main" id="{D50C3FED-BB67-8F4A-9C36-9FE7FA81BA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6" y="916"/>
                <a:ext cx="70" cy="502"/>
              </a:xfrm>
              <a:custGeom>
                <a:avLst/>
                <a:gdLst>
                  <a:gd name="T0" fmla="*/ 70 w 70"/>
                  <a:gd name="T1" fmla="*/ 502 h 502"/>
                  <a:gd name="T2" fmla="*/ 28 w 70"/>
                  <a:gd name="T3" fmla="*/ 488 h 502"/>
                  <a:gd name="T4" fmla="*/ 0 w 70"/>
                  <a:gd name="T5" fmla="*/ 446 h 502"/>
                  <a:gd name="T6" fmla="*/ 28 w 70"/>
                  <a:gd name="T7" fmla="*/ 404 h 502"/>
                  <a:gd name="T8" fmla="*/ 70 w 70"/>
                  <a:gd name="T9" fmla="*/ 376 h 502"/>
                  <a:gd name="T10" fmla="*/ 28 w 70"/>
                  <a:gd name="T11" fmla="*/ 362 h 502"/>
                  <a:gd name="T12" fmla="*/ 0 w 70"/>
                  <a:gd name="T13" fmla="*/ 321 h 502"/>
                  <a:gd name="T14" fmla="*/ 28 w 70"/>
                  <a:gd name="T15" fmla="*/ 279 h 502"/>
                  <a:gd name="T16" fmla="*/ 70 w 70"/>
                  <a:gd name="T17" fmla="*/ 251 h 502"/>
                  <a:gd name="T18" fmla="*/ 28 w 70"/>
                  <a:gd name="T19" fmla="*/ 237 h 502"/>
                  <a:gd name="T20" fmla="*/ 0 w 70"/>
                  <a:gd name="T21" fmla="*/ 195 h 502"/>
                  <a:gd name="T22" fmla="*/ 28 w 70"/>
                  <a:gd name="T23" fmla="*/ 154 h 502"/>
                  <a:gd name="T24" fmla="*/ 70 w 70"/>
                  <a:gd name="T25" fmla="*/ 126 h 502"/>
                  <a:gd name="T26" fmla="*/ 28 w 70"/>
                  <a:gd name="T27" fmla="*/ 112 h 502"/>
                  <a:gd name="T28" fmla="*/ 0 w 70"/>
                  <a:gd name="T29" fmla="*/ 70 h 502"/>
                  <a:gd name="T30" fmla="*/ 28 w 70"/>
                  <a:gd name="T31" fmla="*/ 28 h 502"/>
                  <a:gd name="T32" fmla="*/ 70 w 70"/>
                  <a:gd name="T33" fmla="*/ 0 h 5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0" h="502">
                    <a:moveTo>
                      <a:pt x="70" y="502"/>
                    </a:moveTo>
                    <a:lnTo>
                      <a:pt x="28" y="488"/>
                    </a:lnTo>
                    <a:lnTo>
                      <a:pt x="0" y="446"/>
                    </a:lnTo>
                    <a:lnTo>
                      <a:pt x="28" y="404"/>
                    </a:lnTo>
                    <a:lnTo>
                      <a:pt x="70" y="376"/>
                    </a:lnTo>
                    <a:lnTo>
                      <a:pt x="28" y="362"/>
                    </a:lnTo>
                    <a:lnTo>
                      <a:pt x="0" y="321"/>
                    </a:lnTo>
                    <a:lnTo>
                      <a:pt x="28" y="279"/>
                    </a:lnTo>
                    <a:lnTo>
                      <a:pt x="70" y="251"/>
                    </a:lnTo>
                    <a:lnTo>
                      <a:pt x="28" y="237"/>
                    </a:lnTo>
                    <a:lnTo>
                      <a:pt x="0" y="195"/>
                    </a:lnTo>
                    <a:lnTo>
                      <a:pt x="28" y="154"/>
                    </a:lnTo>
                    <a:lnTo>
                      <a:pt x="70" y="126"/>
                    </a:lnTo>
                    <a:lnTo>
                      <a:pt x="28" y="112"/>
                    </a:lnTo>
                    <a:lnTo>
                      <a:pt x="0" y="70"/>
                    </a:lnTo>
                    <a:lnTo>
                      <a:pt x="28" y="28"/>
                    </a:lnTo>
                    <a:lnTo>
                      <a:pt x="70" y="0"/>
                    </a:lnTo>
                  </a:path>
                </a:pathLst>
              </a:custGeom>
              <a:noFill/>
              <a:ln w="38100" cmpd="sng">
                <a:solidFill>
                  <a:srgbClr val="FF99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" name="Line 61">
              <a:extLst>
                <a:ext uri="{FF2B5EF4-FFF2-40B4-BE49-F238E27FC236}">
                  <a16:creationId xmlns:a16="http://schemas.microsoft.com/office/drawing/2014/main" id="{5F5075B5-17E5-E24E-9003-CA3AA59BC1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5" y="2841"/>
              <a:ext cx="0" cy="17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Line 62">
              <a:extLst>
                <a:ext uri="{FF2B5EF4-FFF2-40B4-BE49-F238E27FC236}">
                  <a16:creationId xmlns:a16="http://schemas.microsoft.com/office/drawing/2014/main" id="{F57028F0-D909-2B4F-B364-D0EEFC1DEC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5" y="2365"/>
              <a:ext cx="0" cy="17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4" name="Group 63">
              <a:extLst>
                <a:ext uri="{FF2B5EF4-FFF2-40B4-BE49-F238E27FC236}">
                  <a16:creationId xmlns:a16="http://schemas.microsoft.com/office/drawing/2014/main" id="{7A995486-DAA6-E845-98E1-621D9ED37E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38" y="2043"/>
              <a:ext cx="348" cy="382"/>
              <a:chOff x="1008" y="556"/>
              <a:chExt cx="338" cy="308"/>
            </a:xfrm>
          </p:grpSpPr>
          <p:sp>
            <p:nvSpPr>
              <p:cNvPr id="47" name="Text Box 64">
                <a:extLst>
                  <a:ext uri="{FF2B5EF4-FFF2-40B4-BE49-F238E27FC236}">
                    <a16:creationId xmlns:a16="http://schemas.microsoft.com/office/drawing/2014/main" id="{6BEE051A-CCE5-F947-8E21-604F7733E5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9" y="556"/>
                <a:ext cx="23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sz="2400" b="1" i="1"/>
                  <a:t>R</a:t>
                </a:r>
                <a:endParaRPr kumimoji="1" lang="en-US" altLang="zh-CN" sz="2400" b="1"/>
              </a:p>
            </p:txBody>
          </p:sp>
          <p:sp>
            <p:nvSpPr>
              <p:cNvPr id="48" name="Rectangle 65">
                <a:extLst>
                  <a:ext uri="{FF2B5EF4-FFF2-40B4-BE49-F238E27FC236}">
                    <a16:creationId xmlns:a16="http://schemas.microsoft.com/office/drawing/2014/main" id="{F5DF8AC3-FA2E-D945-A443-014309EC9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768"/>
                <a:ext cx="288" cy="9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CC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5" name="Line 66">
              <a:extLst>
                <a:ext uri="{FF2B5EF4-FFF2-40B4-BE49-F238E27FC236}">
                  <a16:creationId xmlns:a16="http://schemas.microsoft.com/office/drawing/2014/main" id="{68557198-4FC6-E84B-B18E-6B449FD682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3067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67">
              <a:extLst>
                <a:ext uri="{FF2B5EF4-FFF2-40B4-BE49-F238E27FC236}">
                  <a16:creationId xmlns:a16="http://schemas.microsoft.com/office/drawing/2014/main" id="{19A70052-5CEC-D048-B9D7-1E13FF8847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2341"/>
              <a:ext cx="0" cy="7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58" name="Object 11">
            <a:extLst>
              <a:ext uri="{FF2B5EF4-FFF2-40B4-BE49-F238E27FC236}">
                <a16:creationId xmlns:a16="http://schemas.microsoft.com/office/drawing/2014/main" id="{B0C42791-4739-A742-9D59-43829DB047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8182853"/>
              </p:ext>
            </p:extLst>
          </p:nvPr>
        </p:nvGraphicFramePr>
        <p:xfrm>
          <a:off x="3865019" y="1402112"/>
          <a:ext cx="1647825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45" name="Equation" r:id="rId3" imgW="749160" imgH="291960" progId="Equation.DSMT4">
                  <p:embed/>
                </p:oleObj>
              </mc:Choice>
              <mc:Fallback>
                <p:oleObj name="Equation" r:id="rId3" imgW="749160" imgH="291960" progId="Equation.DSMT4">
                  <p:embed/>
                  <p:pic>
                    <p:nvPicPr>
                      <p:cNvPr id="16282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5019" y="1402112"/>
                        <a:ext cx="1647825" cy="6429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8">
            <a:extLst>
              <a:ext uri="{FF2B5EF4-FFF2-40B4-BE49-F238E27FC236}">
                <a16:creationId xmlns:a16="http://schemas.microsoft.com/office/drawing/2014/main" id="{7AA56FDF-4ABE-5C4A-B47F-3C86CDDEAF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730338"/>
              </p:ext>
            </p:extLst>
          </p:nvPr>
        </p:nvGraphicFramePr>
        <p:xfrm>
          <a:off x="6108406" y="1398103"/>
          <a:ext cx="1087438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46" name="Equation" r:id="rId5" imgW="495000" imgH="304560" progId="Equation.DSMT4">
                  <p:embed/>
                </p:oleObj>
              </mc:Choice>
              <mc:Fallback>
                <p:oleObj name="Equation" r:id="rId5" imgW="495000" imgH="304560" progId="Equation.DSMT4">
                  <p:embed/>
                  <p:pic>
                    <p:nvPicPr>
                      <p:cNvPr id="1628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406" y="1398103"/>
                        <a:ext cx="1087438" cy="669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30">
            <a:extLst>
              <a:ext uri="{FF2B5EF4-FFF2-40B4-BE49-F238E27FC236}">
                <a16:creationId xmlns:a16="http://schemas.microsoft.com/office/drawing/2014/main" id="{7A16EFEE-B0C1-E149-9753-C07F5F3ED1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6488556"/>
              </p:ext>
            </p:extLst>
          </p:nvPr>
        </p:nvGraphicFramePr>
        <p:xfrm>
          <a:off x="3787775" y="2442060"/>
          <a:ext cx="446405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47" name="Equation" r:id="rId7" imgW="2031840" imgH="393480" progId="Equation.DSMT4">
                  <p:embed/>
                </p:oleObj>
              </mc:Choice>
              <mc:Fallback>
                <p:oleObj name="Equation" r:id="rId7" imgW="2031840" imgH="393480" progId="Equation.DSMT4">
                  <p:embed/>
                  <p:pic>
                    <p:nvPicPr>
                      <p:cNvPr id="16182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7775" y="2442060"/>
                        <a:ext cx="4464050" cy="8651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42754D2C-5C86-1647-955F-54EC8322EF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8194" y="3732468"/>
            <a:ext cx="7743350" cy="193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92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0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0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8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2" y="144373"/>
            <a:ext cx="8634165" cy="609600"/>
          </a:xfrm>
        </p:spPr>
        <p:txBody>
          <a:bodyPr/>
          <a:lstStyle/>
          <a:p>
            <a:pPr algn="l"/>
            <a:r>
              <a:rPr lang="en-US" altLang="zh-CN" sz="2800" b="1" dirty="0">
                <a:solidFill>
                  <a:srgbClr val="FF0000"/>
                </a:solidFill>
                <a:effectLst/>
                <a:latin typeface="+mj-ea"/>
              </a:rPr>
              <a:t>Summary</a:t>
            </a:r>
            <a:r>
              <a:rPr lang="zh-CN" altLang="en-US" sz="2800" b="1" dirty="0">
                <a:solidFill>
                  <a:srgbClr val="FF0000"/>
                </a:solidFill>
                <a:effectLst/>
                <a:latin typeface="+mj-ea"/>
              </a:rPr>
              <a:t>：</a:t>
            </a:r>
            <a:r>
              <a:rPr lang="en-US" altLang="zh-CN" sz="2800" b="1" dirty="0">
                <a:solidFill>
                  <a:srgbClr val="FF0000"/>
                </a:solidFill>
                <a:effectLst/>
                <a:latin typeface="+mj-ea"/>
              </a:rPr>
              <a:t>Solutions for source-free circuit</a:t>
            </a:r>
            <a:endParaRPr lang="zh-CN" altLang="en-US" sz="2800" b="1" dirty="0">
              <a:solidFill>
                <a:srgbClr val="FF0000"/>
              </a:solidFill>
              <a:effectLst/>
              <a:latin typeface="+mj-ea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51142-E1EF-4721-85F8-37A18B2EA881}" type="slidenum">
              <a:rPr lang="en-US" altLang="zh-CN" smtClean="0"/>
              <a:pPr/>
              <a:t>16</a:t>
            </a:fld>
            <a:endParaRPr lang="en-US" altLang="zh-CN"/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250825" y="3194903"/>
            <a:ext cx="849764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b="1" i="1" dirty="0">
                <a:cs typeface="Times New Roman" pitchFamily="18" charset="0"/>
              </a:rPr>
              <a:t>y</a:t>
            </a:r>
            <a:r>
              <a:rPr kumimoji="0" lang="en-US" altLang="zh-CN" b="1" dirty="0"/>
              <a:t>(</a:t>
            </a:r>
            <a:r>
              <a:rPr kumimoji="0" lang="en-US" altLang="zh-CN" b="1" i="1" dirty="0">
                <a:cs typeface="Times New Roman" pitchFamily="18" charset="0"/>
              </a:rPr>
              <a:t>t</a:t>
            </a:r>
            <a:r>
              <a:rPr kumimoji="0" lang="en-US" altLang="zh-CN" b="1" dirty="0"/>
              <a:t>) is usually referred to </a:t>
            </a:r>
            <a:r>
              <a:rPr kumimoji="0" lang="en-US" altLang="zh-CN" b="1" i="1" dirty="0" err="1">
                <a:cs typeface="Times New Roman" pitchFamily="18" charset="0"/>
              </a:rPr>
              <a:t>u</a:t>
            </a:r>
            <a:r>
              <a:rPr kumimoji="0" lang="en-US" altLang="zh-CN" b="1" i="1" baseline="-25000" dirty="0" err="1">
                <a:cs typeface="Times New Roman" pitchFamily="18" charset="0"/>
              </a:rPr>
              <a:t>c</a:t>
            </a:r>
            <a:r>
              <a:rPr kumimoji="0" lang="en-US" altLang="zh-CN" b="1" dirty="0"/>
              <a:t>(</a:t>
            </a:r>
            <a:r>
              <a:rPr kumimoji="0" lang="en-US" altLang="zh-CN" b="1" i="1" dirty="0">
                <a:cs typeface="Times New Roman" pitchFamily="18" charset="0"/>
              </a:rPr>
              <a:t>t</a:t>
            </a:r>
            <a:r>
              <a:rPr kumimoji="0" lang="en-US" altLang="zh-CN" b="1" dirty="0"/>
              <a:t>) or </a:t>
            </a:r>
            <a:r>
              <a:rPr kumimoji="0" lang="en-US" altLang="zh-CN" b="1" i="1" dirty="0" err="1">
                <a:cs typeface="Times New Roman" pitchFamily="18" charset="0"/>
              </a:rPr>
              <a:t>i</a:t>
            </a:r>
            <a:r>
              <a:rPr kumimoji="0" lang="en-US" altLang="zh-CN" b="1" i="1" baseline="-25000" dirty="0" err="1">
                <a:cs typeface="Times New Roman" pitchFamily="18" charset="0"/>
              </a:rPr>
              <a:t>L</a:t>
            </a:r>
            <a:r>
              <a:rPr kumimoji="0" lang="en-US" altLang="zh-CN" b="1" dirty="0"/>
              <a:t>(</a:t>
            </a:r>
            <a:r>
              <a:rPr kumimoji="0" lang="en-US" altLang="zh-CN" b="1" i="1" dirty="0">
                <a:cs typeface="Times New Roman" pitchFamily="18" charset="0"/>
              </a:rPr>
              <a:t>t</a:t>
            </a:r>
            <a:r>
              <a:rPr kumimoji="0" lang="en-US" altLang="zh-CN" b="1" dirty="0"/>
              <a:t>) ——main variables solved firstly</a:t>
            </a:r>
            <a:r>
              <a:rPr kumimoji="0" lang="zh-CN" altLang="en-US" b="1" dirty="0"/>
              <a:t>；</a:t>
            </a: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257175" y="753973"/>
            <a:ext cx="77152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914400" indent="-4572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371600" indent="-4572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828800" indent="-4572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286000" indent="-4572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FontTx/>
              <a:buAutoNum type="arabicPeriod"/>
            </a:pPr>
            <a:r>
              <a:rPr lang="en-US" altLang="zh-CN" b="1" dirty="0"/>
              <a:t>The response is due to the initial energy stored in the storage element</a:t>
            </a:r>
            <a:r>
              <a:rPr lang="zh-CN" altLang="en-US" b="1" dirty="0"/>
              <a:t>, </a:t>
            </a:r>
            <a:r>
              <a:rPr lang="en-US" altLang="zh-CN" b="1" dirty="0"/>
              <a:t>which is an exponential decay from the initial value to zero.</a:t>
            </a:r>
            <a:r>
              <a:rPr lang="zh-CN" altLang="en-US" b="1" dirty="0"/>
              <a:t> </a:t>
            </a:r>
          </a:p>
        </p:txBody>
      </p:sp>
      <p:graphicFrame>
        <p:nvGraphicFramePr>
          <p:cNvPr id="37894" name="Object 6"/>
          <p:cNvGraphicFramePr>
            <a:graphicFrameLocks noChangeAspect="1"/>
          </p:cNvGraphicFramePr>
          <p:nvPr/>
        </p:nvGraphicFramePr>
        <p:xfrm>
          <a:off x="2252663" y="1765300"/>
          <a:ext cx="2319337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1" name="公式" r:id="rId3" imgW="1002960" imgH="368280" progId="Equation.3">
                  <p:embed/>
                </p:oleObj>
              </mc:Choice>
              <mc:Fallback>
                <p:oleObj name="公式" r:id="rId3" imgW="100296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2663" y="1765300"/>
                        <a:ext cx="2319337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5" name="Text Box 7"/>
          <p:cNvSpPr txBox="1">
            <a:spLocks noChangeArrowheads="1"/>
          </p:cNvSpPr>
          <p:nvPr/>
        </p:nvSpPr>
        <p:spPr bwMode="auto">
          <a:xfrm>
            <a:off x="257174" y="4021564"/>
            <a:ext cx="798723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zh-CN" altLang="en-US" b="1" dirty="0"/>
              <a:t>2. </a:t>
            </a:r>
            <a:r>
              <a:rPr lang="en-US" altLang="zh-CN" b="1" dirty="0"/>
              <a:t>The rate of decay depends on the time constant</a:t>
            </a:r>
            <a:r>
              <a:rPr lang="zh-CN" altLang="en-US" b="1" i="1" dirty="0">
                <a:sym typeface="Symbol" pitchFamily="18" charset="2"/>
              </a:rPr>
              <a:t></a:t>
            </a:r>
            <a:endParaRPr lang="zh-CN" altLang="en-US" b="1" dirty="0">
              <a:sym typeface="Symbol" pitchFamily="18" charset="2"/>
            </a:endParaRPr>
          </a:p>
          <a:p>
            <a:pPr algn="l"/>
            <a:r>
              <a:rPr lang="zh-CN" altLang="en-US" b="1" dirty="0">
                <a:sym typeface="Symbol" pitchFamily="18" charset="2"/>
              </a:rPr>
              <a:t>     </a:t>
            </a:r>
            <a:r>
              <a:rPr lang="en-US" altLang="zh-CN" b="1" dirty="0">
                <a:sym typeface="Symbol" pitchFamily="18" charset="2"/>
              </a:rPr>
              <a:t>For </a:t>
            </a:r>
            <a:r>
              <a:rPr lang="en-US" altLang="zh-CN" b="1" i="1" dirty="0">
                <a:sym typeface="Symbol" pitchFamily="18" charset="2"/>
              </a:rPr>
              <a:t>RC </a:t>
            </a:r>
            <a:r>
              <a:rPr lang="en-US" altLang="zh-CN" b="1" dirty="0">
                <a:sym typeface="Symbol" pitchFamily="18" charset="2"/>
              </a:rPr>
              <a:t>circuits,</a:t>
            </a:r>
            <a:r>
              <a:rPr lang="zh-CN" altLang="en-US" b="1" dirty="0">
                <a:sym typeface="Symbol" pitchFamily="18" charset="2"/>
              </a:rPr>
              <a:t>    </a:t>
            </a:r>
            <a:r>
              <a:rPr lang="zh-CN" altLang="en-US" b="1" i="1" dirty="0">
                <a:solidFill>
                  <a:srgbClr val="FF0000"/>
                </a:solidFill>
                <a:sym typeface="Symbol" pitchFamily="18" charset="2"/>
              </a:rPr>
              <a:t></a:t>
            </a:r>
            <a:r>
              <a:rPr lang="zh-CN" altLang="en-US" b="1" dirty="0">
                <a:solidFill>
                  <a:srgbClr val="FF0000"/>
                </a:solidFill>
                <a:sym typeface="Symbol" pitchFamily="18" charset="2"/>
              </a:rPr>
              <a:t> = </a:t>
            </a:r>
            <a:r>
              <a:rPr lang="en-US" altLang="zh-CN" b="1" i="1" dirty="0">
                <a:solidFill>
                  <a:srgbClr val="FF0000"/>
                </a:solidFill>
                <a:sym typeface="Symbol" pitchFamily="18" charset="2"/>
              </a:rPr>
              <a:t>RC</a:t>
            </a:r>
            <a:r>
              <a:rPr lang="en-US" altLang="zh-CN" b="1" i="1" dirty="0">
                <a:sym typeface="Symbol" pitchFamily="18" charset="2"/>
              </a:rPr>
              <a:t>  </a:t>
            </a:r>
            <a:r>
              <a:rPr lang="en-US" altLang="zh-CN" b="1" dirty="0">
                <a:sym typeface="Symbol" pitchFamily="18" charset="2"/>
              </a:rPr>
              <a:t>,     for </a:t>
            </a:r>
            <a:r>
              <a:rPr lang="en-US" altLang="zh-CN" b="1" i="1" dirty="0">
                <a:sym typeface="Symbol" pitchFamily="18" charset="2"/>
              </a:rPr>
              <a:t>RL </a:t>
            </a:r>
            <a:r>
              <a:rPr lang="en-US" altLang="zh-CN" b="1" dirty="0">
                <a:sym typeface="Symbol" pitchFamily="18" charset="2"/>
              </a:rPr>
              <a:t>circuits,</a:t>
            </a:r>
            <a:r>
              <a:rPr lang="zh-CN" altLang="en-US" b="1" dirty="0">
                <a:sym typeface="Symbol" pitchFamily="18" charset="2"/>
              </a:rPr>
              <a:t>    </a:t>
            </a:r>
            <a:r>
              <a:rPr lang="zh-CN" altLang="en-US" b="1" i="1" dirty="0">
                <a:solidFill>
                  <a:srgbClr val="FF0000"/>
                </a:solidFill>
                <a:sym typeface="Symbol" pitchFamily="18" charset="2"/>
              </a:rPr>
              <a:t></a:t>
            </a:r>
            <a:r>
              <a:rPr lang="zh-CN" altLang="en-US" b="1" dirty="0">
                <a:solidFill>
                  <a:srgbClr val="FF0000"/>
                </a:solidFill>
                <a:sym typeface="Symbol" pitchFamily="18" charset="2"/>
              </a:rPr>
              <a:t> = </a:t>
            </a:r>
            <a:r>
              <a:rPr lang="en-US" altLang="zh-CN" b="1" i="1" dirty="0">
                <a:solidFill>
                  <a:srgbClr val="FF0000"/>
                </a:solidFill>
                <a:sym typeface="Symbol" pitchFamily="18" charset="2"/>
              </a:rPr>
              <a:t>L</a:t>
            </a:r>
            <a:r>
              <a:rPr lang="en-US" altLang="zh-CN" b="1" dirty="0">
                <a:solidFill>
                  <a:srgbClr val="FF0000"/>
                </a:solidFill>
                <a:sym typeface="Symbol" pitchFamily="18" charset="2"/>
              </a:rPr>
              <a:t>/</a:t>
            </a:r>
            <a:r>
              <a:rPr lang="en-US" altLang="zh-CN" b="1" i="1" dirty="0">
                <a:solidFill>
                  <a:srgbClr val="FF0000"/>
                </a:solidFill>
                <a:sym typeface="Symbol" pitchFamily="18" charset="2"/>
              </a:rPr>
              <a:t>R</a:t>
            </a:r>
            <a:endParaRPr lang="en-US" altLang="zh-CN" dirty="0"/>
          </a:p>
        </p:txBody>
      </p:sp>
      <p:sp>
        <p:nvSpPr>
          <p:cNvPr id="37896" name="Text Box 8"/>
          <p:cNvSpPr txBox="1">
            <a:spLocks noChangeArrowheads="1"/>
          </p:cNvSpPr>
          <p:nvPr/>
        </p:nvSpPr>
        <p:spPr bwMode="auto">
          <a:xfrm>
            <a:off x="250825" y="4750227"/>
            <a:ext cx="828161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zh-CN" altLang="en-US" b="1" dirty="0">
                <a:sym typeface="Symbol" pitchFamily="18" charset="2"/>
              </a:rPr>
              <a:t>3.  </a:t>
            </a:r>
            <a:r>
              <a:rPr lang="en-US" altLang="zh-CN" b="1" dirty="0">
                <a:sym typeface="Symbol" pitchFamily="18" charset="2"/>
              </a:rPr>
              <a:t>The time constant is the same regardless of what the output is defined to be.</a:t>
            </a:r>
            <a:endParaRPr lang="zh-CN" altLang="en-US" b="1" dirty="0">
              <a:sym typeface="Symbol" pitchFamily="18" charset="2"/>
            </a:endParaRPr>
          </a:p>
        </p:txBody>
      </p:sp>
      <p:sp>
        <p:nvSpPr>
          <p:cNvPr id="37897" name="Text Box 9"/>
          <p:cNvSpPr txBox="1">
            <a:spLocks noChangeArrowheads="1"/>
          </p:cNvSpPr>
          <p:nvPr/>
        </p:nvSpPr>
        <p:spPr bwMode="auto">
          <a:xfrm>
            <a:off x="257174" y="5451902"/>
            <a:ext cx="827526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just"/>
            <a:r>
              <a:rPr lang="zh-CN" altLang="en-US" b="1" dirty="0">
                <a:sym typeface="Symbol" pitchFamily="18" charset="2"/>
              </a:rPr>
              <a:t>4. </a:t>
            </a:r>
            <a:r>
              <a:rPr lang="en-US" altLang="zh-CN" b="1" dirty="0">
                <a:sym typeface="Symbol" pitchFamily="18" charset="2"/>
              </a:rPr>
              <a:t>The natural (zero-input) response of a first-order circuit is directly proportional to the initial value.  </a:t>
            </a:r>
            <a:r>
              <a:rPr lang="en-US" altLang="zh-CN" b="1" dirty="0">
                <a:solidFill>
                  <a:srgbClr val="FF0000"/>
                </a:solidFill>
                <a:sym typeface="Symbol" pitchFamily="18" charset="2"/>
              </a:rPr>
              <a:t>Linearity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37904" name="Group 16"/>
          <p:cNvGrpSpPr>
            <a:grpSpLocks/>
          </p:cNvGrpSpPr>
          <p:nvPr/>
        </p:nvGrpSpPr>
        <p:grpSpPr bwMode="auto">
          <a:xfrm>
            <a:off x="228600" y="2420938"/>
            <a:ext cx="3263900" cy="731837"/>
            <a:chOff x="144" y="1525"/>
            <a:chExt cx="2056" cy="461"/>
          </a:xfrm>
        </p:grpSpPr>
        <p:sp>
          <p:nvSpPr>
            <p:cNvPr id="37898" name="Line 10"/>
            <p:cNvSpPr>
              <a:spLocks noChangeShapeType="1"/>
            </p:cNvSpPr>
            <p:nvPr/>
          </p:nvSpPr>
          <p:spPr bwMode="auto">
            <a:xfrm flipV="1">
              <a:off x="1066" y="1525"/>
              <a:ext cx="353" cy="17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9" name="Rectangle 11"/>
            <p:cNvSpPr>
              <a:spLocks noChangeArrowheads="1"/>
            </p:cNvSpPr>
            <p:nvPr/>
          </p:nvSpPr>
          <p:spPr bwMode="auto">
            <a:xfrm>
              <a:off x="144" y="1698"/>
              <a:ext cx="20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0" lang="en-US" altLang="zh-CN" b="1" dirty="0">
                  <a:solidFill>
                    <a:srgbClr val="FF0000"/>
                  </a:solidFill>
                </a:rPr>
                <a:t>Nature response</a:t>
              </a:r>
              <a:endParaRPr kumimoji="0" lang="zh-CN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7905" name="Group 17"/>
          <p:cNvGrpSpPr>
            <a:grpSpLocks/>
          </p:cNvGrpSpPr>
          <p:nvPr/>
        </p:nvGrpSpPr>
        <p:grpSpPr bwMode="auto">
          <a:xfrm>
            <a:off x="3276600" y="2463800"/>
            <a:ext cx="2582863" cy="688975"/>
            <a:chOff x="2064" y="1552"/>
            <a:chExt cx="1627" cy="434"/>
          </a:xfrm>
        </p:grpSpPr>
        <p:sp>
          <p:nvSpPr>
            <p:cNvPr id="37900" name="Rectangle 12"/>
            <p:cNvSpPr>
              <a:spLocks noChangeArrowheads="1"/>
            </p:cNvSpPr>
            <p:nvPr/>
          </p:nvSpPr>
          <p:spPr bwMode="auto">
            <a:xfrm>
              <a:off x="2064" y="1698"/>
              <a:ext cx="162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0" lang="en-US" altLang="zh-CN" b="1" dirty="0">
                  <a:solidFill>
                    <a:srgbClr val="FF0000"/>
                  </a:solidFill>
                </a:rPr>
                <a:t>The initial value</a:t>
              </a:r>
              <a:endParaRPr kumimoji="0"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7901" name="Line 13"/>
            <p:cNvSpPr>
              <a:spLocks noChangeShapeType="1"/>
            </p:cNvSpPr>
            <p:nvPr/>
          </p:nvSpPr>
          <p:spPr bwMode="auto">
            <a:xfrm flipH="1" flipV="1">
              <a:off x="2336" y="1552"/>
              <a:ext cx="272" cy="1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7906" name="Group 18"/>
          <p:cNvGrpSpPr>
            <a:grpSpLocks/>
          </p:cNvGrpSpPr>
          <p:nvPr/>
        </p:nvGrpSpPr>
        <p:grpSpPr bwMode="auto">
          <a:xfrm>
            <a:off x="4572000" y="2054227"/>
            <a:ext cx="3168650" cy="461963"/>
            <a:chOff x="2880" y="1294"/>
            <a:chExt cx="1996" cy="291"/>
          </a:xfrm>
        </p:grpSpPr>
        <p:sp>
          <p:nvSpPr>
            <p:cNvPr id="37902" name="Line 14"/>
            <p:cNvSpPr>
              <a:spLocks noChangeShapeType="1"/>
            </p:cNvSpPr>
            <p:nvPr/>
          </p:nvSpPr>
          <p:spPr bwMode="auto">
            <a:xfrm flipH="1" flipV="1">
              <a:off x="2880" y="1438"/>
              <a:ext cx="32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3" name="Rectangle 15"/>
            <p:cNvSpPr>
              <a:spLocks noChangeArrowheads="1"/>
            </p:cNvSpPr>
            <p:nvPr/>
          </p:nvSpPr>
          <p:spPr bwMode="auto">
            <a:xfrm>
              <a:off x="3249" y="1294"/>
              <a:ext cx="162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b="1" dirty="0">
                  <a:solidFill>
                    <a:srgbClr val="FF0000"/>
                  </a:solidFill>
                  <a:sym typeface="Symbol" pitchFamily="18" charset="2"/>
                </a:rPr>
                <a:t>The time constant</a:t>
              </a:r>
              <a:endParaRPr lang="zh-CN" altLang="en-US" b="1" dirty="0">
                <a:solidFill>
                  <a:srgbClr val="FF0000"/>
                </a:solidFill>
                <a:sym typeface="Symbol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9621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/>
      <p:bldP spid="37893" grpId="0" autoUpdateAnimBg="0"/>
      <p:bldP spid="37895" grpId="0" autoUpdateAnimBg="0"/>
      <p:bldP spid="37896" grpId="0" autoUpdateAnimBg="0"/>
      <p:bldP spid="37897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414" name="Group 6"/>
          <p:cNvGrpSpPr>
            <a:grpSpLocks/>
          </p:cNvGrpSpPr>
          <p:nvPr/>
        </p:nvGrpSpPr>
        <p:grpSpPr bwMode="auto">
          <a:xfrm>
            <a:off x="1577527" y="3708452"/>
            <a:ext cx="2389188" cy="1008063"/>
            <a:chOff x="340" y="845"/>
            <a:chExt cx="1505" cy="635"/>
          </a:xfrm>
        </p:grpSpPr>
        <p:sp>
          <p:nvSpPr>
            <p:cNvPr id="145416" name="Text Box 8"/>
            <p:cNvSpPr txBox="1">
              <a:spLocks noChangeArrowheads="1"/>
            </p:cNvSpPr>
            <p:nvPr/>
          </p:nvSpPr>
          <p:spPr bwMode="auto">
            <a:xfrm>
              <a:off x="480" y="1154"/>
              <a:ext cx="13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b="1" i="1" dirty="0" err="1"/>
                <a:t>v</a:t>
              </a:r>
              <a:r>
                <a:rPr kumimoji="1" lang="en-US" altLang="zh-CN" b="1" i="1" baseline="-25000" dirty="0" err="1"/>
                <a:t>C</a:t>
              </a:r>
              <a:r>
                <a:rPr kumimoji="1" lang="en-US" altLang="zh-CN" b="1" baseline="-25000" dirty="0"/>
                <a:t> </a:t>
              </a:r>
              <a:r>
                <a:rPr kumimoji="1" lang="en-US" altLang="zh-CN" b="1" dirty="0"/>
                <a:t>(0</a:t>
              </a:r>
              <a:r>
                <a:rPr kumimoji="1" lang="en-US" altLang="zh-CN" b="1" baseline="30000" dirty="0"/>
                <a:t>+</a:t>
              </a:r>
              <a:r>
                <a:rPr kumimoji="1" lang="en-US" altLang="zh-CN" b="1" dirty="0"/>
                <a:t>) = </a:t>
              </a:r>
              <a:r>
                <a:rPr kumimoji="1" lang="en-US" altLang="zh-CN" b="1" i="1" dirty="0" err="1"/>
                <a:t>v</a:t>
              </a:r>
              <a:r>
                <a:rPr kumimoji="1" lang="en-US" altLang="zh-CN" b="1" i="1" baseline="-25000" dirty="0" err="1"/>
                <a:t>C</a:t>
              </a:r>
              <a:r>
                <a:rPr kumimoji="1" lang="en-US" altLang="zh-CN" b="1" baseline="-25000" dirty="0"/>
                <a:t> </a:t>
              </a:r>
              <a:r>
                <a:rPr kumimoji="1" lang="en-US" altLang="zh-CN" b="1" dirty="0"/>
                <a:t>(0</a:t>
              </a:r>
              <a:r>
                <a:rPr kumimoji="1" lang="zh-CN" altLang="en-US" sz="2000" b="1" baseline="30000" dirty="0"/>
                <a:t>－</a:t>
              </a:r>
              <a:r>
                <a:rPr kumimoji="1" lang="en-US" altLang="zh-CN" b="1" dirty="0"/>
                <a:t>)</a:t>
              </a:r>
            </a:p>
          </p:txBody>
        </p:sp>
        <p:sp>
          <p:nvSpPr>
            <p:cNvPr id="145417" name="AutoShape 9"/>
            <p:cNvSpPr>
              <a:spLocks/>
            </p:cNvSpPr>
            <p:nvPr/>
          </p:nvSpPr>
          <p:spPr bwMode="auto">
            <a:xfrm>
              <a:off x="340" y="845"/>
              <a:ext cx="136" cy="635"/>
            </a:xfrm>
            <a:prstGeom prst="leftBrace">
              <a:avLst>
                <a:gd name="adj1" fmla="val 38909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5418" name="Rectangle 10"/>
          <p:cNvSpPr>
            <a:spLocks noChangeArrowheads="1"/>
          </p:cNvSpPr>
          <p:nvPr/>
        </p:nvSpPr>
        <p:spPr bwMode="auto">
          <a:xfrm>
            <a:off x="684211" y="2806410"/>
            <a:ext cx="4175819" cy="584775"/>
          </a:xfrm>
          <a:prstGeom prst="rect">
            <a:avLst/>
          </a:prstGeom>
          <a:solidFill>
            <a:schemeClr val="bg1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234000" rIns="19800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ea typeface="仿宋_GB2312" pitchFamily="49" charset="-122"/>
              </a:rPr>
              <a:t>The law of switching</a:t>
            </a:r>
            <a:endParaRPr kumimoji="1" lang="en-US" altLang="zh-CN" sz="3200" b="1" dirty="0">
              <a:solidFill>
                <a:srgbClr val="FF0000"/>
              </a:solidFill>
              <a:ea typeface="仿宋_GB2312" pitchFamily="49" charset="-122"/>
            </a:endParaRP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660604" y="4941168"/>
            <a:ext cx="7645007" cy="1077218"/>
          </a:xfrm>
          <a:prstGeom prst="rect">
            <a:avLst/>
          </a:prstGeom>
          <a:solidFill>
            <a:schemeClr val="bg1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234000" rIns="19800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ea typeface="仿宋_GB2312" pitchFamily="49" charset="-122"/>
              </a:rPr>
              <a:t>The law of switching is only applicable at the moment of</a:t>
            </a:r>
            <a:r>
              <a:rPr lang="zh-CN" altLang="en-US" sz="3200" b="1" dirty="0">
                <a:solidFill>
                  <a:srgbClr val="FF0000"/>
                </a:solidFill>
                <a:ea typeface="仿宋_GB2312" pitchFamily="49" charset="-122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ea typeface="仿宋_GB2312" pitchFamily="49" charset="-122"/>
              </a:rPr>
              <a:t>switching.</a:t>
            </a:r>
            <a:endParaRPr kumimoji="1" lang="en-US" altLang="zh-CN" sz="3200" b="1" dirty="0">
              <a:solidFill>
                <a:srgbClr val="FF0000"/>
              </a:solidFill>
              <a:ea typeface="仿宋_GB2312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92280" y="6335653"/>
            <a:ext cx="1905000" cy="457200"/>
          </a:xfrm>
        </p:spPr>
        <p:txBody>
          <a:bodyPr/>
          <a:lstStyle/>
          <a:p>
            <a:fld id="{607F6B5D-BAA9-462E-91DC-0C4220222717}" type="slidenum">
              <a:rPr lang="en-US" altLang="zh-CN" smtClean="0"/>
              <a:pPr/>
              <a:t>17</a:t>
            </a:fld>
            <a:endParaRPr lang="en-US" altLang="zh-CN" dirty="0"/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1840259" y="3429000"/>
            <a:ext cx="18637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b="1" i="1" dirty="0" err="1"/>
              <a:t>i</a:t>
            </a:r>
            <a:r>
              <a:rPr kumimoji="1" lang="en-US" altLang="zh-CN" b="1" i="1" baseline="-25000" dirty="0" err="1"/>
              <a:t>L</a:t>
            </a:r>
            <a:r>
              <a:rPr kumimoji="1" lang="en-US" altLang="zh-CN" b="1" dirty="0"/>
              <a:t>(0</a:t>
            </a:r>
            <a:r>
              <a:rPr kumimoji="1" lang="en-US" altLang="zh-CN" b="1" baseline="30000" dirty="0"/>
              <a:t>+</a:t>
            </a:r>
            <a:r>
              <a:rPr kumimoji="1" lang="en-US" altLang="zh-CN" b="1" dirty="0"/>
              <a:t>)= </a:t>
            </a:r>
            <a:r>
              <a:rPr kumimoji="1" lang="en-US" altLang="zh-CN" b="1" i="1" dirty="0" err="1"/>
              <a:t>i</a:t>
            </a:r>
            <a:r>
              <a:rPr kumimoji="1" lang="en-US" altLang="zh-CN" b="1" i="1" baseline="-25000" dirty="0" err="1"/>
              <a:t>L</a:t>
            </a:r>
            <a:r>
              <a:rPr kumimoji="1" lang="en-US" altLang="zh-CN" b="1" dirty="0"/>
              <a:t>(0</a:t>
            </a:r>
            <a:r>
              <a:rPr kumimoji="1" lang="zh-CN" altLang="en-US" sz="2000" b="1" baseline="30000" dirty="0"/>
              <a:t>－</a:t>
            </a:r>
            <a:r>
              <a:rPr kumimoji="1" lang="en-US" altLang="zh-CN" b="1" dirty="0"/>
              <a:t>)</a:t>
            </a: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1BFB0A92-F4B6-C846-AED0-309A649AC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377949"/>
            <a:ext cx="4752975" cy="46166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8000" rIns="198000" anchor="ctr">
            <a:spAutoFit/>
          </a:bodyPr>
          <a:lstStyle/>
          <a:p>
            <a:pPr algn="l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 dirty="0">
                <a:solidFill>
                  <a:schemeClr val="accent2">
                    <a:lumMod val="50000"/>
                  </a:schemeClr>
                </a:solidFill>
              </a:rPr>
              <a:t>Concepts of </a:t>
            </a:r>
            <a:r>
              <a:rPr kumimoji="1" lang="en-US" altLang="zh-CN" sz="2400" b="1" i="1" dirty="0">
                <a:solidFill>
                  <a:schemeClr val="accent2">
                    <a:lumMod val="50000"/>
                  </a:schemeClr>
                </a:solidFill>
              </a:rPr>
              <a:t>t</a:t>
            </a:r>
            <a:r>
              <a:rPr kumimoji="1" lang="en-US" altLang="zh-CN" sz="2400" b="1" dirty="0">
                <a:solidFill>
                  <a:schemeClr val="accent2">
                    <a:lumMod val="50000"/>
                  </a:schemeClr>
                </a:solidFill>
              </a:rPr>
              <a:t> = 0</a:t>
            </a:r>
            <a:r>
              <a:rPr kumimoji="1" lang="zh-CN" altLang="en-US" sz="2400" b="1" baseline="30000" dirty="0">
                <a:solidFill>
                  <a:schemeClr val="accent2">
                    <a:lumMod val="50000"/>
                  </a:schemeClr>
                </a:solidFill>
              </a:rPr>
              <a:t>＋</a:t>
            </a:r>
            <a:r>
              <a:rPr kumimoji="1" lang="zh-CN" altLang="en-US" sz="2400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kumimoji="1" lang="en-US" altLang="zh-CN" sz="2400" b="1" dirty="0">
                <a:solidFill>
                  <a:schemeClr val="accent2">
                    <a:lumMod val="50000"/>
                  </a:schemeClr>
                </a:solidFill>
              </a:rPr>
              <a:t>and </a:t>
            </a:r>
            <a:r>
              <a:rPr kumimoji="1" lang="en-US" altLang="zh-CN" sz="2400" b="1" i="1" dirty="0">
                <a:solidFill>
                  <a:schemeClr val="accent2">
                    <a:lumMod val="50000"/>
                  </a:schemeClr>
                </a:solidFill>
              </a:rPr>
              <a:t>t </a:t>
            </a:r>
            <a:r>
              <a:rPr kumimoji="1" lang="en-US" altLang="zh-CN" sz="2400" b="1" dirty="0">
                <a:solidFill>
                  <a:schemeClr val="accent2">
                    <a:lumMod val="50000"/>
                  </a:schemeClr>
                </a:solidFill>
              </a:rPr>
              <a:t>= 0</a:t>
            </a:r>
            <a:r>
              <a:rPr kumimoji="1" lang="zh-CN" altLang="en-US" sz="2400" b="1" baseline="30000" dirty="0">
                <a:solidFill>
                  <a:schemeClr val="accent2">
                    <a:lumMod val="50000"/>
                  </a:schemeClr>
                </a:solidFill>
              </a:rPr>
              <a:t>－</a:t>
            </a:r>
            <a:endParaRPr kumimoji="1" lang="zh-CN" altLang="en-US" sz="2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C751C436-C8A8-2145-9619-85C407BC1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957" y="1061214"/>
            <a:ext cx="46815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98000" rIns="198000" anchor="ctr">
            <a:spAutoFit/>
          </a:bodyPr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 dirty="0">
                <a:ea typeface="仿宋_GB2312" pitchFamily="49" charset="-122"/>
              </a:rPr>
              <a:t>A circuit is switching at </a:t>
            </a:r>
            <a:r>
              <a:rPr kumimoji="1" lang="en-US" altLang="zh-CN" sz="2400" b="1" i="1" dirty="0">
                <a:ea typeface="仿宋_GB2312" pitchFamily="49" charset="-122"/>
              </a:rPr>
              <a:t>t</a:t>
            </a:r>
            <a:r>
              <a:rPr kumimoji="1" lang="en-US" altLang="zh-CN" sz="2400" b="1" dirty="0">
                <a:ea typeface="仿宋_GB2312" pitchFamily="49" charset="-122"/>
              </a:rPr>
              <a:t>=0</a:t>
            </a:r>
            <a:endParaRPr kumimoji="1" lang="en-US" altLang="zh-CN" sz="2400" b="1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742B855C-97FB-4E4F-828F-7698B1EE7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957" y="1664520"/>
            <a:ext cx="5400675" cy="88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8000" rIns="198000" anchor="ctr">
            <a:spAutoFit/>
          </a:bodyPr>
          <a:lstStyle/>
          <a:p>
            <a:pPr algn="l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b="1" dirty="0">
                <a:solidFill>
                  <a:srgbClr val="FF0000"/>
                </a:solidFill>
              </a:rPr>
              <a:t>0</a:t>
            </a:r>
            <a:r>
              <a:rPr lang="en-US" altLang="zh-CN" b="1" baseline="30000" dirty="0">
                <a:solidFill>
                  <a:srgbClr val="FF0000"/>
                </a:solidFill>
              </a:rPr>
              <a:t>_</a:t>
            </a:r>
            <a:r>
              <a:rPr kumimoji="1" lang="en-US" altLang="zh-CN" sz="2800" b="1" baseline="30000" dirty="0">
                <a:solidFill>
                  <a:srgbClr val="FF0000"/>
                </a:solidFill>
              </a:rPr>
              <a:t> </a:t>
            </a:r>
            <a:r>
              <a:rPr kumimoji="1" lang="en-US" altLang="zh-CN" sz="2800" b="1" dirty="0">
                <a:solidFill>
                  <a:srgbClr val="FF0000"/>
                </a:solidFill>
              </a:rPr>
              <a:t>: </a:t>
            </a:r>
            <a:r>
              <a:rPr kumimoji="1" lang="en-US" altLang="zh-CN" sz="2800" b="1" dirty="0"/>
              <a:t>the </a:t>
            </a:r>
            <a:r>
              <a:rPr kumimoji="1" lang="en-US" altLang="zh-CN" sz="2400" b="1" dirty="0"/>
              <a:t>moment just before switching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b="1" dirty="0">
                <a:solidFill>
                  <a:srgbClr val="FF0000"/>
                </a:solidFill>
              </a:rPr>
              <a:t>0+ : </a:t>
            </a:r>
            <a:r>
              <a:rPr kumimoji="1" lang="en-US" altLang="zh-CN" sz="2400" b="1" dirty="0"/>
              <a:t>the moment just after switching</a:t>
            </a:r>
          </a:p>
        </p:txBody>
      </p:sp>
    </p:spTree>
    <p:extLst>
      <p:ext uri="{BB962C8B-B14F-4D97-AF65-F5344CB8AC3E}">
        <p14:creationId xmlns:p14="http://schemas.microsoft.com/office/powerpoint/2010/main" val="546132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5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5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8" grpId="0" animBg="1"/>
      <p:bldP spid="14" grpId="0" animBg="1"/>
      <p:bldP spid="15" grpId="0"/>
      <p:bldP spid="9" grpId="0" animBg="1"/>
      <p:bldP spid="10" grpId="0" build="p" autoUpdateAnimBg="0"/>
      <p:bldP spid="11" grpId="0" uiExpand="1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7" name="Text Box 3"/>
          <p:cNvSpPr txBox="1">
            <a:spLocks noChangeArrowheads="1"/>
          </p:cNvSpPr>
          <p:nvPr/>
        </p:nvSpPr>
        <p:spPr bwMode="auto">
          <a:xfrm>
            <a:off x="3715912" y="3756223"/>
            <a:ext cx="34796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b="1" dirty="0"/>
              <a:t>(2)  </a:t>
            </a:r>
            <a:r>
              <a:rPr lang="en-US" altLang="zh-CN" b="1" dirty="0"/>
              <a:t>The law of switching</a:t>
            </a:r>
            <a:r>
              <a:rPr kumimoji="1" lang="zh-CN" altLang="en-US" sz="2400" b="1" dirty="0"/>
              <a:t> </a:t>
            </a:r>
          </a:p>
        </p:txBody>
      </p:sp>
      <p:sp>
        <p:nvSpPr>
          <p:cNvPr id="154628" name="Rectangle 4"/>
          <p:cNvSpPr>
            <a:spLocks noChangeArrowheads="1"/>
          </p:cNvSpPr>
          <p:nvPr/>
        </p:nvSpPr>
        <p:spPr bwMode="auto">
          <a:xfrm>
            <a:off x="4824413" y="4051300"/>
            <a:ext cx="34559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b="1" i="1" dirty="0" err="1"/>
              <a:t>u</a:t>
            </a:r>
            <a:r>
              <a:rPr kumimoji="1" lang="en-US" altLang="zh-CN" sz="2800" b="1" i="1" baseline="-25000" dirty="0" err="1"/>
              <a:t>C</a:t>
            </a:r>
            <a:r>
              <a:rPr kumimoji="1" lang="en-US" altLang="zh-CN" sz="2800" b="1" baseline="-25000" dirty="0"/>
              <a:t> </a:t>
            </a:r>
            <a:r>
              <a:rPr kumimoji="1" lang="en-US" altLang="zh-CN" sz="2800" b="1" dirty="0"/>
              <a:t>(0</a:t>
            </a:r>
            <a:r>
              <a:rPr kumimoji="1" lang="en-US" altLang="zh-CN" sz="2800" b="1" baseline="30000" dirty="0"/>
              <a:t>+</a:t>
            </a:r>
            <a:r>
              <a:rPr kumimoji="1" lang="en-US" altLang="zh-CN" sz="2800" b="1" dirty="0"/>
              <a:t>) = </a:t>
            </a:r>
            <a:r>
              <a:rPr kumimoji="1" lang="en-US" altLang="zh-CN" sz="2800" b="1" i="1" dirty="0" err="1"/>
              <a:t>u</a:t>
            </a:r>
            <a:r>
              <a:rPr kumimoji="1" lang="en-US" altLang="zh-CN" sz="2800" b="1" i="1" baseline="-25000" dirty="0" err="1"/>
              <a:t>C</a:t>
            </a:r>
            <a:r>
              <a:rPr kumimoji="1" lang="en-US" altLang="zh-CN" sz="2800" b="1" baseline="-25000" dirty="0"/>
              <a:t> </a:t>
            </a:r>
            <a:r>
              <a:rPr kumimoji="1" lang="en-US" altLang="zh-CN" sz="2800" b="1" dirty="0"/>
              <a:t>(0</a:t>
            </a:r>
            <a:r>
              <a:rPr kumimoji="1" lang="zh-CN" altLang="en-US" sz="2800" b="1" baseline="30000" dirty="0"/>
              <a:t>－</a:t>
            </a:r>
            <a:r>
              <a:rPr kumimoji="1" lang="en-US" altLang="zh-CN" sz="2800" b="1" dirty="0"/>
              <a:t>)=8V</a:t>
            </a:r>
          </a:p>
        </p:txBody>
      </p:sp>
      <p:grpSp>
        <p:nvGrpSpPr>
          <p:cNvPr id="154629" name="Group 5"/>
          <p:cNvGrpSpPr>
            <a:grpSpLocks/>
          </p:cNvGrpSpPr>
          <p:nvPr/>
        </p:nvGrpSpPr>
        <p:grpSpPr bwMode="auto">
          <a:xfrm>
            <a:off x="468313" y="3905252"/>
            <a:ext cx="3416299" cy="1922463"/>
            <a:chOff x="295" y="2551"/>
            <a:chExt cx="2152" cy="1211"/>
          </a:xfrm>
        </p:grpSpPr>
        <p:sp>
          <p:nvSpPr>
            <p:cNvPr id="154630" name="Oval 6"/>
            <p:cNvSpPr>
              <a:spLocks noChangeArrowheads="1"/>
            </p:cNvSpPr>
            <p:nvPr/>
          </p:nvSpPr>
          <p:spPr bwMode="auto">
            <a:xfrm>
              <a:off x="1852" y="2860"/>
              <a:ext cx="256" cy="22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31" name="Oval 7"/>
            <p:cNvSpPr>
              <a:spLocks noChangeArrowheads="1"/>
            </p:cNvSpPr>
            <p:nvPr/>
          </p:nvSpPr>
          <p:spPr bwMode="auto">
            <a:xfrm>
              <a:off x="412" y="2882"/>
              <a:ext cx="256" cy="22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32" name="Rectangle 8"/>
            <p:cNvSpPr>
              <a:spLocks noChangeArrowheads="1"/>
            </p:cNvSpPr>
            <p:nvPr/>
          </p:nvSpPr>
          <p:spPr bwMode="auto">
            <a:xfrm>
              <a:off x="924" y="2562"/>
              <a:ext cx="257" cy="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33" name="Line 9"/>
            <p:cNvSpPr>
              <a:spLocks noChangeShapeType="1"/>
            </p:cNvSpPr>
            <p:nvPr/>
          </p:nvSpPr>
          <p:spPr bwMode="auto">
            <a:xfrm flipH="1">
              <a:off x="1993" y="2809"/>
              <a:ext cx="0" cy="61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34" name="Line 10"/>
            <p:cNvSpPr>
              <a:spLocks noChangeShapeType="1"/>
            </p:cNvSpPr>
            <p:nvPr/>
          </p:nvSpPr>
          <p:spPr bwMode="auto">
            <a:xfrm flipV="1">
              <a:off x="1993" y="2608"/>
              <a:ext cx="0" cy="27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35" name="Line 11"/>
            <p:cNvSpPr>
              <a:spLocks noChangeShapeType="1"/>
            </p:cNvSpPr>
            <p:nvPr/>
          </p:nvSpPr>
          <p:spPr bwMode="auto">
            <a:xfrm>
              <a:off x="1181" y="2608"/>
              <a:ext cx="81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36" name="Line 12"/>
            <p:cNvSpPr>
              <a:spLocks noChangeShapeType="1"/>
            </p:cNvSpPr>
            <p:nvPr/>
          </p:nvSpPr>
          <p:spPr bwMode="auto">
            <a:xfrm>
              <a:off x="540" y="2608"/>
              <a:ext cx="38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37" name="Line 13"/>
            <p:cNvSpPr>
              <a:spLocks noChangeShapeType="1"/>
            </p:cNvSpPr>
            <p:nvPr/>
          </p:nvSpPr>
          <p:spPr bwMode="auto">
            <a:xfrm>
              <a:off x="540" y="2608"/>
              <a:ext cx="0" cy="82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38" name="Line 14"/>
            <p:cNvSpPr>
              <a:spLocks noChangeShapeType="1"/>
            </p:cNvSpPr>
            <p:nvPr/>
          </p:nvSpPr>
          <p:spPr bwMode="auto">
            <a:xfrm>
              <a:off x="540" y="3430"/>
              <a:ext cx="1453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39" name="Text Box 15"/>
            <p:cNvSpPr txBox="1">
              <a:spLocks noChangeArrowheads="1"/>
            </p:cNvSpPr>
            <p:nvPr/>
          </p:nvSpPr>
          <p:spPr bwMode="auto">
            <a:xfrm>
              <a:off x="295" y="2632"/>
              <a:ext cx="226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b="1"/>
                <a:t>+</a:t>
              </a:r>
              <a:endParaRPr kumimoji="1" lang="en-US" altLang="zh-CN" sz="2400" b="1"/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1" lang="en-US" altLang="zh-CN" sz="2400" b="1"/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b="1"/>
                <a:t>-</a:t>
              </a:r>
              <a:endParaRPr kumimoji="1" lang="en-US" altLang="zh-CN" sz="2400" b="1"/>
            </a:p>
          </p:txBody>
        </p:sp>
        <p:sp>
          <p:nvSpPr>
            <p:cNvPr id="154640" name="Text Box 16"/>
            <p:cNvSpPr txBox="1">
              <a:spLocks noChangeArrowheads="1"/>
            </p:cNvSpPr>
            <p:nvPr/>
          </p:nvSpPr>
          <p:spPr bwMode="auto">
            <a:xfrm>
              <a:off x="612" y="3067"/>
              <a:ext cx="4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/>
                <a:t>10V</a:t>
              </a:r>
            </a:p>
          </p:txBody>
        </p:sp>
        <p:sp>
          <p:nvSpPr>
            <p:cNvPr id="154641" name="Line 17"/>
            <p:cNvSpPr>
              <a:spLocks noChangeShapeType="1"/>
            </p:cNvSpPr>
            <p:nvPr/>
          </p:nvSpPr>
          <p:spPr bwMode="auto">
            <a:xfrm>
              <a:off x="668" y="2562"/>
              <a:ext cx="171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42" name="Text Box 18"/>
            <p:cNvSpPr txBox="1">
              <a:spLocks noChangeArrowheads="1"/>
            </p:cNvSpPr>
            <p:nvPr/>
          </p:nvSpPr>
          <p:spPr bwMode="auto">
            <a:xfrm>
              <a:off x="657" y="2568"/>
              <a:ext cx="18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 i="1"/>
                <a:t>i</a:t>
              </a:r>
              <a:endParaRPr kumimoji="1" lang="en-US" altLang="zh-CN" sz="2400" b="1"/>
            </a:p>
          </p:txBody>
        </p:sp>
        <p:sp>
          <p:nvSpPr>
            <p:cNvPr id="154643" name="Line 19"/>
            <p:cNvSpPr>
              <a:spLocks noChangeShapeType="1"/>
            </p:cNvSpPr>
            <p:nvPr/>
          </p:nvSpPr>
          <p:spPr bwMode="auto">
            <a:xfrm>
              <a:off x="1886" y="3183"/>
              <a:ext cx="0" cy="18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44" name="Text Box 20"/>
            <p:cNvSpPr txBox="1">
              <a:spLocks noChangeArrowheads="1"/>
            </p:cNvSpPr>
            <p:nvPr/>
          </p:nvSpPr>
          <p:spPr bwMode="auto">
            <a:xfrm>
              <a:off x="1563" y="3057"/>
              <a:ext cx="2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 i="1"/>
                <a:t>i</a:t>
              </a:r>
              <a:r>
                <a:rPr kumimoji="1" lang="en-US" altLang="zh-CN" sz="2400" b="1" i="1" baseline="-25000"/>
                <a:t>C</a:t>
              </a:r>
              <a:endParaRPr kumimoji="1" lang="en-US" altLang="zh-CN" sz="2400" b="1"/>
            </a:p>
          </p:txBody>
        </p:sp>
        <p:sp>
          <p:nvSpPr>
            <p:cNvPr id="154645" name="Text Box 21"/>
            <p:cNvSpPr txBox="1">
              <a:spLocks noChangeArrowheads="1"/>
            </p:cNvSpPr>
            <p:nvPr/>
          </p:nvSpPr>
          <p:spPr bwMode="auto">
            <a:xfrm>
              <a:off x="2093" y="2551"/>
              <a:ext cx="354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b="1"/>
                <a:t>+</a:t>
              </a:r>
              <a:endParaRPr kumimoji="1" lang="en-US" altLang="zh-CN" sz="2400" b="1"/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/>
                <a:t>8V</a:t>
              </a:r>
              <a:endParaRPr kumimoji="1" lang="en-US" altLang="zh-CN" sz="2400" b="1" i="1" baseline="-25000"/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b="1" i="1" baseline="-25000">
                  <a:sym typeface="Symbol" pitchFamily="18" charset="2"/>
                </a:rPr>
                <a:t>-</a:t>
              </a:r>
              <a:endParaRPr kumimoji="1" lang="en-US" altLang="zh-CN" b="1"/>
            </a:p>
          </p:txBody>
        </p:sp>
        <p:sp>
          <p:nvSpPr>
            <p:cNvPr id="154646" name="Text Box 22"/>
            <p:cNvSpPr txBox="1">
              <a:spLocks noChangeArrowheads="1"/>
            </p:cNvSpPr>
            <p:nvPr/>
          </p:nvSpPr>
          <p:spPr bwMode="auto">
            <a:xfrm>
              <a:off x="884" y="2659"/>
              <a:ext cx="4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 dirty="0"/>
                <a:t>10k</a:t>
              </a:r>
            </a:p>
          </p:txBody>
        </p:sp>
        <p:sp>
          <p:nvSpPr>
            <p:cNvPr id="154647" name="Text Box 23"/>
            <p:cNvSpPr txBox="1">
              <a:spLocks noChangeArrowheads="1"/>
            </p:cNvSpPr>
            <p:nvPr/>
          </p:nvSpPr>
          <p:spPr bwMode="auto">
            <a:xfrm>
              <a:off x="458" y="3471"/>
              <a:ext cx="173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 dirty="0"/>
                <a:t>0</a:t>
              </a:r>
              <a:r>
                <a:rPr kumimoji="1" lang="en-US" altLang="zh-CN" sz="2400" b="1" baseline="30000" dirty="0"/>
                <a:t>+</a:t>
              </a:r>
              <a:r>
                <a:rPr lang="en-US" altLang="zh-CN" b="1" dirty="0"/>
                <a:t>equivalent circuit</a:t>
              </a:r>
              <a:endParaRPr kumimoji="1" lang="zh-CN" altLang="en-US" sz="2400" b="1" dirty="0"/>
            </a:p>
          </p:txBody>
        </p:sp>
      </p:grpSp>
      <p:graphicFrame>
        <p:nvGraphicFramePr>
          <p:cNvPr id="154648" name="Object 24"/>
          <p:cNvGraphicFramePr>
            <a:graphicFrameLocks noChangeAspect="1"/>
          </p:cNvGraphicFramePr>
          <p:nvPr/>
        </p:nvGraphicFramePr>
        <p:xfrm>
          <a:off x="4857750" y="5275263"/>
          <a:ext cx="38227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53" name="Equation" r:id="rId3" imgW="1726920" imgH="406080" progId="Equation.DSMT4">
                  <p:embed/>
                </p:oleObj>
              </mc:Choice>
              <mc:Fallback>
                <p:oleObj name="Equation" r:id="rId3" imgW="1726920" imgH="406080" progId="Equation.DSMT4">
                  <p:embed/>
                  <p:pic>
                    <p:nvPicPr>
                      <p:cNvPr id="15464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0" y="5275263"/>
                        <a:ext cx="382270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49" name="Text Box 25"/>
          <p:cNvSpPr txBox="1">
            <a:spLocks noChangeArrowheads="1"/>
          </p:cNvSpPr>
          <p:nvPr/>
        </p:nvSpPr>
        <p:spPr bwMode="auto">
          <a:xfrm>
            <a:off x="4537074" y="624315"/>
            <a:ext cx="439578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457200" indent="-457200" algn="l">
              <a:spcBef>
                <a:spcPct val="0"/>
              </a:spcBef>
              <a:buClrTx/>
              <a:buFontTx/>
              <a:buAutoNum type="arabicParenBoth"/>
            </a:pPr>
            <a:r>
              <a:rPr kumimoji="1" lang="en-US" altLang="zh-CN" sz="2400" b="1" dirty="0"/>
              <a:t>0</a:t>
            </a:r>
            <a:r>
              <a:rPr kumimoji="1" lang="zh-CN" altLang="en-US" sz="2400" b="1" baseline="30000" dirty="0"/>
              <a:t>－</a:t>
            </a:r>
            <a:r>
              <a:rPr lang="en-US" altLang="zh-CN" b="1" dirty="0"/>
              <a:t>equivalent circuit, find</a:t>
            </a:r>
            <a:r>
              <a:rPr kumimoji="1" lang="zh-CN" altLang="en-US" sz="2400" b="1" dirty="0"/>
              <a:t> </a:t>
            </a:r>
            <a:r>
              <a:rPr kumimoji="1" lang="en-US" altLang="zh-CN" sz="2400" b="1" i="1" dirty="0" err="1"/>
              <a:t>u</a:t>
            </a:r>
            <a:r>
              <a:rPr kumimoji="1" lang="en-US" altLang="zh-CN" sz="2400" b="1" i="1" baseline="-25000" dirty="0" err="1"/>
              <a:t>C</a:t>
            </a:r>
            <a:r>
              <a:rPr kumimoji="1" lang="en-US" altLang="zh-CN" sz="2400" b="1" dirty="0"/>
              <a:t>(0</a:t>
            </a:r>
            <a:r>
              <a:rPr kumimoji="1" lang="zh-CN" altLang="en-US" sz="2400" b="1" baseline="30000" dirty="0"/>
              <a:t>－</a:t>
            </a:r>
            <a:r>
              <a:rPr kumimoji="1" lang="en-US" altLang="zh-CN" sz="2400" b="1" dirty="0"/>
              <a:t>)</a:t>
            </a:r>
            <a:r>
              <a:rPr kumimoji="1" lang="zh-CN" altLang="en-US" sz="2400" b="1" dirty="0"/>
              <a:t>或</a:t>
            </a:r>
            <a:r>
              <a:rPr kumimoji="1" lang="en-US" altLang="zh-CN" sz="2400" b="1" i="1" dirty="0" err="1"/>
              <a:t>i</a:t>
            </a:r>
            <a:r>
              <a:rPr kumimoji="1" lang="en-US" altLang="zh-CN" sz="2400" b="1" i="1" baseline="-25000" dirty="0" err="1"/>
              <a:t>L</a:t>
            </a:r>
            <a:r>
              <a:rPr kumimoji="1" lang="en-US" altLang="zh-CN" sz="2400" b="1" dirty="0"/>
              <a:t>(0</a:t>
            </a:r>
            <a:r>
              <a:rPr kumimoji="1" lang="zh-CN" altLang="en-US" sz="2400" b="1" baseline="30000" dirty="0"/>
              <a:t>－</a:t>
            </a:r>
            <a:r>
              <a:rPr kumimoji="1" lang="en-US" altLang="zh-CN" sz="2400" b="1" dirty="0"/>
              <a:t>)</a:t>
            </a:r>
          </a:p>
        </p:txBody>
      </p:sp>
      <p:grpSp>
        <p:nvGrpSpPr>
          <p:cNvPr id="154650" name="Group 26"/>
          <p:cNvGrpSpPr>
            <a:grpSpLocks/>
          </p:cNvGrpSpPr>
          <p:nvPr/>
        </p:nvGrpSpPr>
        <p:grpSpPr bwMode="auto">
          <a:xfrm>
            <a:off x="4824413" y="1430338"/>
            <a:ext cx="3422650" cy="1254125"/>
            <a:chOff x="550" y="906"/>
            <a:chExt cx="2156" cy="790"/>
          </a:xfrm>
        </p:grpSpPr>
        <p:sp>
          <p:nvSpPr>
            <p:cNvPr id="154651" name="Oval 27"/>
            <p:cNvSpPr>
              <a:spLocks noChangeArrowheads="1"/>
            </p:cNvSpPr>
            <p:nvPr/>
          </p:nvSpPr>
          <p:spPr bwMode="auto">
            <a:xfrm>
              <a:off x="693" y="1193"/>
              <a:ext cx="224" cy="20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52" name="Rectangle 28"/>
            <p:cNvSpPr>
              <a:spLocks noChangeArrowheads="1"/>
            </p:cNvSpPr>
            <p:nvPr/>
          </p:nvSpPr>
          <p:spPr bwMode="auto">
            <a:xfrm>
              <a:off x="1206" y="906"/>
              <a:ext cx="270" cy="8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53" name="Rectangle 29"/>
            <p:cNvSpPr>
              <a:spLocks noChangeArrowheads="1"/>
            </p:cNvSpPr>
            <p:nvPr/>
          </p:nvSpPr>
          <p:spPr bwMode="auto">
            <a:xfrm>
              <a:off x="1791" y="1111"/>
              <a:ext cx="90" cy="2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54" name="Line 30"/>
            <p:cNvSpPr>
              <a:spLocks noChangeShapeType="1"/>
            </p:cNvSpPr>
            <p:nvPr/>
          </p:nvSpPr>
          <p:spPr bwMode="auto">
            <a:xfrm>
              <a:off x="1836" y="1316"/>
              <a:ext cx="0" cy="38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55" name="Line 31"/>
            <p:cNvSpPr>
              <a:spLocks noChangeShapeType="1"/>
            </p:cNvSpPr>
            <p:nvPr/>
          </p:nvSpPr>
          <p:spPr bwMode="auto">
            <a:xfrm flipV="1">
              <a:off x="1836" y="947"/>
              <a:ext cx="0" cy="164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56" name="Line 32"/>
            <p:cNvSpPr>
              <a:spLocks noChangeShapeType="1"/>
            </p:cNvSpPr>
            <p:nvPr/>
          </p:nvSpPr>
          <p:spPr bwMode="auto">
            <a:xfrm>
              <a:off x="2331" y="1397"/>
              <a:ext cx="0" cy="28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57" name="Line 33"/>
            <p:cNvSpPr>
              <a:spLocks noChangeShapeType="1"/>
            </p:cNvSpPr>
            <p:nvPr/>
          </p:nvSpPr>
          <p:spPr bwMode="auto">
            <a:xfrm flipV="1">
              <a:off x="2331" y="947"/>
              <a:ext cx="0" cy="246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58" name="Line 34"/>
            <p:cNvSpPr>
              <a:spLocks noChangeShapeType="1"/>
            </p:cNvSpPr>
            <p:nvPr/>
          </p:nvSpPr>
          <p:spPr bwMode="auto">
            <a:xfrm>
              <a:off x="1476" y="947"/>
              <a:ext cx="855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59" name="Line 35"/>
            <p:cNvSpPr>
              <a:spLocks noChangeShapeType="1"/>
            </p:cNvSpPr>
            <p:nvPr/>
          </p:nvSpPr>
          <p:spPr bwMode="auto">
            <a:xfrm>
              <a:off x="800" y="947"/>
              <a:ext cx="406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60" name="Line 36"/>
            <p:cNvSpPr>
              <a:spLocks noChangeShapeType="1"/>
            </p:cNvSpPr>
            <p:nvPr/>
          </p:nvSpPr>
          <p:spPr bwMode="auto">
            <a:xfrm>
              <a:off x="800" y="947"/>
              <a:ext cx="0" cy="737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61" name="Line 37"/>
            <p:cNvSpPr>
              <a:spLocks noChangeShapeType="1"/>
            </p:cNvSpPr>
            <p:nvPr/>
          </p:nvSpPr>
          <p:spPr bwMode="auto">
            <a:xfrm>
              <a:off x="800" y="1684"/>
              <a:ext cx="1531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62" name="Text Box 38"/>
            <p:cNvSpPr txBox="1">
              <a:spLocks noChangeArrowheads="1"/>
            </p:cNvSpPr>
            <p:nvPr/>
          </p:nvSpPr>
          <p:spPr bwMode="auto">
            <a:xfrm>
              <a:off x="550" y="930"/>
              <a:ext cx="226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b="1"/>
                <a:t>+</a:t>
              </a:r>
              <a:endParaRPr kumimoji="1" lang="en-US" altLang="zh-CN" sz="2400" b="1"/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1" lang="en-US" altLang="zh-CN" sz="2400" b="1"/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b="1"/>
                <a:t>-</a:t>
              </a:r>
              <a:endParaRPr kumimoji="1" lang="en-US" altLang="zh-CN" sz="2400" b="1"/>
            </a:p>
          </p:txBody>
        </p:sp>
        <p:sp>
          <p:nvSpPr>
            <p:cNvPr id="154663" name="Text Box 39"/>
            <p:cNvSpPr txBox="1">
              <a:spLocks noChangeArrowheads="1"/>
            </p:cNvSpPr>
            <p:nvPr/>
          </p:nvSpPr>
          <p:spPr bwMode="auto">
            <a:xfrm>
              <a:off x="786" y="1294"/>
              <a:ext cx="4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/>
                <a:t>10V</a:t>
              </a:r>
            </a:p>
          </p:txBody>
        </p:sp>
        <p:sp>
          <p:nvSpPr>
            <p:cNvPr id="154664" name="Text Box 40"/>
            <p:cNvSpPr txBox="1">
              <a:spLocks noChangeArrowheads="1"/>
            </p:cNvSpPr>
            <p:nvPr/>
          </p:nvSpPr>
          <p:spPr bwMode="auto">
            <a:xfrm>
              <a:off x="2371" y="907"/>
              <a:ext cx="335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b="1"/>
                <a:t>+</a:t>
              </a:r>
              <a:endParaRPr kumimoji="1" lang="en-US" altLang="zh-CN" sz="2400" b="1"/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 i="1"/>
                <a:t>u</a:t>
              </a:r>
              <a:r>
                <a:rPr kumimoji="1" lang="en-US" altLang="zh-CN" sz="2400" b="1" i="1" baseline="-25000"/>
                <a:t>C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b="1"/>
                <a:t>-</a:t>
              </a:r>
            </a:p>
          </p:txBody>
        </p:sp>
        <p:sp>
          <p:nvSpPr>
            <p:cNvPr id="154665" name="Text Box 41"/>
            <p:cNvSpPr txBox="1">
              <a:spLocks noChangeArrowheads="1"/>
            </p:cNvSpPr>
            <p:nvPr/>
          </p:nvSpPr>
          <p:spPr bwMode="auto">
            <a:xfrm>
              <a:off x="1088" y="926"/>
              <a:ext cx="4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/>
                <a:t>10k</a:t>
              </a:r>
            </a:p>
          </p:txBody>
        </p:sp>
        <p:sp>
          <p:nvSpPr>
            <p:cNvPr id="154666" name="Text Box 42"/>
            <p:cNvSpPr txBox="1">
              <a:spLocks noChangeArrowheads="1"/>
            </p:cNvSpPr>
            <p:nvPr/>
          </p:nvSpPr>
          <p:spPr bwMode="auto">
            <a:xfrm>
              <a:off x="1404" y="1091"/>
              <a:ext cx="4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/>
                <a:t>40k</a:t>
              </a:r>
            </a:p>
          </p:txBody>
        </p:sp>
      </p:grpSp>
      <p:sp>
        <p:nvSpPr>
          <p:cNvPr id="154667" name="Text Box 43"/>
          <p:cNvSpPr txBox="1">
            <a:spLocks noChangeArrowheads="1"/>
          </p:cNvSpPr>
          <p:nvPr/>
        </p:nvSpPr>
        <p:spPr bwMode="auto">
          <a:xfrm>
            <a:off x="5891318" y="2915444"/>
            <a:ext cx="2016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b="1" i="1" dirty="0" err="1"/>
              <a:t>u</a:t>
            </a:r>
            <a:r>
              <a:rPr kumimoji="1" lang="en-US" altLang="zh-CN" sz="2800" b="1" i="1" baseline="-25000" dirty="0" err="1"/>
              <a:t>C</a:t>
            </a:r>
            <a:r>
              <a:rPr kumimoji="1" lang="en-US" altLang="zh-CN" sz="2800" b="1" dirty="0"/>
              <a:t>(0</a:t>
            </a:r>
            <a:r>
              <a:rPr kumimoji="1" lang="zh-CN" altLang="en-US" sz="2800" b="1" baseline="30000" dirty="0"/>
              <a:t>－</a:t>
            </a:r>
            <a:r>
              <a:rPr kumimoji="1" lang="en-US" altLang="zh-CN" sz="2800" b="1" dirty="0"/>
              <a:t>)=8V</a:t>
            </a:r>
          </a:p>
        </p:txBody>
      </p:sp>
      <p:sp>
        <p:nvSpPr>
          <p:cNvPr id="154668" name="Text Box 44"/>
          <p:cNvSpPr txBox="1">
            <a:spLocks noChangeArrowheads="1"/>
          </p:cNvSpPr>
          <p:nvPr/>
        </p:nvSpPr>
        <p:spPr bwMode="auto">
          <a:xfrm>
            <a:off x="4681538" y="4583023"/>
            <a:ext cx="42513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b="1" dirty="0"/>
              <a:t>(3)  0</a:t>
            </a:r>
            <a:r>
              <a:rPr kumimoji="1" lang="en-US" altLang="zh-CN" sz="2400" b="1" baseline="30000" dirty="0"/>
              <a:t>+ </a:t>
            </a:r>
            <a:r>
              <a:rPr lang="en-US" altLang="zh-CN" b="1" dirty="0"/>
              <a:t>equivalent circuit, find</a:t>
            </a:r>
            <a:r>
              <a:rPr kumimoji="1" lang="zh-CN" altLang="en-US" sz="2400" b="1" dirty="0"/>
              <a:t>  </a:t>
            </a:r>
            <a:r>
              <a:rPr kumimoji="1" lang="en-US" altLang="zh-CN" sz="2400" b="1" i="1" dirty="0" err="1"/>
              <a:t>i</a:t>
            </a:r>
            <a:r>
              <a:rPr kumimoji="1" lang="en-US" altLang="zh-CN" sz="2400" b="1" i="1" baseline="-25000" dirty="0" err="1"/>
              <a:t>C</a:t>
            </a:r>
            <a:r>
              <a:rPr kumimoji="1" lang="en-US" altLang="zh-CN" sz="2400" b="1" dirty="0"/>
              <a:t>(0</a:t>
            </a:r>
            <a:r>
              <a:rPr kumimoji="1" lang="en-US" altLang="zh-CN" sz="2400" b="1" baseline="30000" dirty="0"/>
              <a:t>+</a:t>
            </a:r>
            <a:r>
              <a:rPr kumimoji="1" lang="en-US" altLang="zh-CN" sz="2400" b="1" dirty="0"/>
              <a:t>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endParaRPr kumimoji="1" lang="en-US" altLang="zh-CN" sz="2400" b="1" dirty="0"/>
          </a:p>
        </p:txBody>
      </p:sp>
      <p:grpSp>
        <p:nvGrpSpPr>
          <p:cNvPr id="154669" name="Group 45"/>
          <p:cNvGrpSpPr>
            <a:grpSpLocks/>
          </p:cNvGrpSpPr>
          <p:nvPr/>
        </p:nvGrpSpPr>
        <p:grpSpPr bwMode="auto">
          <a:xfrm>
            <a:off x="5040316" y="6283331"/>
            <a:ext cx="1941510" cy="461963"/>
            <a:chOff x="3152" y="3021"/>
            <a:chExt cx="1462" cy="291"/>
          </a:xfrm>
        </p:grpSpPr>
        <p:sp>
          <p:nvSpPr>
            <p:cNvPr id="154670" name="Text Box 46"/>
            <p:cNvSpPr txBox="1">
              <a:spLocks noChangeArrowheads="1"/>
            </p:cNvSpPr>
            <p:nvPr/>
          </p:nvSpPr>
          <p:spPr bwMode="auto">
            <a:xfrm>
              <a:off x="3152" y="3021"/>
              <a:ext cx="146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 i="1" dirty="0" err="1"/>
                <a:t>i</a:t>
              </a:r>
              <a:r>
                <a:rPr kumimoji="1" lang="en-US" altLang="zh-CN" sz="2400" b="1" i="1" baseline="-25000" dirty="0" err="1"/>
                <a:t>C</a:t>
              </a:r>
              <a:r>
                <a:rPr kumimoji="1" lang="en-US" altLang="zh-CN" sz="2400" b="1" dirty="0"/>
                <a:t>(0</a:t>
              </a:r>
              <a:r>
                <a:rPr lang="en-US" altLang="zh-CN" b="1" baseline="30000" dirty="0"/>
                <a:t>-</a:t>
              </a:r>
              <a:r>
                <a:rPr kumimoji="1" lang="en-US" altLang="zh-CN" sz="2400" b="1" dirty="0"/>
                <a:t>)=0      </a:t>
              </a:r>
              <a:r>
                <a:rPr kumimoji="1" lang="en-US" altLang="zh-CN" sz="2400" b="1" i="1" dirty="0" err="1"/>
                <a:t>i</a:t>
              </a:r>
              <a:r>
                <a:rPr kumimoji="1" lang="en-US" altLang="zh-CN" sz="2400" b="1" i="1" baseline="-25000" dirty="0" err="1"/>
                <a:t>C</a:t>
              </a:r>
              <a:r>
                <a:rPr kumimoji="1" lang="en-US" altLang="zh-CN" sz="2400" b="1" dirty="0"/>
                <a:t>(0</a:t>
              </a:r>
              <a:r>
                <a:rPr kumimoji="1" lang="en-US" altLang="zh-CN" sz="2400" b="1" baseline="-25000" dirty="0"/>
                <a:t>+</a:t>
              </a:r>
              <a:r>
                <a:rPr kumimoji="1" lang="en-US" altLang="zh-CN" sz="2400" b="1" dirty="0"/>
                <a:t>)</a:t>
              </a:r>
            </a:p>
          </p:txBody>
        </p:sp>
        <p:grpSp>
          <p:nvGrpSpPr>
            <p:cNvPr id="154671" name="Group 47"/>
            <p:cNvGrpSpPr>
              <a:grpSpLocks/>
            </p:cNvGrpSpPr>
            <p:nvPr/>
          </p:nvGrpSpPr>
          <p:grpSpPr bwMode="auto">
            <a:xfrm>
              <a:off x="4023" y="3081"/>
              <a:ext cx="172" cy="164"/>
              <a:chOff x="3854" y="3353"/>
              <a:chExt cx="172" cy="164"/>
            </a:xfrm>
          </p:grpSpPr>
          <p:sp>
            <p:nvSpPr>
              <p:cNvPr id="154672" name="Line 48"/>
              <p:cNvSpPr>
                <a:spLocks noChangeShapeType="1"/>
              </p:cNvSpPr>
              <p:nvPr/>
            </p:nvSpPr>
            <p:spPr bwMode="auto">
              <a:xfrm>
                <a:off x="3854" y="3418"/>
                <a:ext cx="172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673" name="Line 49"/>
              <p:cNvSpPr>
                <a:spLocks noChangeShapeType="1"/>
              </p:cNvSpPr>
              <p:nvPr/>
            </p:nvSpPr>
            <p:spPr bwMode="auto">
              <a:xfrm>
                <a:off x="3854" y="3472"/>
                <a:ext cx="163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674" name="Line 50"/>
              <p:cNvSpPr>
                <a:spLocks noChangeShapeType="1"/>
              </p:cNvSpPr>
              <p:nvPr/>
            </p:nvSpPr>
            <p:spPr bwMode="auto">
              <a:xfrm>
                <a:off x="3908" y="3353"/>
                <a:ext cx="64" cy="164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54675" name="Text Box 51"/>
          <p:cNvSpPr txBox="1">
            <a:spLocks noChangeArrowheads="1"/>
          </p:cNvSpPr>
          <p:nvPr/>
        </p:nvSpPr>
        <p:spPr bwMode="auto">
          <a:xfrm>
            <a:off x="323849" y="1050459"/>
            <a:ext cx="2106889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Example </a:t>
            </a:r>
            <a:r>
              <a:rPr kumimoji="1" lang="en-US" altLang="zh-CN" sz="28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4676" name="Text Box 52"/>
          <p:cNvSpPr txBox="1">
            <a:spLocks noChangeArrowheads="1"/>
          </p:cNvSpPr>
          <p:nvPr/>
        </p:nvSpPr>
        <p:spPr bwMode="auto">
          <a:xfrm>
            <a:off x="2468938" y="1081237"/>
            <a:ext cx="16514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b="1" dirty="0"/>
              <a:t>Find</a:t>
            </a:r>
            <a:r>
              <a:rPr kumimoji="1" lang="zh-CN" altLang="en-US" sz="2400" b="1" dirty="0"/>
              <a:t>  </a:t>
            </a:r>
            <a:r>
              <a:rPr kumimoji="1" lang="en-US" altLang="zh-CN" sz="2400" b="1" i="1" dirty="0" err="1"/>
              <a:t>i</a:t>
            </a:r>
            <a:r>
              <a:rPr kumimoji="1" lang="en-US" altLang="zh-CN" sz="2400" b="1" i="1" baseline="-25000" dirty="0" err="1"/>
              <a:t>C</a:t>
            </a:r>
            <a:r>
              <a:rPr kumimoji="1" lang="en-US" altLang="zh-CN" sz="2400" b="1" dirty="0"/>
              <a:t>(0</a:t>
            </a:r>
            <a:r>
              <a:rPr kumimoji="1" lang="en-US" altLang="zh-CN" sz="2400" b="1" baseline="30000" dirty="0"/>
              <a:t>+</a:t>
            </a:r>
            <a:r>
              <a:rPr kumimoji="1" lang="en-US" altLang="zh-CN" sz="2400" b="1" dirty="0"/>
              <a:t>)</a:t>
            </a:r>
          </a:p>
        </p:txBody>
      </p:sp>
      <p:grpSp>
        <p:nvGrpSpPr>
          <p:cNvPr id="154677" name="Group 53"/>
          <p:cNvGrpSpPr>
            <a:grpSpLocks/>
          </p:cNvGrpSpPr>
          <p:nvPr/>
        </p:nvGrpSpPr>
        <p:grpSpPr bwMode="auto">
          <a:xfrm>
            <a:off x="539750" y="1851675"/>
            <a:ext cx="3314700" cy="1457859"/>
            <a:chOff x="3377" y="351"/>
            <a:chExt cx="2121" cy="833"/>
          </a:xfrm>
        </p:grpSpPr>
        <p:sp>
          <p:nvSpPr>
            <p:cNvPr id="154678" name="Oval 54"/>
            <p:cNvSpPr>
              <a:spLocks noChangeArrowheads="1"/>
            </p:cNvSpPr>
            <p:nvPr/>
          </p:nvSpPr>
          <p:spPr bwMode="auto">
            <a:xfrm>
              <a:off x="3505" y="658"/>
              <a:ext cx="260" cy="21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79" name="Rectangle 55"/>
            <p:cNvSpPr>
              <a:spLocks noChangeArrowheads="1"/>
            </p:cNvSpPr>
            <p:nvPr/>
          </p:nvSpPr>
          <p:spPr bwMode="auto">
            <a:xfrm>
              <a:off x="4025" y="351"/>
              <a:ext cx="259" cy="8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80" name="Rectangle 56"/>
            <p:cNvSpPr>
              <a:spLocks noChangeArrowheads="1"/>
            </p:cNvSpPr>
            <p:nvPr/>
          </p:nvSpPr>
          <p:spPr bwMode="auto">
            <a:xfrm>
              <a:off x="4587" y="570"/>
              <a:ext cx="87" cy="21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81" name="Line 57"/>
            <p:cNvSpPr>
              <a:spLocks noChangeShapeType="1"/>
            </p:cNvSpPr>
            <p:nvPr/>
          </p:nvSpPr>
          <p:spPr bwMode="auto">
            <a:xfrm>
              <a:off x="5020" y="658"/>
              <a:ext cx="173" cy="1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82" name="Line 58"/>
            <p:cNvSpPr>
              <a:spLocks noChangeShapeType="1"/>
            </p:cNvSpPr>
            <p:nvPr/>
          </p:nvSpPr>
          <p:spPr bwMode="auto">
            <a:xfrm>
              <a:off x="5020" y="753"/>
              <a:ext cx="173" cy="1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83" name="Line 59"/>
            <p:cNvSpPr>
              <a:spLocks noChangeShapeType="1"/>
            </p:cNvSpPr>
            <p:nvPr/>
          </p:nvSpPr>
          <p:spPr bwMode="auto">
            <a:xfrm>
              <a:off x="4631" y="789"/>
              <a:ext cx="1" cy="17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84" name="Line 60"/>
            <p:cNvSpPr>
              <a:spLocks noChangeShapeType="1"/>
            </p:cNvSpPr>
            <p:nvPr/>
          </p:nvSpPr>
          <p:spPr bwMode="auto">
            <a:xfrm>
              <a:off x="4626" y="1068"/>
              <a:ext cx="1" cy="11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85" name="Line 61"/>
            <p:cNvSpPr>
              <a:spLocks noChangeShapeType="1"/>
            </p:cNvSpPr>
            <p:nvPr/>
          </p:nvSpPr>
          <p:spPr bwMode="auto">
            <a:xfrm flipV="1">
              <a:off x="4650" y="890"/>
              <a:ext cx="180" cy="13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86" name="Line 62"/>
            <p:cNvSpPr>
              <a:spLocks noChangeShapeType="1"/>
            </p:cNvSpPr>
            <p:nvPr/>
          </p:nvSpPr>
          <p:spPr bwMode="auto">
            <a:xfrm flipV="1">
              <a:off x="4631" y="395"/>
              <a:ext cx="1" cy="17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87" name="Line 63"/>
            <p:cNvSpPr>
              <a:spLocks noChangeShapeType="1"/>
            </p:cNvSpPr>
            <p:nvPr/>
          </p:nvSpPr>
          <p:spPr bwMode="auto">
            <a:xfrm>
              <a:off x="5103" y="754"/>
              <a:ext cx="5" cy="42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88" name="Line 64"/>
            <p:cNvSpPr>
              <a:spLocks noChangeShapeType="1"/>
            </p:cNvSpPr>
            <p:nvPr/>
          </p:nvSpPr>
          <p:spPr bwMode="auto">
            <a:xfrm flipV="1">
              <a:off x="5107" y="395"/>
              <a:ext cx="1" cy="2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89" name="Line 65"/>
            <p:cNvSpPr>
              <a:spLocks noChangeShapeType="1"/>
            </p:cNvSpPr>
            <p:nvPr/>
          </p:nvSpPr>
          <p:spPr bwMode="auto">
            <a:xfrm>
              <a:off x="4284" y="395"/>
              <a:ext cx="823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90" name="Line 66"/>
            <p:cNvSpPr>
              <a:spLocks noChangeShapeType="1"/>
            </p:cNvSpPr>
            <p:nvPr/>
          </p:nvSpPr>
          <p:spPr bwMode="auto">
            <a:xfrm>
              <a:off x="3635" y="395"/>
              <a:ext cx="390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91" name="Line 67"/>
            <p:cNvSpPr>
              <a:spLocks noChangeShapeType="1"/>
            </p:cNvSpPr>
            <p:nvPr/>
          </p:nvSpPr>
          <p:spPr bwMode="auto">
            <a:xfrm>
              <a:off x="3635" y="395"/>
              <a:ext cx="1" cy="78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92" name="Line 68"/>
            <p:cNvSpPr>
              <a:spLocks noChangeShapeType="1"/>
            </p:cNvSpPr>
            <p:nvPr/>
          </p:nvSpPr>
          <p:spPr bwMode="auto">
            <a:xfrm>
              <a:off x="3635" y="1183"/>
              <a:ext cx="147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93" name="Text Box 69"/>
            <p:cNvSpPr txBox="1">
              <a:spLocks noChangeArrowheads="1"/>
            </p:cNvSpPr>
            <p:nvPr/>
          </p:nvSpPr>
          <p:spPr bwMode="auto">
            <a:xfrm>
              <a:off x="3377" y="454"/>
              <a:ext cx="230" cy="6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b="1"/>
                <a:t>+</a:t>
              </a:r>
              <a:endParaRPr kumimoji="1" lang="en-US" altLang="zh-CN" sz="2400" b="1"/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1" lang="en-US" altLang="zh-CN" sz="2400" b="1"/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b="1"/>
                <a:t>-</a:t>
              </a:r>
              <a:endParaRPr kumimoji="1" lang="en-US" altLang="zh-CN" sz="2400" b="1"/>
            </a:p>
          </p:txBody>
        </p:sp>
        <p:sp>
          <p:nvSpPr>
            <p:cNvPr id="154694" name="Text Box 70"/>
            <p:cNvSpPr txBox="1">
              <a:spLocks noChangeArrowheads="1"/>
            </p:cNvSpPr>
            <p:nvPr/>
          </p:nvSpPr>
          <p:spPr bwMode="auto">
            <a:xfrm>
              <a:off x="3648" y="812"/>
              <a:ext cx="454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/>
                <a:t>10V</a:t>
              </a:r>
            </a:p>
          </p:txBody>
        </p:sp>
        <p:sp>
          <p:nvSpPr>
            <p:cNvPr id="154695" name="Line 71"/>
            <p:cNvSpPr>
              <a:spLocks noChangeShapeType="1"/>
            </p:cNvSpPr>
            <p:nvPr/>
          </p:nvSpPr>
          <p:spPr bwMode="auto">
            <a:xfrm>
              <a:off x="3765" y="351"/>
              <a:ext cx="173" cy="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96" name="Text Box 72"/>
            <p:cNvSpPr txBox="1">
              <a:spLocks noChangeArrowheads="1"/>
            </p:cNvSpPr>
            <p:nvPr/>
          </p:nvSpPr>
          <p:spPr bwMode="auto">
            <a:xfrm>
              <a:off x="3799" y="351"/>
              <a:ext cx="173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 i="1"/>
                <a:t>i</a:t>
              </a:r>
              <a:endParaRPr kumimoji="1" lang="en-US" altLang="zh-CN" sz="2400" b="1"/>
            </a:p>
          </p:txBody>
        </p:sp>
        <p:sp>
          <p:nvSpPr>
            <p:cNvPr id="154697" name="Line 73"/>
            <p:cNvSpPr>
              <a:spLocks noChangeShapeType="1"/>
            </p:cNvSpPr>
            <p:nvPr/>
          </p:nvSpPr>
          <p:spPr bwMode="auto">
            <a:xfrm>
              <a:off x="5012" y="436"/>
              <a:ext cx="1" cy="17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98" name="Text Box 74"/>
            <p:cNvSpPr txBox="1">
              <a:spLocks noChangeArrowheads="1"/>
            </p:cNvSpPr>
            <p:nvPr/>
          </p:nvSpPr>
          <p:spPr bwMode="auto">
            <a:xfrm>
              <a:off x="4783" y="448"/>
              <a:ext cx="260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 i="1"/>
                <a:t>i</a:t>
              </a:r>
              <a:r>
                <a:rPr kumimoji="1" lang="en-US" altLang="zh-CN" sz="2400" b="1" i="1" baseline="-25000"/>
                <a:t>C</a:t>
              </a:r>
              <a:endParaRPr kumimoji="1" lang="en-US" altLang="zh-CN" sz="2400" b="1"/>
            </a:p>
          </p:txBody>
        </p:sp>
        <p:sp>
          <p:nvSpPr>
            <p:cNvPr id="154699" name="Text Box 75"/>
            <p:cNvSpPr txBox="1">
              <a:spLocks noChangeArrowheads="1"/>
            </p:cNvSpPr>
            <p:nvPr/>
          </p:nvSpPr>
          <p:spPr bwMode="auto">
            <a:xfrm>
              <a:off x="5146" y="413"/>
              <a:ext cx="352" cy="6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b="1" dirty="0"/>
                <a:t>+</a:t>
              </a:r>
              <a:endParaRPr kumimoji="1" lang="en-US" altLang="zh-CN" sz="2400" b="1" dirty="0"/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 i="1" dirty="0" err="1"/>
                <a:t>u</a:t>
              </a:r>
              <a:r>
                <a:rPr kumimoji="1" lang="en-US" altLang="zh-CN" sz="2400" b="1" i="1" baseline="-25000" dirty="0" err="1"/>
                <a:t>C</a:t>
              </a:r>
              <a:endParaRPr kumimoji="1" lang="en-US" altLang="zh-CN" sz="2400" b="1" i="1" baseline="-25000" dirty="0"/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b="1" dirty="0"/>
                <a:t>-</a:t>
              </a:r>
            </a:p>
          </p:txBody>
        </p:sp>
        <p:sp>
          <p:nvSpPr>
            <p:cNvPr id="154700" name="Text Box 76"/>
            <p:cNvSpPr txBox="1">
              <a:spLocks noChangeArrowheads="1"/>
            </p:cNvSpPr>
            <p:nvPr/>
          </p:nvSpPr>
          <p:spPr bwMode="auto">
            <a:xfrm>
              <a:off x="4376" y="812"/>
              <a:ext cx="226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/>
                <a:t>k</a:t>
              </a:r>
            </a:p>
          </p:txBody>
        </p:sp>
        <p:sp>
          <p:nvSpPr>
            <p:cNvPr id="154701" name="Text Box 77"/>
            <p:cNvSpPr txBox="1">
              <a:spLocks noChangeArrowheads="1"/>
            </p:cNvSpPr>
            <p:nvPr/>
          </p:nvSpPr>
          <p:spPr bwMode="auto">
            <a:xfrm>
              <a:off x="3902" y="395"/>
              <a:ext cx="425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/>
                <a:t>10k</a:t>
              </a:r>
            </a:p>
          </p:txBody>
        </p:sp>
        <p:sp>
          <p:nvSpPr>
            <p:cNvPr id="154702" name="Text Box 78"/>
            <p:cNvSpPr txBox="1">
              <a:spLocks noChangeArrowheads="1"/>
            </p:cNvSpPr>
            <p:nvPr/>
          </p:nvSpPr>
          <p:spPr bwMode="auto">
            <a:xfrm>
              <a:off x="4205" y="570"/>
              <a:ext cx="425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/>
                <a:t>40k</a:t>
              </a:r>
            </a:p>
          </p:txBody>
        </p:sp>
        <p:sp>
          <p:nvSpPr>
            <p:cNvPr id="154703" name="Line 79"/>
            <p:cNvSpPr>
              <a:spLocks noChangeShapeType="1"/>
            </p:cNvSpPr>
            <p:nvPr/>
          </p:nvSpPr>
          <p:spPr bwMode="auto">
            <a:xfrm>
              <a:off x="4628" y="950"/>
              <a:ext cx="48" cy="156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4704" name="AutoShape 80" descr="羊皮纸"/>
          <p:cNvSpPr>
            <a:spLocks noChangeArrowheads="1"/>
          </p:cNvSpPr>
          <p:nvPr/>
        </p:nvSpPr>
        <p:spPr bwMode="auto">
          <a:xfrm rot="5400000">
            <a:off x="4310752" y="2152113"/>
            <a:ext cx="847800" cy="2191430"/>
          </a:xfrm>
          <a:prstGeom prst="wedgeRoundRectCallout">
            <a:avLst>
              <a:gd name="adj1" fmla="val -130203"/>
              <a:gd name="adj2" fmla="val -131135"/>
              <a:gd name="adj3" fmla="val 16667"/>
            </a:avLst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vert270" anchor="b"/>
          <a:lstStyle/>
          <a:p>
            <a:r>
              <a:rPr lang="en-US" altLang="zh-CN" sz="2000" b="1" dirty="0">
                <a:latin typeface="+mj-ea"/>
                <a:ea typeface="+mj-ea"/>
              </a:rPr>
              <a:t>The capacitor acts</a:t>
            </a:r>
            <a:r>
              <a:rPr lang="zh-CN" altLang="en-US" sz="2000" b="1" dirty="0">
                <a:latin typeface="+mj-ea"/>
                <a:ea typeface="+mj-ea"/>
              </a:rPr>
              <a:t> </a:t>
            </a:r>
            <a:r>
              <a:rPr lang="en-US" altLang="zh-CN" sz="2000" b="1" dirty="0">
                <a:latin typeface="+mj-ea"/>
                <a:ea typeface="+mj-ea"/>
              </a:rPr>
              <a:t>as open-circuit</a:t>
            </a:r>
            <a:endParaRPr lang="zh-CN" altLang="en-US" sz="2000" b="1" dirty="0">
              <a:latin typeface="+mj-ea"/>
              <a:ea typeface="+mj-ea"/>
            </a:endParaRPr>
          </a:p>
        </p:txBody>
      </p:sp>
      <p:sp>
        <p:nvSpPr>
          <p:cNvPr id="154705" name="AutoShape 81" descr="羊皮纸"/>
          <p:cNvSpPr>
            <a:spLocks noChangeArrowheads="1"/>
          </p:cNvSpPr>
          <p:nvPr/>
        </p:nvSpPr>
        <p:spPr bwMode="auto">
          <a:xfrm>
            <a:off x="1503238" y="5934164"/>
            <a:ext cx="3267924" cy="863600"/>
          </a:xfrm>
          <a:prstGeom prst="wedgeRoundRectCallout">
            <a:avLst>
              <a:gd name="adj1" fmla="val 14987"/>
              <a:gd name="adj2" fmla="val -197137"/>
              <a:gd name="adj3" fmla="val 16667"/>
            </a:avLst>
          </a:prstGeom>
          <a:solidFill>
            <a:srgbClr val="FFC000"/>
          </a:solidFill>
          <a:ln>
            <a:noFill/>
          </a:ln>
          <a:effectLst/>
        </p:spPr>
        <p:txBody>
          <a:bodyPr/>
          <a:lstStyle/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latin typeface="+mj-ea"/>
                <a:ea typeface="+mj-ea"/>
              </a:rPr>
              <a:t>The capacitor is replaced by a 8-V voltage source</a:t>
            </a:r>
            <a:endParaRPr lang="zh-CN" altLang="en-US" sz="2000" b="1" dirty="0">
              <a:latin typeface="+mj-ea"/>
              <a:ea typeface="+mj-ea"/>
            </a:endParaRPr>
          </a:p>
        </p:txBody>
      </p:sp>
      <p:sp>
        <p:nvSpPr>
          <p:cNvPr id="154712" name="Text Box 88"/>
          <p:cNvSpPr txBox="1">
            <a:spLocks noChangeArrowheads="1"/>
          </p:cNvSpPr>
          <p:nvPr/>
        </p:nvSpPr>
        <p:spPr bwMode="auto">
          <a:xfrm>
            <a:off x="250825" y="205909"/>
            <a:ext cx="5058194" cy="52322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8000" rIns="198000" anchor="ctr">
            <a:spAutoFit/>
          </a:bodyPr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800" b="1" dirty="0">
                <a:solidFill>
                  <a:schemeClr val="accent2">
                    <a:lumMod val="50000"/>
                  </a:schemeClr>
                </a:solidFill>
                <a:ea typeface="仿宋_GB2312" pitchFamily="49" charset="-122"/>
              </a:rPr>
              <a:t>Determination of initial</a:t>
            </a:r>
            <a:r>
              <a:rPr kumimoji="1" lang="zh-CN" altLang="en-US" sz="2800" b="1" dirty="0">
                <a:solidFill>
                  <a:schemeClr val="accent2">
                    <a:lumMod val="50000"/>
                  </a:schemeClr>
                </a:solidFill>
                <a:ea typeface="仿宋_GB2312" pitchFamily="49" charset="-122"/>
              </a:rPr>
              <a:t> </a:t>
            </a:r>
            <a:r>
              <a:rPr kumimoji="1" lang="en-US" altLang="zh-CN" sz="2800" b="1" dirty="0">
                <a:solidFill>
                  <a:schemeClr val="accent2">
                    <a:lumMod val="50000"/>
                  </a:schemeClr>
                </a:solidFill>
                <a:ea typeface="仿宋_GB2312" pitchFamily="49" charset="-122"/>
              </a:rPr>
              <a:t>values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7079457" y="6410331"/>
            <a:ext cx="1905000" cy="457200"/>
          </a:xfrm>
        </p:spPr>
        <p:txBody>
          <a:bodyPr/>
          <a:lstStyle/>
          <a:p>
            <a:fld id="{607F6B5D-BAA9-462E-91DC-0C4220222717}" type="slidenum">
              <a:rPr lang="en-US" altLang="zh-CN" smtClean="0"/>
              <a:pPr/>
              <a:t>18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8927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4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4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4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4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4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4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4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4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54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1000"/>
                                        <p:tgtEl>
                                          <p:spTgt spid="154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0" dur="2000"/>
                                        <p:tgtEl>
                                          <p:spTgt spid="154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3000"/>
                                        <p:tgtEl>
                                          <p:spTgt spid="154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000"/>
                                        <p:tgtEl>
                                          <p:spTgt spid="154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154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1000"/>
                                        <p:tgtEl>
                                          <p:spTgt spid="15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0" dur="2000"/>
                                        <p:tgtEl>
                                          <p:spTgt spid="15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0"/>
                                        <p:tgtEl>
                                          <p:spTgt spid="154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000"/>
                                        <p:tgtEl>
                                          <p:spTgt spid="154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7" grpId="0" build="p" autoUpdateAnimBg="0"/>
      <p:bldP spid="154628" grpId="0" build="p" autoUpdateAnimBg="0"/>
      <p:bldP spid="154649" grpId="0" build="p" autoUpdateAnimBg="0"/>
      <p:bldP spid="154667" grpId="0" build="p" autoUpdateAnimBg="0"/>
      <p:bldP spid="154668" grpId="0" build="p" autoUpdateAnimBg="0"/>
      <p:bldP spid="154675" grpId="0" animBg="1"/>
      <p:bldP spid="154676" grpId="0"/>
      <p:bldP spid="154704" grpId="0" animBg="1"/>
      <p:bldP spid="154705" grpId="0" animBg="1"/>
      <p:bldP spid="1547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458" name="Object 2"/>
          <p:cNvGraphicFramePr>
            <a:graphicFrameLocks noChangeAspect="1"/>
          </p:cNvGraphicFramePr>
          <p:nvPr/>
        </p:nvGraphicFramePr>
        <p:xfrm>
          <a:off x="4309276" y="3993466"/>
          <a:ext cx="4042562" cy="49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01" name="Equation" r:id="rId3" imgW="2070000" imgH="253800" progId="Equation.DSMT4">
                  <p:embed/>
                </p:oleObj>
              </mc:Choice>
              <mc:Fallback>
                <p:oleObj name="Equation" r:id="rId3" imgW="2070000" imgH="253800" progId="Equation.DSMT4">
                  <p:embed/>
                  <p:pic>
                    <p:nvPicPr>
                      <p:cNvPr id="1474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9276" y="3993466"/>
                        <a:ext cx="4042562" cy="49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59" name="Text Box 3"/>
          <p:cNvSpPr txBox="1">
            <a:spLocks noChangeArrowheads="1"/>
          </p:cNvSpPr>
          <p:nvPr/>
        </p:nvSpPr>
        <p:spPr bwMode="auto">
          <a:xfrm>
            <a:off x="7019925" y="3500438"/>
            <a:ext cx="936625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en-US" altLang="zh-CN" sz="8000" b="1">
                <a:solidFill>
                  <a:srgbClr val="FF3300"/>
                </a:solidFill>
                <a:sym typeface="Symbol" pitchFamily="18" charset="2"/>
              </a:rPr>
              <a:t></a:t>
            </a:r>
            <a:endParaRPr kumimoji="1" lang="en-US" altLang="zh-CN" sz="2400" b="1">
              <a:solidFill>
                <a:srgbClr val="FF3300"/>
              </a:solidFill>
            </a:endParaRPr>
          </a:p>
        </p:txBody>
      </p:sp>
      <p:sp>
        <p:nvSpPr>
          <p:cNvPr id="147460" name="Rectangle 4"/>
          <p:cNvSpPr>
            <a:spLocks noChangeArrowheads="1"/>
          </p:cNvSpPr>
          <p:nvPr/>
        </p:nvSpPr>
        <p:spPr bwMode="auto">
          <a:xfrm>
            <a:off x="4140200" y="5157788"/>
            <a:ext cx="29083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 b="1" i="1" dirty="0" err="1"/>
              <a:t>i</a:t>
            </a:r>
            <a:r>
              <a:rPr kumimoji="1" lang="en-US" altLang="zh-CN" sz="2800" b="1" i="1" baseline="-25000" dirty="0" err="1"/>
              <a:t>L</a:t>
            </a:r>
            <a:r>
              <a:rPr kumimoji="1" lang="en-US" altLang="zh-CN" sz="2800" b="1" dirty="0"/>
              <a:t>(0</a:t>
            </a:r>
            <a:r>
              <a:rPr kumimoji="1" lang="en-US" altLang="zh-CN" sz="2800" b="1" baseline="30000" dirty="0"/>
              <a:t>+</a:t>
            </a:r>
            <a:r>
              <a:rPr kumimoji="1" lang="en-US" altLang="zh-CN" sz="2800" b="1" dirty="0"/>
              <a:t>)= </a:t>
            </a:r>
            <a:r>
              <a:rPr kumimoji="1" lang="en-US" altLang="zh-CN" sz="2800" b="1" i="1" dirty="0" err="1"/>
              <a:t>i</a:t>
            </a:r>
            <a:r>
              <a:rPr kumimoji="1" lang="en-US" altLang="zh-CN" sz="2800" b="1" i="1" baseline="-25000" dirty="0" err="1"/>
              <a:t>L</a:t>
            </a:r>
            <a:r>
              <a:rPr kumimoji="1" lang="en-US" altLang="zh-CN" sz="2800" b="1" dirty="0"/>
              <a:t>(0</a:t>
            </a:r>
            <a:r>
              <a:rPr kumimoji="1" lang="zh-CN" altLang="en-US" sz="2800" b="1" baseline="30000" dirty="0"/>
              <a:t>－</a:t>
            </a:r>
            <a:r>
              <a:rPr kumimoji="1" lang="en-US" altLang="zh-CN" sz="2800" b="1" dirty="0"/>
              <a:t>) =2A</a:t>
            </a:r>
          </a:p>
        </p:txBody>
      </p:sp>
      <p:graphicFrame>
        <p:nvGraphicFramePr>
          <p:cNvPr id="147461" name="Object 5"/>
          <p:cNvGraphicFramePr>
            <a:graphicFrameLocks noChangeAspect="1"/>
          </p:cNvGraphicFramePr>
          <p:nvPr/>
        </p:nvGraphicFramePr>
        <p:xfrm>
          <a:off x="4257114" y="5948363"/>
          <a:ext cx="3558199" cy="578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02" name="Equation" r:id="rId5" imgW="1562040" imgH="253800" progId="Equation.DSMT4">
                  <p:embed/>
                </p:oleObj>
              </mc:Choice>
              <mc:Fallback>
                <p:oleObj name="Equation" r:id="rId5" imgW="1562040" imgH="253800" progId="Equation.DSMT4">
                  <p:embed/>
                  <p:pic>
                    <p:nvPicPr>
                      <p:cNvPr id="1474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114" y="5948363"/>
                        <a:ext cx="3558199" cy="5785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62" name="Text Box 6"/>
          <p:cNvSpPr txBox="1">
            <a:spLocks noChangeArrowheads="1"/>
          </p:cNvSpPr>
          <p:nvPr/>
        </p:nvSpPr>
        <p:spPr bwMode="auto">
          <a:xfrm>
            <a:off x="100805" y="110193"/>
            <a:ext cx="1848645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Example</a:t>
            </a:r>
            <a:r>
              <a:rPr kumimoji="1" lang="zh-CN" altLang="en-US" sz="2800" b="1" dirty="0">
                <a:solidFill>
                  <a:srgbClr val="FF0000"/>
                </a:solidFill>
              </a:rPr>
              <a:t> </a:t>
            </a:r>
            <a:r>
              <a:rPr kumimoji="1" lang="en-US" altLang="zh-CN" sz="28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47463" name="Text Box 7"/>
          <p:cNvSpPr txBox="1">
            <a:spLocks noChangeArrowheads="1"/>
          </p:cNvSpPr>
          <p:nvPr/>
        </p:nvSpPr>
        <p:spPr bwMode="auto">
          <a:xfrm>
            <a:off x="1974959" y="1594"/>
            <a:ext cx="45370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b="1" dirty="0">
                <a:latin typeface="+mj-ea"/>
                <a:ea typeface="+mj-ea"/>
              </a:rPr>
              <a:t>Switch </a:t>
            </a:r>
            <a:r>
              <a:rPr kumimoji="1" lang="en-US" altLang="zh-CN" sz="2400" b="1" i="1" dirty="0">
                <a:latin typeface="+mj-ea"/>
                <a:ea typeface="+mj-ea"/>
              </a:rPr>
              <a:t>k</a:t>
            </a:r>
            <a:r>
              <a:rPr kumimoji="1" lang="en-US" altLang="zh-CN" sz="2400" b="1" dirty="0">
                <a:latin typeface="+mj-ea"/>
                <a:ea typeface="+mj-ea"/>
              </a:rPr>
              <a:t> is closed at </a:t>
            </a:r>
            <a:r>
              <a:rPr lang="en-US" altLang="zh-CN" b="1" i="1" dirty="0">
                <a:latin typeface="+mj-ea"/>
                <a:ea typeface="+mj-ea"/>
              </a:rPr>
              <a:t>t </a:t>
            </a:r>
            <a:r>
              <a:rPr lang="en-US" altLang="zh-CN" b="1" dirty="0">
                <a:latin typeface="+mj-ea"/>
                <a:ea typeface="+mj-ea"/>
              </a:rPr>
              <a:t>= 0</a:t>
            </a:r>
            <a:r>
              <a:rPr kumimoji="1" lang="en-US" altLang="zh-CN" sz="2400" b="1" dirty="0">
                <a:latin typeface="+mj-ea"/>
                <a:ea typeface="+mj-ea"/>
              </a:rPr>
              <a:t> , find</a:t>
            </a:r>
            <a:r>
              <a:rPr kumimoji="1" lang="zh-CN" altLang="en-US" sz="2400" b="1" dirty="0">
                <a:latin typeface="+mj-ea"/>
                <a:ea typeface="+mj-ea"/>
              </a:rPr>
              <a:t> </a:t>
            </a:r>
            <a:r>
              <a:rPr kumimoji="1" lang="en-US" altLang="zh-CN" sz="2400" b="1" i="1" dirty="0" err="1">
                <a:latin typeface="+mj-ea"/>
                <a:ea typeface="+mj-ea"/>
              </a:rPr>
              <a:t>u</a:t>
            </a:r>
            <a:r>
              <a:rPr kumimoji="1" lang="en-US" altLang="zh-CN" sz="2400" b="1" i="1" baseline="-25000" dirty="0" err="1">
                <a:latin typeface="+mj-ea"/>
                <a:ea typeface="+mj-ea"/>
              </a:rPr>
              <a:t>L</a:t>
            </a:r>
            <a:r>
              <a:rPr kumimoji="1" lang="en-US" altLang="zh-CN" sz="2400" b="1" dirty="0">
                <a:latin typeface="+mj-ea"/>
                <a:ea typeface="+mj-ea"/>
              </a:rPr>
              <a:t>(0</a:t>
            </a:r>
            <a:r>
              <a:rPr kumimoji="1" lang="en-US" altLang="zh-CN" sz="2400" b="1" i="1" baseline="30000" dirty="0">
                <a:latin typeface="+mj-ea"/>
                <a:ea typeface="+mj-ea"/>
              </a:rPr>
              <a:t>+</a:t>
            </a:r>
            <a:r>
              <a:rPr kumimoji="1" lang="en-US" altLang="zh-CN" sz="2400" b="1" dirty="0">
                <a:latin typeface="+mj-ea"/>
                <a:ea typeface="+mj-ea"/>
              </a:rPr>
              <a:t>)</a:t>
            </a:r>
          </a:p>
        </p:txBody>
      </p:sp>
      <p:grpSp>
        <p:nvGrpSpPr>
          <p:cNvPr id="147464" name="Group 8"/>
          <p:cNvGrpSpPr>
            <a:grpSpLocks/>
          </p:cNvGrpSpPr>
          <p:nvPr/>
        </p:nvGrpSpPr>
        <p:grpSpPr bwMode="auto">
          <a:xfrm>
            <a:off x="539750" y="981075"/>
            <a:ext cx="3278188" cy="1752600"/>
            <a:chOff x="612" y="436"/>
            <a:chExt cx="2065" cy="1104"/>
          </a:xfrm>
        </p:grpSpPr>
        <p:grpSp>
          <p:nvGrpSpPr>
            <p:cNvPr id="147465" name="Group 9"/>
            <p:cNvGrpSpPr>
              <a:grpSpLocks/>
            </p:cNvGrpSpPr>
            <p:nvPr/>
          </p:nvGrpSpPr>
          <p:grpSpPr bwMode="auto">
            <a:xfrm>
              <a:off x="612" y="436"/>
              <a:ext cx="2065" cy="1104"/>
              <a:chOff x="624" y="144"/>
              <a:chExt cx="2065" cy="1104"/>
            </a:xfrm>
          </p:grpSpPr>
          <p:sp>
            <p:nvSpPr>
              <p:cNvPr id="147466" name="Line 10"/>
              <p:cNvSpPr>
                <a:spLocks noChangeShapeType="1"/>
              </p:cNvSpPr>
              <p:nvPr/>
            </p:nvSpPr>
            <p:spPr bwMode="auto">
              <a:xfrm>
                <a:off x="2256" y="1056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467" name="Text Box 11"/>
              <p:cNvSpPr txBox="1">
                <a:spLocks noChangeArrowheads="1"/>
              </p:cNvSpPr>
              <p:nvPr/>
            </p:nvSpPr>
            <p:spPr bwMode="auto">
              <a:xfrm>
                <a:off x="1883" y="932"/>
                <a:ext cx="24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400" b="1" i="1"/>
                  <a:t>i</a:t>
                </a:r>
                <a:r>
                  <a:rPr kumimoji="1" lang="en-US" altLang="zh-CN" sz="2400" b="1" i="1" baseline="-25000"/>
                  <a:t>L</a:t>
                </a:r>
                <a:endParaRPr kumimoji="1" lang="en-US" altLang="zh-CN" sz="2400" b="1"/>
              </a:p>
            </p:txBody>
          </p:sp>
          <p:sp>
            <p:nvSpPr>
              <p:cNvPr id="147468" name="Text Box 12"/>
              <p:cNvSpPr txBox="1">
                <a:spLocks noChangeArrowheads="1"/>
              </p:cNvSpPr>
              <p:nvPr/>
            </p:nvSpPr>
            <p:spPr bwMode="auto">
              <a:xfrm>
                <a:off x="2386" y="432"/>
                <a:ext cx="303" cy="7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b="1" i="1"/>
                  <a:t>+</a:t>
                </a:r>
                <a:endParaRPr kumimoji="1" lang="en-US" altLang="zh-CN" sz="2400" b="1" i="1"/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400" b="1" i="1"/>
                  <a:t>u</a:t>
                </a:r>
                <a:r>
                  <a:rPr kumimoji="1" lang="en-US" altLang="zh-CN" sz="2400" b="1" i="1" baseline="-25000"/>
                  <a:t>L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b="1"/>
                  <a:t>-</a:t>
                </a:r>
                <a:endParaRPr kumimoji="1" lang="en-US" altLang="zh-CN" sz="2400" b="1"/>
              </a:p>
            </p:txBody>
          </p:sp>
          <p:sp>
            <p:nvSpPr>
              <p:cNvPr id="147469" name="Text Box 13"/>
              <p:cNvSpPr txBox="1">
                <a:spLocks noChangeArrowheads="1"/>
              </p:cNvSpPr>
              <p:nvPr/>
            </p:nvSpPr>
            <p:spPr bwMode="auto">
              <a:xfrm>
                <a:off x="1934" y="606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400" b="1" i="1"/>
                  <a:t>L</a:t>
                </a:r>
                <a:endParaRPr kumimoji="1" lang="en-US" altLang="zh-CN" sz="2400" b="1"/>
              </a:p>
            </p:txBody>
          </p:sp>
          <p:sp>
            <p:nvSpPr>
              <p:cNvPr id="147470" name="Rectangle 14"/>
              <p:cNvSpPr>
                <a:spLocks noChangeArrowheads="1"/>
              </p:cNvSpPr>
              <p:nvPr/>
            </p:nvSpPr>
            <p:spPr bwMode="auto">
              <a:xfrm>
                <a:off x="1104" y="384"/>
                <a:ext cx="288" cy="9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zh-CN" altLang="zh-CN" sz="2400" b="1"/>
              </a:p>
            </p:txBody>
          </p:sp>
          <p:sp>
            <p:nvSpPr>
              <p:cNvPr id="147471" name="Rectangle 15"/>
              <p:cNvSpPr>
                <a:spLocks noChangeArrowheads="1"/>
              </p:cNvSpPr>
              <p:nvPr/>
            </p:nvSpPr>
            <p:spPr bwMode="auto">
              <a:xfrm>
                <a:off x="1680" y="384"/>
                <a:ext cx="288" cy="9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472" name="Line 16"/>
              <p:cNvSpPr>
                <a:spLocks noChangeShapeType="1"/>
              </p:cNvSpPr>
              <p:nvPr/>
            </p:nvSpPr>
            <p:spPr bwMode="auto">
              <a:xfrm>
                <a:off x="624" y="768"/>
                <a:ext cx="336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473" name="Line 17"/>
              <p:cNvSpPr>
                <a:spLocks noChangeShapeType="1"/>
              </p:cNvSpPr>
              <p:nvPr/>
            </p:nvSpPr>
            <p:spPr bwMode="auto">
              <a:xfrm>
                <a:off x="672" y="864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474" name="Line 18"/>
              <p:cNvSpPr>
                <a:spLocks noChangeShapeType="1"/>
              </p:cNvSpPr>
              <p:nvPr/>
            </p:nvSpPr>
            <p:spPr bwMode="auto">
              <a:xfrm flipV="1">
                <a:off x="768" y="432"/>
                <a:ext cx="0" cy="336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475" name="Line 19"/>
              <p:cNvSpPr>
                <a:spLocks noChangeShapeType="1"/>
              </p:cNvSpPr>
              <p:nvPr/>
            </p:nvSpPr>
            <p:spPr bwMode="auto">
              <a:xfrm>
                <a:off x="768" y="864"/>
                <a:ext cx="0" cy="384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476" name="Line 20"/>
              <p:cNvSpPr>
                <a:spLocks noChangeShapeType="1"/>
              </p:cNvSpPr>
              <p:nvPr/>
            </p:nvSpPr>
            <p:spPr bwMode="auto">
              <a:xfrm>
                <a:off x="768" y="1248"/>
                <a:ext cx="1488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477" name="Line 21"/>
              <p:cNvSpPr>
                <a:spLocks noChangeShapeType="1"/>
              </p:cNvSpPr>
              <p:nvPr/>
            </p:nvSpPr>
            <p:spPr bwMode="auto">
              <a:xfrm>
                <a:off x="768" y="432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478" name="Line 22"/>
              <p:cNvSpPr>
                <a:spLocks noChangeShapeType="1"/>
              </p:cNvSpPr>
              <p:nvPr/>
            </p:nvSpPr>
            <p:spPr bwMode="auto">
              <a:xfrm>
                <a:off x="1392" y="432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479" name="Line 23"/>
              <p:cNvSpPr>
                <a:spLocks noChangeShapeType="1"/>
              </p:cNvSpPr>
              <p:nvPr/>
            </p:nvSpPr>
            <p:spPr bwMode="auto">
              <a:xfrm>
                <a:off x="1968" y="432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480" name="Line 24"/>
              <p:cNvSpPr>
                <a:spLocks noChangeShapeType="1"/>
              </p:cNvSpPr>
              <p:nvPr/>
            </p:nvSpPr>
            <p:spPr bwMode="auto">
              <a:xfrm>
                <a:off x="2256" y="432"/>
                <a:ext cx="0" cy="144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481" name="Line 25"/>
              <p:cNvSpPr>
                <a:spLocks noChangeShapeType="1"/>
              </p:cNvSpPr>
              <p:nvPr/>
            </p:nvSpPr>
            <p:spPr bwMode="auto">
              <a:xfrm>
                <a:off x="1536" y="432"/>
                <a:ext cx="0" cy="288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482" name="Line 26"/>
              <p:cNvSpPr>
                <a:spLocks noChangeShapeType="1"/>
              </p:cNvSpPr>
              <p:nvPr/>
            </p:nvSpPr>
            <p:spPr bwMode="auto">
              <a:xfrm flipH="1">
                <a:off x="1344" y="720"/>
                <a:ext cx="192" cy="192"/>
              </a:xfrm>
              <a:prstGeom prst="line">
                <a:avLst/>
              </a:prstGeom>
              <a:noFill/>
              <a:ln w="38100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483" name="Line 27"/>
              <p:cNvSpPr>
                <a:spLocks noChangeShapeType="1"/>
              </p:cNvSpPr>
              <p:nvPr/>
            </p:nvSpPr>
            <p:spPr bwMode="auto">
              <a:xfrm>
                <a:off x="1536" y="864"/>
                <a:ext cx="0" cy="384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484" name="Line 28"/>
              <p:cNvSpPr>
                <a:spLocks noChangeShapeType="1"/>
              </p:cNvSpPr>
              <p:nvPr/>
            </p:nvSpPr>
            <p:spPr bwMode="auto">
              <a:xfrm>
                <a:off x="1344" y="720"/>
                <a:ext cx="96" cy="144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485" name="Text Box 29"/>
              <p:cNvSpPr txBox="1">
                <a:spLocks noChangeArrowheads="1"/>
              </p:cNvSpPr>
              <p:nvPr/>
            </p:nvSpPr>
            <p:spPr bwMode="auto">
              <a:xfrm>
                <a:off x="720" y="864"/>
                <a:ext cx="44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400" b="1"/>
                  <a:t>10V</a:t>
                </a:r>
              </a:p>
            </p:txBody>
          </p:sp>
          <p:sp>
            <p:nvSpPr>
              <p:cNvPr id="147486" name="Text Box 30"/>
              <p:cNvSpPr txBox="1">
                <a:spLocks noChangeArrowheads="1"/>
              </p:cNvSpPr>
              <p:nvPr/>
            </p:nvSpPr>
            <p:spPr bwMode="auto">
              <a:xfrm>
                <a:off x="1068" y="624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400" b="1"/>
                  <a:t>K</a:t>
                </a:r>
              </a:p>
            </p:txBody>
          </p:sp>
          <p:sp>
            <p:nvSpPr>
              <p:cNvPr id="147487" name="Text Box 31"/>
              <p:cNvSpPr txBox="1">
                <a:spLocks noChangeArrowheads="1"/>
              </p:cNvSpPr>
              <p:nvPr/>
            </p:nvSpPr>
            <p:spPr bwMode="auto">
              <a:xfrm>
                <a:off x="1056" y="144"/>
                <a:ext cx="36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400" b="1"/>
                  <a:t>1</a:t>
                </a:r>
                <a:r>
                  <a:rPr kumimoji="1" lang="en-US" altLang="zh-CN" sz="2400" b="1">
                    <a:sym typeface="Symbol" pitchFamily="18" charset="2"/>
                  </a:rPr>
                  <a:t></a:t>
                </a:r>
                <a:endParaRPr kumimoji="1" lang="en-US" altLang="zh-CN" sz="2400" b="1"/>
              </a:p>
            </p:txBody>
          </p:sp>
          <p:sp>
            <p:nvSpPr>
              <p:cNvPr id="147488" name="Text Box 32"/>
              <p:cNvSpPr txBox="1">
                <a:spLocks noChangeArrowheads="1"/>
              </p:cNvSpPr>
              <p:nvPr/>
            </p:nvSpPr>
            <p:spPr bwMode="auto">
              <a:xfrm>
                <a:off x="1645" y="144"/>
                <a:ext cx="36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400" b="1"/>
                  <a:t>4</a:t>
                </a:r>
                <a:r>
                  <a:rPr kumimoji="1" lang="en-US" altLang="zh-CN" sz="2400" b="1">
                    <a:sym typeface="Symbol" pitchFamily="18" charset="2"/>
                  </a:rPr>
                  <a:t></a:t>
                </a:r>
              </a:p>
            </p:txBody>
          </p:sp>
          <p:sp>
            <p:nvSpPr>
              <p:cNvPr id="147489" name="Line 33"/>
              <p:cNvSpPr>
                <a:spLocks noChangeShapeType="1"/>
              </p:cNvSpPr>
              <p:nvPr/>
            </p:nvSpPr>
            <p:spPr bwMode="auto">
              <a:xfrm>
                <a:off x="2135" y="920"/>
                <a:ext cx="0" cy="26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47490" name="Group 34"/>
            <p:cNvGrpSpPr>
              <a:grpSpLocks/>
            </p:cNvGrpSpPr>
            <p:nvPr/>
          </p:nvGrpSpPr>
          <p:grpSpPr bwMode="auto">
            <a:xfrm>
              <a:off x="2207" y="855"/>
              <a:ext cx="114" cy="443"/>
              <a:chOff x="1360" y="3237"/>
              <a:chExt cx="114" cy="443"/>
            </a:xfrm>
          </p:grpSpPr>
          <p:grpSp>
            <p:nvGrpSpPr>
              <p:cNvPr id="147491" name="Group 35"/>
              <p:cNvGrpSpPr>
                <a:grpSpLocks/>
              </p:cNvGrpSpPr>
              <p:nvPr/>
            </p:nvGrpSpPr>
            <p:grpSpPr bwMode="auto">
              <a:xfrm>
                <a:off x="1360" y="3237"/>
                <a:ext cx="113" cy="214"/>
                <a:chOff x="887" y="1182"/>
                <a:chExt cx="113" cy="214"/>
              </a:xfrm>
            </p:grpSpPr>
            <p:sp>
              <p:nvSpPr>
                <p:cNvPr id="147492" name="Oval 36"/>
                <p:cNvSpPr>
                  <a:spLocks noChangeArrowheads="1"/>
                </p:cNvSpPr>
                <p:nvPr/>
              </p:nvSpPr>
              <p:spPr bwMode="auto">
                <a:xfrm>
                  <a:off x="891" y="1182"/>
                  <a:ext cx="109" cy="109"/>
                </a:xfrm>
                <a:prstGeom prst="ellipse">
                  <a:avLst/>
                </a:prstGeom>
                <a:noFill/>
                <a:ln w="38100">
                  <a:solidFill>
                    <a:srgbClr val="FF99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7493" name="Oval 37"/>
                <p:cNvSpPr>
                  <a:spLocks noChangeArrowheads="1"/>
                </p:cNvSpPr>
                <p:nvPr/>
              </p:nvSpPr>
              <p:spPr bwMode="auto">
                <a:xfrm>
                  <a:off x="887" y="1287"/>
                  <a:ext cx="109" cy="109"/>
                </a:xfrm>
                <a:prstGeom prst="ellipse">
                  <a:avLst/>
                </a:prstGeom>
                <a:noFill/>
                <a:ln w="38100">
                  <a:solidFill>
                    <a:srgbClr val="FF99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47494" name="Oval 38"/>
              <p:cNvSpPr>
                <a:spLocks noChangeArrowheads="1"/>
              </p:cNvSpPr>
              <p:nvPr/>
            </p:nvSpPr>
            <p:spPr bwMode="auto">
              <a:xfrm>
                <a:off x="1365" y="3457"/>
                <a:ext cx="109" cy="109"/>
              </a:xfrm>
              <a:prstGeom prst="ellips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495" name="Oval 39"/>
              <p:cNvSpPr>
                <a:spLocks noChangeArrowheads="1"/>
              </p:cNvSpPr>
              <p:nvPr/>
            </p:nvSpPr>
            <p:spPr bwMode="auto">
              <a:xfrm>
                <a:off x="1361" y="3571"/>
                <a:ext cx="109" cy="109"/>
              </a:xfrm>
              <a:prstGeom prst="ellips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7496" name="Rectangle 40"/>
            <p:cNvSpPr>
              <a:spLocks noChangeArrowheads="1"/>
            </p:cNvSpPr>
            <p:nvPr/>
          </p:nvSpPr>
          <p:spPr bwMode="auto">
            <a:xfrm>
              <a:off x="2163" y="853"/>
              <a:ext cx="82" cy="4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7497" name="Group 41"/>
          <p:cNvGrpSpPr>
            <a:grpSpLocks/>
          </p:cNvGrpSpPr>
          <p:nvPr/>
        </p:nvGrpSpPr>
        <p:grpSpPr bwMode="auto">
          <a:xfrm>
            <a:off x="323850" y="2920655"/>
            <a:ext cx="3733858" cy="2259357"/>
            <a:chOff x="337" y="1743"/>
            <a:chExt cx="2310" cy="1284"/>
          </a:xfrm>
        </p:grpSpPr>
        <p:grpSp>
          <p:nvGrpSpPr>
            <p:cNvPr id="147498" name="Group 42"/>
            <p:cNvGrpSpPr>
              <a:grpSpLocks/>
            </p:cNvGrpSpPr>
            <p:nvPr/>
          </p:nvGrpSpPr>
          <p:grpSpPr bwMode="auto">
            <a:xfrm>
              <a:off x="337" y="1743"/>
              <a:ext cx="2310" cy="1284"/>
              <a:chOff x="337" y="1743"/>
              <a:chExt cx="2310" cy="1284"/>
            </a:xfrm>
          </p:grpSpPr>
          <p:grpSp>
            <p:nvGrpSpPr>
              <p:cNvPr id="147499" name="Group 43"/>
              <p:cNvGrpSpPr>
                <a:grpSpLocks/>
              </p:cNvGrpSpPr>
              <p:nvPr/>
            </p:nvGrpSpPr>
            <p:grpSpPr bwMode="auto">
              <a:xfrm>
                <a:off x="337" y="1743"/>
                <a:ext cx="2310" cy="1284"/>
                <a:chOff x="337" y="1742"/>
                <a:chExt cx="2310" cy="1284"/>
              </a:xfrm>
            </p:grpSpPr>
            <p:sp>
              <p:nvSpPr>
                <p:cNvPr id="147500" name="Line 44"/>
                <p:cNvSpPr>
                  <a:spLocks noChangeShapeType="1"/>
                </p:cNvSpPr>
                <p:nvPr/>
              </p:nvSpPr>
              <p:spPr bwMode="auto">
                <a:xfrm>
                  <a:off x="2253" y="2716"/>
                  <a:ext cx="0" cy="310"/>
                </a:xfrm>
                <a:prstGeom prst="line">
                  <a:avLst/>
                </a:prstGeom>
                <a:noFill/>
                <a:ln w="28575">
                  <a:solidFill>
                    <a:srgbClr val="FFCC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7501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2349" y="2247"/>
                  <a:ext cx="298" cy="68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b="1" i="1"/>
                    <a:t>+</a:t>
                  </a:r>
                  <a:endParaRPr kumimoji="1" lang="en-US" altLang="zh-CN" sz="2400" b="1" i="1"/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400" b="1" i="1"/>
                    <a:t>u</a:t>
                  </a:r>
                  <a:r>
                    <a:rPr kumimoji="1" lang="en-US" altLang="zh-CN" sz="2400" b="1" i="1" baseline="-25000"/>
                    <a:t>L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b="1"/>
                    <a:t>-</a:t>
                  </a:r>
                  <a:endParaRPr kumimoji="1" lang="en-US" altLang="zh-CN" sz="2400" b="1"/>
                </a:p>
              </p:txBody>
            </p:sp>
            <p:sp>
              <p:nvSpPr>
                <p:cNvPr id="147502" name="Rectangle 46"/>
                <p:cNvSpPr>
                  <a:spLocks noChangeArrowheads="1"/>
                </p:cNvSpPr>
                <p:nvPr/>
              </p:nvSpPr>
              <p:spPr bwMode="auto">
                <a:xfrm>
                  <a:off x="1101" y="2162"/>
                  <a:ext cx="288" cy="96"/>
                </a:xfrm>
                <a:prstGeom prst="rect">
                  <a:avLst/>
                </a:prstGeom>
                <a:solidFill>
                  <a:srgbClr val="FF9900"/>
                </a:solidFill>
                <a:ln w="28575">
                  <a:solidFill>
                    <a:srgbClr val="FF99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zh-CN" sz="2400" b="1"/>
                </a:p>
              </p:txBody>
            </p:sp>
            <p:sp>
              <p:nvSpPr>
                <p:cNvPr id="147503" name="Rectangle 47"/>
                <p:cNvSpPr>
                  <a:spLocks noChangeArrowheads="1"/>
                </p:cNvSpPr>
                <p:nvPr/>
              </p:nvSpPr>
              <p:spPr bwMode="auto">
                <a:xfrm>
                  <a:off x="1677" y="2162"/>
                  <a:ext cx="288" cy="96"/>
                </a:xfrm>
                <a:prstGeom prst="rect">
                  <a:avLst/>
                </a:prstGeom>
                <a:solidFill>
                  <a:srgbClr val="FF9900"/>
                </a:solidFill>
                <a:ln w="28575">
                  <a:solidFill>
                    <a:srgbClr val="FF99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7504" name="Line 48"/>
                <p:cNvSpPr>
                  <a:spLocks noChangeShapeType="1"/>
                </p:cNvSpPr>
                <p:nvPr/>
              </p:nvSpPr>
              <p:spPr bwMode="auto">
                <a:xfrm>
                  <a:off x="621" y="2546"/>
                  <a:ext cx="336" cy="0"/>
                </a:xfrm>
                <a:prstGeom prst="line">
                  <a:avLst/>
                </a:prstGeom>
                <a:noFill/>
                <a:ln w="38100">
                  <a:solidFill>
                    <a:srgbClr val="FF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7505" name="Line 49"/>
                <p:cNvSpPr>
                  <a:spLocks noChangeShapeType="1"/>
                </p:cNvSpPr>
                <p:nvPr/>
              </p:nvSpPr>
              <p:spPr bwMode="auto">
                <a:xfrm>
                  <a:off x="669" y="2642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rgbClr val="FF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7506" name="Line 50"/>
                <p:cNvSpPr>
                  <a:spLocks noChangeShapeType="1"/>
                </p:cNvSpPr>
                <p:nvPr/>
              </p:nvSpPr>
              <p:spPr bwMode="auto">
                <a:xfrm flipV="1">
                  <a:off x="765" y="2210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rgbClr val="FFCC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7507" name="Line 51"/>
                <p:cNvSpPr>
                  <a:spLocks noChangeShapeType="1"/>
                </p:cNvSpPr>
                <p:nvPr/>
              </p:nvSpPr>
              <p:spPr bwMode="auto">
                <a:xfrm>
                  <a:off x="765" y="2642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rgbClr val="FFCC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7508" name="Line 52"/>
                <p:cNvSpPr>
                  <a:spLocks noChangeShapeType="1"/>
                </p:cNvSpPr>
                <p:nvPr/>
              </p:nvSpPr>
              <p:spPr bwMode="auto">
                <a:xfrm>
                  <a:off x="765" y="3026"/>
                  <a:ext cx="1488" cy="0"/>
                </a:xfrm>
                <a:prstGeom prst="line">
                  <a:avLst/>
                </a:prstGeom>
                <a:noFill/>
                <a:ln w="28575">
                  <a:solidFill>
                    <a:srgbClr val="FFCC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7509" name="Line 53"/>
                <p:cNvSpPr>
                  <a:spLocks noChangeShapeType="1"/>
                </p:cNvSpPr>
                <p:nvPr/>
              </p:nvSpPr>
              <p:spPr bwMode="auto">
                <a:xfrm>
                  <a:off x="765" y="2210"/>
                  <a:ext cx="336" cy="0"/>
                </a:xfrm>
                <a:prstGeom prst="line">
                  <a:avLst/>
                </a:prstGeom>
                <a:noFill/>
                <a:ln w="28575">
                  <a:solidFill>
                    <a:srgbClr val="FFCC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7510" name="Line 54"/>
                <p:cNvSpPr>
                  <a:spLocks noChangeShapeType="1"/>
                </p:cNvSpPr>
                <p:nvPr/>
              </p:nvSpPr>
              <p:spPr bwMode="auto">
                <a:xfrm>
                  <a:off x="1389" y="2210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rgbClr val="FFCC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7511" name="Line 55"/>
                <p:cNvSpPr>
                  <a:spLocks noChangeShapeType="1"/>
                </p:cNvSpPr>
                <p:nvPr/>
              </p:nvSpPr>
              <p:spPr bwMode="auto">
                <a:xfrm>
                  <a:off x="1965" y="2210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rgbClr val="FFCC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7512" name="Line 56"/>
                <p:cNvSpPr>
                  <a:spLocks noChangeShapeType="1"/>
                </p:cNvSpPr>
                <p:nvPr/>
              </p:nvSpPr>
              <p:spPr bwMode="auto">
                <a:xfrm flipH="1">
                  <a:off x="2253" y="2210"/>
                  <a:ext cx="0" cy="262"/>
                </a:xfrm>
                <a:prstGeom prst="line">
                  <a:avLst/>
                </a:prstGeom>
                <a:noFill/>
                <a:ln w="28575">
                  <a:solidFill>
                    <a:srgbClr val="FFCC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7513" name="Line 57"/>
                <p:cNvSpPr>
                  <a:spLocks noChangeShapeType="1"/>
                </p:cNvSpPr>
                <p:nvPr/>
              </p:nvSpPr>
              <p:spPr bwMode="auto">
                <a:xfrm>
                  <a:off x="1533" y="2210"/>
                  <a:ext cx="0" cy="480"/>
                </a:xfrm>
                <a:prstGeom prst="line">
                  <a:avLst/>
                </a:prstGeom>
                <a:noFill/>
                <a:ln w="28575">
                  <a:solidFill>
                    <a:srgbClr val="FFCC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7514" name="Line 58"/>
                <p:cNvSpPr>
                  <a:spLocks noChangeShapeType="1"/>
                </p:cNvSpPr>
                <p:nvPr/>
              </p:nvSpPr>
              <p:spPr bwMode="auto">
                <a:xfrm>
                  <a:off x="1533" y="2642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rgbClr val="FFCC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7515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721" y="2655"/>
                  <a:ext cx="439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400" b="1"/>
                    <a:t>10V</a:t>
                  </a:r>
                </a:p>
              </p:txBody>
            </p:sp>
            <p:sp>
              <p:nvSpPr>
                <p:cNvPr id="147516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1056" y="1935"/>
                  <a:ext cx="354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400" b="1"/>
                    <a:t>1</a:t>
                  </a:r>
                  <a:r>
                    <a:rPr kumimoji="1" lang="en-US" altLang="zh-CN" sz="2400" b="1">
                      <a:sym typeface="Symbol" pitchFamily="18" charset="2"/>
                    </a:rPr>
                    <a:t></a:t>
                  </a:r>
                  <a:endParaRPr kumimoji="1" lang="en-US" altLang="zh-CN" sz="2400" b="1"/>
                </a:p>
              </p:txBody>
            </p:sp>
            <p:sp>
              <p:nvSpPr>
                <p:cNvPr id="147517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1645" y="1935"/>
                  <a:ext cx="354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400" b="1"/>
                    <a:t>4</a:t>
                  </a:r>
                  <a:r>
                    <a:rPr kumimoji="1" lang="en-US" altLang="zh-CN" sz="2400" b="1">
                      <a:sym typeface="Symbol" pitchFamily="18" charset="2"/>
                    </a:rPr>
                    <a:t></a:t>
                  </a:r>
                </a:p>
              </p:txBody>
            </p:sp>
            <p:sp>
              <p:nvSpPr>
                <p:cNvPr id="147518" name="Line 62"/>
                <p:cNvSpPr>
                  <a:spLocks noChangeShapeType="1"/>
                </p:cNvSpPr>
                <p:nvPr/>
              </p:nvSpPr>
              <p:spPr bwMode="auto">
                <a:xfrm>
                  <a:off x="2250" y="2762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7519" name="Rectangle 63"/>
                <p:cNvSpPr>
                  <a:spLocks noChangeArrowheads="1"/>
                </p:cNvSpPr>
                <p:nvPr/>
              </p:nvSpPr>
              <p:spPr bwMode="auto">
                <a:xfrm>
                  <a:off x="337" y="1742"/>
                  <a:ext cx="1731" cy="2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400" b="1" dirty="0"/>
                    <a:t>0</a:t>
                  </a:r>
                  <a:r>
                    <a:rPr kumimoji="1" lang="en-US" altLang="zh-CN" sz="2400" b="1" baseline="30000" dirty="0"/>
                    <a:t>+ </a:t>
                  </a:r>
                  <a:r>
                    <a:rPr lang="en-US" altLang="zh-CN" b="1" dirty="0"/>
                    <a:t>equivalent circuit</a:t>
                  </a:r>
                  <a:endParaRPr kumimoji="1" lang="zh-CN" altLang="en-US" sz="2400" b="1" dirty="0"/>
                </a:p>
              </p:txBody>
            </p:sp>
            <p:sp>
              <p:nvSpPr>
                <p:cNvPr id="147520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1847" y="2570"/>
                  <a:ext cx="344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400" b="1"/>
                    <a:t>2A</a:t>
                  </a:r>
                </a:p>
              </p:txBody>
            </p:sp>
          </p:grpSp>
          <p:sp>
            <p:nvSpPr>
              <p:cNvPr id="147521" name="Oval 65"/>
              <p:cNvSpPr>
                <a:spLocks noChangeArrowheads="1"/>
              </p:cNvSpPr>
              <p:nvPr/>
            </p:nvSpPr>
            <p:spPr bwMode="auto">
              <a:xfrm>
                <a:off x="2146" y="2492"/>
                <a:ext cx="227" cy="209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7522" name="Line 66"/>
            <p:cNvSpPr>
              <a:spLocks noChangeShapeType="1"/>
            </p:cNvSpPr>
            <p:nvPr/>
          </p:nvSpPr>
          <p:spPr bwMode="auto">
            <a:xfrm>
              <a:off x="2146" y="2601"/>
              <a:ext cx="218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7523" name="Text Box 67"/>
          <p:cNvSpPr txBox="1">
            <a:spLocks noChangeArrowheads="1"/>
          </p:cNvSpPr>
          <p:nvPr/>
        </p:nvSpPr>
        <p:spPr bwMode="auto">
          <a:xfrm>
            <a:off x="5801993" y="402581"/>
            <a:ext cx="17686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b="1" dirty="0"/>
              <a:t>Firstly find</a:t>
            </a:r>
            <a:endParaRPr kumimoji="1" lang="zh-CN" altLang="en-US" sz="2400" b="1" dirty="0"/>
          </a:p>
        </p:txBody>
      </p:sp>
      <p:graphicFrame>
        <p:nvGraphicFramePr>
          <p:cNvPr id="147524" name="Object 68"/>
          <p:cNvGraphicFramePr>
            <a:graphicFrameLocks noChangeAspect="1"/>
          </p:cNvGraphicFramePr>
          <p:nvPr/>
        </p:nvGraphicFramePr>
        <p:xfrm>
          <a:off x="4389438" y="2924175"/>
          <a:ext cx="310197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03" name="Equation" r:id="rId7" imgW="1396800" imgH="406080" progId="Equation.DSMT4">
                  <p:embed/>
                </p:oleObj>
              </mc:Choice>
              <mc:Fallback>
                <p:oleObj name="Equation" r:id="rId7" imgW="1396800" imgH="406080" progId="Equation.DSMT4">
                  <p:embed/>
                  <p:pic>
                    <p:nvPicPr>
                      <p:cNvPr id="147524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9438" y="2924175"/>
                        <a:ext cx="3101975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525" name="Text Box 69"/>
          <p:cNvSpPr txBox="1">
            <a:spLocks noChangeArrowheads="1"/>
          </p:cNvSpPr>
          <p:nvPr/>
        </p:nvSpPr>
        <p:spPr bwMode="auto">
          <a:xfrm>
            <a:off x="4356100" y="4650731"/>
            <a:ext cx="45704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zh-CN" b="1" dirty="0"/>
              <a:t>According to the law of switching</a:t>
            </a:r>
            <a:endParaRPr kumimoji="1" lang="en-US" altLang="zh-CN" sz="2400" b="1" dirty="0"/>
          </a:p>
        </p:txBody>
      </p:sp>
      <p:sp>
        <p:nvSpPr>
          <p:cNvPr id="147526" name="AutoShape 70" descr="羊皮纸"/>
          <p:cNvSpPr>
            <a:spLocks noChangeArrowheads="1"/>
          </p:cNvSpPr>
          <p:nvPr/>
        </p:nvSpPr>
        <p:spPr bwMode="auto">
          <a:xfrm>
            <a:off x="699698" y="5516562"/>
            <a:ext cx="2289566" cy="1152797"/>
          </a:xfrm>
          <a:prstGeom prst="wedgeRoundRectCallout">
            <a:avLst>
              <a:gd name="adj1" fmla="val 66542"/>
              <a:gd name="adj2" fmla="val -124994"/>
              <a:gd name="adj3" fmla="val 16667"/>
            </a:avLst>
          </a:prstGeom>
          <a:solidFill>
            <a:srgbClr val="FFC000"/>
          </a:solidFill>
          <a:ln>
            <a:noFill/>
          </a:ln>
          <a:effectLst/>
        </p:spPr>
        <p:txBody>
          <a:bodyPr/>
          <a:lstStyle/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latin typeface="+mj-ea"/>
                <a:ea typeface="+mj-ea"/>
              </a:rPr>
              <a:t>The inductor is replaced by a 2-A current source</a:t>
            </a:r>
            <a:endParaRPr lang="zh-CN" altLang="en-US" sz="2000" b="1" dirty="0">
              <a:latin typeface="+mj-ea"/>
              <a:ea typeface="+mj-ea"/>
            </a:endParaRPr>
          </a:p>
        </p:txBody>
      </p:sp>
      <p:graphicFrame>
        <p:nvGraphicFramePr>
          <p:cNvPr id="147527" name="Object 71"/>
          <p:cNvGraphicFramePr>
            <a:graphicFrameLocks noChangeAspect="1"/>
          </p:cNvGraphicFramePr>
          <p:nvPr/>
        </p:nvGraphicFramePr>
        <p:xfrm>
          <a:off x="7482490" y="351632"/>
          <a:ext cx="93186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04" name="Equation" r:id="rId9" imgW="419040" imgH="253800" progId="Equation.DSMT4">
                  <p:embed/>
                </p:oleObj>
              </mc:Choice>
              <mc:Fallback>
                <p:oleObj name="Equation" r:id="rId9" imgW="419040" imgH="253800" progId="Equation.DSMT4">
                  <p:embed/>
                  <p:pic>
                    <p:nvPicPr>
                      <p:cNvPr id="147527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2490" y="351632"/>
                        <a:ext cx="93186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7528" name="Group 72"/>
          <p:cNvGrpSpPr>
            <a:grpSpLocks/>
          </p:cNvGrpSpPr>
          <p:nvPr/>
        </p:nvGrpSpPr>
        <p:grpSpPr bwMode="auto">
          <a:xfrm>
            <a:off x="4572000" y="836613"/>
            <a:ext cx="2376488" cy="1774825"/>
            <a:chOff x="3396" y="199"/>
            <a:chExt cx="1662" cy="1222"/>
          </a:xfrm>
        </p:grpSpPr>
        <p:sp>
          <p:nvSpPr>
            <p:cNvPr id="147529" name="Line 73"/>
            <p:cNvSpPr>
              <a:spLocks noChangeShapeType="1"/>
            </p:cNvSpPr>
            <p:nvPr/>
          </p:nvSpPr>
          <p:spPr bwMode="auto">
            <a:xfrm>
              <a:off x="5057" y="799"/>
              <a:ext cx="1" cy="62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530" name="Rectangle 74"/>
            <p:cNvSpPr>
              <a:spLocks noChangeArrowheads="1"/>
            </p:cNvSpPr>
            <p:nvPr/>
          </p:nvSpPr>
          <p:spPr bwMode="auto">
            <a:xfrm>
              <a:off x="3885" y="463"/>
              <a:ext cx="293" cy="10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1" lang="zh-CN" altLang="zh-CN" sz="2400" b="1"/>
            </a:p>
          </p:txBody>
        </p:sp>
        <p:sp>
          <p:nvSpPr>
            <p:cNvPr id="147531" name="Rectangle 75"/>
            <p:cNvSpPr>
              <a:spLocks noChangeArrowheads="1"/>
            </p:cNvSpPr>
            <p:nvPr/>
          </p:nvSpPr>
          <p:spPr bwMode="auto">
            <a:xfrm>
              <a:off x="4471" y="463"/>
              <a:ext cx="294" cy="10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532" name="Line 76"/>
            <p:cNvSpPr>
              <a:spLocks noChangeShapeType="1"/>
            </p:cNvSpPr>
            <p:nvPr/>
          </p:nvSpPr>
          <p:spPr bwMode="auto">
            <a:xfrm>
              <a:off x="3396" y="889"/>
              <a:ext cx="34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533" name="Line 77"/>
            <p:cNvSpPr>
              <a:spLocks noChangeShapeType="1"/>
            </p:cNvSpPr>
            <p:nvPr/>
          </p:nvSpPr>
          <p:spPr bwMode="auto">
            <a:xfrm>
              <a:off x="3445" y="995"/>
              <a:ext cx="196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534" name="Line 78"/>
            <p:cNvSpPr>
              <a:spLocks noChangeShapeType="1"/>
            </p:cNvSpPr>
            <p:nvPr/>
          </p:nvSpPr>
          <p:spPr bwMode="auto">
            <a:xfrm flipV="1">
              <a:off x="3543" y="517"/>
              <a:ext cx="0" cy="3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535" name="Line 79"/>
            <p:cNvSpPr>
              <a:spLocks noChangeShapeType="1"/>
            </p:cNvSpPr>
            <p:nvPr/>
          </p:nvSpPr>
          <p:spPr bwMode="auto">
            <a:xfrm>
              <a:off x="3543" y="995"/>
              <a:ext cx="0" cy="4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536" name="Line 80"/>
            <p:cNvSpPr>
              <a:spLocks noChangeShapeType="1"/>
            </p:cNvSpPr>
            <p:nvPr/>
          </p:nvSpPr>
          <p:spPr bwMode="auto">
            <a:xfrm>
              <a:off x="3543" y="1421"/>
              <a:ext cx="151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537" name="Line 81"/>
            <p:cNvSpPr>
              <a:spLocks noChangeShapeType="1"/>
            </p:cNvSpPr>
            <p:nvPr/>
          </p:nvSpPr>
          <p:spPr bwMode="auto">
            <a:xfrm>
              <a:off x="3543" y="517"/>
              <a:ext cx="34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538" name="Line 82"/>
            <p:cNvSpPr>
              <a:spLocks noChangeShapeType="1"/>
            </p:cNvSpPr>
            <p:nvPr/>
          </p:nvSpPr>
          <p:spPr bwMode="auto">
            <a:xfrm>
              <a:off x="4178" y="517"/>
              <a:ext cx="293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539" name="Line 83"/>
            <p:cNvSpPr>
              <a:spLocks noChangeShapeType="1"/>
            </p:cNvSpPr>
            <p:nvPr/>
          </p:nvSpPr>
          <p:spPr bwMode="auto">
            <a:xfrm>
              <a:off x="4765" y="517"/>
              <a:ext cx="293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540" name="Line 84"/>
            <p:cNvSpPr>
              <a:spLocks noChangeShapeType="1"/>
            </p:cNvSpPr>
            <p:nvPr/>
          </p:nvSpPr>
          <p:spPr bwMode="auto">
            <a:xfrm flipH="1">
              <a:off x="5058" y="517"/>
              <a:ext cx="0" cy="29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541" name="Text Box 85"/>
            <p:cNvSpPr txBox="1">
              <a:spLocks noChangeArrowheads="1"/>
            </p:cNvSpPr>
            <p:nvPr/>
          </p:nvSpPr>
          <p:spPr bwMode="auto">
            <a:xfrm>
              <a:off x="3474" y="998"/>
              <a:ext cx="49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/>
                <a:t>10V</a:t>
              </a:r>
            </a:p>
          </p:txBody>
        </p:sp>
        <p:sp>
          <p:nvSpPr>
            <p:cNvPr id="147542" name="Text Box 86"/>
            <p:cNvSpPr txBox="1">
              <a:spLocks noChangeArrowheads="1"/>
            </p:cNvSpPr>
            <p:nvPr/>
          </p:nvSpPr>
          <p:spPr bwMode="auto">
            <a:xfrm>
              <a:off x="3821" y="199"/>
              <a:ext cx="400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/>
                <a:t>1</a:t>
              </a:r>
              <a:r>
                <a:rPr kumimoji="1" lang="en-US" altLang="zh-CN" sz="2400" b="1">
                  <a:sym typeface="Symbol" pitchFamily="18" charset="2"/>
                </a:rPr>
                <a:t></a:t>
              </a:r>
              <a:endParaRPr kumimoji="1" lang="en-US" altLang="zh-CN" sz="2400" b="1"/>
            </a:p>
          </p:txBody>
        </p:sp>
        <p:sp>
          <p:nvSpPr>
            <p:cNvPr id="147543" name="Text Box 87"/>
            <p:cNvSpPr txBox="1">
              <a:spLocks noChangeArrowheads="1"/>
            </p:cNvSpPr>
            <p:nvPr/>
          </p:nvSpPr>
          <p:spPr bwMode="auto">
            <a:xfrm>
              <a:off x="4420" y="199"/>
              <a:ext cx="399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/>
                <a:t>4</a:t>
              </a:r>
              <a:r>
                <a:rPr kumimoji="1" lang="en-US" altLang="zh-CN" sz="2400" b="1">
                  <a:sym typeface="Symbol" pitchFamily="18" charset="2"/>
                </a:rPr>
                <a:t></a:t>
              </a:r>
            </a:p>
          </p:txBody>
        </p:sp>
        <p:sp>
          <p:nvSpPr>
            <p:cNvPr id="147544" name="Line 88"/>
            <p:cNvSpPr>
              <a:spLocks noChangeShapeType="1"/>
            </p:cNvSpPr>
            <p:nvPr/>
          </p:nvSpPr>
          <p:spPr bwMode="auto">
            <a:xfrm>
              <a:off x="4967" y="1128"/>
              <a:ext cx="0" cy="16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7545" name="Text Box 89"/>
          <p:cNvSpPr txBox="1">
            <a:spLocks noChangeArrowheads="1"/>
          </p:cNvSpPr>
          <p:nvPr/>
        </p:nvSpPr>
        <p:spPr bwMode="auto">
          <a:xfrm>
            <a:off x="4147678" y="412598"/>
            <a:ext cx="1751981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Comic Sans MS" panose="030F0702030302020204" pitchFamily="66" charset="0"/>
              </a:rPr>
              <a:t>Solution:</a:t>
            </a:r>
            <a:endParaRPr lang="zh-CN" altLang="en-US" b="1" dirty="0">
              <a:solidFill>
                <a:srgbClr val="FF0000"/>
              </a:solidFill>
              <a:latin typeface="Comic Sans MS" panose="030F0702030302020204" pitchFamily="66" charset="0"/>
              <a:ea typeface="仿宋_GB2312" pitchFamily="49" charset="-122"/>
            </a:endParaRPr>
          </a:p>
        </p:txBody>
      </p:sp>
      <p:sp>
        <p:nvSpPr>
          <p:cNvPr id="147546" name="AutoShape 90" descr="羊皮纸"/>
          <p:cNvSpPr>
            <a:spLocks noChangeArrowheads="1"/>
          </p:cNvSpPr>
          <p:nvPr/>
        </p:nvSpPr>
        <p:spPr bwMode="auto">
          <a:xfrm>
            <a:off x="7809004" y="1387803"/>
            <a:ext cx="1152400" cy="863600"/>
          </a:xfrm>
          <a:prstGeom prst="wedgeRoundRectCallout">
            <a:avLst>
              <a:gd name="adj1" fmla="val -125497"/>
              <a:gd name="adj2" fmla="val 84"/>
              <a:gd name="adj3" fmla="val 16667"/>
            </a:avLst>
          </a:prstGeom>
          <a:blipFill dpi="0" rotWithShape="1">
            <a:blip r:embed="rId1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latin typeface="+mj-ea"/>
                <a:ea typeface="+mj-ea"/>
              </a:rPr>
              <a:t>Short-circuit</a:t>
            </a:r>
            <a:endParaRPr lang="zh-CN" altLang="en-US" sz="2000" b="1" dirty="0">
              <a:latin typeface="+mj-ea"/>
              <a:ea typeface="+mj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7056404" y="6220121"/>
            <a:ext cx="1905000" cy="457200"/>
          </a:xfrm>
        </p:spPr>
        <p:txBody>
          <a:bodyPr/>
          <a:lstStyle/>
          <a:p>
            <a:fld id="{607F6B5D-BAA9-462E-91DC-0C4220222717}" type="slidenum">
              <a:rPr lang="en-US" altLang="zh-CN" smtClean="0"/>
              <a:pPr/>
              <a:t>19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7674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7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7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7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7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7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7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7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7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7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7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7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7" dur="2000"/>
                                        <p:tgtEl>
                                          <p:spTgt spid="147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3000"/>
                                        <p:tgtEl>
                                          <p:spTgt spid="147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0"/>
                                        <p:tgtEl>
                                          <p:spTgt spid="147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7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7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3000"/>
                                        <p:tgtEl>
                                          <p:spTgt spid="147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47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82" dur="2000"/>
                                        <p:tgtEl>
                                          <p:spTgt spid="147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3000"/>
                                        <p:tgtEl>
                                          <p:spTgt spid="14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9" grpId="0" build="p" autoUpdateAnimBg="0"/>
      <p:bldP spid="147460" grpId="0" build="p" autoUpdateAnimBg="0"/>
      <p:bldP spid="147462" grpId="0" animBg="1"/>
      <p:bldP spid="147463" grpId="0"/>
      <p:bldP spid="147523" grpId="0" autoUpdateAnimBg="0"/>
      <p:bldP spid="147525" grpId="0" autoUpdateAnimBg="0"/>
      <p:bldP spid="147526" grpId="0" animBg="1"/>
      <p:bldP spid="147545" grpId="0" animBg="1"/>
      <p:bldP spid="14754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Text Box 2"/>
          <p:cNvSpPr txBox="1">
            <a:spLocks noChangeArrowheads="1"/>
          </p:cNvSpPr>
          <p:nvPr/>
        </p:nvSpPr>
        <p:spPr bwMode="auto">
          <a:xfrm>
            <a:off x="437481" y="116632"/>
            <a:ext cx="7353295" cy="6463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Steps to determine the initial values:</a:t>
            </a:r>
            <a:endParaRPr kumimoji="1" lang="en-US" altLang="zh-CN" sz="3600" b="1" dirty="0">
              <a:solidFill>
                <a:srgbClr val="FF0000"/>
              </a:solidFill>
            </a:endParaRPr>
          </a:p>
        </p:txBody>
      </p:sp>
      <p:sp>
        <p:nvSpPr>
          <p:cNvPr id="148483" name="Text Box 3"/>
          <p:cNvSpPr txBox="1">
            <a:spLocks noChangeArrowheads="1"/>
          </p:cNvSpPr>
          <p:nvPr/>
        </p:nvSpPr>
        <p:spPr bwMode="auto">
          <a:xfrm>
            <a:off x="468313" y="1014076"/>
            <a:ext cx="8424168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b="1" dirty="0">
                <a:latin typeface="+mj-ea"/>
                <a:ea typeface="+mj-ea"/>
              </a:rPr>
              <a:t>1. </a:t>
            </a:r>
            <a:r>
              <a:rPr lang="en-US" altLang="zh-CN" b="1" dirty="0">
                <a:latin typeface="+mj-ea"/>
                <a:ea typeface="+mj-ea"/>
              </a:rPr>
              <a:t>Before switching, </a:t>
            </a:r>
            <a:r>
              <a:rPr kumimoji="1" lang="en-US" altLang="zh-CN" sz="2400" b="1" dirty="0">
                <a:latin typeface="+mj-ea"/>
                <a:ea typeface="+mj-ea"/>
              </a:rPr>
              <a:t>find </a:t>
            </a:r>
            <a:r>
              <a:rPr kumimoji="1" lang="en-US" altLang="zh-CN" sz="2800" b="1" i="1" dirty="0" err="1">
                <a:latin typeface="+mj-ea"/>
                <a:ea typeface="+mj-ea"/>
              </a:rPr>
              <a:t>u</a:t>
            </a:r>
            <a:r>
              <a:rPr kumimoji="1" lang="en-US" altLang="zh-CN" sz="2800" b="1" i="1" baseline="-25000" dirty="0" err="1">
                <a:latin typeface="+mj-ea"/>
                <a:ea typeface="+mj-ea"/>
              </a:rPr>
              <a:t>C</a:t>
            </a:r>
            <a:r>
              <a:rPr kumimoji="1" lang="en-US" altLang="zh-CN" sz="2400" b="1" dirty="0">
                <a:latin typeface="+mj-ea"/>
                <a:ea typeface="+mj-ea"/>
              </a:rPr>
              <a:t>(0</a:t>
            </a:r>
            <a:r>
              <a:rPr kumimoji="1" lang="zh-CN" altLang="en-US" sz="2400" b="1" baseline="30000" dirty="0">
                <a:latin typeface="+mj-ea"/>
                <a:ea typeface="+mj-ea"/>
              </a:rPr>
              <a:t>－</a:t>
            </a:r>
            <a:r>
              <a:rPr kumimoji="1" lang="en-US" altLang="zh-CN" sz="2400" b="1" dirty="0">
                <a:latin typeface="+mj-ea"/>
                <a:ea typeface="+mj-ea"/>
              </a:rPr>
              <a:t>)</a:t>
            </a:r>
            <a:r>
              <a:rPr lang="zh-CN" altLang="en-US" b="1" dirty="0">
                <a:latin typeface="+mj-ea"/>
                <a:ea typeface="+mj-ea"/>
              </a:rPr>
              <a:t> </a:t>
            </a:r>
            <a:r>
              <a:rPr lang="en-US" altLang="zh-CN" b="1" dirty="0">
                <a:latin typeface="+mj-ea"/>
                <a:ea typeface="+mj-ea"/>
              </a:rPr>
              <a:t>and </a:t>
            </a:r>
            <a:r>
              <a:rPr kumimoji="1" lang="en-US" altLang="zh-CN" sz="2800" b="1" i="1" dirty="0" err="1">
                <a:latin typeface="+mj-ea"/>
                <a:ea typeface="+mj-ea"/>
              </a:rPr>
              <a:t>i</a:t>
            </a:r>
            <a:r>
              <a:rPr kumimoji="1" lang="en-US" altLang="zh-CN" sz="2800" b="1" i="1" baseline="-25000" dirty="0" err="1">
                <a:latin typeface="+mj-ea"/>
                <a:ea typeface="+mj-ea"/>
              </a:rPr>
              <a:t>L</a:t>
            </a:r>
            <a:r>
              <a:rPr kumimoji="1" lang="en-US" altLang="zh-CN" sz="2400" b="1" dirty="0">
                <a:latin typeface="+mj-ea"/>
                <a:ea typeface="+mj-ea"/>
              </a:rPr>
              <a:t>(0</a:t>
            </a:r>
            <a:r>
              <a:rPr kumimoji="1" lang="zh-CN" altLang="en-US" sz="2400" b="1" baseline="30000" dirty="0">
                <a:latin typeface="+mj-ea"/>
                <a:ea typeface="+mj-ea"/>
              </a:rPr>
              <a:t>－</a:t>
            </a:r>
            <a:r>
              <a:rPr kumimoji="1" lang="en-US" altLang="zh-CN" sz="2400" b="1" dirty="0">
                <a:latin typeface="+mj-ea"/>
                <a:ea typeface="+mj-ea"/>
              </a:rPr>
              <a:t>) in the 0- equivalent circuit</a:t>
            </a:r>
            <a:r>
              <a:rPr kumimoji="1" lang="zh-CN" altLang="en-US" sz="2400" b="1" dirty="0">
                <a:latin typeface="+mj-ea"/>
                <a:ea typeface="+mj-ea"/>
              </a:rPr>
              <a:t>；</a:t>
            </a:r>
            <a:r>
              <a:rPr kumimoji="1" lang="en-US" altLang="zh-CN" sz="2400" b="1" dirty="0">
                <a:latin typeface="+mj-ea"/>
                <a:ea typeface="+mj-ea"/>
              </a:rPr>
              <a:t>capacitors are treated as open-circuit and inductors are treated as short-circuit.</a:t>
            </a:r>
            <a:endParaRPr kumimoji="1" lang="zh-CN" altLang="en-US" sz="2400" b="1" dirty="0">
              <a:latin typeface="+mj-ea"/>
              <a:ea typeface="+mj-ea"/>
            </a:endParaRPr>
          </a:p>
        </p:txBody>
      </p:sp>
      <p:sp>
        <p:nvSpPr>
          <p:cNvPr id="148484" name="Text Box 4"/>
          <p:cNvSpPr txBox="1">
            <a:spLocks noChangeArrowheads="1"/>
          </p:cNvSpPr>
          <p:nvPr/>
        </p:nvSpPr>
        <p:spPr bwMode="auto">
          <a:xfrm>
            <a:off x="468313" y="2306738"/>
            <a:ext cx="79085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b="1" dirty="0">
                <a:latin typeface="+mj-ea"/>
                <a:ea typeface="+mj-ea"/>
              </a:rPr>
              <a:t>2. </a:t>
            </a:r>
            <a:r>
              <a:rPr lang="en-US" altLang="zh-CN" b="1" dirty="0">
                <a:latin typeface="+mj-ea"/>
                <a:ea typeface="+mj-ea"/>
              </a:rPr>
              <a:t>According to the law of switching, find</a:t>
            </a:r>
            <a:r>
              <a:rPr kumimoji="1" lang="zh-CN" altLang="en-US" sz="2400" b="1" dirty="0">
                <a:latin typeface="+mj-ea"/>
                <a:ea typeface="+mj-ea"/>
              </a:rPr>
              <a:t> </a:t>
            </a:r>
            <a:r>
              <a:rPr kumimoji="1" lang="en-US" altLang="zh-CN" sz="2800" b="1" i="1" dirty="0" err="1">
                <a:latin typeface="+mj-ea"/>
                <a:ea typeface="+mj-ea"/>
              </a:rPr>
              <a:t>u</a:t>
            </a:r>
            <a:r>
              <a:rPr kumimoji="1" lang="en-US" altLang="zh-CN" sz="2800" b="1" i="1" baseline="-25000" dirty="0" err="1">
                <a:latin typeface="+mj-ea"/>
                <a:ea typeface="+mj-ea"/>
              </a:rPr>
              <a:t>C</a:t>
            </a:r>
            <a:r>
              <a:rPr kumimoji="1" lang="en-US" altLang="zh-CN" sz="2400" b="1" dirty="0">
                <a:latin typeface="+mj-ea"/>
                <a:ea typeface="+mj-ea"/>
              </a:rPr>
              <a:t>(0</a:t>
            </a:r>
            <a:r>
              <a:rPr kumimoji="1" lang="en-US" altLang="zh-CN" sz="2400" b="1" baseline="30000" dirty="0">
                <a:latin typeface="+mj-ea"/>
                <a:ea typeface="+mj-ea"/>
              </a:rPr>
              <a:t>+</a:t>
            </a:r>
            <a:r>
              <a:rPr kumimoji="1" lang="en-US" altLang="zh-CN" sz="2400" b="1" dirty="0">
                <a:latin typeface="+mj-ea"/>
                <a:ea typeface="+mj-ea"/>
              </a:rPr>
              <a:t>) </a:t>
            </a:r>
            <a:r>
              <a:rPr lang="en-US" altLang="zh-CN" b="1" dirty="0">
                <a:latin typeface="+mj-ea"/>
                <a:ea typeface="+mj-ea"/>
              </a:rPr>
              <a:t>and</a:t>
            </a:r>
            <a:r>
              <a:rPr kumimoji="1" lang="zh-CN" altLang="en-US" sz="2400" b="1" dirty="0">
                <a:latin typeface="+mj-ea"/>
                <a:ea typeface="+mj-ea"/>
              </a:rPr>
              <a:t> </a:t>
            </a:r>
            <a:r>
              <a:rPr kumimoji="1" lang="en-US" altLang="zh-CN" sz="2800" b="1" i="1" dirty="0" err="1">
                <a:latin typeface="+mj-ea"/>
                <a:ea typeface="+mj-ea"/>
              </a:rPr>
              <a:t>i</a:t>
            </a:r>
            <a:r>
              <a:rPr kumimoji="1" lang="en-US" altLang="zh-CN" sz="2800" b="1" i="1" baseline="-25000" dirty="0" err="1">
                <a:latin typeface="+mj-ea"/>
                <a:ea typeface="+mj-ea"/>
              </a:rPr>
              <a:t>L</a:t>
            </a:r>
            <a:r>
              <a:rPr kumimoji="1" lang="en-US" altLang="zh-CN" sz="2400" b="1" dirty="0">
                <a:latin typeface="+mj-ea"/>
                <a:ea typeface="+mj-ea"/>
              </a:rPr>
              <a:t>(0</a:t>
            </a:r>
            <a:r>
              <a:rPr kumimoji="1" lang="en-US" altLang="zh-CN" sz="2400" b="1" baseline="30000" dirty="0">
                <a:latin typeface="+mj-ea"/>
                <a:ea typeface="+mj-ea"/>
              </a:rPr>
              <a:t>+</a:t>
            </a:r>
            <a:r>
              <a:rPr kumimoji="1" lang="en-US" altLang="zh-CN" sz="2400" b="1" dirty="0">
                <a:latin typeface="+mj-ea"/>
                <a:ea typeface="+mj-ea"/>
              </a:rPr>
              <a:t>)</a:t>
            </a:r>
            <a:r>
              <a:rPr lang="en-US" altLang="zh-CN" b="1" dirty="0">
                <a:latin typeface="+mj-ea"/>
                <a:ea typeface="+mj-ea"/>
              </a:rPr>
              <a:t>.</a:t>
            </a:r>
            <a:endParaRPr kumimoji="1" lang="zh-CN" altLang="en-US" sz="2400" b="1" dirty="0">
              <a:latin typeface="+mj-ea"/>
              <a:ea typeface="+mj-ea"/>
            </a:endParaRPr>
          </a:p>
        </p:txBody>
      </p:sp>
      <p:sp>
        <p:nvSpPr>
          <p:cNvPr id="148485" name="Text Box 5"/>
          <p:cNvSpPr txBox="1">
            <a:spLocks noChangeArrowheads="1"/>
          </p:cNvSpPr>
          <p:nvPr/>
        </p:nvSpPr>
        <p:spPr bwMode="auto">
          <a:xfrm>
            <a:off x="468313" y="2799698"/>
            <a:ext cx="43484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b="1" dirty="0">
                <a:latin typeface="+mj-ea"/>
                <a:ea typeface="+mj-ea"/>
              </a:rPr>
              <a:t>3. </a:t>
            </a:r>
            <a:r>
              <a:rPr lang="en-US" altLang="zh-CN" b="1" dirty="0">
                <a:latin typeface="+mj-ea"/>
                <a:ea typeface="+mj-ea"/>
              </a:rPr>
              <a:t>Obtain 0+ equivalent circuit</a:t>
            </a:r>
            <a:endParaRPr kumimoji="1" lang="zh-CN" altLang="en-US" sz="2400" b="1" dirty="0">
              <a:latin typeface="+mj-ea"/>
              <a:ea typeface="+mj-ea"/>
            </a:endParaRPr>
          </a:p>
        </p:txBody>
      </p:sp>
      <p:sp>
        <p:nvSpPr>
          <p:cNvPr id="148486" name="Text Box 6"/>
          <p:cNvSpPr txBox="1">
            <a:spLocks noChangeArrowheads="1"/>
          </p:cNvSpPr>
          <p:nvPr/>
        </p:nvSpPr>
        <p:spPr bwMode="auto">
          <a:xfrm>
            <a:off x="468313" y="6138438"/>
            <a:ext cx="72748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2400" b="1" dirty="0">
                <a:latin typeface="+mj-ea"/>
                <a:ea typeface="+mj-ea"/>
              </a:rPr>
              <a:t>4. Find the required values from 0+ equivalent circuit.</a:t>
            </a:r>
            <a:endParaRPr kumimoji="1" lang="zh-CN" altLang="en-US" sz="2400" b="1" dirty="0">
              <a:latin typeface="+mj-ea"/>
              <a:ea typeface="+mj-ea"/>
            </a:endParaRPr>
          </a:p>
        </p:txBody>
      </p:sp>
      <p:sp>
        <p:nvSpPr>
          <p:cNvPr id="148487" name="Text Box 7"/>
          <p:cNvSpPr txBox="1">
            <a:spLocks noChangeArrowheads="1"/>
          </p:cNvSpPr>
          <p:nvPr/>
        </p:nvSpPr>
        <p:spPr bwMode="auto">
          <a:xfrm>
            <a:off x="854655" y="3955457"/>
            <a:ext cx="748900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just"/>
            <a:r>
              <a:rPr kumimoji="1" lang="en-US" altLang="zh-CN" sz="2400" b="1" dirty="0">
                <a:latin typeface="+mj-ea"/>
                <a:ea typeface="+mj-ea"/>
              </a:rPr>
              <a:t>b. The </a:t>
            </a:r>
            <a:r>
              <a:rPr lang="en-US" altLang="zh-CN" b="1" dirty="0">
                <a:latin typeface="+mj-ea"/>
                <a:ea typeface="+mj-ea"/>
              </a:rPr>
              <a:t>capacitor </a:t>
            </a:r>
            <a:r>
              <a:rPr kumimoji="1" lang="en-US" altLang="zh-CN" sz="2400" b="1" dirty="0">
                <a:latin typeface="+mj-ea"/>
                <a:ea typeface="+mj-ea"/>
              </a:rPr>
              <a:t>is replaced  by a voltage source  </a:t>
            </a:r>
            <a:r>
              <a:rPr lang="en-US" altLang="zh-CN" sz="2800" b="1" i="1" dirty="0" err="1">
                <a:latin typeface="+mj-ea"/>
                <a:ea typeface="+mj-ea"/>
              </a:rPr>
              <a:t>u</a:t>
            </a:r>
            <a:r>
              <a:rPr lang="en-US" altLang="zh-CN" sz="2800" b="1" i="1" baseline="-25000" dirty="0" err="1">
                <a:latin typeface="+mj-ea"/>
                <a:ea typeface="+mj-ea"/>
              </a:rPr>
              <a:t>C</a:t>
            </a:r>
            <a:r>
              <a:rPr lang="en-US" altLang="zh-CN" b="1" dirty="0">
                <a:latin typeface="+mj-ea"/>
                <a:ea typeface="+mj-ea"/>
              </a:rPr>
              <a:t>(0</a:t>
            </a:r>
            <a:r>
              <a:rPr lang="en-US" altLang="zh-CN" b="1" baseline="30000" dirty="0">
                <a:latin typeface="+mj-ea"/>
                <a:ea typeface="+mj-ea"/>
              </a:rPr>
              <a:t>+</a:t>
            </a:r>
            <a:r>
              <a:rPr lang="en-US" altLang="zh-CN" b="1" dirty="0">
                <a:latin typeface="+mj-ea"/>
                <a:ea typeface="+mj-ea"/>
              </a:rPr>
              <a:t>), the inductor is replaced by a current source </a:t>
            </a:r>
            <a:r>
              <a:rPr kumimoji="1" lang="en-US" altLang="zh-CN" sz="2400" b="1" dirty="0">
                <a:latin typeface="+mj-ea"/>
                <a:ea typeface="+mj-ea"/>
              </a:rPr>
              <a:t> </a:t>
            </a:r>
            <a:r>
              <a:rPr lang="en-US" altLang="zh-CN" sz="2800" b="1" i="1" dirty="0" err="1">
                <a:latin typeface="+mj-ea"/>
                <a:ea typeface="+mj-ea"/>
              </a:rPr>
              <a:t>i</a:t>
            </a:r>
            <a:r>
              <a:rPr lang="en-US" altLang="zh-CN" sz="2800" b="1" i="1" baseline="-25000" dirty="0" err="1">
                <a:latin typeface="+mj-ea"/>
                <a:ea typeface="+mj-ea"/>
              </a:rPr>
              <a:t>L</a:t>
            </a:r>
            <a:r>
              <a:rPr lang="en-US" altLang="zh-CN" b="1" dirty="0">
                <a:latin typeface="+mj-ea"/>
                <a:ea typeface="+mj-ea"/>
              </a:rPr>
              <a:t>(0</a:t>
            </a:r>
            <a:r>
              <a:rPr lang="en-US" altLang="zh-CN" b="1" baseline="30000" dirty="0">
                <a:latin typeface="+mj-ea"/>
                <a:ea typeface="+mj-ea"/>
              </a:rPr>
              <a:t>+</a:t>
            </a:r>
            <a:r>
              <a:rPr lang="en-US" altLang="zh-CN" b="1" dirty="0">
                <a:latin typeface="+mj-ea"/>
                <a:ea typeface="+mj-ea"/>
              </a:rPr>
              <a:t>).</a:t>
            </a:r>
            <a:endParaRPr kumimoji="1" lang="zh-CN" altLang="en-US" sz="2400" b="1" dirty="0">
              <a:latin typeface="+mj-ea"/>
              <a:ea typeface="+mj-ea"/>
            </a:endParaRPr>
          </a:p>
        </p:txBody>
      </p:sp>
      <p:sp>
        <p:nvSpPr>
          <p:cNvPr id="148488" name="Text Box 8"/>
          <p:cNvSpPr txBox="1">
            <a:spLocks noChangeArrowheads="1"/>
          </p:cNvSpPr>
          <p:nvPr/>
        </p:nvSpPr>
        <p:spPr bwMode="auto">
          <a:xfrm>
            <a:off x="835906" y="3261363"/>
            <a:ext cx="77773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b="1" dirty="0">
                <a:latin typeface="+mj-ea"/>
                <a:ea typeface="+mj-ea"/>
              </a:rPr>
              <a:t>a. </a:t>
            </a:r>
            <a:r>
              <a:rPr lang="en-US" altLang="zh-CN" b="1" dirty="0">
                <a:latin typeface="+mj-ea"/>
                <a:ea typeface="+mj-ea"/>
              </a:rPr>
              <a:t>The circuit is shown</a:t>
            </a:r>
            <a:r>
              <a:rPr lang="zh-CN" altLang="en-US" b="1" dirty="0">
                <a:latin typeface="+mj-ea"/>
                <a:ea typeface="+mj-ea"/>
              </a:rPr>
              <a:t> </a:t>
            </a:r>
            <a:r>
              <a:rPr lang="en-US" altLang="zh-CN" b="1" dirty="0">
                <a:latin typeface="+mj-ea"/>
                <a:ea typeface="+mj-ea"/>
              </a:rPr>
              <a:t>at</a:t>
            </a:r>
            <a:r>
              <a:rPr lang="zh-CN" altLang="en-US" b="1" dirty="0">
                <a:latin typeface="+mj-ea"/>
                <a:ea typeface="+mj-ea"/>
              </a:rPr>
              <a:t> </a:t>
            </a:r>
            <a:r>
              <a:rPr lang="en-US" altLang="zh-CN" b="1" dirty="0">
                <a:latin typeface="+mj-ea"/>
                <a:ea typeface="+mj-ea"/>
              </a:rPr>
              <a:t>the moment just after switching.</a:t>
            </a:r>
            <a:endParaRPr kumimoji="1" lang="zh-CN" altLang="en-US" sz="2400" b="1" dirty="0">
              <a:latin typeface="+mj-ea"/>
              <a:ea typeface="+mj-ea"/>
            </a:endParaRPr>
          </a:p>
        </p:txBody>
      </p:sp>
      <p:sp>
        <p:nvSpPr>
          <p:cNvPr id="148489" name="Text Box 9"/>
          <p:cNvSpPr txBox="1">
            <a:spLocks noChangeArrowheads="1"/>
          </p:cNvSpPr>
          <p:nvPr/>
        </p:nvSpPr>
        <p:spPr bwMode="auto">
          <a:xfrm>
            <a:off x="468313" y="5094230"/>
            <a:ext cx="8154596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just"/>
            <a:r>
              <a:rPr lang="en-US" altLang="zh-CN" b="1" dirty="0">
                <a:latin typeface="+mj-ea"/>
                <a:ea typeface="+mj-ea"/>
              </a:rPr>
              <a:t>The polarity of the voltage source and the direction of the current source are the same as </a:t>
            </a:r>
            <a:r>
              <a:rPr lang="en-US" altLang="zh-CN" sz="2800" b="1" i="1" dirty="0" err="1">
                <a:latin typeface="+mj-ea"/>
                <a:ea typeface="+mj-ea"/>
              </a:rPr>
              <a:t>u</a:t>
            </a:r>
            <a:r>
              <a:rPr lang="en-US" altLang="zh-CN" sz="2800" b="1" i="1" baseline="-25000" dirty="0" err="1">
                <a:latin typeface="+mj-ea"/>
                <a:ea typeface="+mj-ea"/>
              </a:rPr>
              <a:t>C</a:t>
            </a:r>
            <a:r>
              <a:rPr lang="en-US" altLang="zh-CN" b="1" dirty="0">
                <a:latin typeface="+mj-ea"/>
                <a:ea typeface="+mj-ea"/>
              </a:rPr>
              <a:t>(0</a:t>
            </a:r>
            <a:r>
              <a:rPr lang="en-US" altLang="zh-CN" b="1" baseline="30000" dirty="0">
                <a:latin typeface="+mj-ea"/>
                <a:ea typeface="+mj-ea"/>
              </a:rPr>
              <a:t>+</a:t>
            </a:r>
            <a:r>
              <a:rPr lang="en-US" altLang="zh-CN" b="1" dirty="0">
                <a:latin typeface="+mj-ea"/>
                <a:ea typeface="+mj-ea"/>
              </a:rPr>
              <a:t>) and </a:t>
            </a:r>
            <a:r>
              <a:rPr lang="en-US" altLang="zh-CN" sz="2800" b="1" i="1" dirty="0" err="1">
                <a:latin typeface="+mj-ea"/>
                <a:ea typeface="+mj-ea"/>
              </a:rPr>
              <a:t>i</a:t>
            </a:r>
            <a:r>
              <a:rPr lang="en-US" altLang="zh-CN" sz="2800" b="1" i="1" baseline="-25000" dirty="0" err="1">
                <a:latin typeface="+mj-ea"/>
                <a:ea typeface="+mj-ea"/>
              </a:rPr>
              <a:t>L</a:t>
            </a:r>
            <a:r>
              <a:rPr lang="en-US" altLang="zh-CN" b="1" dirty="0">
                <a:latin typeface="+mj-ea"/>
                <a:ea typeface="+mj-ea"/>
              </a:rPr>
              <a:t>(0</a:t>
            </a:r>
            <a:r>
              <a:rPr lang="en-US" altLang="zh-CN" b="1" baseline="30000" dirty="0">
                <a:latin typeface="+mj-ea"/>
                <a:ea typeface="+mj-ea"/>
              </a:rPr>
              <a:t>+</a:t>
            </a:r>
            <a:r>
              <a:rPr lang="en-US" altLang="zh-CN" b="1" dirty="0">
                <a:latin typeface="+mj-ea"/>
                <a:ea typeface="+mj-ea"/>
              </a:rPr>
              <a:t>) respectively.</a:t>
            </a:r>
            <a:endParaRPr kumimoji="1" lang="zh-CN" altLang="en-US" sz="2400" b="1" dirty="0">
              <a:latin typeface="+mj-ea"/>
              <a:ea typeface="+mj-ea"/>
            </a:endParaRPr>
          </a:p>
        </p:txBody>
      </p:sp>
      <p:sp>
        <p:nvSpPr>
          <p:cNvPr id="148490" name="AutoShape 10"/>
          <p:cNvSpPr>
            <a:spLocks/>
          </p:cNvSpPr>
          <p:nvPr/>
        </p:nvSpPr>
        <p:spPr bwMode="auto">
          <a:xfrm>
            <a:off x="711780" y="3486185"/>
            <a:ext cx="142875" cy="1008062"/>
          </a:xfrm>
          <a:prstGeom prst="leftBrace">
            <a:avLst>
              <a:gd name="adj1" fmla="val 5879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23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148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14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4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48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48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2" grpId="0" animBg="1"/>
      <p:bldP spid="148483" grpId="0" build="p" autoUpdateAnimBg="0"/>
      <p:bldP spid="148484" grpId="0" build="p" autoUpdateAnimBg="0"/>
      <p:bldP spid="148485" grpId="0" autoUpdateAnimBg="0"/>
      <p:bldP spid="148486" grpId="0" build="p" autoUpdateAnimBg="0"/>
      <p:bldP spid="148487" grpId="0" autoUpdateAnimBg="0"/>
      <p:bldP spid="148488" grpId="0" autoUpdateAnimBg="0"/>
      <p:bldP spid="148489" grpId="0" autoUpdateAnimBg="0"/>
      <p:bldP spid="14849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530" name="Object 2"/>
          <p:cNvGraphicFramePr>
            <a:graphicFrameLocks noChangeAspect="1"/>
          </p:cNvGraphicFramePr>
          <p:nvPr/>
        </p:nvGraphicFramePr>
        <p:xfrm>
          <a:off x="4373563" y="4064000"/>
          <a:ext cx="450215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33" name="Equation" r:id="rId3" imgW="2158920" imgH="253800" progId="Equation.DSMT4">
                  <p:embed/>
                </p:oleObj>
              </mc:Choice>
              <mc:Fallback>
                <p:oleObj name="Equation" r:id="rId3" imgW="2158920" imgH="253800" progId="Equation.DSMT4">
                  <p:embed/>
                  <p:pic>
                    <p:nvPicPr>
                      <p:cNvPr id="1505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3563" y="4064000"/>
                        <a:ext cx="450215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31" name="Object 3"/>
          <p:cNvGraphicFramePr>
            <a:graphicFrameLocks noChangeAspect="1"/>
          </p:cNvGraphicFramePr>
          <p:nvPr/>
        </p:nvGraphicFramePr>
        <p:xfrm>
          <a:off x="4206875" y="3400425"/>
          <a:ext cx="4872038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34" name="Equation" r:id="rId5" imgW="2108160" imgH="253800" progId="Equation.DSMT4">
                  <p:embed/>
                </p:oleObj>
              </mc:Choice>
              <mc:Fallback>
                <p:oleObj name="Equation" r:id="rId5" imgW="2108160" imgH="253800" progId="Equation.DSMT4">
                  <p:embed/>
                  <p:pic>
                    <p:nvPicPr>
                      <p:cNvPr id="1505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6875" y="3400425"/>
                        <a:ext cx="4872038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32" name="Rectangle 4"/>
          <p:cNvSpPr>
            <a:spLocks noChangeArrowheads="1"/>
          </p:cNvSpPr>
          <p:nvPr/>
        </p:nvSpPr>
        <p:spPr bwMode="auto">
          <a:xfrm>
            <a:off x="141721" y="73452"/>
            <a:ext cx="1810111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Example 3</a:t>
            </a:r>
            <a:endParaRPr kumimoji="1" lang="en-US" altLang="zh-CN" sz="2800" b="1" dirty="0">
              <a:solidFill>
                <a:srgbClr val="FF0000"/>
              </a:solidFill>
            </a:endParaRPr>
          </a:p>
        </p:txBody>
      </p:sp>
      <p:grpSp>
        <p:nvGrpSpPr>
          <p:cNvPr id="150533" name="Group 5"/>
          <p:cNvGrpSpPr>
            <a:grpSpLocks/>
          </p:cNvGrpSpPr>
          <p:nvPr/>
        </p:nvGrpSpPr>
        <p:grpSpPr bwMode="auto">
          <a:xfrm>
            <a:off x="250825" y="765175"/>
            <a:ext cx="4603750" cy="2376488"/>
            <a:chOff x="521" y="164"/>
            <a:chExt cx="2900" cy="1497"/>
          </a:xfrm>
        </p:grpSpPr>
        <p:sp>
          <p:nvSpPr>
            <p:cNvPr id="150534" name="Text Box 6"/>
            <p:cNvSpPr txBox="1">
              <a:spLocks noChangeArrowheads="1"/>
            </p:cNvSpPr>
            <p:nvPr/>
          </p:nvSpPr>
          <p:spPr bwMode="auto">
            <a:xfrm>
              <a:off x="1837" y="1117"/>
              <a:ext cx="2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 i="1"/>
                <a:t>i</a:t>
              </a:r>
              <a:r>
                <a:rPr kumimoji="1" lang="en-US" altLang="zh-CN" sz="2400" b="1" i="1" baseline="-25000"/>
                <a:t>L</a:t>
              </a:r>
              <a:endParaRPr kumimoji="1" lang="en-US" altLang="zh-CN" sz="2400"/>
            </a:p>
          </p:txBody>
        </p:sp>
        <p:sp>
          <p:nvSpPr>
            <p:cNvPr id="150535" name="Text Box 7"/>
            <p:cNvSpPr txBox="1">
              <a:spLocks noChangeArrowheads="1"/>
            </p:cNvSpPr>
            <p:nvPr/>
          </p:nvSpPr>
          <p:spPr bwMode="auto">
            <a:xfrm>
              <a:off x="2375" y="501"/>
              <a:ext cx="303" cy="7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800" b="1" i="1" dirty="0"/>
                <a:t>+</a:t>
              </a:r>
              <a:endParaRPr kumimoji="1" lang="en-US" altLang="zh-CN" sz="2400" i="1" dirty="0"/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 i="1" dirty="0" err="1"/>
                <a:t>u</a:t>
              </a:r>
              <a:r>
                <a:rPr kumimoji="1" lang="en-US" altLang="zh-CN" sz="2400" b="1" i="1" baseline="-25000" dirty="0" err="1"/>
                <a:t>L</a:t>
              </a:r>
              <a:endParaRPr kumimoji="1" lang="en-US" altLang="zh-CN" sz="2400" i="1" baseline="-25000" dirty="0"/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dirty="0"/>
                <a:t>-</a:t>
              </a:r>
              <a:endParaRPr kumimoji="1" lang="en-US" altLang="zh-CN" sz="2400" dirty="0"/>
            </a:p>
          </p:txBody>
        </p:sp>
        <p:sp>
          <p:nvSpPr>
            <p:cNvPr id="150536" name="Text Box 8"/>
            <p:cNvSpPr txBox="1">
              <a:spLocks noChangeArrowheads="1"/>
            </p:cNvSpPr>
            <p:nvPr/>
          </p:nvSpPr>
          <p:spPr bwMode="auto">
            <a:xfrm>
              <a:off x="1951" y="724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 i="1"/>
                <a:t>L</a:t>
              </a:r>
              <a:endParaRPr kumimoji="1" lang="en-US" altLang="zh-CN" sz="2400"/>
            </a:p>
          </p:txBody>
        </p:sp>
        <p:sp>
          <p:nvSpPr>
            <p:cNvPr id="150537" name="Line 9"/>
            <p:cNvSpPr>
              <a:spLocks noChangeShapeType="1"/>
            </p:cNvSpPr>
            <p:nvPr/>
          </p:nvSpPr>
          <p:spPr bwMode="auto">
            <a:xfrm>
              <a:off x="2281" y="511"/>
              <a:ext cx="0" cy="16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38" name="Text Box 10"/>
            <p:cNvSpPr txBox="1">
              <a:spLocks noChangeArrowheads="1"/>
            </p:cNvSpPr>
            <p:nvPr/>
          </p:nvSpPr>
          <p:spPr bwMode="auto">
            <a:xfrm>
              <a:off x="1460" y="761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/>
                <a:t>K</a:t>
              </a:r>
              <a:endParaRPr kumimoji="1" lang="en-US" altLang="zh-CN" sz="2400"/>
            </a:p>
          </p:txBody>
        </p:sp>
        <p:sp>
          <p:nvSpPr>
            <p:cNvPr id="150539" name="Text Box 11"/>
            <p:cNvSpPr txBox="1">
              <a:spLocks noChangeArrowheads="1"/>
            </p:cNvSpPr>
            <p:nvPr/>
          </p:nvSpPr>
          <p:spPr bwMode="auto">
            <a:xfrm>
              <a:off x="1111" y="164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/>
                <a:t>2</a:t>
              </a:r>
              <a:r>
                <a:rPr kumimoji="1" lang="en-US" altLang="zh-CN" sz="2400" b="1">
                  <a:sym typeface="Symbol" pitchFamily="18" charset="2"/>
                </a:rPr>
                <a:t></a:t>
              </a:r>
              <a:endParaRPr kumimoji="1" lang="en-US" altLang="zh-CN" sz="2400">
                <a:sym typeface="Symbol" pitchFamily="18" charset="2"/>
              </a:endParaRPr>
            </a:p>
          </p:txBody>
        </p:sp>
        <p:sp>
          <p:nvSpPr>
            <p:cNvPr id="150540" name="Line 12"/>
            <p:cNvSpPr>
              <a:spLocks noChangeShapeType="1"/>
            </p:cNvSpPr>
            <p:nvPr/>
          </p:nvSpPr>
          <p:spPr bwMode="auto">
            <a:xfrm flipH="1">
              <a:off x="2109" y="1207"/>
              <a:ext cx="1" cy="28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41" name="Oval 13"/>
            <p:cNvSpPr>
              <a:spLocks noChangeArrowheads="1"/>
            </p:cNvSpPr>
            <p:nvPr/>
          </p:nvSpPr>
          <p:spPr bwMode="auto">
            <a:xfrm>
              <a:off x="521" y="849"/>
              <a:ext cx="340" cy="33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42" name="Line 14"/>
            <p:cNvSpPr>
              <a:spLocks noChangeShapeType="1"/>
            </p:cNvSpPr>
            <p:nvPr/>
          </p:nvSpPr>
          <p:spPr bwMode="auto">
            <a:xfrm>
              <a:off x="937" y="511"/>
              <a:ext cx="0" cy="2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43" name="Line 15"/>
            <p:cNvSpPr>
              <a:spLocks noChangeShapeType="1"/>
            </p:cNvSpPr>
            <p:nvPr/>
          </p:nvSpPr>
          <p:spPr bwMode="auto">
            <a:xfrm>
              <a:off x="1417" y="680"/>
              <a:ext cx="33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44" name="Line 16"/>
            <p:cNvSpPr>
              <a:spLocks noChangeShapeType="1"/>
            </p:cNvSpPr>
            <p:nvPr/>
          </p:nvSpPr>
          <p:spPr bwMode="auto">
            <a:xfrm flipV="1">
              <a:off x="1753" y="511"/>
              <a:ext cx="0" cy="16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45" name="Line 17"/>
            <p:cNvSpPr>
              <a:spLocks noChangeShapeType="1"/>
            </p:cNvSpPr>
            <p:nvPr/>
          </p:nvSpPr>
          <p:spPr bwMode="auto">
            <a:xfrm flipH="1">
              <a:off x="1177" y="680"/>
              <a:ext cx="240" cy="113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46" name="Line 18"/>
            <p:cNvSpPr>
              <a:spLocks noChangeShapeType="1"/>
            </p:cNvSpPr>
            <p:nvPr/>
          </p:nvSpPr>
          <p:spPr bwMode="auto">
            <a:xfrm>
              <a:off x="1273" y="737"/>
              <a:ext cx="144" cy="11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47" name="Text Box 19"/>
            <p:cNvSpPr txBox="1">
              <a:spLocks noChangeArrowheads="1"/>
            </p:cNvSpPr>
            <p:nvPr/>
          </p:nvSpPr>
          <p:spPr bwMode="auto">
            <a:xfrm>
              <a:off x="839" y="698"/>
              <a:ext cx="246" cy="7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800" b="1"/>
                <a:t>+</a:t>
              </a:r>
              <a:endParaRPr kumimoji="1" lang="en-US" altLang="zh-CN" sz="2400"/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1" lang="en-US" altLang="zh-CN" sz="2400"/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/>
                <a:t>-</a:t>
              </a:r>
              <a:endParaRPr kumimoji="1" lang="en-US" altLang="zh-CN" sz="2400"/>
            </a:p>
          </p:txBody>
        </p:sp>
        <p:grpSp>
          <p:nvGrpSpPr>
            <p:cNvPr id="150548" name="Group 20"/>
            <p:cNvGrpSpPr>
              <a:grpSpLocks/>
            </p:cNvGrpSpPr>
            <p:nvPr/>
          </p:nvGrpSpPr>
          <p:grpSpPr bwMode="auto">
            <a:xfrm>
              <a:off x="2221" y="669"/>
              <a:ext cx="114" cy="443"/>
              <a:chOff x="1360" y="3237"/>
              <a:chExt cx="114" cy="443"/>
            </a:xfrm>
          </p:grpSpPr>
          <p:grpSp>
            <p:nvGrpSpPr>
              <p:cNvPr id="150549" name="Group 21"/>
              <p:cNvGrpSpPr>
                <a:grpSpLocks/>
              </p:cNvGrpSpPr>
              <p:nvPr/>
            </p:nvGrpSpPr>
            <p:grpSpPr bwMode="auto">
              <a:xfrm>
                <a:off x="1360" y="3237"/>
                <a:ext cx="113" cy="214"/>
                <a:chOff x="887" y="1182"/>
                <a:chExt cx="113" cy="214"/>
              </a:xfrm>
            </p:grpSpPr>
            <p:sp>
              <p:nvSpPr>
                <p:cNvPr id="150550" name="Oval 22"/>
                <p:cNvSpPr>
                  <a:spLocks noChangeArrowheads="1"/>
                </p:cNvSpPr>
                <p:nvPr/>
              </p:nvSpPr>
              <p:spPr bwMode="auto">
                <a:xfrm>
                  <a:off x="891" y="1182"/>
                  <a:ext cx="109" cy="109"/>
                </a:xfrm>
                <a:prstGeom prst="ellipse">
                  <a:avLst/>
                </a:prstGeom>
                <a:noFill/>
                <a:ln w="38100">
                  <a:solidFill>
                    <a:srgbClr val="FF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551" name="Oval 23"/>
                <p:cNvSpPr>
                  <a:spLocks noChangeArrowheads="1"/>
                </p:cNvSpPr>
                <p:nvPr/>
              </p:nvSpPr>
              <p:spPr bwMode="auto">
                <a:xfrm>
                  <a:off x="887" y="1287"/>
                  <a:ext cx="109" cy="109"/>
                </a:xfrm>
                <a:prstGeom prst="ellipse">
                  <a:avLst/>
                </a:prstGeom>
                <a:noFill/>
                <a:ln w="38100">
                  <a:solidFill>
                    <a:srgbClr val="FF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50552" name="Oval 24"/>
              <p:cNvSpPr>
                <a:spLocks noChangeArrowheads="1"/>
              </p:cNvSpPr>
              <p:nvPr/>
            </p:nvSpPr>
            <p:spPr bwMode="auto">
              <a:xfrm>
                <a:off x="1365" y="3457"/>
                <a:ext cx="109" cy="109"/>
              </a:xfrm>
              <a:prstGeom prst="ellips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553" name="Oval 25"/>
              <p:cNvSpPr>
                <a:spLocks noChangeArrowheads="1"/>
              </p:cNvSpPr>
              <p:nvPr/>
            </p:nvSpPr>
            <p:spPr bwMode="auto">
              <a:xfrm>
                <a:off x="1361" y="3571"/>
                <a:ext cx="109" cy="109"/>
              </a:xfrm>
              <a:prstGeom prst="ellips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0554" name="Rectangle 26"/>
            <p:cNvSpPr>
              <a:spLocks noChangeArrowheads="1"/>
            </p:cNvSpPr>
            <p:nvPr/>
          </p:nvSpPr>
          <p:spPr bwMode="auto">
            <a:xfrm>
              <a:off x="2153" y="654"/>
              <a:ext cx="137" cy="4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55" name="Line 27"/>
            <p:cNvSpPr>
              <a:spLocks noChangeShapeType="1"/>
            </p:cNvSpPr>
            <p:nvPr/>
          </p:nvSpPr>
          <p:spPr bwMode="auto">
            <a:xfrm>
              <a:off x="703" y="1661"/>
              <a:ext cx="222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56" name="Line 28"/>
            <p:cNvSpPr>
              <a:spLocks noChangeShapeType="1"/>
            </p:cNvSpPr>
            <p:nvPr/>
          </p:nvSpPr>
          <p:spPr bwMode="auto">
            <a:xfrm>
              <a:off x="703" y="527"/>
              <a:ext cx="0" cy="113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57" name="Line 29"/>
            <p:cNvSpPr>
              <a:spLocks noChangeShapeType="1"/>
            </p:cNvSpPr>
            <p:nvPr/>
          </p:nvSpPr>
          <p:spPr bwMode="auto">
            <a:xfrm>
              <a:off x="703" y="527"/>
              <a:ext cx="222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58" name="Line 30"/>
            <p:cNvSpPr>
              <a:spLocks noChangeShapeType="1"/>
            </p:cNvSpPr>
            <p:nvPr/>
          </p:nvSpPr>
          <p:spPr bwMode="auto">
            <a:xfrm>
              <a:off x="2290" y="1117"/>
              <a:ext cx="0" cy="5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59" name="Line 31"/>
            <p:cNvSpPr>
              <a:spLocks noChangeShapeType="1"/>
            </p:cNvSpPr>
            <p:nvPr/>
          </p:nvSpPr>
          <p:spPr bwMode="auto">
            <a:xfrm>
              <a:off x="2925" y="527"/>
              <a:ext cx="0" cy="59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60" name="Line 32"/>
            <p:cNvSpPr>
              <a:spLocks noChangeShapeType="1"/>
            </p:cNvSpPr>
            <p:nvPr/>
          </p:nvSpPr>
          <p:spPr bwMode="auto">
            <a:xfrm>
              <a:off x="2925" y="1253"/>
              <a:ext cx="0" cy="40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61" name="Line 33"/>
            <p:cNvSpPr>
              <a:spLocks noChangeShapeType="1"/>
            </p:cNvSpPr>
            <p:nvPr/>
          </p:nvSpPr>
          <p:spPr bwMode="auto">
            <a:xfrm>
              <a:off x="2835" y="1117"/>
              <a:ext cx="226" cy="0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62" name="Line 34"/>
            <p:cNvSpPr>
              <a:spLocks noChangeShapeType="1"/>
            </p:cNvSpPr>
            <p:nvPr/>
          </p:nvSpPr>
          <p:spPr bwMode="auto">
            <a:xfrm>
              <a:off x="2835" y="1253"/>
              <a:ext cx="226" cy="0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63" name="Rectangle 35"/>
            <p:cNvSpPr>
              <a:spLocks noChangeArrowheads="1"/>
            </p:cNvSpPr>
            <p:nvPr/>
          </p:nvSpPr>
          <p:spPr bwMode="auto">
            <a:xfrm>
              <a:off x="2880" y="663"/>
              <a:ext cx="136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64" name="Rectangle 36"/>
            <p:cNvSpPr>
              <a:spLocks noChangeArrowheads="1"/>
            </p:cNvSpPr>
            <p:nvPr/>
          </p:nvSpPr>
          <p:spPr bwMode="auto">
            <a:xfrm>
              <a:off x="1129" y="455"/>
              <a:ext cx="288" cy="11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kumimoji="1" lang="zh-CN" altLang="zh-CN" sz="2400"/>
            </a:p>
          </p:txBody>
        </p:sp>
        <p:sp>
          <p:nvSpPr>
            <p:cNvPr id="150565" name="Rectangle 37"/>
            <p:cNvSpPr>
              <a:spLocks noChangeArrowheads="1"/>
            </p:cNvSpPr>
            <p:nvPr/>
          </p:nvSpPr>
          <p:spPr bwMode="auto">
            <a:xfrm>
              <a:off x="2200" y="1253"/>
              <a:ext cx="136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66" name="Text Box 38"/>
            <p:cNvSpPr txBox="1">
              <a:spLocks noChangeArrowheads="1"/>
            </p:cNvSpPr>
            <p:nvPr/>
          </p:nvSpPr>
          <p:spPr bwMode="auto">
            <a:xfrm>
              <a:off x="839" y="935"/>
              <a:ext cx="4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 i="1"/>
                <a:t>48V</a:t>
              </a:r>
              <a:endParaRPr kumimoji="1" lang="en-US" altLang="zh-CN" sz="2400"/>
            </a:p>
          </p:txBody>
        </p:sp>
        <p:sp>
          <p:nvSpPr>
            <p:cNvPr id="150567" name="Line 39"/>
            <p:cNvSpPr>
              <a:spLocks noChangeShapeType="1"/>
            </p:cNvSpPr>
            <p:nvPr/>
          </p:nvSpPr>
          <p:spPr bwMode="auto">
            <a:xfrm>
              <a:off x="930" y="709"/>
              <a:ext cx="22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68" name="Text Box 40"/>
            <p:cNvSpPr txBox="1">
              <a:spLocks noChangeArrowheads="1"/>
            </p:cNvSpPr>
            <p:nvPr/>
          </p:nvSpPr>
          <p:spPr bwMode="auto">
            <a:xfrm>
              <a:off x="3061" y="663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/>
                <a:t>3</a:t>
              </a:r>
              <a:r>
                <a:rPr kumimoji="1" lang="en-US" altLang="zh-CN" sz="2400" b="1">
                  <a:sym typeface="Symbol" pitchFamily="18" charset="2"/>
                </a:rPr>
                <a:t></a:t>
              </a:r>
              <a:endParaRPr kumimoji="1" lang="en-US" altLang="zh-CN" sz="2400">
                <a:sym typeface="Symbol" pitchFamily="18" charset="2"/>
              </a:endParaRPr>
            </a:p>
          </p:txBody>
        </p:sp>
        <p:sp>
          <p:nvSpPr>
            <p:cNvPr id="150569" name="Text Box 41"/>
            <p:cNvSpPr txBox="1">
              <a:spLocks noChangeArrowheads="1"/>
            </p:cNvSpPr>
            <p:nvPr/>
          </p:nvSpPr>
          <p:spPr bwMode="auto">
            <a:xfrm>
              <a:off x="2290" y="1207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/>
                <a:t>2</a:t>
              </a:r>
              <a:r>
                <a:rPr kumimoji="1" lang="en-US" altLang="zh-CN" sz="2400" b="1">
                  <a:sym typeface="Symbol" pitchFamily="18" charset="2"/>
                </a:rPr>
                <a:t></a:t>
              </a:r>
              <a:endParaRPr kumimoji="1" lang="en-US" altLang="zh-CN" sz="2400">
                <a:sym typeface="Symbol" pitchFamily="18" charset="2"/>
              </a:endParaRPr>
            </a:p>
          </p:txBody>
        </p:sp>
        <p:sp>
          <p:nvSpPr>
            <p:cNvPr id="150570" name="Text Box 42"/>
            <p:cNvSpPr txBox="1">
              <a:spLocks noChangeArrowheads="1"/>
            </p:cNvSpPr>
            <p:nvPr/>
          </p:nvSpPr>
          <p:spPr bwMode="auto">
            <a:xfrm>
              <a:off x="3107" y="981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1"/>
                <a:t>C</a:t>
              </a:r>
              <a:endParaRPr kumimoji="1" lang="en-US" altLang="zh-CN" sz="2400">
                <a:sym typeface="Symbol" pitchFamily="18" charset="2"/>
              </a:endParaRPr>
            </a:p>
          </p:txBody>
        </p:sp>
      </p:grpSp>
      <p:sp>
        <p:nvSpPr>
          <p:cNvPr id="150571" name="Text Box 43"/>
          <p:cNvSpPr txBox="1">
            <a:spLocks noChangeArrowheads="1"/>
          </p:cNvSpPr>
          <p:nvPr/>
        </p:nvSpPr>
        <p:spPr bwMode="auto">
          <a:xfrm>
            <a:off x="2287422" y="258118"/>
            <a:ext cx="64247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98000" rIns="198000" anchor="ctr">
            <a:spAutoFit/>
          </a:bodyPr>
          <a:lstStyle/>
          <a:p>
            <a:r>
              <a:rPr lang="en-US" altLang="zh-CN" b="1" dirty="0">
                <a:latin typeface="+mj-ea"/>
                <a:ea typeface="+mj-ea"/>
              </a:rPr>
              <a:t>Find the current </a:t>
            </a:r>
            <a:r>
              <a:rPr lang="en-US" altLang="zh-CN" b="1" i="1" dirty="0" err="1">
                <a:latin typeface="+mj-ea"/>
                <a:ea typeface="+mj-ea"/>
              </a:rPr>
              <a:t>i</a:t>
            </a:r>
            <a:r>
              <a:rPr lang="en-US" altLang="zh-CN" b="1" baseline="-25000" dirty="0" err="1">
                <a:latin typeface="+mj-ea"/>
                <a:ea typeface="+mj-ea"/>
              </a:rPr>
              <a:t>L</a:t>
            </a:r>
            <a:r>
              <a:rPr lang="zh-CN" altLang="en-US" b="1" dirty="0">
                <a:latin typeface="+mj-ea"/>
                <a:ea typeface="+mj-ea"/>
              </a:rPr>
              <a:t> </a:t>
            </a:r>
            <a:r>
              <a:rPr lang="en-US" altLang="zh-CN" b="1" dirty="0">
                <a:latin typeface="+mj-ea"/>
                <a:ea typeface="+mj-ea"/>
              </a:rPr>
              <a:t>and the voltage </a:t>
            </a:r>
            <a:r>
              <a:rPr lang="en-US" altLang="zh-CN" b="1" i="1" dirty="0" err="1">
                <a:latin typeface="+mj-ea"/>
              </a:rPr>
              <a:t>u</a:t>
            </a:r>
            <a:r>
              <a:rPr lang="en-US" altLang="zh-CN" b="1" baseline="-25000" dirty="0" err="1">
                <a:latin typeface="+mj-ea"/>
              </a:rPr>
              <a:t>L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  <a:ea typeface="+mj-ea"/>
              </a:rPr>
              <a:t>at</a:t>
            </a:r>
            <a:r>
              <a:rPr lang="zh-CN" altLang="en-US" b="1" dirty="0">
                <a:latin typeface="+mj-ea"/>
                <a:ea typeface="+mj-ea"/>
              </a:rPr>
              <a:t> </a:t>
            </a:r>
            <a:r>
              <a:rPr lang="en-US" altLang="zh-CN" b="1" dirty="0">
                <a:latin typeface="+mj-ea"/>
                <a:ea typeface="+mj-ea"/>
              </a:rPr>
              <a:t>t=0+.</a:t>
            </a:r>
            <a:endParaRPr kumimoji="1" lang="zh-CN" altLang="en-US" sz="2400" b="1" dirty="0">
              <a:latin typeface="+mj-ea"/>
              <a:ea typeface="+mj-ea"/>
            </a:endParaRPr>
          </a:p>
        </p:txBody>
      </p:sp>
      <p:sp>
        <p:nvSpPr>
          <p:cNvPr id="150572" name="Text Box 44"/>
          <p:cNvSpPr txBox="1">
            <a:spLocks noChangeArrowheads="1"/>
          </p:cNvSpPr>
          <p:nvPr/>
        </p:nvSpPr>
        <p:spPr bwMode="auto">
          <a:xfrm>
            <a:off x="4394993" y="883306"/>
            <a:ext cx="1597819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Solution:</a:t>
            </a:r>
            <a:endParaRPr lang="zh-CN" altLang="en-US" sz="2400" b="1" dirty="0">
              <a:solidFill>
                <a:srgbClr val="FF0000"/>
              </a:solidFill>
              <a:latin typeface="Arial" charset="0"/>
              <a:ea typeface="仿宋_GB2312" pitchFamily="49" charset="-122"/>
            </a:endParaRPr>
          </a:p>
        </p:txBody>
      </p:sp>
      <p:sp>
        <p:nvSpPr>
          <p:cNvPr id="150573" name="Text Box 45"/>
          <p:cNvSpPr txBox="1">
            <a:spLocks noChangeArrowheads="1"/>
          </p:cNvSpPr>
          <p:nvPr/>
        </p:nvSpPr>
        <p:spPr bwMode="auto">
          <a:xfrm>
            <a:off x="6009878" y="898555"/>
            <a:ext cx="28868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buClrTx/>
              <a:buFontTx/>
              <a:buNone/>
            </a:pPr>
            <a:r>
              <a:rPr lang="en-US" altLang="zh-CN" b="1" dirty="0">
                <a:latin typeface="+mj-ea"/>
                <a:ea typeface="+mj-ea"/>
              </a:rPr>
              <a:t> </a:t>
            </a:r>
            <a:r>
              <a:rPr lang="en-US" altLang="zh-CN" sz="2400" b="1" dirty="0">
                <a:latin typeface="+mj-ea"/>
                <a:ea typeface="+mj-ea"/>
              </a:rPr>
              <a:t>0</a:t>
            </a:r>
            <a:r>
              <a:rPr lang="zh-CN" altLang="en-US" sz="2400" b="1" baseline="30000" dirty="0">
                <a:latin typeface="+mj-ea"/>
                <a:ea typeface="+mj-ea"/>
              </a:rPr>
              <a:t>－</a:t>
            </a:r>
            <a:r>
              <a:rPr lang="en-US" altLang="zh-CN" b="1" dirty="0">
                <a:latin typeface="+mj-ea"/>
                <a:ea typeface="+mj-ea"/>
              </a:rPr>
              <a:t>equivalent circuit: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pSp>
        <p:nvGrpSpPr>
          <p:cNvPr id="150574" name="Group 46"/>
          <p:cNvGrpSpPr>
            <a:grpSpLocks/>
          </p:cNvGrpSpPr>
          <p:nvPr/>
        </p:nvGrpSpPr>
        <p:grpSpPr bwMode="auto">
          <a:xfrm>
            <a:off x="250825" y="4275138"/>
            <a:ext cx="3949700" cy="1909762"/>
            <a:chOff x="204" y="2466"/>
            <a:chExt cx="2488" cy="1203"/>
          </a:xfrm>
        </p:grpSpPr>
        <p:sp>
          <p:nvSpPr>
            <p:cNvPr id="150575" name="Text Box 47"/>
            <p:cNvSpPr txBox="1">
              <a:spLocks noChangeArrowheads="1"/>
            </p:cNvSpPr>
            <p:nvPr/>
          </p:nvSpPr>
          <p:spPr bwMode="auto">
            <a:xfrm>
              <a:off x="884" y="3113"/>
              <a:ext cx="4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/>
                <a:t>12A</a:t>
              </a:r>
              <a:endParaRPr lang="en-US" altLang="zh-CN" sz="2400" b="1">
                <a:latin typeface="Arial" charset="0"/>
                <a:ea typeface="仿宋_GB2312" pitchFamily="49" charset="-122"/>
              </a:endParaRPr>
            </a:p>
          </p:txBody>
        </p:sp>
        <p:sp>
          <p:nvSpPr>
            <p:cNvPr id="150576" name="Line 48"/>
            <p:cNvSpPr>
              <a:spLocks noChangeShapeType="1"/>
            </p:cNvSpPr>
            <p:nvPr/>
          </p:nvSpPr>
          <p:spPr bwMode="auto">
            <a:xfrm>
              <a:off x="1510" y="2540"/>
              <a:ext cx="9" cy="69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77" name="Text Box 49"/>
            <p:cNvSpPr txBox="1">
              <a:spLocks noChangeArrowheads="1"/>
            </p:cNvSpPr>
            <p:nvPr/>
          </p:nvSpPr>
          <p:spPr bwMode="auto">
            <a:xfrm>
              <a:off x="2245" y="3067"/>
              <a:ext cx="4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/>
                <a:t>24V</a:t>
              </a:r>
              <a:endParaRPr lang="en-US" altLang="zh-CN" sz="2400" b="1">
                <a:latin typeface="Arial" charset="0"/>
                <a:ea typeface="仿宋_GB2312" pitchFamily="49" charset="-122"/>
              </a:endParaRPr>
            </a:p>
          </p:txBody>
        </p:sp>
        <p:sp>
          <p:nvSpPr>
            <p:cNvPr id="150578" name="Line 50"/>
            <p:cNvSpPr>
              <a:spLocks noChangeShapeType="1"/>
            </p:cNvSpPr>
            <p:nvPr/>
          </p:nvSpPr>
          <p:spPr bwMode="auto">
            <a:xfrm flipH="1">
              <a:off x="1338" y="3194"/>
              <a:ext cx="1" cy="26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79" name="Oval 51"/>
            <p:cNvSpPr>
              <a:spLocks noChangeArrowheads="1"/>
            </p:cNvSpPr>
            <p:nvPr/>
          </p:nvSpPr>
          <p:spPr bwMode="auto">
            <a:xfrm>
              <a:off x="204" y="2858"/>
              <a:ext cx="340" cy="31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80" name="Text Box 52"/>
            <p:cNvSpPr txBox="1">
              <a:spLocks noChangeArrowheads="1"/>
            </p:cNvSpPr>
            <p:nvPr/>
          </p:nvSpPr>
          <p:spPr bwMode="auto">
            <a:xfrm>
              <a:off x="522" y="2692"/>
              <a:ext cx="246" cy="7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/>
                <a:t>+</a:t>
              </a:r>
              <a:endParaRPr lang="en-US" altLang="zh-CN" sz="2400"/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zh-CN" sz="2400"/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/>
                <a:t>-</a:t>
              </a:r>
              <a:endParaRPr lang="en-US" altLang="zh-CN" sz="2400" b="1">
                <a:latin typeface="Arial" charset="0"/>
                <a:ea typeface="仿宋_GB2312" pitchFamily="49" charset="-122"/>
              </a:endParaRPr>
            </a:p>
          </p:txBody>
        </p:sp>
        <p:sp>
          <p:nvSpPr>
            <p:cNvPr id="150581" name="Line 53"/>
            <p:cNvSpPr>
              <a:spLocks noChangeShapeType="1"/>
            </p:cNvSpPr>
            <p:nvPr/>
          </p:nvSpPr>
          <p:spPr bwMode="auto">
            <a:xfrm>
              <a:off x="386" y="3620"/>
              <a:ext cx="167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82" name="Line 54"/>
            <p:cNvSpPr>
              <a:spLocks noChangeShapeType="1"/>
            </p:cNvSpPr>
            <p:nvPr/>
          </p:nvSpPr>
          <p:spPr bwMode="auto">
            <a:xfrm>
              <a:off x="386" y="2555"/>
              <a:ext cx="0" cy="106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83" name="Line 55"/>
            <p:cNvSpPr>
              <a:spLocks noChangeShapeType="1"/>
            </p:cNvSpPr>
            <p:nvPr/>
          </p:nvSpPr>
          <p:spPr bwMode="auto">
            <a:xfrm>
              <a:off x="386" y="2555"/>
              <a:ext cx="163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84" name="Line 56"/>
            <p:cNvSpPr>
              <a:spLocks noChangeShapeType="1"/>
            </p:cNvSpPr>
            <p:nvPr/>
          </p:nvSpPr>
          <p:spPr bwMode="auto">
            <a:xfrm>
              <a:off x="1519" y="3109"/>
              <a:ext cx="0" cy="51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85" name="Line 57"/>
            <p:cNvSpPr>
              <a:spLocks noChangeShapeType="1"/>
            </p:cNvSpPr>
            <p:nvPr/>
          </p:nvSpPr>
          <p:spPr bwMode="auto">
            <a:xfrm>
              <a:off x="2018" y="2555"/>
              <a:ext cx="0" cy="5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86" name="Line 58"/>
            <p:cNvSpPr>
              <a:spLocks noChangeShapeType="1"/>
            </p:cNvSpPr>
            <p:nvPr/>
          </p:nvSpPr>
          <p:spPr bwMode="auto">
            <a:xfrm>
              <a:off x="2018" y="3322"/>
              <a:ext cx="0" cy="29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87" name="Rectangle 59"/>
            <p:cNvSpPr>
              <a:spLocks noChangeArrowheads="1"/>
            </p:cNvSpPr>
            <p:nvPr/>
          </p:nvSpPr>
          <p:spPr bwMode="auto">
            <a:xfrm>
              <a:off x="1973" y="2683"/>
              <a:ext cx="136" cy="25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88" name="Rectangle 60"/>
            <p:cNvSpPr>
              <a:spLocks noChangeArrowheads="1"/>
            </p:cNvSpPr>
            <p:nvPr/>
          </p:nvSpPr>
          <p:spPr bwMode="auto">
            <a:xfrm>
              <a:off x="1429" y="3129"/>
              <a:ext cx="136" cy="2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89" name="Text Box 61"/>
            <p:cNvSpPr txBox="1">
              <a:spLocks noChangeArrowheads="1"/>
            </p:cNvSpPr>
            <p:nvPr/>
          </p:nvSpPr>
          <p:spPr bwMode="auto">
            <a:xfrm>
              <a:off x="521" y="2931"/>
              <a:ext cx="5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/>
                <a:t>48V</a:t>
              </a:r>
              <a:endParaRPr lang="en-US" altLang="zh-CN" sz="2400" b="1">
                <a:latin typeface="Arial" charset="0"/>
                <a:ea typeface="仿宋_GB2312" pitchFamily="49" charset="-122"/>
              </a:endParaRPr>
            </a:p>
          </p:txBody>
        </p:sp>
        <p:sp>
          <p:nvSpPr>
            <p:cNvPr id="150590" name="Text Box 62"/>
            <p:cNvSpPr txBox="1">
              <a:spLocks noChangeArrowheads="1"/>
            </p:cNvSpPr>
            <p:nvPr/>
          </p:nvSpPr>
          <p:spPr bwMode="auto">
            <a:xfrm>
              <a:off x="2154" y="2674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/>
                <a:t>3</a:t>
              </a:r>
              <a:r>
                <a:rPr lang="en-US" altLang="zh-CN" sz="2400" b="1">
                  <a:sym typeface="Symbol" pitchFamily="18" charset="2"/>
                </a:rPr>
                <a:t></a:t>
              </a:r>
              <a:endParaRPr lang="en-US" altLang="zh-CN" sz="2400" b="1">
                <a:latin typeface="Arial" charset="0"/>
                <a:ea typeface="仿宋_GB2312" pitchFamily="49" charset="-122"/>
              </a:endParaRPr>
            </a:p>
          </p:txBody>
        </p:sp>
        <p:sp>
          <p:nvSpPr>
            <p:cNvPr id="150591" name="Text Box 63"/>
            <p:cNvSpPr txBox="1">
              <a:spLocks noChangeArrowheads="1"/>
            </p:cNvSpPr>
            <p:nvPr/>
          </p:nvSpPr>
          <p:spPr bwMode="auto">
            <a:xfrm>
              <a:off x="1565" y="3203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/>
                <a:t>2</a:t>
              </a:r>
              <a:r>
                <a:rPr lang="en-US" altLang="zh-CN" sz="2400" b="1">
                  <a:sym typeface="Symbol" pitchFamily="18" charset="2"/>
                </a:rPr>
                <a:t></a:t>
              </a:r>
              <a:endParaRPr lang="en-US" altLang="zh-CN" sz="2400" b="1">
                <a:latin typeface="Arial" charset="0"/>
                <a:ea typeface="仿宋_GB2312" pitchFamily="49" charset="-122"/>
              </a:endParaRPr>
            </a:p>
          </p:txBody>
        </p:sp>
        <p:sp>
          <p:nvSpPr>
            <p:cNvPr id="150592" name="Oval 64"/>
            <p:cNvSpPr>
              <a:spLocks noChangeArrowheads="1"/>
            </p:cNvSpPr>
            <p:nvPr/>
          </p:nvSpPr>
          <p:spPr bwMode="auto">
            <a:xfrm>
              <a:off x="1883" y="3067"/>
              <a:ext cx="317" cy="27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93" name="Line 65"/>
            <p:cNvSpPr>
              <a:spLocks noChangeShapeType="1"/>
            </p:cNvSpPr>
            <p:nvPr/>
          </p:nvSpPr>
          <p:spPr bwMode="auto">
            <a:xfrm flipH="1">
              <a:off x="2018" y="3067"/>
              <a:ext cx="0" cy="318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94" name="Oval 66"/>
            <p:cNvSpPr>
              <a:spLocks noChangeArrowheads="1"/>
            </p:cNvSpPr>
            <p:nvPr/>
          </p:nvSpPr>
          <p:spPr bwMode="auto">
            <a:xfrm>
              <a:off x="1338" y="2659"/>
              <a:ext cx="317" cy="27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95" name="Line 67"/>
            <p:cNvSpPr>
              <a:spLocks noChangeShapeType="1"/>
            </p:cNvSpPr>
            <p:nvPr/>
          </p:nvSpPr>
          <p:spPr bwMode="auto">
            <a:xfrm>
              <a:off x="1338" y="2795"/>
              <a:ext cx="317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96" name="Text Box 68"/>
            <p:cNvSpPr txBox="1">
              <a:spLocks noChangeArrowheads="1"/>
            </p:cNvSpPr>
            <p:nvPr/>
          </p:nvSpPr>
          <p:spPr bwMode="auto">
            <a:xfrm>
              <a:off x="2064" y="2874"/>
              <a:ext cx="246" cy="7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 dirty="0"/>
                <a:t>+</a:t>
              </a:r>
              <a:endParaRPr lang="en-US" altLang="zh-CN" sz="2400" dirty="0"/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zh-CN" sz="2400" dirty="0"/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dirty="0"/>
                <a:t>-</a:t>
              </a:r>
              <a:endParaRPr lang="en-US" altLang="zh-CN" sz="2400" b="1" dirty="0">
                <a:latin typeface="Arial" charset="0"/>
                <a:ea typeface="仿宋_GB2312" pitchFamily="49" charset="-122"/>
              </a:endParaRPr>
            </a:p>
          </p:txBody>
        </p:sp>
        <p:sp>
          <p:nvSpPr>
            <p:cNvPr id="150597" name="Line 69"/>
            <p:cNvSpPr>
              <a:spLocks noChangeShapeType="1"/>
            </p:cNvSpPr>
            <p:nvPr/>
          </p:nvSpPr>
          <p:spPr bwMode="auto">
            <a:xfrm>
              <a:off x="1927" y="2659"/>
              <a:ext cx="0" cy="31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98" name="Line 70"/>
            <p:cNvSpPr>
              <a:spLocks noChangeShapeType="1"/>
            </p:cNvSpPr>
            <p:nvPr/>
          </p:nvSpPr>
          <p:spPr bwMode="auto">
            <a:xfrm>
              <a:off x="476" y="2478"/>
              <a:ext cx="31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99" name="Text Box 71"/>
            <p:cNvSpPr txBox="1">
              <a:spLocks noChangeArrowheads="1"/>
            </p:cNvSpPr>
            <p:nvPr/>
          </p:nvSpPr>
          <p:spPr bwMode="auto">
            <a:xfrm>
              <a:off x="476" y="2523"/>
              <a:ext cx="3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b="1" i="1">
                  <a:ea typeface="仿宋_GB2312" pitchFamily="49" charset="-122"/>
                </a:rPr>
                <a:t>i</a:t>
              </a:r>
            </a:p>
          </p:txBody>
        </p:sp>
        <p:sp>
          <p:nvSpPr>
            <p:cNvPr id="150600" name="Text Box 72"/>
            <p:cNvSpPr txBox="1">
              <a:spLocks noChangeArrowheads="1"/>
            </p:cNvSpPr>
            <p:nvPr/>
          </p:nvSpPr>
          <p:spPr bwMode="auto">
            <a:xfrm>
              <a:off x="1621" y="2659"/>
              <a:ext cx="3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 i="1" dirty="0" err="1">
                  <a:ea typeface="仿宋_GB2312" pitchFamily="49" charset="-122"/>
                </a:rPr>
                <a:t>i</a:t>
              </a:r>
              <a:r>
                <a:rPr lang="en-US" altLang="zh-CN" sz="2800" b="1" baseline="-25000" dirty="0" err="1">
                  <a:ea typeface="仿宋_GB2312" pitchFamily="49" charset="-122"/>
                </a:rPr>
                <a:t>C</a:t>
              </a:r>
              <a:endParaRPr lang="en-US" altLang="zh-CN" sz="2800" b="1" baseline="-25000" dirty="0">
                <a:ea typeface="仿宋_GB2312" pitchFamily="49" charset="-122"/>
              </a:endParaRPr>
            </a:p>
          </p:txBody>
        </p:sp>
        <p:sp>
          <p:nvSpPr>
            <p:cNvPr id="150601" name="Text Box 73"/>
            <p:cNvSpPr txBox="1">
              <a:spLocks noChangeArrowheads="1"/>
            </p:cNvSpPr>
            <p:nvPr/>
          </p:nvSpPr>
          <p:spPr bwMode="auto">
            <a:xfrm>
              <a:off x="1111" y="2466"/>
              <a:ext cx="246" cy="7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 dirty="0"/>
                <a:t>+</a:t>
              </a:r>
              <a:endParaRPr lang="en-US" altLang="zh-CN" sz="2400" dirty="0"/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zh-CN" sz="2400" dirty="0"/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dirty="0"/>
                <a:t>-</a:t>
              </a:r>
              <a:endParaRPr lang="en-US" altLang="zh-CN" sz="2400" b="1" dirty="0">
                <a:latin typeface="Arial" charset="0"/>
                <a:ea typeface="仿宋_GB2312" pitchFamily="49" charset="-122"/>
              </a:endParaRPr>
            </a:p>
          </p:txBody>
        </p:sp>
        <p:sp>
          <p:nvSpPr>
            <p:cNvPr id="150602" name="Text Box 74"/>
            <p:cNvSpPr txBox="1">
              <a:spLocks noChangeArrowheads="1"/>
            </p:cNvSpPr>
            <p:nvPr/>
          </p:nvSpPr>
          <p:spPr bwMode="auto">
            <a:xfrm>
              <a:off x="1066" y="2659"/>
              <a:ext cx="4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 i="1" dirty="0" err="1">
                  <a:ea typeface="仿宋_GB2312" pitchFamily="49" charset="-122"/>
                </a:rPr>
                <a:t>u</a:t>
              </a:r>
              <a:r>
                <a:rPr lang="en-US" altLang="zh-CN" sz="2800" b="1" baseline="-25000" dirty="0" err="1">
                  <a:ea typeface="仿宋_GB2312" pitchFamily="49" charset="-122"/>
                </a:rPr>
                <a:t>L</a:t>
              </a:r>
              <a:endParaRPr lang="en-US" altLang="zh-CN" sz="2800" b="1" baseline="-25000" dirty="0">
                <a:ea typeface="仿宋_GB2312" pitchFamily="49" charset="-122"/>
              </a:endParaRPr>
            </a:p>
          </p:txBody>
        </p:sp>
      </p:grpSp>
      <p:sp>
        <p:nvSpPr>
          <p:cNvPr id="150603" name="Text Box 75"/>
          <p:cNvSpPr txBox="1">
            <a:spLocks noChangeArrowheads="1"/>
          </p:cNvSpPr>
          <p:nvPr/>
        </p:nvSpPr>
        <p:spPr bwMode="auto">
          <a:xfrm>
            <a:off x="539750" y="3529161"/>
            <a:ext cx="31615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buClrTx/>
              <a:buFontTx/>
              <a:buNone/>
            </a:pPr>
            <a:r>
              <a:rPr lang="en-US" altLang="zh-CN" b="1" dirty="0">
                <a:latin typeface="+mj-ea"/>
                <a:ea typeface="+mj-ea"/>
              </a:rPr>
              <a:t>0+ equivalent circuit: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150604" name="Object 76"/>
          <p:cNvGraphicFramePr>
            <a:graphicFrameLocks noChangeAspect="1"/>
          </p:cNvGraphicFramePr>
          <p:nvPr/>
        </p:nvGraphicFramePr>
        <p:xfrm>
          <a:off x="4149725" y="4624388"/>
          <a:ext cx="4344988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35" name="Equation" r:id="rId7" imgW="1879560" imgH="253800" progId="Equation.DSMT4">
                  <p:embed/>
                </p:oleObj>
              </mc:Choice>
              <mc:Fallback>
                <p:oleObj name="Equation" r:id="rId7" imgW="1879560" imgH="253800" progId="Equation.DSMT4">
                  <p:embed/>
                  <p:pic>
                    <p:nvPicPr>
                      <p:cNvPr id="150604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9725" y="4624388"/>
                        <a:ext cx="4344988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605" name="Object 77"/>
          <p:cNvGraphicFramePr>
            <a:graphicFrameLocks noChangeAspect="1"/>
          </p:cNvGraphicFramePr>
          <p:nvPr/>
        </p:nvGraphicFramePr>
        <p:xfrm>
          <a:off x="4440238" y="5243513"/>
          <a:ext cx="343376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36" name="Equation" r:id="rId9" imgW="1485720" imgH="228600" progId="Equation.DSMT4">
                  <p:embed/>
                </p:oleObj>
              </mc:Choice>
              <mc:Fallback>
                <p:oleObj name="Equation" r:id="rId9" imgW="1485720" imgH="228600" progId="Equation.DSMT4">
                  <p:embed/>
                  <p:pic>
                    <p:nvPicPr>
                      <p:cNvPr id="150605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5243513"/>
                        <a:ext cx="3433762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606" name="Object 78"/>
          <p:cNvGraphicFramePr>
            <a:graphicFrameLocks noChangeAspect="1"/>
          </p:cNvGraphicFramePr>
          <p:nvPr/>
        </p:nvGraphicFramePr>
        <p:xfrm>
          <a:off x="4192588" y="5776913"/>
          <a:ext cx="4344987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37" name="Equation" r:id="rId11" imgW="1879560" imgH="253800" progId="Equation.DSMT4">
                  <p:embed/>
                </p:oleObj>
              </mc:Choice>
              <mc:Fallback>
                <p:oleObj name="Equation" r:id="rId11" imgW="1879560" imgH="253800" progId="Equation.DSMT4">
                  <p:embed/>
                  <p:pic>
                    <p:nvPicPr>
                      <p:cNvPr id="150606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2588" y="5776913"/>
                        <a:ext cx="4344987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0607" name="Group 79"/>
          <p:cNvGrpSpPr>
            <a:grpSpLocks/>
          </p:cNvGrpSpPr>
          <p:nvPr/>
        </p:nvGrpSpPr>
        <p:grpSpPr bwMode="auto">
          <a:xfrm>
            <a:off x="5292725" y="1412875"/>
            <a:ext cx="3562350" cy="1681163"/>
            <a:chOff x="3334" y="890"/>
            <a:chExt cx="2244" cy="1059"/>
          </a:xfrm>
        </p:grpSpPr>
        <p:grpSp>
          <p:nvGrpSpPr>
            <p:cNvPr id="150608" name="Group 80"/>
            <p:cNvGrpSpPr>
              <a:grpSpLocks/>
            </p:cNvGrpSpPr>
            <p:nvPr/>
          </p:nvGrpSpPr>
          <p:grpSpPr bwMode="auto">
            <a:xfrm>
              <a:off x="3334" y="890"/>
              <a:ext cx="2237" cy="999"/>
              <a:chOff x="3107" y="1128"/>
              <a:chExt cx="2237" cy="999"/>
            </a:xfrm>
          </p:grpSpPr>
          <p:sp>
            <p:nvSpPr>
              <p:cNvPr id="150609" name="Text Box 81"/>
              <p:cNvSpPr txBox="1">
                <a:spLocks noChangeArrowheads="1"/>
              </p:cNvSpPr>
              <p:nvPr/>
            </p:nvSpPr>
            <p:spPr bwMode="auto">
              <a:xfrm>
                <a:off x="3969" y="1525"/>
                <a:ext cx="24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400" b="1" i="1"/>
                  <a:t>i</a:t>
                </a:r>
                <a:r>
                  <a:rPr kumimoji="1" lang="en-US" altLang="zh-CN" sz="2400" b="1" i="1" baseline="-25000"/>
                  <a:t>L</a:t>
                </a:r>
                <a:endParaRPr kumimoji="1" lang="en-US" altLang="zh-CN" sz="2400"/>
              </a:p>
            </p:txBody>
          </p:sp>
          <p:sp>
            <p:nvSpPr>
              <p:cNvPr id="150610" name="Line 82"/>
              <p:cNvSpPr>
                <a:spLocks noChangeShapeType="1"/>
              </p:cNvSpPr>
              <p:nvPr/>
            </p:nvSpPr>
            <p:spPr bwMode="auto">
              <a:xfrm>
                <a:off x="4413" y="1180"/>
                <a:ext cx="9" cy="697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 type="oval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611" name="Text Box 83"/>
              <p:cNvSpPr txBox="1">
                <a:spLocks noChangeArrowheads="1"/>
              </p:cNvSpPr>
              <p:nvPr/>
            </p:nvSpPr>
            <p:spPr bwMode="auto">
              <a:xfrm>
                <a:off x="3651" y="1207"/>
                <a:ext cx="36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400" b="1" dirty="0"/>
                  <a:t>2</a:t>
                </a:r>
                <a:r>
                  <a:rPr kumimoji="1" lang="en-US" altLang="zh-CN" sz="2400" b="1" dirty="0">
                    <a:sym typeface="Symbol" pitchFamily="18" charset="2"/>
                  </a:rPr>
                  <a:t></a:t>
                </a:r>
                <a:endParaRPr kumimoji="1" lang="en-US" altLang="zh-CN" sz="2400" dirty="0">
                  <a:sym typeface="Symbol" pitchFamily="18" charset="2"/>
                </a:endParaRPr>
              </a:p>
            </p:txBody>
          </p:sp>
          <p:sp>
            <p:nvSpPr>
              <p:cNvPr id="150612" name="Line 84"/>
              <p:cNvSpPr>
                <a:spLocks noChangeShapeType="1"/>
              </p:cNvSpPr>
              <p:nvPr/>
            </p:nvSpPr>
            <p:spPr bwMode="auto">
              <a:xfrm flipH="1">
                <a:off x="4241" y="1616"/>
                <a:ext cx="1" cy="269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613" name="Oval 85"/>
              <p:cNvSpPr>
                <a:spLocks noChangeArrowheads="1"/>
              </p:cNvSpPr>
              <p:nvPr/>
            </p:nvSpPr>
            <p:spPr bwMode="auto">
              <a:xfrm>
                <a:off x="3107" y="1498"/>
                <a:ext cx="340" cy="31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614" name="Text Box 86"/>
              <p:cNvSpPr txBox="1">
                <a:spLocks noChangeArrowheads="1"/>
              </p:cNvSpPr>
              <p:nvPr/>
            </p:nvSpPr>
            <p:spPr bwMode="auto">
              <a:xfrm>
                <a:off x="3425" y="1332"/>
                <a:ext cx="246" cy="7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800" b="1"/>
                  <a:t>+</a:t>
                </a:r>
                <a:endParaRPr kumimoji="1" lang="en-US" altLang="zh-CN" sz="2400"/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/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/>
                  <a:t>-</a:t>
                </a:r>
                <a:endParaRPr kumimoji="1" lang="en-US" altLang="zh-CN" sz="2400"/>
              </a:p>
            </p:txBody>
          </p:sp>
          <p:sp>
            <p:nvSpPr>
              <p:cNvPr id="150615" name="Line 87"/>
              <p:cNvSpPr>
                <a:spLocks noChangeShapeType="1"/>
              </p:cNvSpPr>
              <p:nvPr/>
            </p:nvSpPr>
            <p:spPr bwMode="auto">
              <a:xfrm>
                <a:off x="3289" y="2115"/>
                <a:ext cx="1678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16" name="Line 88"/>
              <p:cNvSpPr>
                <a:spLocks noChangeShapeType="1"/>
              </p:cNvSpPr>
              <p:nvPr/>
            </p:nvSpPr>
            <p:spPr bwMode="auto">
              <a:xfrm flipH="1">
                <a:off x="3288" y="1195"/>
                <a:ext cx="1" cy="92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17" name="Line 89"/>
              <p:cNvSpPr>
                <a:spLocks noChangeShapeType="1"/>
              </p:cNvSpPr>
              <p:nvPr/>
            </p:nvSpPr>
            <p:spPr bwMode="auto">
              <a:xfrm>
                <a:off x="3289" y="1195"/>
                <a:ext cx="1632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18" name="Line 90"/>
              <p:cNvSpPr>
                <a:spLocks noChangeShapeType="1"/>
              </p:cNvSpPr>
              <p:nvPr/>
            </p:nvSpPr>
            <p:spPr bwMode="auto">
              <a:xfrm>
                <a:off x="4422" y="1749"/>
                <a:ext cx="0" cy="366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19" name="Line 91"/>
              <p:cNvSpPr>
                <a:spLocks noChangeShapeType="1"/>
              </p:cNvSpPr>
              <p:nvPr/>
            </p:nvSpPr>
            <p:spPr bwMode="auto">
              <a:xfrm>
                <a:off x="4921" y="1195"/>
                <a:ext cx="0" cy="554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0" name="Line 92"/>
              <p:cNvSpPr>
                <a:spLocks noChangeShapeType="1"/>
              </p:cNvSpPr>
              <p:nvPr/>
            </p:nvSpPr>
            <p:spPr bwMode="auto">
              <a:xfrm>
                <a:off x="4921" y="1888"/>
                <a:ext cx="0" cy="207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1" name="Rectangle 93"/>
              <p:cNvSpPr>
                <a:spLocks noChangeArrowheads="1"/>
              </p:cNvSpPr>
              <p:nvPr/>
            </p:nvSpPr>
            <p:spPr bwMode="auto">
              <a:xfrm>
                <a:off x="4876" y="1323"/>
                <a:ext cx="136" cy="25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622" name="Rectangle 94"/>
              <p:cNvSpPr>
                <a:spLocks noChangeArrowheads="1"/>
              </p:cNvSpPr>
              <p:nvPr/>
            </p:nvSpPr>
            <p:spPr bwMode="auto">
              <a:xfrm>
                <a:off x="3715" y="1128"/>
                <a:ext cx="288" cy="10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zh-CN" altLang="zh-CN" sz="2400"/>
              </a:p>
            </p:txBody>
          </p:sp>
          <p:sp>
            <p:nvSpPr>
              <p:cNvPr id="150623" name="Rectangle 95"/>
              <p:cNvSpPr>
                <a:spLocks noChangeArrowheads="1"/>
              </p:cNvSpPr>
              <p:nvPr/>
            </p:nvSpPr>
            <p:spPr bwMode="auto">
              <a:xfrm>
                <a:off x="4332" y="1579"/>
                <a:ext cx="136" cy="2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624" name="Text Box 96"/>
              <p:cNvSpPr txBox="1">
                <a:spLocks noChangeArrowheads="1"/>
              </p:cNvSpPr>
              <p:nvPr/>
            </p:nvSpPr>
            <p:spPr bwMode="auto">
              <a:xfrm>
                <a:off x="3425" y="1570"/>
                <a:ext cx="4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400" b="1" i="1"/>
                  <a:t>48V</a:t>
                </a:r>
                <a:endParaRPr kumimoji="1" lang="en-US" altLang="zh-CN" sz="2400"/>
              </a:p>
            </p:txBody>
          </p:sp>
          <p:sp>
            <p:nvSpPr>
              <p:cNvPr id="150625" name="Text Box 97"/>
              <p:cNvSpPr txBox="1">
                <a:spLocks noChangeArrowheads="1"/>
              </p:cNvSpPr>
              <p:nvPr/>
            </p:nvSpPr>
            <p:spPr bwMode="auto">
              <a:xfrm>
                <a:off x="4984" y="1224"/>
                <a:ext cx="36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400" b="1" dirty="0"/>
                  <a:t>3</a:t>
                </a:r>
                <a:r>
                  <a:rPr kumimoji="1" lang="en-US" altLang="zh-CN" sz="2400" b="1" dirty="0">
                    <a:sym typeface="Symbol" pitchFamily="18" charset="2"/>
                  </a:rPr>
                  <a:t></a:t>
                </a:r>
                <a:endParaRPr kumimoji="1" lang="en-US" altLang="zh-CN" sz="2400" dirty="0">
                  <a:sym typeface="Symbol" pitchFamily="18" charset="2"/>
                </a:endParaRPr>
              </a:p>
            </p:txBody>
          </p:sp>
          <p:sp>
            <p:nvSpPr>
              <p:cNvPr id="150626" name="Text Box 98"/>
              <p:cNvSpPr txBox="1">
                <a:spLocks noChangeArrowheads="1"/>
              </p:cNvSpPr>
              <p:nvPr/>
            </p:nvSpPr>
            <p:spPr bwMode="auto">
              <a:xfrm>
                <a:off x="4513" y="1571"/>
                <a:ext cx="36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400" b="1"/>
                  <a:t>2</a:t>
                </a:r>
                <a:r>
                  <a:rPr kumimoji="1" lang="en-US" altLang="zh-CN" sz="2400" b="1">
                    <a:sym typeface="Symbol" pitchFamily="18" charset="2"/>
                  </a:rPr>
                  <a:t></a:t>
                </a:r>
                <a:endParaRPr kumimoji="1" lang="en-US" altLang="zh-CN" sz="2400">
                  <a:sym typeface="Symbol" pitchFamily="18" charset="2"/>
                </a:endParaRPr>
              </a:p>
            </p:txBody>
          </p:sp>
        </p:grpSp>
        <p:sp>
          <p:nvSpPr>
            <p:cNvPr id="150627" name="Text Box 99"/>
            <p:cNvSpPr txBox="1">
              <a:spLocks noChangeArrowheads="1"/>
            </p:cNvSpPr>
            <p:nvPr/>
          </p:nvSpPr>
          <p:spPr bwMode="auto">
            <a:xfrm>
              <a:off x="5148" y="1253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ea typeface="仿宋_GB2312" pitchFamily="49" charset="-122"/>
                </a:rPr>
                <a:t>+</a:t>
              </a:r>
            </a:p>
          </p:txBody>
        </p:sp>
        <p:sp>
          <p:nvSpPr>
            <p:cNvPr id="150628" name="Text Box 100"/>
            <p:cNvSpPr txBox="1">
              <a:spLocks noChangeArrowheads="1"/>
            </p:cNvSpPr>
            <p:nvPr/>
          </p:nvSpPr>
          <p:spPr bwMode="auto">
            <a:xfrm>
              <a:off x="5103" y="1661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b="1">
                  <a:ea typeface="仿宋_GB2312" pitchFamily="49" charset="-122"/>
                </a:rPr>
                <a:t>－</a:t>
              </a:r>
            </a:p>
          </p:txBody>
        </p:sp>
        <p:sp>
          <p:nvSpPr>
            <p:cNvPr id="150629" name="Text Box 101"/>
            <p:cNvSpPr txBox="1">
              <a:spLocks noChangeArrowheads="1"/>
            </p:cNvSpPr>
            <p:nvPr/>
          </p:nvSpPr>
          <p:spPr bwMode="auto">
            <a:xfrm>
              <a:off x="5193" y="1434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i="1">
                  <a:ea typeface="仿宋_GB2312" pitchFamily="49" charset="-122"/>
                </a:rPr>
                <a:t>u</a:t>
              </a:r>
              <a:r>
                <a:rPr lang="en-US" altLang="zh-CN" sz="2400" b="1" baseline="-25000">
                  <a:ea typeface="仿宋_GB2312" pitchFamily="49" charset="-122"/>
                </a:rPr>
                <a:t>C</a:t>
              </a: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3203575" y="6400800"/>
            <a:ext cx="2895600" cy="457200"/>
          </a:xfrm>
        </p:spPr>
        <p:txBody>
          <a:bodyPr/>
          <a:lstStyle/>
          <a:p>
            <a:r>
              <a:rPr lang="en-US" altLang="zh-CN" dirty="0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7143750" y="6370637"/>
            <a:ext cx="1905000" cy="457200"/>
          </a:xfrm>
        </p:spPr>
        <p:txBody>
          <a:bodyPr/>
          <a:lstStyle/>
          <a:p>
            <a:fld id="{607F6B5D-BAA9-462E-91DC-0C4220222717}" type="slidenum">
              <a:rPr lang="en-US" altLang="zh-CN" smtClean="0"/>
              <a:pPr/>
              <a:t>21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80354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4" dur="2000"/>
                                        <p:tgtEl>
                                          <p:spTgt spid="150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0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0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0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0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0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0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0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0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0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0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0"/>
                                        <p:tgtEl>
                                          <p:spTgt spid="15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15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0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0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05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05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3000"/>
                                        <p:tgtEl>
                                          <p:spTgt spid="150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0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0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2" grpId="0" animBg="1"/>
      <p:bldP spid="150571" grpId="0" autoUpdateAnimBg="0"/>
      <p:bldP spid="150572" grpId="0" animBg="1"/>
      <p:bldP spid="150573" grpId="0"/>
      <p:bldP spid="15060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7" name="Text Box 3"/>
          <p:cNvSpPr txBox="1">
            <a:spLocks noChangeArrowheads="1"/>
          </p:cNvSpPr>
          <p:nvPr/>
        </p:nvSpPr>
        <p:spPr bwMode="auto">
          <a:xfrm>
            <a:off x="2035398" y="253723"/>
            <a:ext cx="698976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en-US" altLang="zh-CN" sz="2400" b="1" dirty="0"/>
              <a:t>The switch K has been in position 1 for a long time. At</a:t>
            </a:r>
            <a:r>
              <a:rPr kumimoji="1" lang="en-US" altLang="zh-CN" sz="2400" b="1" i="1" dirty="0"/>
              <a:t> t=</a:t>
            </a:r>
            <a:r>
              <a:rPr kumimoji="1" lang="en-US" altLang="zh-CN" sz="2400" b="1" dirty="0"/>
              <a:t>0</a:t>
            </a:r>
            <a:r>
              <a:rPr kumimoji="1" lang="en-US" altLang="zh-CN" sz="2400" b="1" i="1" dirty="0"/>
              <a:t>, </a:t>
            </a:r>
            <a:r>
              <a:rPr kumimoji="1" lang="en-US" altLang="zh-CN" sz="2400" b="1" dirty="0"/>
              <a:t>the switch moves to position 2. </a:t>
            </a:r>
            <a:r>
              <a:rPr lang="en-US" altLang="zh-CN" b="1" dirty="0"/>
              <a:t>D</a:t>
            </a:r>
            <a:r>
              <a:rPr kumimoji="1" lang="en-US" altLang="zh-CN" sz="2400" b="1" dirty="0"/>
              <a:t>etermine the voltage across the inductor and the current through the inductor, the voltage </a:t>
            </a:r>
            <a:r>
              <a:rPr lang="en-US" altLang="zh-CN" b="1" i="1" dirty="0"/>
              <a:t>v</a:t>
            </a:r>
            <a:r>
              <a:rPr lang="en-US" altLang="zh-CN" b="1" baseline="-25000" dirty="0"/>
              <a:t>12 </a:t>
            </a:r>
            <a:r>
              <a:rPr lang="en-US" altLang="zh-CN" b="1" dirty="0"/>
              <a:t>for </a:t>
            </a:r>
            <a:r>
              <a:rPr lang="en-US" altLang="zh-CN" b="1" i="1" dirty="0"/>
              <a:t>t</a:t>
            </a:r>
            <a:r>
              <a:rPr lang="en-US" altLang="zh-CN" b="1" dirty="0"/>
              <a:t> &gt;0.</a:t>
            </a:r>
            <a:r>
              <a:rPr kumimoji="1" lang="en-US" altLang="zh-CN" sz="2400" b="1" i="1" dirty="0"/>
              <a:t>  </a:t>
            </a:r>
            <a:endParaRPr kumimoji="1" lang="zh-CN" altLang="en-US" sz="2400" b="1" dirty="0"/>
          </a:p>
        </p:txBody>
      </p:sp>
      <p:graphicFrame>
        <p:nvGraphicFramePr>
          <p:cNvPr id="1699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2620339"/>
              </p:ext>
            </p:extLst>
          </p:nvPr>
        </p:nvGraphicFramePr>
        <p:xfrm>
          <a:off x="2636961" y="4406349"/>
          <a:ext cx="6481763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99" name="Equation" r:id="rId3" imgW="2565360" imgH="393480" progId="Equation.DSMT4">
                  <p:embed/>
                </p:oleObj>
              </mc:Choice>
              <mc:Fallback>
                <p:oleObj name="Equation" r:id="rId3" imgW="25653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961" y="4406349"/>
                        <a:ext cx="6481763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9560821"/>
              </p:ext>
            </p:extLst>
          </p:nvPr>
        </p:nvGraphicFramePr>
        <p:xfrm>
          <a:off x="4499246" y="3660176"/>
          <a:ext cx="2574925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00" name="Equation" r:id="rId5" imgW="1206360" imgH="406080" progId="Equation.DSMT4">
                  <p:embed/>
                </p:oleObj>
              </mc:Choice>
              <mc:Fallback>
                <p:oleObj name="Equation" r:id="rId5" imgW="12063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246" y="3660176"/>
                        <a:ext cx="2574925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90" name="Text Box 6"/>
          <p:cNvSpPr txBox="1">
            <a:spLocks noChangeArrowheads="1"/>
          </p:cNvSpPr>
          <p:nvPr/>
        </p:nvSpPr>
        <p:spPr bwMode="auto">
          <a:xfrm>
            <a:off x="3100388" y="1980307"/>
            <a:ext cx="1322388" cy="46384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Solution:</a:t>
            </a:r>
            <a:endParaRPr kumimoji="1" lang="zh-CN" altLang="en-US" b="1" i="1" dirty="0">
              <a:solidFill>
                <a:srgbClr val="FF0000"/>
              </a:solidFill>
            </a:endParaRPr>
          </a:p>
        </p:txBody>
      </p:sp>
      <p:grpSp>
        <p:nvGrpSpPr>
          <p:cNvPr id="169991" name="Group 7"/>
          <p:cNvGrpSpPr>
            <a:grpSpLocks/>
          </p:cNvGrpSpPr>
          <p:nvPr/>
        </p:nvGrpSpPr>
        <p:grpSpPr bwMode="auto">
          <a:xfrm>
            <a:off x="153988" y="1639290"/>
            <a:ext cx="3811587" cy="2460624"/>
            <a:chOff x="249" y="762"/>
            <a:chExt cx="2401" cy="1550"/>
          </a:xfrm>
        </p:grpSpPr>
        <p:grpSp>
          <p:nvGrpSpPr>
            <p:cNvPr id="169992" name="Group 8"/>
            <p:cNvGrpSpPr>
              <a:grpSpLocks/>
            </p:cNvGrpSpPr>
            <p:nvPr/>
          </p:nvGrpSpPr>
          <p:grpSpPr bwMode="auto">
            <a:xfrm>
              <a:off x="249" y="762"/>
              <a:ext cx="2401" cy="1550"/>
              <a:chOff x="295" y="807"/>
              <a:chExt cx="2401" cy="1550"/>
            </a:xfrm>
          </p:grpSpPr>
          <p:sp>
            <p:nvSpPr>
              <p:cNvPr id="169993" name="Line 9"/>
              <p:cNvSpPr>
                <a:spLocks noChangeShapeType="1"/>
              </p:cNvSpPr>
              <p:nvPr/>
            </p:nvSpPr>
            <p:spPr bwMode="auto">
              <a:xfrm>
                <a:off x="1655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9994" name="Text Box 10"/>
              <p:cNvSpPr txBox="1">
                <a:spLocks noChangeArrowheads="1"/>
              </p:cNvSpPr>
              <p:nvPr/>
            </p:nvSpPr>
            <p:spPr bwMode="auto">
              <a:xfrm>
                <a:off x="1407" y="1381"/>
                <a:ext cx="24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b="1" i="1" dirty="0" err="1"/>
                  <a:t>i</a:t>
                </a:r>
                <a:r>
                  <a:rPr kumimoji="1" lang="en-US" altLang="zh-CN" b="1" i="1" baseline="-25000" dirty="0" err="1"/>
                  <a:t>L</a:t>
                </a:r>
                <a:endParaRPr kumimoji="1" lang="en-US" altLang="zh-CN" sz="2400" b="1" dirty="0"/>
              </a:p>
            </p:txBody>
          </p:sp>
          <p:sp>
            <p:nvSpPr>
              <p:cNvPr id="169995" name="Text Box 11"/>
              <p:cNvSpPr txBox="1">
                <a:spLocks noChangeArrowheads="1"/>
              </p:cNvSpPr>
              <p:nvPr/>
            </p:nvSpPr>
            <p:spPr bwMode="auto">
              <a:xfrm>
                <a:off x="408" y="807"/>
                <a:ext cx="65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sz="2400" b="1" dirty="0"/>
                  <a:t>K(</a:t>
                </a:r>
                <a:r>
                  <a:rPr kumimoji="1" lang="en-US" altLang="zh-CN" sz="2400" b="1" i="1" dirty="0"/>
                  <a:t>t</a:t>
                </a:r>
                <a:r>
                  <a:rPr kumimoji="1" lang="en-US" altLang="zh-CN" sz="2400" b="1" dirty="0"/>
                  <a:t>=0)</a:t>
                </a:r>
              </a:p>
            </p:txBody>
          </p:sp>
          <p:sp>
            <p:nvSpPr>
              <p:cNvPr id="169996" name="Text Box 12"/>
              <p:cNvSpPr txBox="1">
                <a:spLocks noChangeArrowheads="1"/>
              </p:cNvSpPr>
              <p:nvPr/>
            </p:nvSpPr>
            <p:spPr bwMode="auto">
              <a:xfrm>
                <a:off x="521" y="1253"/>
                <a:ext cx="25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sz="2400" b="1"/>
                  <a:t>+</a:t>
                </a:r>
              </a:p>
            </p:txBody>
          </p:sp>
          <p:sp>
            <p:nvSpPr>
              <p:cNvPr id="169997" name="Text Box 13"/>
              <p:cNvSpPr txBox="1">
                <a:spLocks noChangeArrowheads="1"/>
              </p:cNvSpPr>
              <p:nvPr/>
            </p:nvSpPr>
            <p:spPr bwMode="auto">
              <a:xfrm>
                <a:off x="521" y="1752"/>
                <a:ext cx="24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sz="2400" b="1"/>
                  <a:t>–</a:t>
                </a:r>
              </a:p>
            </p:txBody>
          </p:sp>
          <p:sp>
            <p:nvSpPr>
              <p:cNvPr id="169998" name="Text Box 14"/>
              <p:cNvSpPr txBox="1">
                <a:spLocks noChangeArrowheads="1"/>
              </p:cNvSpPr>
              <p:nvPr/>
            </p:nvSpPr>
            <p:spPr bwMode="auto">
              <a:xfrm>
                <a:off x="507" y="1533"/>
                <a:ext cx="59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sz="2400" b="1" dirty="0"/>
                  <a:t>24V</a:t>
                </a:r>
                <a:endParaRPr kumimoji="1" lang="en-US" altLang="zh-CN" sz="2400" b="1" baseline="-25000" dirty="0"/>
              </a:p>
            </p:txBody>
          </p:sp>
          <p:sp>
            <p:nvSpPr>
              <p:cNvPr id="169999" name="Text Box 15"/>
              <p:cNvSpPr txBox="1">
                <a:spLocks noChangeArrowheads="1"/>
              </p:cNvSpPr>
              <p:nvPr/>
            </p:nvSpPr>
            <p:spPr bwMode="auto">
              <a:xfrm>
                <a:off x="1791" y="1842"/>
                <a:ext cx="36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sz="2400" b="1" i="1"/>
                  <a:t>6</a:t>
                </a:r>
                <a:r>
                  <a:rPr kumimoji="1" lang="en-US" altLang="zh-CN" sz="2400" b="1"/>
                  <a:t>H</a:t>
                </a:r>
              </a:p>
            </p:txBody>
          </p:sp>
          <p:sp>
            <p:nvSpPr>
              <p:cNvPr id="170000" name="Text Box 16"/>
              <p:cNvSpPr txBox="1">
                <a:spLocks noChangeArrowheads="1"/>
              </p:cNvSpPr>
              <p:nvPr/>
            </p:nvSpPr>
            <p:spPr bwMode="auto">
              <a:xfrm>
                <a:off x="1791" y="1389"/>
                <a:ext cx="36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sz="2400" b="1" i="1"/>
                  <a:t>3</a:t>
                </a:r>
                <a:r>
                  <a:rPr kumimoji="1" lang="en-US" altLang="zh-CN" sz="2400" b="1">
                    <a:sym typeface="Symbol" pitchFamily="18" charset="2"/>
                  </a:rPr>
                  <a:t></a:t>
                </a:r>
                <a:endParaRPr kumimoji="1" lang="en-US" altLang="zh-CN" sz="2400" b="1"/>
              </a:p>
            </p:txBody>
          </p:sp>
          <p:grpSp>
            <p:nvGrpSpPr>
              <p:cNvPr id="170001" name="Group 17"/>
              <p:cNvGrpSpPr>
                <a:grpSpLocks/>
              </p:cNvGrpSpPr>
              <p:nvPr/>
            </p:nvGrpSpPr>
            <p:grpSpPr bwMode="auto">
              <a:xfrm flipH="1" flipV="1">
                <a:off x="1749" y="1773"/>
                <a:ext cx="88" cy="432"/>
                <a:chOff x="2586" y="847"/>
                <a:chExt cx="71" cy="654"/>
              </a:xfrm>
            </p:grpSpPr>
            <p:sp>
              <p:nvSpPr>
                <p:cNvPr id="170002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2656" y="847"/>
                  <a:ext cx="1" cy="69"/>
                </a:xfrm>
                <a:prstGeom prst="line">
                  <a:avLst/>
                </a:prstGeom>
                <a:noFill/>
                <a:ln w="28575">
                  <a:solidFill>
                    <a:srgbClr val="FFCC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0003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2656" y="1418"/>
                  <a:ext cx="1" cy="83"/>
                </a:xfrm>
                <a:prstGeom prst="line">
                  <a:avLst/>
                </a:prstGeom>
                <a:noFill/>
                <a:ln w="28575">
                  <a:solidFill>
                    <a:srgbClr val="FFCC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0004" name="Freeform 20"/>
                <p:cNvSpPr>
                  <a:spLocks/>
                </p:cNvSpPr>
                <p:nvPr/>
              </p:nvSpPr>
              <p:spPr bwMode="auto">
                <a:xfrm>
                  <a:off x="2586" y="916"/>
                  <a:ext cx="70" cy="502"/>
                </a:xfrm>
                <a:custGeom>
                  <a:avLst/>
                  <a:gdLst>
                    <a:gd name="T0" fmla="*/ 70 w 70"/>
                    <a:gd name="T1" fmla="*/ 502 h 502"/>
                    <a:gd name="T2" fmla="*/ 28 w 70"/>
                    <a:gd name="T3" fmla="*/ 488 h 502"/>
                    <a:gd name="T4" fmla="*/ 0 w 70"/>
                    <a:gd name="T5" fmla="*/ 446 h 502"/>
                    <a:gd name="T6" fmla="*/ 28 w 70"/>
                    <a:gd name="T7" fmla="*/ 404 h 502"/>
                    <a:gd name="T8" fmla="*/ 70 w 70"/>
                    <a:gd name="T9" fmla="*/ 376 h 502"/>
                    <a:gd name="T10" fmla="*/ 28 w 70"/>
                    <a:gd name="T11" fmla="*/ 362 h 502"/>
                    <a:gd name="T12" fmla="*/ 0 w 70"/>
                    <a:gd name="T13" fmla="*/ 321 h 502"/>
                    <a:gd name="T14" fmla="*/ 28 w 70"/>
                    <a:gd name="T15" fmla="*/ 279 h 502"/>
                    <a:gd name="T16" fmla="*/ 70 w 70"/>
                    <a:gd name="T17" fmla="*/ 251 h 502"/>
                    <a:gd name="T18" fmla="*/ 28 w 70"/>
                    <a:gd name="T19" fmla="*/ 237 h 502"/>
                    <a:gd name="T20" fmla="*/ 0 w 70"/>
                    <a:gd name="T21" fmla="*/ 195 h 502"/>
                    <a:gd name="T22" fmla="*/ 28 w 70"/>
                    <a:gd name="T23" fmla="*/ 154 h 502"/>
                    <a:gd name="T24" fmla="*/ 70 w 70"/>
                    <a:gd name="T25" fmla="*/ 126 h 502"/>
                    <a:gd name="T26" fmla="*/ 28 w 70"/>
                    <a:gd name="T27" fmla="*/ 112 h 502"/>
                    <a:gd name="T28" fmla="*/ 0 w 70"/>
                    <a:gd name="T29" fmla="*/ 70 h 502"/>
                    <a:gd name="T30" fmla="*/ 28 w 70"/>
                    <a:gd name="T31" fmla="*/ 28 h 502"/>
                    <a:gd name="T32" fmla="*/ 70 w 70"/>
                    <a:gd name="T33" fmla="*/ 0 h 5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70" h="502">
                      <a:moveTo>
                        <a:pt x="70" y="502"/>
                      </a:moveTo>
                      <a:lnTo>
                        <a:pt x="28" y="488"/>
                      </a:lnTo>
                      <a:lnTo>
                        <a:pt x="0" y="446"/>
                      </a:lnTo>
                      <a:lnTo>
                        <a:pt x="28" y="404"/>
                      </a:lnTo>
                      <a:lnTo>
                        <a:pt x="70" y="376"/>
                      </a:lnTo>
                      <a:lnTo>
                        <a:pt x="28" y="362"/>
                      </a:lnTo>
                      <a:lnTo>
                        <a:pt x="0" y="321"/>
                      </a:lnTo>
                      <a:lnTo>
                        <a:pt x="28" y="279"/>
                      </a:lnTo>
                      <a:lnTo>
                        <a:pt x="70" y="251"/>
                      </a:lnTo>
                      <a:lnTo>
                        <a:pt x="28" y="237"/>
                      </a:lnTo>
                      <a:lnTo>
                        <a:pt x="0" y="195"/>
                      </a:lnTo>
                      <a:lnTo>
                        <a:pt x="28" y="154"/>
                      </a:lnTo>
                      <a:lnTo>
                        <a:pt x="70" y="126"/>
                      </a:lnTo>
                      <a:lnTo>
                        <a:pt x="28" y="112"/>
                      </a:lnTo>
                      <a:lnTo>
                        <a:pt x="0" y="70"/>
                      </a:lnTo>
                      <a:lnTo>
                        <a:pt x="28" y="28"/>
                      </a:lnTo>
                      <a:lnTo>
                        <a:pt x="70" y="0"/>
                      </a:lnTo>
                    </a:path>
                  </a:pathLst>
                </a:custGeom>
                <a:noFill/>
                <a:ln w="38100" cmpd="sng">
                  <a:solidFill>
                    <a:srgbClr val="FF9900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70005" name="Line 21"/>
              <p:cNvSpPr>
                <a:spLocks noChangeShapeType="1"/>
              </p:cNvSpPr>
              <p:nvPr/>
            </p:nvSpPr>
            <p:spPr bwMode="auto">
              <a:xfrm flipH="1">
                <a:off x="1202" y="1344"/>
                <a:ext cx="1104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006" name="Line 22"/>
              <p:cNvSpPr>
                <a:spLocks noChangeShapeType="1"/>
              </p:cNvSpPr>
              <p:nvPr/>
            </p:nvSpPr>
            <p:spPr bwMode="auto">
              <a:xfrm flipH="1">
                <a:off x="431" y="1324"/>
                <a:ext cx="441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 type="oval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007" name="Line 23"/>
              <p:cNvSpPr>
                <a:spLocks noChangeShapeType="1"/>
              </p:cNvSpPr>
              <p:nvPr/>
            </p:nvSpPr>
            <p:spPr bwMode="auto">
              <a:xfrm>
                <a:off x="431" y="2296"/>
                <a:ext cx="1876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008" name="Line 24"/>
              <p:cNvSpPr>
                <a:spLocks noChangeShapeType="1"/>
              </p:cNvSpPr>
              <p:nvPr/>
            </p:nvSpPr>
            <p:spPr bwMode="auto">
              <a:xfrm flipV="1">
                <a:off x="1749" y="2152"/>
                <a:ext cx="0" cy="144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009" name="Line 25"/>
              <p:cNvSpPr>
                <a:spLocks noChangeShapeType="1"/>
              </p:cNvSpPr>
              <p:nvPr/>
            </p:nvSpPr>
            <p:spPr bwMode="auto">
              <a:xfrm>
                <a:off x="1749" y="1341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 type="oval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010" name="Line 26"/>
              <p:cNvSpPr>
                <a:spLocks noChangeShapeType="1"/>
              </p:cNvSpPr>
              <p:nvPr/>
            </p:nvSpPr>
            <p:spPr bwMode="auto">
              <a:xfrm>
                <a:off x="2290" y="1344"/>
                <a:ext cx="0" cy="952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011" name="Line 27"/>
              <p:cNvSpPr>
                <a:spLocks noChangeShapeType="1"/>
              </p:cNvSpPr>
              <p:nvPr/>
            </p:nvSpPr>
            <p:spPr bwMode="auto">
              <a:xfrm>
                <a:off x="1111" y="1571"/>
                <a:ext cx="0" cy="725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012" name="Rectangle 28"/>
              <p:cNvSpPr>
                <a:spLocks noChangeArrowheads="1"/>
              </p:cNvSpPr>
              <p:nvPr/>
            </p:nvSpPr>
            <p:spPr bwMode="auto">
              <a:xfrm>
                <a:off x="1701" y="1485"/>
                <a:ext cx="96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CC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70013" name="Group 29"/>
              <p:cNvGrpSpPr>
                <a:grpSpLocks/>
              </p:cNvGrpSpPr>
              <p:nvPr/>
            </p:nvGrpSpPr>
            <p:grpSpPr bwMode="auto">
              <a:xfrm>
                <a:off x="295" y="1494"/>
                <a:ext cx="272" cy="288"/>
                <a:chOff x="2160" y="2389"/>
                <a:chExt cx="255" cy="261"/>
              </a:xfrm>
            </p:grpSpPr>
            <p:sp>
              <p:nvSpPr>
                <p:cNvPr id="170014" name="Oval 30"/>
                <p:cNvSpPr>
                  <a:spLocks noChangeArrowheads="1"/>
                </p:cNvSpPr>
                <p:nvPr/>
              </p:nvSpPr>
              <p:spPr bwMode="auto">
                <a:xfrm>
                  <a:off x="2160" y="2400"/>
                  <a:ext cx="240" cy="240"/>
                </a:xfrm>
                <a:prstGeom prst="ellipse">
                  <a:avLst/>
                </a:prstGeom>
                <a:solidFill>
                  <a:srgbClr val="33CCFF"/>
                </a:solidFill>
                <a:ln w="38100">
                  <a:solidFill>
                    <a:srgbClr val="FF99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zh-CN" sz="2400" b="1">
                    <a:latin typeface="Arial" charset="0"/>
                    <a:ea typeface="仿宋_GB2312" pitchFamily="49" charset="-122"/>
                  </a:endParaRPr>
                </a:p>
              </p:txBody>
            </p:sp>
            <p:sp>
              <p:nvSpPr>
                <p:cNvPr id="170015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2160" y="2389"/>
                  <a:ext cx="255" cy="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3CC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99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endParaRPr kumimoji="1" lang="zh-CN" altLang="zh-CN" sz="2400" b="1"/>
                </a:p>
              </p:txBody>
            </p:sp>
          </p:grpSp>
          <p:sp>
            <p:nvSpPr>
              <p:cNvPr id="170016" name="Text Box 32"/>
              <p:cNvSpPr txBox="1">
                <a:spLocks noChangeArrowheads="1"/>
              </p:cNvSpPr>
              <p:nvPr/>
            </p:nvSpPr>
            <p:spPr bwMode="auto">
              <a:xfrm>
                <a:off x="476" y="1933"/>
                <a:ext cx="36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sz="2400" b="1"/>
                  <a:t>4</a:t>
                </a:r>
                <a:r>
                  <a:rPr kumimoji="1" lang="en-US" altLang="zh-CN" sz="2400" b="1">
                    <a:sym typeface="Symbol" pitchFamily="18" charset="2"/>
                  </a:rPr>
                  <a:t></a:t>
                </a:r>
                <a:endParaRPr kumimoji="1" lang="en-US" altLang="zh-CN" sz="2400" b="1"/>
              </a:p>
            </p:txBody>
          </p:sp>
          <p:sp>
            <p:nvSpPr>
              <p:cNvPr id="170017" name="Line 33"/>
              <p:cNvSpPr>
                <a:spLocks noChangeShapeType="1"/>
              </p:cNvSpPr>
              <p:nvPr/>
            </p:nvSpPr>
            <p:spPr bwMode="auto">
              <a:xfrm>
                <a:off x="815" y="1276"/>
                <a:ext cx="384" cy="48"/>
              </a:xfrm>
              <a:prstGeom prst="line">
                <a:avLst/>
              </a:prstGeom>
              <a:noFill/>
              <a:ln w="38100">
                <a:solidFill>
                  <a:srgbClr val="FFCC00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018" name="Line 34"/>
              <p:cNvSpPr>
                <a:spLocks noChangeShapeType="1"/>
              </p:cNvSpPr>
              <p:nvPr/>
            </p:nvSpPr>
            <p:spPr bwMode="auto">
              <a:xfrm flipH="1" flipV="1">
                <a:off x="930" y="1298"/>
                <a:ext cx="85" cy="226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019" name="Line 35"/>
              <p:cNvSpPr>
                <a:spLocks noChangeShapeType="1"/>
              </p:cNvSpPr>
              <p:nvPr/>
            </p:nvSpPr>
            <p:spPr bwMode="auto">
              <a:xfrm>
                <a:off x="431" y="1344"/>
                <a:ext cx="0" cy="952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0020" name="Rectangle 36"/>
              <p:cNvSpPr>
                <a:spLocks noChangeArrowheads="1"/>
              </p:cNvSpPr>
              <p:nvPr/>
            </p:nvSpPr>
            <p:spPr bwMode="auto">
              <a:xfrm>
                <a:off x="2245" y="1570"/>
                <a:ext cx="91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021" name="Rectangle 37"/>
              <p:cNvSpPr>
                <a:spLocks noChangeArrowheads="1"/>
              </p:cNvSpPr>
              <p:nvPr/>
            </p:nvSpPr>
            <p:spPr bwMode="auto">
              <a:xfrm>
                <a:off x="385" y="1933"/>
                <a:ext cx="91" cy="22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022" name="Rectangle 38"/>
              <p:cNvSpPr>
                <a:spLocks noChangeArrowheads="1"/>
              </p:cNvSpPr>
              <p:nvPr/>
            </p:nvSpPr>
            <p:spPr bwMode="auto">
              <a:xfrm>
                <a:off x="1066" y="1797"/>
                <a:ext cx="90" cy="22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023" name="Text Box 39"/>
              <p:cNvSpPr txBox="1">
                <a:spLocks noChangeArrowheads="1"/>
              </p:cNvSpPr>
              <p:nvPr/>
            </p:nvSpPr>
            <p:spPr bwMode="auto">
              <a:xfrm>
                <a:off x="1111" y="1752"/>
                <a:ext cx="36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sz="2400" b="1"/>
                  <a:t>4</a:t>
                </a:r>
                <a:r>
                  <a:rPr kumimoji="1" lang="en-US" altLang="zh-CN" sz="2400" b="1">
                    <a:sym typeface="Symbol" pitchFamily="18" charset="2"/>
                  </a:rPr>
                  <a:t></a:t>
                </a:r>
                <a:endParaRPr kumimoji="1" lang="en-US" altLang="zh-CN" sz="2400" b="1"/>
              </a:p>
            </p:txBody>
          </p:sp>
          <p:sp>
            <p:nvSpPr>
              <p:cNvPr id="170024" name="Text Box 40"/>
              <p:cNvSpPr txBox="1">
                <a:spLocks noChangeArrowheads="1"/>
              </p:cNvSpPr>
              <p:nvPr/>
            </p:nvSpPr>
            <p:spPr bwMode="auto">
              <a:xfrm>
                <a:off x="2336" y="1570"/>
                <a:ext cx="36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sz="2400" b="1"/>
                  <a:t>6</a:t>
                </a:r>
                <a:r>
                  <a:rPr kumimoji="1" lang="en-US" altLang="zh-CN" sz="2400" b="1">
                    <a:sym typeface="Symbol" pitchFamily="18" charset="2"/>
                  </a:rPr>
                  <a:t></a:t>
                </a:r>
                <a:endParaRPr kumimoji="1" lang="en-US" altLang="zh-CN" sz="2400" b="1"/>
              </a:p>
            </p:txBody>
          </p:sp>
          <p:sp>
            <p:nvSpPr>
              <p:cNvPr id="170025" name="Text Box 41"/>
              <p:cNvSpPr txBox="1">
                <a:spLocks noChangeArrowheads="1"/>
              </p:cNvSpPr>
              <p:nvPr/>
            </p:nvSpPr>
            <p:spPr bwMode="auto">
              <a:xfrm>
                <a:off x="1474" y="1661"/>
                <a:ext cx="25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sz="2400" b="1"/>
                  <a:t>+</a:t>
                </a:r>
              </a:p>
            </p:txBody>
          </p:sp>
          <p:sp>
            <p:nvSpPr>
              <p:cNvPr id="170026" name="Text Box 42"/>
              <p:cNvSpPr txBox="1">
                <a:spLocks noChangeArrowheads="1"/>
              </p:cNvSpPr>
              <p:nvPr/>
            </p:nvSpPr>
            <p:spPr bwMode="auto">
              <a:xfrm>
                <a:off x="1474" y="2069"/>
                <a:ext cx="25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zh-CN" altLang="en-US" sz="2400" b="1"/>
                  <a:t>－</a:t>
                </a:r>
              </a:p>
            </p:txBody>
          </p:sp>
          <p:sp>
            <p:nvSpPr>
              <p:cNvPr id="170027" name="Text Box 43"/>
              <p:cNvSpPr txBox="1">
                <a:spLocks noChangeArrowheads="1"/>
              </p:cNvSpPr>
              <p:nvPr/>
            </p:nvSpPr>
            <p:spPr bwMode="auto">
              <a:xfrm>
                <a:off x="1443" y="1789"/>
                <a:ext cx="28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b="1" i="1"/>
                  <a:t>v</a:t>
                </a:r>
                <a:r>
                  <a:rPr kumimoji="1" lang="en-US" altLang="zh-CN" b="1" i="1" baseline="-25000"/>
                  <a:t>L</a:t>
                </a:r>
                <a:endParaRPr kumimoji="1" lang="en-US" altLang="zh-CN" sz="2400" b="1"/>
              </a:p>
            </p:txBody>
          </p:sp>
          <p:sp>
            <p:nvSpPr>
              <p:cNvPr id="170028" name="Rectangle 44"/>
              <p:cNvSpPr>
                <a:spLocks noChangeArrowheads="1"/>
              </p:cNvSpPr>
              <p:nvPr/>
            </p:nvSpPr>
            <p:spPr bwMode="auto">
              <a:xfrm>
                <a:off x="1338" y="1298"/>
                <a:ext cx="227" cy="9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029" name="Text Box 45"/>
              <p:cNvSpPr txBox="1">
                <a:spLocks noChangeArrowheads="1"/>
              </p:cNvSpPr>
              <p:nvPr/>
            </p:nvSpPr>
            <p:spPr bwMode="auto">
              <a:xfrm>
                <a:off x="1383" y="1026"/>
                <a:ext cx="36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sz="2400" b="1"/>
                  <a:t>2</a:t>
                </a:r>
                <a:r>
                  <a:rPr kumimoji="1" lang="en-US" altLang="zh-CN" sz="2400" b="1">
                    <a:sym typeface="Symbol" pitchFamily="18" charset="2"/>
                  </a:rPr>
                  <a:t></a:t>
                </a:r>
                <a:endParaRPr kumimoji="1" lang="en-US" altLang="zh-CN" sz="2400" b="1"/>
              </a:p>
            </p:txBody>
          </p:sp>
        </p:grpSp>
        <p:sp>
          <p:nvSpPr>
            <p:cNvPr id="170030" name="Text Box 46"/>
            <p:cNvSpPr txBox="1">
              <a:spLocks noChangeArrowheads="1"/>
            </p:cNvSpPr>
            <p:nvPr/>
          </p:nvSpPr>
          <p:spPr bwMode="auto">
            <a:xfrm>
              <a:off x="730" y="991"/>
              <a:ext cx="2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 dirty="0"/>
                <a:t>1</a:t>
              </a:r>
            </a:p>
          </p:txBody>
        </p:sp>
        <p:sp>
          <p:nvSpPr>
            <p:cNvPr id="170031" name="Text Box 47"/>
            <p:cNvSpPr txBox="1">
              <a:spLocks noChangeArrowheads="1"/>
            </p:cNvSpPr>
            <p:nvPr/>
          </p:nvSpPr>
          <p:spPr bwMode="auto">
            <a:xfrm>
              <a:off x="1052" y="1387"/>
              <a:ext cx="2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400" b="1"/>
                <a:t>2</a:t>
              </a:r>
            </a:p>
          </p:txBody>
        </p:sp>
      </p:grpSp>
      <p:graphicFrame>
        <p:nvGraphicFramePr>
          <p:cNvPr id="170032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9684407"/>
              </p:ext>
            </p:extLst>
          </p:nvPr>
        </p:nvGraphicFramePr>
        <p:xfrm>
          <a:off x="4341019" y="1575790"/>
          <a:ext cx="4591050" cy="150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01" name="Equation" r:id="rId7" imgW="2095200" imgH="685800" progId="Equation.DSMT4">
                  <p:embed/>
                </p:oleObj>
              </mc:Choice>
              <mc:Fallback>
                <p:oleObj name="Equation" r:id="rId7" imgW="20952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1019" y="1575790"/>
                        <a:ext cx="4591050" cy="150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0033" name="Group 49"/>
          <p:cNvGrpSpPr>
            <a:grpSpLocks/>
          </p:cNvGrpSpPr>
          <p:nvPr/>
        </p:nvGrpSpPr>
        <p:grpSpPr bwMode="auto">
          <a:xfrm>
            <a:off x="369888" y="4099915"/>
            <a:ext cx="1044575" cy="720725"/>
            <a:chOff x="226" y="2387"/>
            <a:chExt cx="658" cy="454"/>
          </a:xfrm>
        </p:grpSpPr>
        <p:sp>
          <p:nvSpPr>
            <p:cNvPr id="170034" name="AutoShape 50"/>
            <p:cNvSpPr>
              <a:spLocks noChangeArrowheads="1"/>
            </p:cNvSpPr>
            <p:nvPr/>
          </p:nvSpPr>
          <p:spPr bwMode="auto">
            <a:xfrm>
              <a:off x="703" y="2387"/>
              <a:ext cx="181" cy="454"/>
            </a:xfrm>
            <a:prstGeom prst="downArrow">
              <a:avLst>
                <a:gd name="adj1" fmla="val 50000"/>
                <a:gd name="adj2" fmla="val 62707"/>
              </a:avLst>
            </a:prstGeom>
            <a:solidFill>
              <a:srgbClr val="002060"/>
            </a:solidFill>
            <a:ln w="9525">
              <a:solidFill>
                <a:srgbClr val="00206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70035" name="Text Box 51"/>
            <p:cNvSpPr txBox="1">
              <a:spLocks noChangeArrowheads="1"/>
            </p:cNvSpPr>
            <p:nvPr/>
          </p:nvSpPr>
          <p:spPr bwMode="auto">
            <a:xfrm>
              <a:off x="226" y="2523"/>
              <a:ext cx="4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/>
                <a:t>t &gt;0</a:t>
              </a:r>
              <a:endParaRPr lang="en-US" altLang="zh-CN" sz="2400" b="1" dirty="0">
                <a:latin typeface="Arial" charset="0"/>
                <a:ea typeface="仿宋_GB2312" pitchFamily="49" charset="-122"/>
              </a:endParaRPr>
            </a:p>
          </p:txBody>
        </p:sp>
      </p:grpSp>
      <p:grpSp>
        <p:nvGrpSpPr>
          <p:cNvPr id="170036" name="Group 52"/>
          <p:cNvGrpSpPr>
            <a:grpSpLocks/>
          </p:cNvGrpSpPr>
          <p:nvPr/>
        </p:nvGrpSpPr>
        <p:grpSpPr bwMode="auto">
          <a:xfrm>
            <a:off x="167515" y="4614312"/>
            <a:ext cx="2482850" cy="1797050"/>
            <a:chOff x="1066" y="1972"/>
            <a:chExt cx="1564" cy="1132"/>
          </a:xfrm>
        </p:grpSpPr>
        <p:sp>
          <p:nvSpPr>
            <p:cNvPr id="170037" name="Line 53"/>
            <p:cNvSpPr>
              <a:spLocks noChangeShapeType="1"/>
            </p:cNvSpPr>
            <p:nvPr/>
          </p:nvSpPr>
          <p:spPr bwMode="auto">
            <a:xfrm>
              <a:off x="1711" y="2365"/>
              <a:ext cx="39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0038" name="Line 54"/>
            <p:cNvSpPr>
              <a:spLocks noChangeShapeType="1"/>
            </p:cNvSpPr>
            <p:nvPr/>
          </p:nvSpPr>
          <p:spPr bwMode="auto">
            <a:xfrm>
              <a:off x="1973" y="2365"/>
              <a:ext cx="24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0039" name="Group 55"/>
            <p:cNvGrpSpPr>
              <a:grpSpLocks/>
            </p:cNvGrpSpPr>
            <p:nvPr/>
          </p:nvGrpSpPr>
          <p:grpSpPr bwMode="auto">
            <a:xfrm>
              <a:off x="1837" y="1972"/>
              <a:ext cx="247" cy="335"/>
              <a:chOff x="1872" y="498"/>
              <a:chExt cx="240" cy="270"/>
            </a:xfrm>
          </p:grpSpPr>
          <p:sp>
            <p:nvSpPr>
              <p:cNvPr id="170040" name="Line 56"/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041" name="Text Box 57"/>
              <p:cNvSpPr txBox="1">
                <a:spLocks noChangeArrowheads="1"/>
              </p:cNvSpPr>
              <p:nvPr/>
            </p:nvSpPr>
            <p:spPr bwMode="auto">
              <a:xfrm>
                <a:off x="1873" y="498"/>
                <a:ext cx="165" cy="2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b="1" i="1"/>
                  <a:t>i</a:t>
                </a:r>
                <a:endParaRPr lang="en-US" altLang="zh-CN" sz="2400" b="1">
                  <a:latin typeface="Arial" charset="0"/>
                  <a:ea typeface="仿宋_GB2312" pitchFamily="49" charset="-122"/>
                </a:endParaRPr>
              </a:p>
            </p:txBody>
          </p:sp>
        </p:grpSp>
        <p:sp>
          <p:nvSpPr>
            <p:cNvPr id="170042" name="Text Box 58"/>
            <p:cNvSpPr txBox="1">
              <a:spLocks noChangeArrowheads="1"/>
            </p:cNvSpPr>
            <p:nvPr/>
          </p:nvSpPr>
          <p:spPr bwMode="auto">
            <a:xfrm>
              <a:off x="2060" y="2578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/>
                <a:t>L</a:t>
              </a:r>
              <a:endParaRPr lang="en-US" altLang="zh-CN" sz="2400" b="1">
                <a:latin typeface="Arial" charset="0"/>
                <a:ea typeface="仿宋_GB2312" pitchFamily="49" charset="-122"/>
              </a:endParaRPr>
            </a:p>
          </p:txBody>
        </p:sp>
        <p:grpSp>
          <p:nvGrpSpPr>
            <p:cNvPr id="170043" name="Group 59"/>
            <p:cNvGrpSpPr>
              <a:grpSpLocks/>
            </p:cNvGrpSpPr>
            <p:nvPr/>
          </p:nvGrpSpPr>
          <p:grpSpPr bwMode="auto">
            <a:xfrm>
              <a:off x="2315" y="2340"/>
              <a:ext cx="315" cy="764"/>
              <a:chOff x="1982" y="748"/>
              <a:chExt cx="305" cy="616"/>
            </a:xfrm>
          </p:grpSpPr>
          <p:grpSp>
            <p:nvGrpSpPr>
              <p:cNvPr id="170044" name="Group 60"/>
              <p:cNvGrpSpPr>
                <a:grpSpLocks/>
              </p:cNvGrpSpPr>
              <p:nvPr/>
            </p:nvGrpSpPr>
            <p:grpSpPr bwMode="auto">
              <a:xfrm>
                <a:off x="2069" y="748"/>
                <a:ext cx="218" cy="616"/>
                <a:chOff x="1637" y="1276"/>
                <a:chExt cx="218" cy="616"/>
              </a:xfrm>
            </p:grpSpPr>
            <p:sp>
              <p:nvSpPr>
                <p:cNvPr id="170045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1637" y="1276"/>
                  <a:ext cx="218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b="1"/>
                    <a:t>+</a:t>
                  </a:r>
                  <a:endParaRPr lang="en-US" altLang="zh-CN" sz="2400" b="1">
                    <a:latin typeface="Arial" charset="0"/>
                    <a:ea typeface="仿宋_GB2312" pitchFamily="49" charset="-122"/>
                  </a:endParaRPr>
                </a:p>
              </p:txBody>
            </p:sp>
            <p:sp>
              <p:nvSpPr>
                <p:cNvPr id="170046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1639" y="1659"/>
                  <a:ext cx="205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b="1"/>
                    <a:t>–</a:t>
                  </a:r>
                  <a:endParaRPr lang="en-US" altLang="zh-CN" sz="2400" b="1">
                    <a:latin typeface="Arial" charset="0"/>
                    <a:ea typeface="仿宋_GB2312" pitchFamily="49" charset="-122"/>
                  </a:endParaRPr>
                </a:p>
              </p:txBody>
            </p:sp>
          </p:grpSp>
          <p:sp>
            <p:nvSpPr>
              <p:cNvPr id="170047" name="Text Box 63"/>
              <p:cNvSpPr txBox="1">
                <a:spLocks noChangeArrowheads="1"/>
              </p:cNvSpPr>
              <p:nvPr/>
            </p:nvSpPr>
            <p:spPr bwMode="auto">
              <a:xfrm>
                <a:off x="1982" y="930"/>
                <a:ext cx="272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b="1" i="1"/>
                  <a:t>v</a:t>
                </a:r>
                <a:r>
                  <a:rPr lang="en-US" altLang="zh-CN" sz="2400" b="1" i="1" baseline="-25000"/>
                  <a:t>L</a:t>
                </a:r>
                <a:endParaRPr lang="en-US" altLang="zh-CN" sz="2400" b="1">
                  <a:latin typeface="Arial" charset="0"/>
                  <a:ea typeface="仿宋_GB2312" pitchFamily="49" charset="-122"/>
                </a:endParaRPr>
              </a:p>
            </p:txBody>
          </p:sp>
        </p:grpSp>
        <p:sp>
          <p:nvSpPr>
            <p:cNvPr id="170048" name="Line 64"/>
            <p:cNvSpPr>
              <a:spLocks noChangeShapeType="1"/>
            </p:cNvSpPr>
            <p:nvPr/>
          </p:nvSpPr>
          <p:spPr bwMode="auto">
            <a:xfrm>
              <a:off x="1069" y="2365"/>
              <a:ext cx="69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0049" name="Group 65"/>
            <p:cNvGrpSpPr>
              <a:grpSpLocks/>
            </p:cNvGrpSpPr>
            <p:nvPr/>
          </p:nvGrpSpPr>
          <p:grpSpPr bwMode="auto">
            <a:xfrm flipH="1" flipV="1">
              <a:off x="2255" y="2543"/>
              <a:ext cx="73" cy="357"/>
              <a:chOff x="2586" y="847"/>
              <a:chExt cx="71" cy="654"/>
            </a:xfrm>
          </p:grpSpPr>
          <p:sp>
            <p:nvSpPr>
              <p:cNvPr id="170050" name="Line 66"/>
              <p:cNvSpPr>
                <a:spLocks noChangeShapeType="1"/>
              </p:cNvSpPr>
              <p:nvPr/>
            </p:nvSpPr>
            <p:spPr bwMode="auto">
              <a:xfrm flipV="1">
                <a:off x="2656" y="847"/>
                <a:ext cx="1" cy="69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0051" name="Line 67"/>
              <p:cNvSpPr>
                <a:spLocks noChangeShapeType="1"/>
              </p:cNvSpPr>
              <p:nvPr/>
            </p:nvSpPr>
            <p:spPr bwMode="auto">
              <a:xfrm flipV="1">
                <a:off x="2656" y="1418"/>
                <a:ext cx="1" cy="83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0052" name="Freeform 68"/>
              <p:cNvSpPr>
                <a:spLocks/>
              </p:cNvSpPr>
              <p:nvPr/>
            </p:nvSpPr>
            <p:spPr bwMode="auto">
              <a:xfrm>
                <a:off x="2586" y="916"/>
                <a:ext cx="70" cy="502"/>
              </a:xfrm>
              <a:custGeom>
                <a:avLst/>
                <a:gdLst>
                  <a:gd name="T0" fmla="*/ 70 w 70"/>
                  <a:gd name="T1" fmla="*/ 502 h 502"/>
                  <a:gd name="T2" fmla="*/ 28 w 70"/>
                  <a:gd name="T3" fmla="*/ 488 h 502"/>
                  <a:gd name="T4" fmla="*/ 0 w 70"/>
                  <a:gd name="T5" fmla="*/ 446 h 502"/>
                  <a:gd name="T6" fmla="*/ 28 w 70"/>
                  <a:gd name="T7" fmla="*/ 404 h 502"/>
                  <a:gd name="T8" fmla="*/ 70 w 70"/>
                  <a:gd name="T9" fmla="*/ 376 h 502"/>
                  <a:gd name="T10" fmla="*/ 28 w 70"/>
                  <a:gd name="T11" fmla="*/ 362 h 502"/>
                  <a:gd name="T12" fmla="*/ 0 w 70"/>
                  <a:gd name="T13" fmla="*/ 321 h 502"/>
                  <a:gd name="T14" fmla="*/ 28 w 70"/>
                  <a:gd name="T15" fmla="*/ 279 h 502"/>
                  <a:gd name="T16" fmla="*/ 70 w 70"/>
                  <a:gd name="T17" fmla="*/ 251 h 502"/>
                  <a:gd name="T18" fmla="*/ 28 w 70"/>
                  <a:gd name="T19" fmla="*/ 237 h 502"/>
                  <a:gd name="T20" fmla="*/ 0 w 70"/>
                  <a:gd name="T21" fmla="*/ 195 h 502"/>
                  <a:gd name="T22" fmla="*/ 28 w 70"/>
                  <a:gd name="T23" fmla="*/ 154 h 502"/>
                  <a:gd name="T24" fmla="*/ 70 w 70"/>
                  <a:gd name="T25" fmla="*/ 126 h 502"/>
                  <a:gd name="T26" fmla="*/ 28 w 70"/>
                  <a:gd name="T27" fmla="*/ 112 h 502"/>
                  <a:gd name="T28" fmla="*/ 0 w 70"/>
                  <a:gd name="T29" fmla="*/ 70 h 502"/>
                  <a:gd name="T30" fmla="*/ 28 w 70"/>
                  <a:gd name="T31" fmla="*/ 28 h 502"/>
                  <a:gd name="T32" fmla="*/ 70 w 70"/>
                  <a:gd name="T33" fmla="*/ 0 h 5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0" h="502">
                    <a:moveTo>
                      <a:pt x="70" y="502"/>
                    </a:moveTo>
                    <a:lnTo>
                      <a:pt x="28" y="488"/>
                    </a:lnTo>
                    <a:lnTo>
                      <a:pt x="0" y="446"/>
                    </a:lnTo>
                    <a:lnTo>
                      <a:pt x="28" y="404"/>
                    </a:lnTo>
                    <a:lnTo>
                      <a:pt x="70" y="376"/>
                    </a:lnTo>
                    <a:lnTo>
                      <a:pt x="28" y="362"/>
                    </a:lnTo>
                    <a:lnTo>
                      <a:pt x="0" y="321"/>
                    </a:lnTo>
                    <a:lnTo>
                      <a:pt x="28" y="279"/>
                    </a:lnTo>
                    <a:lnTo>
                      <a:pt x="70" y="251"/>
                    </a:lnTo>
                    <a:lnTo>
                      <a:pt x="28" y="237"/>
                    </a:lnTo>
                    <a:lnTo>
                      <a:pt x="0" y="195"/>
                    </a:lnTo>
                    <a:lnTo>
                      <a:pt x="28" y="154"/>
                    </a:lnTo>
                    <a:lnTo>
                      <a:pt x="70" y="126"/>
                    </a:lnTo>
                    <a:lnTo>
                      <a:pt x="28" y="112"/>
                    </a:lnTo>
                    <a:lnTo>
                      <a:pt x="0" y="70"/>
                    </a:lnTo>
                    <a:lnTo>
                      <a:pt x="28" y="28"/>
                    </a:lnTo>
                    <a:lnTo>
                      <a:pt x="70" y="0"/>
                    </a:lnTo>
                  </a:path>
                </a:pathLst>
              </a:custGeom>
              <a:noFill/>
              <a:ln w="38100" cmpd="sng">
                <a:solidFill>
                  <a:srgbClr val="FF99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0053" name="Line 69"/>
            <p:cNvSpPr>
              <a:spLocks noChangeShapeType="1"/>
            </p:cNvSpPr>
            <p:nvPr/>
          </p:nvSpPr>
          <p:spPr bwMode="auto">
            <a:xfrm flipV="1">
              <a:off x="2255" y="2841"/>
              <a:ext cx="0" cy="17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0054" name="Line 70"/>
            <p:cNvSpPr>
              <a:spLocks noChangeShapeType="1"/>
            </p:cNvSpPr>
            <p:nvPr/>
          </p:nvSpPr>
          <p:spPr bwMode="auto">
            <a:xfrm>
              <a:off x="2255" y="2365"/>
              <a:ext cx="0" cy="17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0055" name="Group 71"/>
            <p:cNvGrpSpPr>
              <a:grpSpLocks/>
            </p:cNvGrpSpPr>
            <p:nvPr/>
          </p:nvGrpSpPr>
          <p:grpSpPr bwMode="auto">
            <a:xfrm>
              <a:off x="1338" y="2043"/>
              <a:ext cx="348" cy="382"/>
              <a:chOff x="1008" y="556"/>
              <a:chExt cx="338" cy="308"/>
            </a:xfrm>
          </p:grpSpPr>
          <p:sp>
            <p:nvSpPr>
              <p:cNvPr id="170056" name="Text Box 72"/>
              <p:cNvSpPr txBox="1">
                <a:spLocks noChangeArrowheads="1"/>
              </p:cNvSpPr>
              <p:nvPr/>
            </p:nvSpPr>
            <p:spPr bwMode="auto">
              <a:xfrm>
                <a:off x="1109" y="556"/>
                <a:ext cx="23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i="1"/>
                  <a:t>R</a:t>
                </a:r>
                <a:endParaRPr lang="en-US" altLang="zh-CN" sz="2400" b="1">
                  <a:latin typeface="Arial" charset="0"/>
                  <a:ea typeface="仿宋_GB2312" pitchFamily="49" charset="-122"/>
                </a:endParaRPr>
              </a:p>
            </p:txBody>
          </p:sp>
          <p:sp>
            <p:nvSpPr>
              <p:cNvPr id="170057" name="Rectangle 73"/>
              <p:cNvSpPr>
                <a:spLocks noChangeArrowheads="1"/>
              </p:cNvSpPr>
              <p:nvPr/>
            </p:nvSpPr>
            <p:spPr bwMode="auto">
              <a:xfrm>
                <a:off x="1008" y="768"/>
                <a:ext cx="288" cy="9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CC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0058" name="Line 74"/>
            <p:cNvSpPr>
              <a:spLocks noChangeShapeType="1"/>
            </p:cNvSpPr>
            <p:nvPr/>
          </p:nvSpPr>
          <p:spPr bwMode="auto">
            <a:xfrm>
              <a:off x="1066" y="3067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059" name="Line 75"/>
            <p:cNvSpPr>
              <a:spLocks noChangeShapeType="1"/>
            </p:cNvSpPr>
            <p:nvPr/>
          </p:nvSpPr>
          <p:spPr bwMode="auto">
            <a:xfrm>
              <a:off x="1066" y="2341"/>
              <a:ext cx="0" cy="7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70060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6802093"/>
              </p:ext>
            </p:extLst>
          </p:nvPr>
        </p:nvGraphicFramePr>
        <p:xfrm>
          <a:off x="4355976" y="3151187"/>
          <a:ext cx="415925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02" name="Equation" r:id="rId9" imgW="1841400" imgH="203040" progId="Equation.DSMT4">
                  <p:embed/>
                </p:oleObj>
              </mc:Choice>
              <mc:Fallback>
                <p:oleObj name="Equation" r:id="rId9" imgW="1841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3151187"/>
                        <a:ext cx="415925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61" name="Object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170051"/>
              </p:ext>
            </p:extLst>
          </p:nvPr>
        </p:nvGraphicFramePr>
        <p:xfrm>
          <a:off x="3636391" y="5447506"/>
          <a:ext cx="4484687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03" name="Equation" r:id="rId11" imgW="1752480" imgH="393480" progId="Equation.DSMT4">
                  <p:embed/>
                </p:oleObj>
              </mc:Choice>
              <mc:Fallback>
                <p:oleObj name="Equation" r:id="rId11" imgW="17524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391" y="5447506"/>
                        <a:ext cx="4484687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Text Box 9"/>
          <p:cNvSpPr txBox="1">
            <a:spLocks noChangeArrowheads="1"/>
          </p:cNvSpPr>
          <p:nvPr/>
        </p:nvSpPr>
        <p:spPr bwMode="auto">
          <a:xfrm>
            <a:off x="153988" y="71765"/>
            <a:ext cx="1795463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Example 4</a:t>
            </a:r>
            <a:endParaRPr kumimoji="1"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F6B5D-BAA9-462E-91DC-0C4220222717}" type="slidenum">
              <a:rPr lang="en-US" altLang="zh-CN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765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9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9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170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8" dur="500"/>
                                        <p:tgtEl>
                                          <p:spTgt spid="170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70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70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170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16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2000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170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 autoUpdateAnimBg="0"/>
      <p:bldP spid="169990" grpId="0" animBg="1" autoUpdateAnimBg="0"/>
      <p:bldP spid="7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2"/>
          <p:cNvGrpSpPr>
            <a:grpSpLocks/>
          </p:cNvGrpSpPr>
          <p:nvPr/>
        </p:nvGrpSpPr>
        <p:grpSpPr bwMode="auto">
          <a:xfrm>
            <a:off x="6534150" y="1706563"/>
            <a:ext cx="650875" cy="1711325"/>
            <a:chOff x="4224" y="983"/>
            <a:chExt cx="410" cy="1078"/>
          </a:xfrm>
        </p:grpSpPr>
        <p:sp>
          <p:nvSpPr>
            <p:cNvPr id="38915" name="Line 3"/>
            <p:cNvSpPr>
              <a:spLocks noChangeShapeType="1"/>
            </p:cNvSpPr>
            <p:nvPr/>
          </p:nvSpPr>
          <p:spPr bwMode="auto">
            <a:xfrm>
              <a:off x="4464" y="983"/>
              <a:ext cx="1" cy="2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16" name="Line 4"/>
            <p:cNvSpPr>
              <a:spLocks noChangeShapeType="1"/>
            </p:cNvSpPr>
            <p:nvPr/>
          </p:nvSpPr>
          <p:spPr bwMode="auto">
            <a:xfrm>
              <a:off x="4464" y="1824"/>
              <a:ext cx="1" cy="2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17" name="Line 5"/>
            <p:cNvSpPr>
              <a:spLocks noChangeShapeType="1"/>
            </p:cNvSpPr>
            <p:nvPr/>
          </p:nvSpPr>
          <p:spPr bwMode="auto">
            <a:xfrm flipH="1">
              <a:off x="4260" y="1220"/>
              <a:ext cx="204" cy="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18" name="Line 6"/>
            <p:cNvSpPr>
              <a:spLocks noChangeShapeType="1"/>
            </p:cNvSpPr>
            <p:nvPr/>
          </p:nvSpPr>
          <p:spPr bwMode="auto">
            <a:xfrm flipH="1">
              <a:off x="4260" y="1820"/>
              <a:ext cx="204" cy="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19" name="Text Box 7"/>
            <p:cNvSpPr txBox="1">
              <a:spLocks noChangeArrowheads="1"/>
            </p:cNvSpPr>
            <p:nvPr/>
          </p:nvSpPr>
          <p:spPr bwMode="auto">
            <a:xfrm>
              <a:off x="4313" y="1373"/>
              <a:ext cx="3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 b="1" i="1"/>
                <a:t>R</a:t>
              </a:r>
              <a:r>
                <a:rPr kumimoji="0" lang="en-US" altLang="zh-CN" sz="1800" b="1" baseline="-25000"/>
                <a:t>eq</a:t>
              </a:r>
              <a:endParaRPr kumimoji="0" lang="en-US" altLang="zh-CN" sz="1800" b="1"/>
            </a:p>
          </p:txBody>
        </p:sp>
        <p:sp>
          <p:nvSpPr>
            <p:cNvPr id="38920" name="AutoShape 8"/>
            <p:cNvSpPr>
              <a:spLocks noChangeArrowheads="1"/>
            </p:cNvSpPr>
            <p:nvPr/>
          </p:nvSpPr>
          <p:spPr bwMode="auto">
            <a:xfrm>
              <a:off x="4224" y="1373"/>
              <a:ext cx="89" cy="291"/>
            </a:xfrm>
            <a:prstGeom prst="upDownArrow">
              <a:avLst>
                <a:gd name="adj1" fmla="val 50000"/>
                <a:gd name="adj2" fmla="val 65393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922" name="Text Box 10"/>
          <p:cNvSpPr txBox="1">
            <a:spLocks noChangeArrowheads="1"/>
          </p:cNvSpPr>
          <p:nvPr/>
        </p:nvSpPr>
        <p:spPr bwMode="auto">
          <a:xfrm>
            <a:off x="1019175" y="85725"/>
            <a:ext cx="80168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0" lang="en-US" altLang="zh-CN" b="1" dirty="0"/>
              <a:t>         The switch has been in position 1 for a long time. At </a:t>
            </a:r>
            <a:r>
              <a:rPr kumimoji="0" lang="en-US" altLang="zh-CN" b="1" i="1" dirty="0">
                <a:cs typeface="Times New Roman" pitchFamily="18" charset="0"/>
              </a:rPr>
              <a:t>t</a:t>
            </a:r>
            <a:r>
              <a:rPr kumimoji="0" lang="en-US" altLang="zh-CN" b="1" dirty="0">
                <a:cs typeface="Times New Roman" pitchFamily="18" charset="0"/>
              </a:rPr>
              <a:t> = 0, the switch moves to position</a:t>
            </a:r>
            <a:r>
              <a:rPr kumimoji="0" lang="zh-CN" altLang="en-US" b="1" dirty="0"/>
              <a:t> </a:t>
            </a:r>
            <a:r>
              <a:rPr kumimoji="0" lang="zh-CN" altLang="en-US" b="1" dirty="0">
                <a:cs typeface="Times New Roman" pitchFamily="18" charset="0"/>
              </a:rPr>
              <a:t>2</a:t>
            </a:r>
            <a:r>
              <a:rPr kumimoji="0" lang="en-US" altLang="zh-CN" b="1" dirty="0">
                <a:cs typeface="Times New Roman" pitchFamily="18" charset="0"/>
              </a:rPr>
              <a:t>. Determine </a:t>
            </a:r>
            <a:r>
              <a:rPr kumimoji="0" lang="en-US" altLang="zh-CN" b="1" i="1" dirty="0" err="1">
                <a:cs typeface="Times New Roman" pitchFamily="18" charset="0"/>
              </a:rPr>
              <a:t>u</a:t>
            </a:r>
            <a:r>
              <a:rPr kumimoji="0" lang="en-US" altLang="zh-CN" b="1" baseline="-30000" dirty="0" err="1">
                <a:cs typeface="Times New Roman" pitchFamily="18" charset="0"/>
              </a:rPr>
              <a:t>C</a:t>
            </a:r>
            <a:r>
              <a:rPr kumimoji="0" lang="en-US" altLang="zh-CN" b="1" dirty="0">
                <a:cs typeface="Times New Roman" pitchFamily="18" charset="0"/>
              </a:rPr>
              <a:t>(</a:t>
            </a:r>
            <a:r>
              <a:rPr kumimoji="0" lang="en-US" altLang="zh-CN" b="1" i="1" dirty="0">
                <a:cs typeface="Times New Roman" pitchFamily="18" charset="0"/>
              </a:rPr>
              <a:t>t</a:t>
            </a:r>
            <a:r>
              <a:rPr kumimoji="0" lang="en-US" altLang="zh-CN" b="1" dirty="0">
                <a:cs typeface="Times New Roman" pitchFamily="18" charset="0"/>
              </a:rPr>
              <a:t>) and </a:t>
            </a:r>
            <a:r>
              <a:rPr kumimoji="0" lang="en-US" altLang="zh-CN" b="1" i="1" dirty="0">
                <a:cs typeface="Times New Roman" pitchFamily="18" charset="0"/>
              </a:rPr>
              <a:t>i</a:t>
            </a:r>
            <a:r>
              <a:rPr kumimoji="0" lang="en-US" altLang="zh-CN" b="1" dirty="0">
                <a:cs typeface="Times New Roman" pitchFamily="18" charset="0"/>
              </a:rPr>
              <a:t>(</a:t>
            </a:r>
            <a:r>
              <a:rPr kumimoji="0" lang="en-US" altLang="zh-CN" b="1" i="1" dirty="0">
                <a:cs typeface="Times New Roman" pitchFamily="18" charset="0"/>
              </a:rPr>
              <a:t>t</a:t>
            </a:r>
            <a:r>
              <a:rPr kumimoji="0" lang="en-US" altLang="zh-CN" b="1" dirty="0">
                <a:cs typeface="Times New Roman" pitchFamily="18" charset="0"/>
              </a:rPr>
              <a:t>) for </a:t>
            </a:r>
            <a:r>
              <a:rPr kumimoji="0" lang="en-US" altLang="zh-CN" b="1" i="1" dirty="0">
                <a:cs typeface="Times New Roman" pitchFamily="18" charset="0"/>
              </a:rPr>
              <a:t>t</a:t>
            </a:r>
            <a:r>
              <a:rPr kumimoji="0" lang="en-US" altLang="zh-CN" b="1" dirty="0"/>
              <a:t>≥</a:t>
            </a:r>
            <a:r>
              <a:rPr kumimoji="0" lang="en-US" altLang="zh-CN" b="1" dirty="0">
                <a:cs typeface="Times New Roman" pitchFamily="18" charset="0"/>
              </a:rPr>
              <a:t>0</a:t>
            </a:r>
            <a:r>
              <a:rPr kumimoji="0" lang="zh-CN" altLang="en-US" b="1" dirty="0"/>
              <a:t> </a:t>
            </a:r>
            <a:r>
              <a:rPr kumimoji="0" lang="en-US" altLang="zh-CN" b="1" dirty="0"/>
              <a:t>。</a:t>
            </a:r>
            <a:r>
              <a:rPr kumimoji="0" lang="en-US" altLang="zh-CN" b="1" dirty="0">
                <a:latin typeface="Tahoma" pitchFamily="34" charset="0"/>
              </a:rPr>
              <a:t> </a:t>
            </a:r>
          </a:p>
        </p:txBody>
      </p:sp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227806" y="3720921"/>
            <a:ext cx="878046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0" lang="en-US" altLang="zh-CN" b="1" dirty="0">
                <a:solidFill>
                  <a:srgbClr val="FF0000"/>
                </a:solidFill>
                <a:latin typeface="Comic Sans MS" panose="030F0702030302020204" pitchFamily="66" charset="0"/>
                <a:ea typeface="黑体" pitchFamily="2" charset="-122"/>
              </a:rPr>
              <a:t>Solution:</a:t>
            </a:r>
            <a:r>
              <a:rPr kumimoji="0" lang="zh-CN" altLang="en-US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kumimoji="0" lang="zh-CN" altLang="en-US" b="1" dirty="0">
                <a:cs typeface="Times New Roman" pitchFamily="18" charset="0"/>
              </a:rPr>
              <a:t> </a:t>
            </a:r>
            <a:r>
              <a:rPr kumimoji="0" lang="en-US" altLang="zh-CN" b="1" dirty="0"/>
              <a:t>For t&lt;0, since the switch has been in</a:t>
            </a:r>
            <a:r>
              <a:rPr kumimoji="0" lang="zh-CN" altLang="en-US" b="1" dirty="0"/>
              <a:t> </a:t>
            </a:r>
            <a:r>
              <a:rPr kumimoji="0" lang="en-US" altLang="zh-CN" b="1" dirty="0"/>
              <a:t>position</a:t>
            </a:r>
            <a:r>
              <a:rPr kumimoji="0" lang="zh-CN" altLang="en-US" b="1" dirty="0"/>
              <a:t> </a:t>
            </a:r>
            <a:r>
              <a:rPr kumimoji="0" lang="en-US" altLang="zh-CN" b="1" dirty="0"/>
              <a:t>1 for a long time, the capacitor voltage has reached the</a:t>
            </a:r>
            <a:r>
              <a:rPr kumimoji="0" lang="zh-CN" altLang="en-US" b="1" dirty="0"/>
              <a:t> </a:t>
            </a:r>
            <a:r>
              <a:rPr kumimoji="0" lang="en-US" altLang="zh-CN" b="1" dirty="0"/>
              <a:t>steady state and the capacitor acts like an open circuit.</a:t>
            </a:r>
            <a:r>
              <a:rPr kumimoji="0" lang="zh-CN" altLang="en-US" b="1" dirty="0">
                <a:latin typeface="Tahoma" pitchFamily="34" charset="0"/>
              </a:rPr>
              <a:t> </a:t>
            </a:r>
          </a:p>
        </p:txBody>
      </p:sp>
      <p:graphicFrame>
        <p:nvGraphicFramePr>
          <p:cNvPr id="3892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2580476"/>
              </p:ext>
            </p:extLst>
          </p:nvPr>
        </p:nvGraphicFramePr>
        <p:xfrm>
          <a:off x="3481387" y="6043612"/>
          <a:ext cx="36576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3" r:id="rId4" imgW="1384300" imgH="228600" progId="Equation.3">
                  <p:embed/>
                </p:oleObj>
              </mc:Choice>
              <mc:Fallback>
                <p:oleObj r:id="rId4" imgW="1384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387" y="6043612"/>
                        <a:ext cx="3657600" cy="606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30" name="Group 18"/>
          <p:cNvGrpSpPr>
            <a:grpSpLocks/>
          </p:cNvGrpSpPr>
          <p:nvPr/>
        </p:nvGrpSpPr>
        <p:grpSpPr bwMode="auto">
          <a:xfrm>
            <a:off x="3852863" y="2178050"/>
            <a:ext cx="584200" cy="1035050"/>
            <a:chOff x="2368" y="1220"/>
            <a:chExt cx="368" cy="652"/>
          </a:xfrm>
        </p:grpSpPr>
        <p:sp>
          <p:nvSpPr>
            <p:cNvPr id="38931" name="Text Box 19"/>
            <p:cNvSpPr txBox="1">
              <a:spLocks noChangeArrowheads="1"/>
            </p:cNvSpPr>
            <p:nvPr/>
          </p:nvSpPr>
          <p:spPr bwMode="auto">
            <a:xfrm>
              <a:off x="2485" y="1420"/>
              <a:ext cx="251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en-US" altLang="zh-CN" b="1" i="1"/>
                <a:t>u</a:t>
              </a:r>
              <a:r>
                <a:rPr kumimoji="0" lang="en-US" altLang="zh-CN" b="1" baseline="-25000"/>
                <a:t>C</a:t>
              </a:r>
              <a:endParaRPr kumimoji="0" lang="en-US" altLang="zh-CN" b="1"/>
            </a:p>
          </p:txBody>
        </p:sp>
        <p:sp>
          <p:nvSpPr>
            <p:cNvPr id="38932" name="Text Box 20"/>
            <p:cNvSpPr txBox="1">
              <a:spLocks noChangeArrowheads="1"/>
            </p:cNvSpPr>
            <p:nvPr/>
          </p:nvSpPr>
          <p:spPr bwMode="auto">
            <a:xfrm>
              <a:off x="2368" y="1600"/>
              <a:ext cx="11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zh-CN" altLang="en-US" sz="1600" b="1"/>
                <a:t>–</a:t>
              </a:r>
            </a:p>
          </p:txBody>
        </p:sp>
        <p:sp>
          <p:nvSpPr>
            <p:cNvPr id="38933" name="Text Box 21"/>
            <p:cNvSpPr txBox="1">
              <a:spLocks noChangeArrowheads="1"/>
            </p:cNvSpPr>
            <p:nvPr/>
          </p:nvSpPr>
          <p:spPr bwMode="auto">
            <a:xfrm>
              <a:off x="2368" y="1220"/>
              <a:ext cx="11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zh-CN" altLang="en-US" sz="1600" b="1"/>
                <a:t>+</a:t>
              </a:r>
            </a:p>
          </p:txBody>
        </p:sp>
      </p:grpSp>
      <p:grpSp>
        <p:nvGrpSpPr>
          <p:cNvPr id="38934" name="Group 22"/>
          <p:cNvGrpSpPr>
            <a:grpSpLocks/>
          </p:cNvGrpSpPr>
          <p:nvPr/>
        </p:nvGrpSpPr>
        <p:grpSpPr bwMode="auto">
          <a:xfrm>
            <a:off x="19050" y="1198563"/>
            <a:ext cx="5086350" cy="2662237"/>
            <a:chOff x="12" y="684"/>
            <a:chExt cx="3204" cy="1677"/>
          </a:xfrm>
        </p:grpSpPr>
        <p:grpSp>
          <p:nvGrpSpPr>
            <p:cNvPr id="38935" name="Group 23"/>
            <p:cNvGrpSpPr>
              <a:grpSpLocks/>
            </p:cNvGrpSpPr>
            <p:nvPr/>
          </p:nvGrpSpPr>
          <p:grpSpPr bwMode="auto">
            <a:xfrm>
              <a:off x="12" y="684"/>
              <a:ext cx="3204" cy="1677"/>
              <a:chOff x="12" y="684"/>
              <a:chExt cx="3204" cy="1677"/>
            </a:xfrm>
          </p:grpSpPr>
          <p:sp>
            <p:nvSpPr>
              <p:cNvPr id="38936" name="Text Box 24"/>
              <p:cNvSpPr txBox="1">
                <a:spLocks noChangeArrowheads="1"/>
              </p:cNvSpPr>
              <p:nvPr/>
            </p:nvSpPr>
            <p:spPr bwMode="auto">
              <a:xfrm>
                <a:off x="1403" y="2059"/>
                <a:ext cx="234" cy="3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kumimoji="0" lang="zh-CN" altLang="en-US" sz="1800" b="1"/>
                  <a:t>(</a:t>
                </a:r>
                <a:r>
                  <a:rPr kumimoji="0" lang="en-US" altLang="zh-CN" sz="1800" b="1"/>
                  <a:t>a)</a:t>
                </a:r>
              </a:p>
            </p:txBody>
          </p:sp>
          <p:sp>
            <p:nvSpPr>
              <p:cNvPr id="38937" name="Text Box 25"/>
              <p:cNvSpPr txBox="1">
                <a:spLocks noChangeArrowheads="1"/>
              </p:cNvSpPr>
              <p:nvPr/>
            </p:nvSpPr>
            <p:spPr bwMode="auto">
              <a:xfrm>
                <a:off x="2047" y="1287"/>
                <a:ext cx="204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kumimoji="0" lang="en-US" altLang="zh-CN" sz="1800" b="1" i="1"/>
                  <a:t>C</a:t>
                </a:r>
                <a:endParaRPr kumimoji="0" lang="en-US" altLang="zh-CN" sz="1800" b="1"/>
              </a:p>
            </p:txBody>
          </p:sp>
          <p:sp>
            <p:nvSpPr>
              <p:cNvPr id="38938" name="Text Box 26"/>
              <p:cNvSpPr txBox="1">
                <a:spLocks noChangeArrowheads="1"/>
              </p:cNvSpPr>
              <p:nvPr/>
            </p:nvSpPr>
            <p:spPr bwMode="auto">
              <a:xfrm>
                <a:off x="2982" y="1489"/>
                <a:ext cx="234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kumimoji="0" lang="zh-CN" altLang="en-US" sz="1800" b="1"/>
                  <a:t>4</a:t>
                </a:r>
                <a:r>
                  <a:rPr kumimoji="0" lang="en-US" altLang="zh-CN" sz="1800" b="1"/>
                  <a:t>Ω</a:t>
                </a:r>
              </a:p>
            </p:txBody>
          </p:sp>
          <p:sp>
            <p:nvSpPr>
              <p:cNvPr id="38939" name="Text Box 27"/>
              <p:cNvSpPr txBox="1">
                <a:spLocks noChangeArrowheads="1"/>
              </p:cNvSpPr>
              <p:nvPr/>
            </p:nvSpPr>
            <p:spPr bwMode="auto">
              <a:xfrm>
                <a:off x="3011" y="1287"/>
                <a:ext cx="20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kumimoji="0" lang="en-US" altLang="zh-CN" sz="1800" b="1" i="1"/>
                  <a:t>R</a:t>
                </a:r>
                <a:r>
                  <a:rPr kumimoji="0" lang="en-US" altLang="zh-CN" sz="1800" b="1" baseline="-25000"/>
                  <a:t>2</a:t>
                </a:r>
                <a:endParaRPr kumimoji="0" lang="en-US" altLang="zh-CN" sz="1800" b="1"/>
              </a:p>
            </p:txBody>
          </p:sp>
          <p:sp>
            <p:nvSpPr>
              <p:cNvPr id="38940" name="Text Box 28"/>
              <p:cNvSpPr txBox="1">
                <a:spLocks noChangeArrowheads="1"/>
              </p:cNvSpPr>
              <p:nvPr/>
            </p:nvSpPr>
            <p:spPr bwMode="auto">
              <a:xfrm>
                <a:off x="2017" y="1522"/>
                <a:ext cx="205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kumimoji="0" lang="zh-CN" altLang="en-US" sz="1800" b="1"/>
                  <a:t>1</a:t>
                </a:r>
                <a:r>
                  <a:rPr kumimoji="0" lang="en-US" altLang="zh-CN" sz="1800" b="1"/>
                  <a:t>F</a:t>
                </a:r>
              </a:p>
            </p:txBody>
          </p:sp>
          <p:sp>
            <p:nvSpPr>
              <p:cNvPr id="38941" name="Text Box 29"/>
              <p:cNvSpPr txBox="1">
                <a:spLocks noChangeArrowheads="1"/>
              </p:cNvSpPr>
              <p:nvPr/>
            </p:nvSpPr>
            <p:spPr bwMode="auto">
              <a:xfrm>
                <a:off x="1813" y="1110"/>
                <a:ext cx="234" cy="2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kumimoji="0" lang="zh-CN" altLang="en-US" sz="1800" b="1"/>
                  <a:t>4</a:t>
                </a:r>
                <a:r>
                  <a:rPr kumimoji="0" lang="en-US" altLang="zh-CN" sz="1800" b="1"/>
                  <a:t>Ω</a:t>
                </a:r>
              </a:p>
            </p:txBody>
          </p:sp>
          <p:sp>
            <p:nvSpPr>
              <p:cNvPr id="38942" name="Text Box 30"/>
              <p:cNvSpPr txBox="1">
                <a:spLocks noChangeArrowheads="1"/>
              </p:cNvSpPr>
              <p:nvPr/>
            </p:nvSpPr>
            <p:spPr bwMode="auto">
              <a:xfrm>
                <a:off x="1842" y="715"/>
                <a:ext cx="205" cy="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kumimoji="0" lang="en-US" altLang="zh-CN" sz="1800" b="1" i="1"/>
                  <a:t>R</a:t>
                </a:r>
                <a:r>
                  <a:rPr kumimoji="0" lang="en-US" altLang="zh-CN" sz="1800" b="1" baseline="-25000"/>
                  <a:t>1</a:t>
                </a:r>
                <a:endParaRPr kumimoji="0" lang="en-US" altLang="zh-CN" sz="1800" b="1"/>
              </a:p>
            </p:txBody>
          </p:sp>
          <p:sp>
            <p:nvSpPr>
              <p:cNvPr id="38943" name="Text Box 31"/>
              <p:cNvSpPr txBox="1">
                <a:spLocks noChangeArrowheads="1"/>
              </p:cNvSpPr>
              <p:nvPr/>
            </p:nvSpPr>
            <p:spPr bwMode="auto">
              <a:xfrm>
                <a:off x="1140" y="684"/>
                <a:ext cx="410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kumimoji="0" lang="en-US" altLang="zh-CN" sz="1800" b="1"/>
                  <a:t>S(t=0)</a:t>
                </a:r>
              </a:p>
            </p:txBody>
          </p:sp>
          <p:sp>
            <p:nvSpPr>
              <p:cNvPr id="38944" name="Text Box 32"/>
              <p:cNvSpPr txBox="1">
                <a:spLocks noChangeArrowheads="1"/>
              </p:cNvSpPr>
              <p:nvPr/>
            </p:nvSpPr>
            <p:spPr bwMode="auto">
              <a:xfrm>
                <a:off x="702" y="1076"/>
                <a:ext cx="234" cy="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kumimoji="0" lang="zh-CN" altLang="en-US" sz="1800" b="1"/>
                  <a:t>2</a:t>
                </a:r>
                <a:r>
                  <a:rPr kumimoji="0" lang="en-US" altLang="zh-CN" sz="1800" b="1"/>
                  <a:t>Ω</a:t>
                </a:r>
              </a:p>
            </p:txBody>
          </p:sp>
          <p:sp>
            <p:nvSpPr>
              <p:cNvPr id="38945" name="Text Box 33"/>
              <p:cNvSpPr txBox="1">
                <a:spLocks noChangeArrowheads="1"/>
              </p:cNvSpPr>
              <p:nvPr/>
            </p:nvSpPr>
            <p:spPr bwMode="auto">
              <a:xfrm>
                <a:off x="731" y="715"/>
                <a:ext cx="175" cy="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kumimoji="0" lang="en-US" altLang="zh-CN" sz="1800" b="1" i="1"/>
                  <a:t>R</a:t>
                </a:r>
              </a:p>
            </p:txBody>
          </p:sp>
          <p:sp>
            <p:nvSpPr>
              <p:cNvPr id="38946" name="Text Box 34"/>
              <p:cNvSpPr txBox="1">
                <a:spLocks noChangeArrowheads="1"/>
              </p:cNvSpPr>
              <p:nvPr/>
            </p:nvSpPr>
            <p:spPr bwMode="auto">
              <a:xfrm>
                <a:off x="12" y="1457"/>
                <a:ext cx="263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kumimoji="0" lang="zh-CN" altLang="en-US" sz="1800" b="1"/>
                  <a:t>10</a:t>
                </a:r>
                <a:r>
                  <a:rPr kumimoji="0" lang="en-US" altLang="zh-CN" sz="1800" b="1"/>
                  <a:t>V</a:t>
                </a:r>
              </a:p>
            </p:txBody>
          </p:sp>
          <p:sp>
            <p:nvSpPr>
              <p:cNvPr id="38947" name="Text Box 35"/>
              <p:cNvSpPr txBox="1">
                <a:spLocks noChangeArrowheads="1"/>
              </p:cNvSpPr>
              <p:nvPr/>
            </p:nvSpPr>
            <p:spPr bwMode="auto">
              <a:xfrm>
                <a:off x="1199" y="1153"/>
                <a:ext cx="118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kumimoji="0" lang="zh-CN" altLang="en-US" sz="1800" b="1"/>
                  <a:t>2</a:t>
                </a:r>
              </a:p>
            </p:txBody>
          </p:sp>
          <p:sp>
            <p:nvSpPr>
              <p:cNvPr id="38948" name="Text Box 36"/>
              <p:cNvSpPr txBox="1">
                <a:spLocks noChangeArrowheads="1"/>
              </p:cNvSpPr>
              <p:nvPr/>
            </p:nvSpPr>
            <p:spPr bwMode="auto">
              <a:xfrm>
                <a:off x="1111" y="952"/>
                <a:ext cx="119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kumimoji="0" lang="zh-CN" altLang="en-US" sz="1800" b="1"/>
                  <a:t>1</a:t>
                </a:r>
              </a:p>
            </p:txBody>
          </p:sp>
          <p:sp>
            <p:nvSpPr>
              <p:cNvPr id="38949" name="Text Box 37"/>
              <p:cNvSpPr txBox="1">
                <a:spLocks noChangeArrowheads="1"/>
              </p:cNvSpPr>
              <p:nvPr/>
            </p:nvSpPr>
            <p:spPr bwMode="auto">
              <a:xfrm>
                <a:off x="263" y="1696"/>
                <a:ext cx="119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kumimoji="0" lang="zh-CN" altLang="en-US" sz="1800" b="1"/>
                  <a:t>–</a:t>
                </a:r>
              </a:p>
            </p:txBody>
          </p:sp>
          <p:sp>
            <p:nvSpPr>
              <p:cNvPr id="38950" name="Text Box 38"/>
              <p:cNvSpPr txBox="1">
                <a:spLocks noChangeArrowheads="1"/>
              </p:cNvSpPr>
              <p:nvPr/>
            </p:nvSpPr>
            <p:spPr bwMode="auto">
              <a:xfrm>
                <a:off x="263" y="1120"/>
                <a:ext cx="119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kumimoji="0" lang="zh-CN" altLang="en-US" sz="1800" b="1"/>
                  <a:t>+</a:t>
                </a:r>
              </a:p>
            </p:txBody>
          </p:sp>
          <p:sp>
            <p:nvSpPr>
              <p:cNvPr id="38951" name="Oval 39"/>
              <p:cNvSpPr>
                <a:spLocks noChangeArrowheads="1"/>
              </p:cNvSpPr>
              <p:nvPr/>
            </p:nvSpPr>
            <p:spPr bwMode="auto">
              <a:xfrm>
                <a:off x="263" y="1388"/>
                <a:ext cx="234" cy="269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52" name="Line 40"/>
              <p:cNvSpPr>
                <a:spLocks noChangeShapeType="1"/>
              </p:cNvSpPr>
              <p:nvPr/>
            </p:nvSpPr>
            <p:spPr bwMode="auto">
              <a:xfrm>
                <a:off x="380" y="986"/>
                <a:ext cx="0" cy="107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53" name="Line 41"/>
              <p:cNvSpPr>
                <a:spLocks noChangeShapeType="1"/>
              </p:cNvSpPr>
              <p:nvPr/>
            </p:nvSpPr>
            <p:spPr bwMode="auto">
              <a:xfrm>
                <a:off x="965" y="986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54" name="Oval 42"/>
              <p:cNvSpPr>
                <a:spLocks noChangeArrowheads="1"/>
              </p:cNvSpPr>
              <p:nvPr/>
            </p:nvSpPr>
            <p:spPr bwMode="auto">
              <a:xfrm>
                <a:off x="1199" y="952"/>
                <a:ext cx="58" cy="67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55" name="Oval 43"/>
              <p:cNvSpPr>
                <a:spLocks noChangeArrowheads="1"/>
              </p:cNvSpPr>
              <p:nvPr/>
            </p:nvSpPr>
            <p:spPr bwMode="auto">
              <a:xfrm>
                <a:off x="1316" y="1153"/>
                <a:ext cx="58" cy="67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56" name="Oval 44"/>
              <p:cNvSpPr>
                <a:spLocks noChangeArrowheads="1"/>
              </p:cNvSpPr>
              <p:nvPr/>
            </p:nvSpPr>
            <p:spPr bwMode="auto">
              <a:xfrm>
                <a:off x="1433" y="952"/>
                <a:ext cx="58" cy="67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57" name="Rectangle 45"/>
              <p:cNvSpPr>
                <a:spLocks noChangeArrowheads="1"/>
              </p:cNvSpPr>
              <p:nvPr/>
            </p:nvSpPr>
            <p:spPr bwMode="auto">
              <a:xfrm>
                <a:off x="2836" y="1321"/>
                <a:ext cx="117" cy="403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58" name="Line 46"/>
              <p:cNvSpPr>
                <a:spLocks noChangeShapeType="1"/>
              </p:cNvSpPr>
              <p:nvPr/>
            </p:nvSpPr>
            <p:spPr bwMode="auto">
              <a:xfrm>
                <a:off x="2894" y="986"/>
                <a:ext cx="0" cy="33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59" name="Line 47"/>
              <p:cNvSpPr>
                <a:spLocks noChangeShapeType="1"/>
              </p:cNvSpPr>
              <p:nvPr/>
            </p:nvSpPr>
            <p:spPr bwMode="auto">
              <a:xfrm>
                <a:off x="2894" y="1724"/>
                <a:ext cx="0" cy="33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60" name="Line 48"/>
              <p:cNvSpPr>
                <a:spLocks noChangeShapeType="1"/>
              </p:cNvSpPr>
              <p:nvPr/>
            </p:nvSpPr>
            <p:spPr bwMode="auto">
              <a:xfrm>
                <a:off x="2310" y="986"/>
                <a:ext cx="0" cy="50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61" name="Line 49"/>
              <p:cNvSpPr>
                <a:spLocks noChangeShapeType="1"/>
              </p:cNvSpPr>
              <p:nvPr/>
            </p:nvSpPr>
            <p:spPr bwMode="auto">
              <a:xfrm>
                <a:off x="2193" y="1489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62" name="Line 50"/>
              <p:cNvSpPr>
                <a:spLocks noChangeShapeType="1"/>
              </p:cNvSpPr>
              <p:nvPr/>
            </p:nvSpPr>
            <p:spPr bwMode="auto">
              <a:xfrm>
                <a:off x="2193" y="1556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63" name="Line 51"/>
              <p:cNvSpPr>
                <a:spLocks noChangeShapeType="1"/>
              </p:cNvSpPr>
              <p:nvPr/>
            </p:nvSpPr>
            <p:spPr bwMode="auto">
              <a:xfrm>
                <a:off x="2310" y="986"/>
                <a:ext cx="5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64" name="Line 52"/>
              <p:cNvSpPr>
                <a:spLocks noChangeShapeType="1"/>
              </p:cNvSpPr>
              <p:nvPr/>
            </p:nvSpPr>
            <p:spPr bwMode="auto">
              <a:xfrm>
                <a:off x="2310" y="1556"/>
                <a:ext cx="0" cy="50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65" name="Rectangle 53"/>
              <p:cNvSpPr>
                <a:spLocks noChangeArrowheads="1"/>
              </p:cNvSpPr>
              <p:nvPr/>
            </p:nvSpPr>
            <p:spPr bwMode="auto">
              <a:xfrm>
                <a:off x="1725" y="918"/>
                <a:ext cx="351" cy="135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66" name="Line 54"/>
              <p:cNvSpPr>
                <a:spLocks noChangeShapeType="1"/>
              </p:cNvSpPr>
              <p:nvPr/>
            </p:nvSpPr>
            <p:spPr bwMode="auto">
              <a:xfrm>
                <a:off x="2076" y="986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67" name="Line 55"/>
              <p:cNvSpPr>
                <a:spLocks noChangeShapeType="1"/>
              </p:cNvSpPr>
              <p:nvPr/>
            </p:nvSpPr>
            <p:spPr bwMode="auto">
              <a:xfrm>
                <a:off x="380" y="986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68" name="Rectangle 56"/>
              <p:cNvSpPr>
                <a:spLocks noChangeArrowheads="1"/>
              </p:cNvSpPr>
              <p:nvPr/>
            </p:nvSpPr>
            <p:spPr bwMode="auto">
              <a:xfrm>
                <a:off x="614" y="918"/>
                <a:ext cx="351" cy="135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69" name="Line 57"/>
              <p:cNvSpPr>
                <a:spLocks noChangeShapeType="1"/>
              </p:cNvSpPr>
              <p:nvPr/>
            </p:nvSpPr>
            <p:spPr bwMode="auto">
              <a:xfrm flipV="1">
                <a:off x="1345" y="1220"/>
                <a:ext cx="0" cy="8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70" name="Line 58"/>
              <p:cNvSpPr>
                <a:spLocks noChangeShapeType="1"/>
              </p:cNvSpPr>
              <p:nvPr/>
            </p:nvSpPr>
            <p:spPr bwMode="auto">
              <a:xfrm flipH="1">
                <a:off x="1228" y="952"/>
                <a:ext cx="234" cy="6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71" name="Line 59"/>
              <p:cNvSpPr>
                <a:spLocks noChangeShapeType="1"/>
              </p:cNvSpPr>
              <p:nvPr/>
            </p:nvSpPr>
            <p:spPr bwMode="auto">
              <a:xfrm>
                <a:off x="1316" y="885"/>
                <a:ext cx="87" cy="268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72" name="Line 60"/>
              <p:cNvSpPr>
                <a:spLocks noChangeShapeType="1"/>
              </p:cNvSpPr>
              <p:nvPr/>
            </p:nvSpPr>
            <p:spPr bwMode="auto">
              <a:xfrm>
                <a:off x="380" y="2059"/>
                <a:ext cx="251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8973" name="Line 61"/>
            <p:cNvSpPr>
              <a:spLocks noChangeShapeType="1"/>
            </p:cNvSpPr>
            <p:nvPr/>
          </p:nvSpPr>
          <p:spPr bwMode="auto">
            <a:xfrm>
              <a:off x="1462" y="983"/>
              <a:ext cx="2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9008" name="Group 96"/>
          <p:cNvGrpSpPr>
            <a:grpSpLocks/>
          </p:cNvGrpSpPr>
          <p:nvPr/>
        </p:nvGrpSpPr>
        <p:grpSpPr bwMode="auto">
          <a:xfrm>
            <a:off x="2362200" y="1243013"/>
            <a:ext cx="371475" cy="431800"/>
            <a:chOff x="2496" y="576"/>
            <a:chExt cx="234" cy="272"/>
          </a:xfrm>
        </p:grpSpPr>
        <p:sp>
          <p:nvSpPr>
            <p:cNvPr id="38975" name="Text Box 63"/>
            <p:cNvSpPr txBox="1">
              <a:spLocks noChangeArrowheads="1"/>
            </p:cNvSpPr>
            <p:nvPr/>
          </p:nvSpPr>
          <p:spPr bwMode="auto">
            <a:xfrm>
              <a:off x="2584" y="576"/>
              <a:ext cx="118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en-US" altLang="zh-CN" sz="2800" b="1" i="1">
                  <a:solidFill>
                    <a:srgbClr val="FF0000"/>
                  </a:solidFill>
                </a:rPr>
                <a:t>i</a:t>
              </a:r>
            </a:p>
          </p:txBody>
        </p:sp>
        <p:sp>
          <p:nvSpPr>
            <p:cNvPr id="38976" name="Line 64"/>
            <p:cNvSpPr>
              <a:spLocks noChangeShapeType="1"/>
            </p:cNvSpPr>
            <p:nvPr/>
          </p:nvSpPr>
          <p:spPr bwMode="auto">
            <a:xfrm>
              <a:off x="2496" y="847"/>
              <a:ext cx="23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7" name="Line 65"/>
            <p:cNvSpPr>
              <a:spLocks noChangeShapeType="1"/>
            </p:cNvSpPr>
            <p:nvPr/>
          </p:nvSpPr>
          <p:spPr bwMode="auto">
            <a:xfrm>
              <a:off x="2613" y="847"/>
              <a:ext cx="5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8978" name="Group 66"/>
          <p:cNvGrpSpPr>
            <a:grpSpLocks/>
          </p:cNvGrpSpPr>
          <p:nvPr/>
        </p:nvGrpSpPr>
        <p:grpSpPr bwMode="auto">
          <a:xfrm>
            <a:off x="6099175" y="1685925"/>
            <a:ext cx="1190625" cy="1743075"/>
            <a:chOff x="2300" y="2253"/>
            <a:chExt cx="750" cy="1098"/>
          </a:xfrm>
        </p:grpSpPr>
        <p:sp useBgFill="1">
          <p:nvSpPr>
            <p:cNvPr id="38979" name="Rectangle 67"/>
            <p:cNvSpPr>
              <a:spLocks noChangeArrowheads="1"/>
            </p:cNvSpPr>
            <p:nvPr/>
          </p:nvSpPr>
          <p:spPr bwMode="auto">
            <a:xfrm>
              <a:off x="2352" y="2293"/>
              <a:ext cx="603" cy="1058"/>
            </a:xfrm>
            <a:prstGeom prst="rect">
              <a:avLst/>
            </a:pr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8980" name="Group 68"/>
            <p:cNvGrpSpPr>
              <a:grpSpLocks/>
            </p:cNvGrpSpPr>
            <p:nvPr/>
          </p:nvGrpSpPr>
          <p:grpSpPr bwMode="auto">
            <a:xfrm>
              <a:off x="2300" y="2253"/>
              <a:ext cx="750" cy="1078"/>
              <a:chOff x="4153" y="986"/>
              <a:chExt cx="750" cy="1078"/>
            </a:xfrm>
          </p:grpSpPr>
          <p:sp>
            <p:nvSpPr>
              <p:cNvPr id="38981" name="Text Box 69"/>
              <p:cNvSpPr txBox="1">
                <a:spLocks noChangeArrowheads="1"/>
              </p:cNvSpPr>
              <p:nvPr/>
            </p:nvSpPr>
            <p:spPr bwMode="auto">
              <a:xfrm>
                <a:off x="4153" y="1491"/>
                <a:ext cx="250" cy="2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kumimoji="0" lang="zh-CN" altLang="en-US" sz="2000" b="1"/>
                  <a:t>1</a:t>
                </a:r>
                <a:r>
                  <a:rPr kumimoji="0" lang="en-US" altLang="zh-CN" sz="2000" b="1"/>
                  <a:t>F</a:t>
                </a:r>
              </a:p>
            </p:txBody>
          </p:sp>
          <p:sp>
            <p:nvSpPr>
              <p:cNvPr id="38982" name="Text Box 70"/>
              <p:cNvSpPr txBox="1">
                <a:spLocks noChangeArrowheads="1"/>
              </p:cNvSpPr>
              <p:nvPr/>
            </p:nvSpPr>
            <p:spPr bwMode="auto">
              <a:xfrm>
                <a:off x="4185" y="1255"/>
                <a:ext cx="215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kumimoji="0" lang="en-US" altLang="zh-CN" sz="2000" b="1" i="1"/>
                  <a:t>C</a:t>
                </a:r>
              </a:p>
            </p:txBody>
          </p:sp>
          <p:sp>
            <p:nvSpPr>
              <p:cNvPr id="38983" name="Text Box 71"/>
              <p:cNvSpPr txBox="1">
                <a:spLocks noChangeArrowheads="1"/>
              </p:cNvSpPr>
              <p:nvPr/>
            </p:nvSpPr>
            <p:spPr bwMode="auto">
              <a:xfrm>
                <a:off x="4724" y="1323"/>
                <a:ext cx="179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kumimoji="0" lang="en-US" altLang="zh-CN" sz="2000" b="1" i="1"/>
                  <a:t>u</a:t>
                </a:r>
                <a:r>
                  <a:rPr kumimoji="0" lang="en-US" altLang="zh-CN" sz="2000" b="1" baseline="-25000"/>
                  <a:t>C</a:t>
                </a:r>
                <a:endParaRPr kumimoji="0" lang="en-US" altLang="zh-CN" sz="2000" b="1"/>
              </a:p>
            </p:txBody>
          </p:sp>
          <p:sp>
            <p:nvSpPr>
              <p:cNvPr id="38984" name="Text Box 72"/>
              <p:cNvSpPr txBox="1">
                <a:spLocks noChangeArrowheads="1"/>
              </p:cNvSpPr>
              <p:nvPr/>
            </p:nvSpPr>
            <p:spPr bwMode="auto">
              <a:xfrm>
                <a:off x="4581" y="1503"/>
                <a:ext cx="146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kumimoji="0" lang="zh-CN" altLang="en-US" sz="2000" b="1"/>
                  <a:t>–</a:t>
                </a:r>
              </a:p>
            </p:txBody>
          </p:sp>
          <p:sp>
            <p:nvSpPr>
              <p:cNvPr id="38985" name="Text Box 73"/>
              <p:cNvSpPr txBox="1">
                <a:spLocks noChangeArrowheads="1"/>
              </p:cNvSpPr>
              <p:nvPr/>
            </p:nvSpPr>
            <p:spPr bwMode="auto">
              <a:xfrm>
                <a:off x="4581" y="1222"/>
                <a:ext cx="146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kumimoji="0" lang="zh-CN" altLang="en-US" sz="2000" b="1"/>
                  <a:t>+</a:t>
                </a:r>
              </a:p>
            </p:txBody>
          </p:sp>
          <p:sp>
            <p:nvSpPr>
              <p:cNvPr id="38986" name="Line 74"/>
              <p:cNvSpPr>
                <a:spLocks noChangeShapeType="1"/>
              </p:cNvSpPr>
              <p:nvPr/>
            </p:nvSpPr>
            <p:spPr bwMode="auto">
              <a:xfrm>
                <a:off x="4507" y="986"/>
                <a:ext cx="0" cy="50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87" name="Line 75"/>
              <p:cNvSpPr>
                <a:spLocks noChangeShapeType="1"/>
              </p:cNvSpPr>
              <p:nvPr/>
            </p:nvSpPr>
            <p:spPr bwMode="auto">
              <a:xfrm>
                <a:off x="4367" y="1491"/>
                <a:ext cx="28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88" name="Line 76"/>
              <p:cNvSpPr>
                <a:spLocks noChangeShapeType="1"/>
              </p:cNvSpPr>
              <p:nvPr/>
            </p:nvSpPr>
            <p:spPr bwMode="auto">
              <a:xfrm>
                <a:off x="4367" y="1558"/>
                <a:ext cx="28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89" name="Line 77"/>
              <p:cNvSpPr>
                <a:spLocks noChangeShapeType="1"/>
              </p:cNvSpPr>
              <p:nvPr/>
            </p:nvSpPr>
            <p:spPr bwMode="auto">
              <a:xfrm>
                <a:off x="4507" y="1558"/>
                <a:ext cx="0" cy="50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8990" name="Group 78"/>
          <p:cNvGrpSpPr>
            <a:grpSpLocks/>
          </p:cNvGrpSpPr>
          <p:nvPr/>
        </p:nvGrpSpPr>
        <p:grpSpPr bwMode="auto">
          <a:xfrm>
            <a:off x="5202238" y="1147763"/>
            <a:ext cx="2940050" cy="2786062"/>
            <a:chOff x="3509" y="649"/>
            <a:chExt cx="1852" cy="1755"/>
          </a:xfrm>
        </p:grpSpPr>
        <p:sp>
          <p:nvSpPr>
            <p:cNvPr id="38991" name="Text Box 79"/>
            <p:cNvSpPr txBox="1">
              <a:spLocks noChangeArrowheads="1"/>
            </p:cNvSpPr>
            <p:nvPr/>
          </p:nvSpPr>
          <p:spPr bwMode="auto">
            <a:xfrm>
              <a:off x="3902" y="649"/>
              <a:ext cx="25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en-US" altLang="zh-CN" sz="2000" b="1" i="1"/>
                <a:t>R</a:t>
              </a:r>
              <a:r>
                <a:rPr kumimoji="0" lang="en-US" altLang="zh-CN" sz="2000" b="1" baseline="-25000"/>
                <a:t>1</a:t>
              </a:r>
              <a:endParaRPr kumimoji="0" lang="en-US" altLang="zh-CN" sz="2000" b="1"/>
            </a:p>
          </p:txBody>
        </p:sp>
        <p:grpSp>
          <p:nvGrpSpPr>
            <p:cNvPr id="38992" name="Group 80"/>
            <p:cNvGrpSpPr>
              <a:grpSpLocks/>
            </p:cNvGrpSpPr>
            <p:nvPr/>
          </p:nvGrpSpPr>
          <p:grpSpPr bwMode="auto">
            <a:xfrm>
              <a:off x="3509" y="918"/>
              <a:ext cx="1852" cy="1486"/>
              <a:chOff x="3509" y="918"/>
              <a:chExt cx="1852" cy="1486"/>
            </a:xfrm>
          </p:grpSpPr>
          <p:sp>
            <p:nvSpPr>
              <p:cNvPr id="38993" name="Text Box 81"/>
              <p:cNvSpPr txBox="1">
                <a:spLocks noChangeArrowheads="1"/>
              </p:cNvSpPr>
              <p:nvPr/>
            </p:nvSpPr>
            <p:spPr bwMode="auto">
              <a:xfrm>
                <a:off x="4260" y="2131"/>
                <a:ext cx="321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kumimoji="0" lang="zh-CN" altLang="en-US" sz="2000" b="1"/>
                  <a:t>(</a:t>
                </a:r>
                <a:r>
                  <a:rPr kumimoji="0" lang="en-US" altLang="zh-CN" sz="2000" b="1"/>
                  <a:t>b)</a:t>
                </a:r>
              </a:p>
            </p:txBody>
          </p:sp>
          <p:sp>
            <p:nvSpPr>
              <p:cNvPr id="38994" name="Text Box 82"/>
              <p:cNvSpPr txBox="1">
                <a:spLocks noChangeArrowheads="1"/>
              </p:cNvSpPr>
              <p:nvPr/>
            </p:nvSpPr>
            <p:spPr bwMode="auto">
              <a:xfrm>
                <a:off x="3867" y="1060"/>
                <a:ext cx="286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kumimoji="0" lang="zh-CN" altLang="en-US" sz="2000" b="1"/>
                  <a:t>4</a:t>
                </a:r>
                <a:r>
                  <a:rPr kumimoji="0" lang="en-US" altLang="zh-CN" sz="2000" b="1"/>
                  <a:t>Ω</a:t>
                </a:r>
              </a:p>
            </p:txBody>
          </p:sp>
          <p:sp>
            <p:nvSpPr>
              <p:cNvPr id="38995" name="Rectangle 83"/>
              <p:cNvSpPr>
                <a:spLocks noChangeArrowheads="1"/>
              </p:cNvSpPr>
              <p:nvPr/>
            </p:nvSpPr>
            <p:spPr bwMode="auto">
              <a:xfrm>
                <a:off x="4896" y="1323"/>
                <a:ext cx="143" cy="40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96" name="Line 84"/>
              <p:cNvSpPr>
                <a:spLocks noChangeShapeType="1"/>
              </p:cNvSpPr>
              <p:nvPr/>
            </p:nvSpPr>
            <p:spPr bwMode="auto">
              <a:xfrm>
                <a:off x="4968" y="986"/>
                <a:ext cx="0" cy="3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97" name="Line 85"/>
              <p:cNvSpPr>
                <a:spLocks noChangeShapeType="1"/>
              </p:cNvSpPr>
              <p:nvPr/>
            </p:nvSpPr>
            <p:spPr bwMode="auto">
              <a:xfrm>
                <a:off x="4968" y="1727"/>
                <a:ext cx="0" cy="3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98" name="Line 86"/>
              <p:cNvSpPr>
                <a:spLocks noChangeShapeType="1"/>
              </p:cNvSpPr>
              <p:nvPr/>
            </p:nvSpPr>
            <p:spPr bwMode="auto">
              <a:xfrm flipV="1">
                <a:off x="4224" y="983"/>
                <a:ext cx="720" cy="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99" name="Rectangle 87"/>
              <p:cNvSpPr>
                <a:spLocks noChangeArrowheads="1"/>
              </p:cNvSpPr>
              <p:nvPr/>
            </p:nvSpPr>
            <p:spPr bwMode="auto">
              <a:xfrm>
                <a:off x="3795" y="918"/>
                <a:ext cx="429" cy="135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000" name="Line 88"/>
              <p:cNvSpPr>
                <a:spLocks noChangeShapeType="1"/>
              </p:cNvSpPr>
              <p:nvPr/>
            </p:nvSpPr>
            <p:spPr bwMode="auto">
              <a:xfrm>
                <a:off x="3509" y="982"/>
                <a:ext cx="286" cy="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001" name="Line 89"/>
              <p:cNvSpPr>
                <a:spLocks noChangeShapeType="1"/>
              </p:cNvSpPr>
              <p:nvPr/>
            </p:nvSpPr>
            <p:spPr bwMode="auto">
              <a:xfrm>
                <a:off x="3509" y="986"/>
                <a:ext cx="0" cy="107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002" name="Line 90"/>
              <p:cNvSpPr>
                <a:spLocks noChangeShapeType="1"/>
              </p:cNvSpPr>
              <p:nvPr/>
            </p:nvSpPr>
            <p:spPr bwMode="auto">
              <a:xfrm>
                <a:off x="3509" y="2064"/>
                <a:ext cx="145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003" name="Text Box 91"/>
              <p:cNvSpPr txBox="1">
                <a:spLocks noChangeArrowheads="1"/>
              </p:cNvSpPr>
              <p:nvPr/>
            </p:nvSpPr>
            <p:spPr bwMode="auto">
              <a:xfrm>
                <a:off x="5075" y="1540"/>
                <a:ext cx="286" cy="2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kumimoji="0" lang="zh-CN" altLang="en-US" sz="2000" b="1"/>
                  <a:t>4</a:t>
                </a:r>
                <a:r>
                  <a:rPr kumimoji="0" lang="en-US" altLang="zh-CN" sz="2000" b="1"/>
                  <a:t>Ω</a:t>
                </a:r>
              </a:p>
            </p:txBody>
          </p:sp>
          <p:sp>
            <p:nvSpPr>
              <p:cNvPr id="39004" name="Text Box 92"/>
              <p:cNvSpPr txBox="1">
                <a:spLocks noChangeArrowheads="1"/>
              </p:cNvSpPr>
              <p:nvPr/>
            </p:nvSpPr>
            <p:spPr bwMode="auto">
              <a:xfrm>
                <a:off x="5111" y="1255"/>
                <a:ext cx="250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kumimoji="0" lang="en-US" altLang="zh-CN" sz="2000" b="1" i="1"/>
                  <a:t>R</a:t>
                </a:r>
                <a:r>
                  <a:rPr kumimoji="0" lang="en-US" altLang="zh-CN" sz="2000" b="1" baseline="-25000"/>
                  <a:t>2</a:t>
                </a:r>
                <a:endParaRPr kumimoji="0" lang="en-US" altLang="zh-CN" sz="2000" b="1"/>
              </a:p>
            </p:txBody>
          </p:sp>
        </p:grpSp>
      </p:grpSp>
      <p:grpSp>
        <p:nvGrpSpPr>
          <p:cNvPr id="39009" name="Group 97"/>
          <p:cNvGrpSpPr>
            <a:grpSpLocks/>
          </p:cNvGrpSpPr>
          <p:nvPr/>
        </p:nvGrpSpPr>
        <p:grpSpPr bwMode="auto">
          <a:xfrm>
            <a:off x="5295900" y="1244600"/>
            <a:ext cx="339725" cy="430213"/>
            <a:chOff x="3072" y="576"/>
            <a:chExt cx="214" cy="271"/>
          </a:xfrm>
        </p:grpSpPr>
        <p:sp>
          <p:nvSpPr>
            <p:cNvPr id="39006" name="Text Box 94"/>
            <p:cNvSpPr txBox="1">
              <a:spLocks noChangeArrowheads="1"/>
            </p:cNvSpPr>
            <p:nvPr/>
          </p:nvSpPr>
          <p:spPr bwMode="auto">
            <a:xfrm>
              <a:off x="3075" y="576"/>
              <a:ext cx="145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en-US" altLang="zh-CN" b="1" i="1">
                  <a:solidFill>
                    <a:srgbClr val="FF0000"/>
                  </a:solidFill>
                </a:rPr>
                <a:t>i</a:t>
              </a:r>
            </a:p>
          </p:txBody>
        </p:sp>
        <p:sp>
          <p:nvSpPr>
            <p:cNvPr id="39007" name="Line 95"/>
            <p:cNvSpPr>
              <a:spLocks noChangeShapeType="1"/>
            </p:cNvSpPr>
            <p:nvPr/>
          </p:nvSpPr>
          <p:spPr bwMode="auto">
            <a:xfrm>
              <a:off x="3072" y="847"/>
              <a:ext cx="214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011" name="Group 99"/>
          <p:cNvGrpSpPr>
            <a:grpSpLocks/>
          </p:cNvGrpSpPr>
          <p:nvPr/>
        </p:nvGrpSpPr>
        <p:grpSpPr bwMode="auto">
          <a:xfrm>
            <a:off x="3542507" y="4527475"/>
            <a:ext cx="4745038" cy="817563"/>
            <a:chOff x="22" y="2864"/>
            <a:chExt cx="2989" cy="515"/>
          </a:xfrm>
        </p:grpSpPr>
        <p:graphicFrame>
          <p:nvGraphicFramePr>
            <p:cNvPr id="38924" name="Object 12"/>
            <p:cNvGraphicFramePr>
              <a:graphicFrameLocks noChangeAspect="1"/>
            </p:cNvGraphicFramePr>
            <p:nvPr/>
          </p:nvGraphicFramePr>
          <p:xfrm>
            <a:off x="22" y="2864"/>
            <a:ext cx="2894" cy="5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24" r:id="rId6" imgW="1981200" imgH="355600" progId="Equation.3">
                    <p:embed/>
                  </p:oleObj>
                </mc:Choice>
                <mc:Fallback>
                  <p:oleObj r:id="rId6" imgW="1981200" imgH="355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" y="2864"/>
                          <a:ext cx="2894" cy="5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010" name="Text Box 98"/>
            <p:cNvSpPr txBox="1">
              <a:spLocks noChangeArrowheads="1"/>
            </p:cNvSpPr>
            <p:nvPr/>
          </p:nvSpPr>
          <p:spPr bwMode="auto">
            <a:xfrm>
              <a:off x="2760" y="2976"/>
              <a:ext cx="25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b="1"/>
                <a:t>V</a:t>
              </a:r>
            </a:p>
          </p:txBody>
        </p:sp>
      </p:grpSp>
      <p:grpSp>
        <p:nvGrpSpPr>
          <p:cNvPr id="39014" name="Group 102"/>
          <p:cNvGrpSpPr>
            <a:grpSpLocks/>
          </p:cNvGrpSpPr>
          <p:nvPr/>
        </p:nvGrpSpPr>
        <p:grpSpPr bwMode="auto">
          <a:xfrm>
            <a:off x="242093" y="5430043"/>
            <a:ext cx="2798762" cy="633413"/>
            <a:chOff x="607" y="3584"/>
            <a:chExt cx="1763" cy="399"/>
          </a:xfrm>
        </p:grpSpPr>
        <p:graphicFrame>
          <p:nvGraphicFramePr>
            <p:cNvPr id="38925" name="Object 13"/>
            <p:cNvGraphicFramePr>
              <a:graphicFrameLocks noChangeAspect="1"/>
            </p:cNvGraphicFramePr>
            <p:nvPr/>
          </p:nvGraphicFramePr>
          <p:xfrm>
            <a:off x="607" y="3584"/>
            <a:ext cx="1440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25" r:id="rId8" imgW="825500" imgH="228600" progId="Equation.3">
                    <p:embed/>
                  </p:oleObj>
                </mc:Choice>
                <mc:Fallback>
                  <p:oleObj r:id="rId8" imgW="8255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7" y="3584"/>
                          <a:ext cx="1440" cy="3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013" name="Text Box 101"/>
            <p:cNvSpPr txBox="1">
              <a:spLocks noChangeArrowheads="1"/>
            </p:cNvSpPr>
            <p:nvPr/>
          </p:nvSpPr>
          <p:spPr bwMode="auto">
            <a:xfrm>
              <a:off x="2017" y="3636"/>
              <a:ext cx="35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000" b="1">
                  <a:sym typeface="Symbol" pitchFamily="18" charset="2"/>
                </a:rPr>
                <a:t></a:t>
              </a:r>
            </a:p>
          </p:txBody>
        </p:sp>
      </p:grpSp>
      <p:grpSp>
        <p:nvGrpSpPr>
          <p:cNvPr id="39017" name="Group 105"/>
          <p:cNvGrpSpPr>
            <a:grpSpLocks/>
          </p:cNvGrpSpPr>
          <p:nvPr/>
        </p:nvGrpSpPr>
        <p:grpSpPr bwMode="auto">
          <a:xfrm>
            <a:off x="238124" y="6091237"/>
            <a:ext cx="3186113" cy="565150"/>
            <a:chOff x="3061" y="2592"/>
            <a:chExt cx="2007" cy="356"/>
          </a:xfrm>
        </p:grpSpPr>
        <p:graphicFrame>
          <p:nvGraphicFramePr>
            <p:cNvPr id="38926" name="Object 14"/>
            <p:cNvGraphicFramePr>
              <a:graphicFrameLocks noChangeAspect="1"/>
            </p:cNvGraphicFramePr>
            <p:nvPr/>
          </p:nvGraphicFramePr>
          <p:xfrm>
            <a:off x="3061" y="2592"/>
            <a:ext cx="1680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26" r:id="rId4" imgW="1079500" imgH="228600" progId="Equation.3">
                    <p:embed/>
                  </p:oleObj>
                </mc:Choice>
                <mc:Fallback>
                  <p:oleObj r:id="rId4" imgW="10795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1" y="2592"/>
                          <a:ext cx="1680" cy="3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015" name="Text Box 103"/>
            <p:cNvSpPr txBox="1">
              <a:spLocks noChangeArrowheads="1"/>
            </p:cNvSpPr>
            <p:nvPr/>
          </p:nvSpPr>
          <p:spPr bwMode="auto">
            <a:xfrm>
              <a:off x="4717" y="2614"/>
              <a:ext cx="35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b="1"/>
                <a:t>S</a:t>
              </a:r>
            </a:p>
          </p:txBody>
        </p:sp>
      </p:grpSp>
      <p:grpSp>
        <p:nvGrpSpPr>
          <p:cNvPr id="39018" name="Group 106"/>
          <p:cNvGrpSpPr>
            <a:grpSpLocks/>
          </p:cNvGrpSpPr>
          <p:nvPr/>
        </p:nvGrpSpPr>
        <p:grpSpPr bwMode="auto">
          <a:xfrm>
            <a:off x="3481388" y="5429249"/>
            <a:ext cx="4249738" cy="563562"/>
            <a:chOff x="3015" y="3024"/>
            <a:chExt cx="2677" cy="355"/>
          </a:xfrm>
        </p:grpSpPr>
        <p:graphicFrame>
          <p:nvGraphicFramePr>
            <p:cNvPr id="38927" name="Object 15"/>
            <p:cNvGraphicFramePr>
              <a:graphicFrameLocks noChangeAspect="1"/>
            </p:cNvGraphicFramePr>
            <p:nvPr/>
          </p:nvGraphicFramePr>
          <p:xfrm>
            <a:off x="3015" y="3024"/>
            <a:ext cx="2496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27" r:id="rId11" imgW="1612900" imgH="228600" progId="Equation.3">
                    <p:embed/>
                  </p:oleObj>
                </mc:Choice>
                <mc:Fallback>
                  <p:oleObj r:id="rId11" imgW="16129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5" y="3024"/>
                          <a:ext cx="2496" cy="3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016" name="Text Box 104"/>
            <p:cNvSpPr txBox="1">
              <a:spLocks noChangeArrowheads="1"/>
            </p:cNvSpPr>
            <p:nvPr/>
          </p:nvSpPr>
          <p:spPr bwMode="auto">
            <a:xfrm>
              <a:off x="5421" y="3101"/>
              <a:ext cx="2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b="1"/>
                <a:t>V</a:t>
              </a:r>
            </a:p>
          </p:txBody>
        </p:sp>
      </p:grpSp>
      <p:sp>
        <p:nvSpPr>
          <p:cNvPr id="104" name="Text Box 9"/>
          <p:cNvSpPr txBox="1">
            <a:spLocks noChangeArrowheads="1"/>
          </p:cNvSpPr>
          <p:nvPr/>
        </p:nvSpPr>
        <p:spPr bwMode="auto">
          <a:xfrm>
            <a:off x="22225" y="70336"/>
            <a:ext cx="1695449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Example 5</a:t>
            </a:r>
            <a:endParaRPr kumimoji="1"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51142-E1EF-4721-85F8-37A18B2EA881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321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38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89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9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9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9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90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38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1703387" y="95736"/>
            <a:ext cx="693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b="1" dirty="0"/>
              <a:t>Given </a:t>
            </a:r>
            <a:r>
              <a:rPr kumimoji="0" lang="en-US" altLang="zh-CN" b="1" i="1" dirty="0" err="1">
                <a:cs typeface="Times New Roman" pitchFamily="18" charset="0"/>
              </a:rPr>
              <a:t>i</a:t>
            </a:r>
            <a:r>
              <a:rPr kumimoji="0" lang="en-US" altLang="zh-CN" b="1" baseline="-30000" dirty="0" err="1">
                <a:cs typeface="Times New Roman" pitchFamily="18" charset="0"/>
              </a:rPr>
              <a:t>L</a:t>
            </a:r>
            <a:r>
              <a:rPr kumimoji="0" lang="en-US" altLang="zh-CN" b="1" dirty="0">
                <a:cs typeface="Times New Roman" pitchFamily="18" charset="0"/>
              </a:rPr>
              <a:t>(0</a:t>
            </a:r>
            <a:r>
              <a:rPr kumimoji="0" lang="en-US" altLang="zh-CN" b="1" baseline="-30000" dirty="0"/>
              <a:t>+</a:t>
            </a:r>
            <a:r>
              <a:rPr kumimoji="0" lang="en-US" altLang="zh-CN" b="1" dirty="0">
                <a:cs typeface="Times New Roman" pitchFamily="18" charset="0"/>
              </a:rPr>
              <a:t>)=</a:t>
            </a:r>
            <a:r>
              <a:rPr kumimoji="0" lang="en-US" altLang="zh-CN" b="1" dirty="0"/>
              <a:t>150 mA, find </a:t>
            </a:r>
            <a:r>
              <a:rPr kumimoji="0" lang="en-US" altLang="zh-CN" b="1" i="1" dirty="0"/>
              <a:t>u</a:t>
            </a:r>
            <a:r>
              <a:rPr kumimoji="0" lang="en-US" altLang="zh-CN" b="1" dirty="0"/>
              <a:t>(</a:t>
            </a:r>
            <a:r>
              <a:rPr kumimoji="0" lang="en-US" altLang="zh-CN" b="1" i="1" dirty="0"/>
              <a:t>t</a:t>
            </a:r>
            <a:r>
              <a:rPr kumimoji="0" lang="en-US" altLang="zh-CN" b="1" dirty="0"/>
              <a:t>) for </a:t>
            </a:r>
            <a:r>
              <a:rPr kumimoji="0" lang="en-US" altLang="zh-CN" b="1" i="1" dirty="0"/>
              <a:t>t </a:t>
            </a:r>
            <a:r>
              <a:rPr kumimoji="0" lang="en-US" altLang="zh-CN" b="1" dirty="0"/>
              <a:t>&gt;0.</a:t>
            </a:r>
            <a:r>
              <a:rPr kumimoji="0" lang="en-US" altLang="zh-CN" b="1" dirty="0">
                <a:cs typeface="Times New Roman" pitchFamily="18" charset="0"/>
              </a:rPr>
              <a:t> </a:t>
            </a:r>
            <a:r>
              <a:rPr kumimoji="0" lang="en-US" altLang="zh-CN" b="1" dirty="0">
                <a:latin typeface="Tahoma" pitchFamily="34" charset="0"/>
              </a:rPr>
              <a:t> </a:t>
            </a:r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33337" y="3302001"/>
            <a:ext cx="360255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 dirty="0"/>
              <a:t>   </a:t>
            </a:r>
            <a:r>
              <a:rPr kumimoji="0" lang="en-US" altLang="zh-CN" b="1" dirty="0"/>
              <a:t>Firstly find equivalent resistance </a:t>
            </a:r>
            <a:r>
              <a:rPr kumimoji="0" lang="en-US" altLang="zh-CN" b="1" i="1" dirty="0" err="1">
                <a:cs typeface="Times New Roman" pitchFamily="18" charset="0"/>
              </a:rPr>
              <a:t>R</a:t>
            </a:r>
            <a:r>
              <a:rPr kumimoji="0" lang="en-US" altLang="zh-CN" b="1" baseline="-30000" dirty="0" err="1">
                <a:cs typeface="Times New Roman" pitchFamily="18" charset="0"/>
              </a:rPr>
              <a:t>eq</a:t>
            </a:r>
            <a:r>
              <a:rPr kumimoji="0" lang="en-US" altLang="zh-CN" b="1" baseline="-30000" dirty="0">
                <a:cs typeface="Times New Roman" pitchFamily="18" charset="0"/>
              </a:rPr>
              <a:t> </a:t>
            </a:r>
            <a:r>
              <a:rPr kumimoji="0" lang="en-US" altLang="zh-CN" b="1" dirty="0">
                <a:cs typeface="Times New Roman" pitchFamily="18" charset="0"/>
              </a:rPr>
              <a:t>with respect to the inductor terminals</a:t>
            </a:r>
            <a:r>
              <a:rPr kumimoji="0" lang="en-US" altLang="zh-CN" b="1" dirty="0"/>
              <a:t>. </a:t>
            </a:r>
            <a:r>
              <a:rPr kumimoji="0" lang="zh-CN" altLang="en-US" b="1" dirty="0">
                <a:latin typeface="Tahoma" pitchFamily="34" charset="0"/>
              </a:rPr>
              <a:t> </a:t>
            </a:r>
          </a:p>
        </p:txBody>
      </p:sp>
      <p:graphicFrame>
        <p:nvGraphicFramePr>
          <p:cNvPr id="39941" name="Object 5"/>
          <p:cNvGraphicFramePr>
            <a:graphicFrameLocks noChangeAspect="1"/>
          </p:cNvGraphicFramePr>
          <p:nvPr/>
        </p:nvGraphicFramePr>
        <p:xfrm>
          <a:off x="98425" y="4400550"/>
          <a:ext cx="3144838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7" r:id="rId4" imgW="1028700" imgH="190500" progId="Equation.3">
                  <p:embed/>
                </p:oleObj>
              </mc:Choice>
              <mc:Fallback>
                <p:oleObj r:id="rId4" imgW="1028700" imgH="19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25" y="4400550"/>
                        <a:ext cx="3144838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7"/>
          <p:cNvGraphicFramePr>
            <a:graphicFrameLocks noChangeAspect="1"/>
          </p:cNvGraphicFramePr>
          <p:nvPr/>
        </p:nvGraphicFramePr>
        <p:xfrm>
          <a:off x="84138" y="5575300"/>
          <a:ext cx="2873375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8" r:id="rId6" imgW="1193282" imgH="406224" progId="Equation.3">
                  <p:embed/>
                </p:oleObj>
              </mc:Choice>
              <mc:Fallback>
                <p:oleObj r:id="rId6" imgW="1193282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38" y="5575300"/>
                        <a:ext cx="2873375" cy="989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44" name="Group 8"/>
          <p:cNvGrpSpPr>
            <a:grpSpLocks/>
          </p:cNvGrpSpPr>
          <p:nvPr/>
        </p:nvGrpSpPr>
        <p:grpSpPr bwMode="auto">
          <a:xfrm>
            <a:off x="457200" y="792163"/>
            <a:ext cx="3733800" cy="2511425"/>
            <a:chOff x="288" y="499"/>
            <a:chExt cx="2352" cy="1582"/>
          </a:xfrm>
        </p:grpSpPr>
        <p:sp>
          <p:nvSpPr>
            <p:cNvPr id="39945" name="Text Box 9"/>
            <p:cNvSpPr txBox="1">
              <a:spLocks noChangeArrowheads="1"/>
            </p:cNvSpPr>
            <p:nvPr/>
          </p:nvSpPr>
          <p:spPr bwMode="auto">
            <a:xfrm>
              <a:off x="1391" y="1824"/>
              <a:ext cx="180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zh-CN" altLang="en-US" sz="1800" b="1"/>
                <a:t>(</a:t>
              </a:r>
              <a:r>
                <a:rPr kumimoji="0" lang="en-US" altLang="zh-CN" sz="1800" b="1"/>
                <a:t>a)</a:t>
              </a:r>
            </a:p>
          </p:txBody>
        </p:sp>
        <p:sp>
          <p:nvSpPr>
            <p:cNvPr id="39946" name="Text Box 10"/>
            <p:cNvSpPr txBox="1">
              <a:spLocks noChangeArrowheads="1"/>
            </p:cNvSpPr>
            <p:nvPr/>
          </p:nvSpPr>
          <p:spPr bwMode="auto">
            <a:xfrm>
              <a:off x="2133" y="1087"/>
              <a:ext cx="50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zh-CN" altLang="en-US" sz="2000" b="1"/>
                <a:t>0.1</a:t>
              </a:r>
              <a:r>
                <a:rPr kumimoji="0" lang="en-US" altLang="zh-CN" sz="2000" b="1" i="1"/>
                <a:t>u</a:t>
              </a:r>
              <a:endParaRPr kumimoji="0" lang="en-US" altLang="zh-CN" sz="2000" b="1"/>
            </a:p>
          </p:txBody>
        </p:sp>
        <p:sp>
          <p:nvSpPr>
            <p:cNvPr id="39947" name="Text Box 11"/>
            <p:cNvSpPr txBox="1">
              <a:spLocks noChangeArrowheads="1"/>
            </p:cNvSpPr>
            <p:nvPr/>
          </p:nvSpPr>
          <p:spPr bwMode="auto">
            <a:xfrm>
              <a:off x="1571" y="1036"/>
              <a:ext cx="292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zh-CN" altLang="en-US" sz="2000" b="1"/>
                <a:t>4</a:t>
              </a:r>
              <a:r>
                <a:rPr kumimoji="0" lang="en-US" altLang="zh-CN" sz="2000" b="1"/>
                <a:t>Ω</a:t>
              </a:r>
            </a:p>
          </p:txBody>
        </p:sp>
        <p:sp>
          <p:nvSpPr>
            <p:cNvPr id="39948" name="Text Box 12"/>
            <p:cNvSpPr txBox="1">
              <a:spLocks noChangeArrowheads="1"/>
            </p:cNvSpPr>
            <p:nvPr/>
          </p:nvSpPr>
          <p:spPr bwMode="auto">
            <a:xfrm>
              <a:off x="1121" y="689"/>
              <a:ext cx="337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zh-CN" altLang="en-US" sz="2000" b="1"/>
                <a:t>6</a:t>
              </a:r>
              <a:r>
                <a:rPr kumimoji="0" lang="en-US" altLang="zh-CN" sz="2000" b="1"/>
                <a:t>Ω</a:t>
              </a:r>
            </a:p>
          </p:txBody>
        </p:sp>
        <p:sp>
          <p:nvSpPr>
            <p:cNvPr id="39949" name="Text Box 13"/>
            <p:cNvSpPr txBox="1">
              <a:spLocks noChangeArrowheads="1"/>
            </p:cNvSpPr>
            <p:nvPr/>
          </p:nvSpPr>
          <p:spPr bwMode="auto">
            <a:xfrm>
              <a:off x="288" y="1005"/>
              <a:ext cx="263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en-US" altLang="zh-CN" sz="1800" b="1" i="1"/>
                <a:t>u</a:t>
              </a:r>
              <a:r>
                <a:rPr kumimoji="0" lang="en-US" altLang="zh-CN" sz="1800" b="1"/>
                <a:t>(</a:t>
              </a:r>
              <a:r>
                <a:rPr kumimoji="0" lang="en-US" altLang="zh-CN" sz="1800" b="1" i="1"/>
                <a:t>t</a:t>
              </a:r>
              <a:r>
                <a:rPr kumimoji="0" lang="en-US" altLang="zh-CN" sz="1800" b="1"/>
                <a:t>)</a:t>
              </a:r>
            </a:p>
          </p:txBody>
        </p:sp>
        <p:sp>
          <p:nvSpPr>
            <p:cNvPr id="39950" name="Text Box 14"/>
            <p:cNvSpPr txBox="1">
              <a:spLocks noChangeArrowheads="1"/>
            </p:cNvSpPr>
            <p:nvPr/>
          </p:nvSpPr>
          <p:spPr bwMode="auto">
            <a:xfrm>
              <a:off x="450" y="1254"/>
              <a:ext cx="91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zh-CN" altLang="en-US" sz="2000" b="1"/>
                <a:t>–</a:t>
              </a:r>
            </a:p>
          </p:txBody>
        </p:sp>
        <p:sp>
          <p:nvSpPr>
            <p:cNvPr id="39951" name="Text Box 15"/>
            <p:cNvSpPr txBox="1">
              <a:spLocks noChangeArrowheads="1"/>
            </p:cNvSpPr>
            <p:nvPr/>
          </p:nvSpPr>
          <p:spPr bwMode="auto">
            <a:xfrm>
              <a:off x="450" y="720"/>
              <a:ext cx="91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zh-CN" altLang="en-US" sz="2000" b="1"/>
                <a:t>+</a:t>
              </a:r>
            </a:p>
          </p:txBody>
        </p:sp>
        <p:sp>
          <p:nvSpPr>
            <p:cNvPr id="39952" name="Rectangle 16"/>
            <p:cNvSpPr>
              <a:spLocks noChangeArrowheads="1"/>
            </p:cNvSpPr>
            <p:nvPr/>
          </p:nvSpPr>
          <p:spPr bwMode="auto">
            <a:xfrm>
              <a:off x="1458" y="942"/>
              <a:ext cx="90" cy="379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3" name="Line 17"/>
            <p:cNvSpPr>
              <a:spLocks noChangeShapeType="1"/>
            </p:cNvSpPr>
            <p:nvPr/>
          </p:nvSpPr>
          <p:spPr bwMode="auto">
            <a:xfrm>
              <a:off x="1503" y="562"/>
              <a:ext cx="0" cy="3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4" name="Line 18"/>
            <p:cNvSpPr>
              <a:spLocks noChangeShapeType="1"/>
            </p:cNvSpPr>
            <p:nvPr/>
          </p:nvSpPr>
          <p:spPr bwMode="auto">
            <a:xfrm>
              <a:off x="1503" y="1321"/>
              <a:ext cx="0" cy="3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5" name="Text Box 19"/>
            <p:cNvSpPr txBox="1">
              <a:spLocks noChangeArrowheads="1"/>
            </p:cNvSpPr>
            <p:nvPr/>
          </p:nvSpPr>
          <p:spPr bwMode="auto">
            <a:xfrm>
              <a:off x="630" y="625"/>
              <a:ext cx="135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en-US" altLang="zh-CN" sz="1600" b="1" i="1"/>
                <a:t>i</a:t>
              </a:r>
              <a:r>
                <a:rPr kumimoji="0" lang="en-US" altLang="zh-CN" sz="1600" b="1" baseline="-25000"/>
                <a:t>L</a:t>
              </a:r>
              <a:endParaRPr kumimoji="0" lang="en-US" altLang="zh-CN" sz="1600" b="1" i="1"/>
            </a:p>
          </p:txBody>
        </p:sp>
        <p:sp>
          <p:nvSpPr>
            <p:cNvPr id="39956" name="Text Box 20"/>
            <p:cNvSpPr txBox="1">
              <a:spLocks noChangeArrowheads="1"/>
            </p:cNvSpPr>
            <p:nvPr/>
          </p:nvSpPr>
          <p:spPr bwMode="auto">
            <a:xfrm>
              <a:off x="635" y="1036"/>
              <a:ext cx="517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zh-CN" altLang="en-US" sz="2000" b="1"/>
                <a:t>1/2</a:t>
              </a:r>
              <a:r>
                <a:rPr kumimoji="0" lang="en-US" altLang="zh-CN" sz="2000" b="1"/>
                <a:t>H</a:t>
              </a:r>
            </a:p>
          </p:txBody>
        </p:sp>
        <p:grpSp>
          <p:nvGrpSpPr>
            <p:cNvPr id="39957" name="Group 21"/>
            <p:cNvGrpSpPr>
              <a:grpSpLocks/>
            </p:cNvGrpSpPr>
            <p:nvPr/>
          </p:nvGrpSpPr>
          <p:grpSpPr bwMode="auto">
            <a:xfrm>
              <a:off x="585" y="815"/>
              <a:ext cx="45" cy="632"/>
              <a:chOff x="3704" y="3004"/>
              <a:chExt cx="68" cy="680"/>
            </a:xfrm>
          </p:grpSpPr>
          <p:grpSp>
            <p:nvGrpSpPr>
              <p:cNvPr id="39958" name="Group 22"/>
              <p:cNvGrpSpPr>
                <a:grpSpLocks/>
              </p:cNvGrpSpPr>
              <p:nvPr/>
            </p:nvGrpSpPr>
            <p:grpSpPr bwMode="auto">
              <a:xfrm>
                <a:off x="3704" y="3140"/>
                <a:ext cx="68" cy="136"/>
                <a:chOff x="3704" y="3004"/>
                <a:chExt cx="68" cy="136"/>
              </a:xfrm>
            </p:grpSpPr>
            <p:sp>
              <p:nvSpPr>
                <p:cNvPr id="39959" name="Arc 23"/>
                <p:cNvSpPr>
                  <a:spLocks/>
                </p:cNvSpPr>
                <p:nvPr/>
              </p:nvSpPr>
              <p:spPr bwMode="auto">
                <a:xfrm flipV="1">
                  <a:off x="3704" y="3072"/>
                  <a:ext cx="68" cy="6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960" name="Arc 24"/>
                <p:cNvSpPr>
                  <a:spLocks/>
                </p:cNvSpPr>
                <p:nvPr/>
              </p:nvSpPr>
              <p:spPr bwMode="auto">
                <a:xfrm>
                  <a:off x="3704" y="3004"/>
                  <a:ext cx="68" cy="6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961" name="Group 25"/>
              <p:cNvGrpSpPr>
                <a:grpSpLocks/>
              </p:cNvGrpSpPr>
              <p:nvPr/>
            </p:nvGrpSpPr>
            <p:grpSpPr bwMode="auto">
              <a:xfrm>
                <a:off x="3704" y="3276"/>
                <a:ext cx="68" cy="136"/>
                <a:chOff x="3704" y="3004"/>
                <a:chExt cx="68" cy="136"/>
              </a:xfrm>
            </p:grpSpPr>
            <p:sp>
              <p:nvSpPr>
                <p:cNvPr id="39962" name="Arc 26"/>
                <p:cNvSpPr>
                  <a:spLocks/>
                </p:cNvSpPr>
                <p:nvPr/>
              </p:nvSpPr>
              <p:spPr bwMode="auto">
                <a:xfrm flipV="1">
                  <a:off x="3704" y="3072"/>
                  <a:ext cx="68" cy="6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963" name="Arc 27"/>
                <p:cNvSpPr>
                  <a:spLocks/>
                </p:cNvSpPr>
                <p:nvPr/>
              </p:nvSpPr>
              <p:spPr bwMode="auto">
                <a:xfrm>
                  <a:off x="3704" y="3004"/>
                  <a:ext cx="68" cy="6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964" name="Group 28"/>
              <p:cNvGrpSpPr>
                <a:grpSpLocks/>
              </p:cNvGrpSpPr>
              <p:nvPr/>
            </p:nvGrpSpPr>
            <p:grpSpPr bwMode="auto">
              <a:xfrm>
                <a:off x="3704" y="3412"/>
                <a:ext cx="68" cy="136"/>
                <a:chOff x="3704" y="3004"/>
                <a:chExt cx="68" cy="136"/>
              </a:xfrm>
            </p:grpSpPr>
            <p:sp>
              <p:nvSpPr>
                <p:cNvPr id="39965" name="Arc 29"/>
                <p:cNvSpPr>
                  <a:spLocks/>
                </p:cNvSpPr>
                <p:nvPr/>
              </p:nvSpPr>
              <p:spPr bwMode="auto">
                <a:xfrm flipV="1">
                  <a:off x="3704" y="3072"/>
                  <a:ext cx="68" cy="6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966" name="Arc 30"/>
                <p:cNvSpPr>
                  <a:spLocks/>
                </p:cNvSpPr>
                <p:nvPr/>
              </p:nvSpPr>
              <p:spPr bwMode="auto">
                <a:xfrm>
                  <a:off x="3704" y="3004"/>
                  <a:ext cx="68" cy="6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9967" name="Line 31"/>
              <p:cNvSpPr>
                <a:spLocks noChangeShapeType="1"/>
              </p:cNvSpPr>
              <p:nvPr/>
            </p:nvSpPr>
            <p:spPr bwMode="auto">
              <a:xfrm>
                <a:off x="3704" y="3004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8" name="Line 32"/>
              <p:cNvSpPr>
                <a:spLocks noChangeShapeType="1"/>
              </p:cNvSpPr>
              <p:nvPr/>
            </p:nvSpPr>
            <p:spPr bwMode="auto">
              <a:xfrm>
                <a:off x="3704" y="3548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9969" name="Line 33"/>
            <p:cNvSpPr>
              <a:spLocks noChangeShapeType="1"/>
            </p:cNvSpPr>
            <p:nvPr/>
          </p:nvSpPr>
          <p:spPr bwMode="auto">
            <a:xfrm>
              <a:off x="585" y="1416"/>
              <a:ext cx="0" cy="2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0" name="Rectangle 34"/>
            <p:cNvSpPr>
              <a:spLocks noChangeArrowheads="1"/>
            </p:cNvSpPr>
            <p:nvPr/>
          </p:nvSpPr>
          <p:spPr bwMode="auto">
            <a:xfrm>
              <a:off x="1053" y="499"/>
              <a:ext cx="270" cy="12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1" name="Line 35"/>
            <p:cNvSpPr>
              <a:spLocks noChangeShapeType="1"/>
            </p:cNvSpPr>
            <p:nvPr/>
          </p:nvSpPr>
          <p:spPr bwMode="auto">
            <a:xfrm>
              <a:off x="585" y="562"/>
              <a:ext cx="4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9972" name="Group 36"/>
            <p:cNvGrpSpPr>
              <a:grpSpLocks/>
            </p:cNvGrpSpPr>
            <p:nvPr/>
          </p:nvGrpSpPr>
          <p:grpSpPr bwMode="auto">
            <a:xfrm>
              <a:off x="1863" y="1005"/>
              <a:ext cx="180" cy="253"/>
              <a:chOff x="4384" y="10824"/>
              <a:chExt cx="272" cy="272"/>
            </a:xfrm>
          </p:grpSpPr>
          <p:sp>
            <p:nvSpPr>
              <p:cNvPr id="39973" name="Line 37"/>
              <p:cNvSpPr>
                <a:spLocks noChangeShapeType="1"/>
              </p:cNvSpPr>
              <p:nvPr/>
            </p:nvSpPr>
            <p:spPr bwMode="auto">
              <a:xfrm flipH="1">
                <a:off x="4384" y="10824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4" name="Line 38"/>
              <p:cNvSpPr>
                <a:spLocks noChangeShapeType="1"/>
              </p:cNvSpPr>
              <p:nvPr/>
            </p:nvSpPr>
            <p:spPr bwMode="auto">
              <a:xfrm>
                <a:off x="4384" y="1096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5" name="Line 39"/>
              <p:cNvSpPr>
                <a:spLocks noChangeShapeType="1"/>
              </p:cNvSpPr>
              <p:nvPr/>
            </p:nvSpPr>
            <p:spPr bwMode="auto">
              <a:xfrm>
                <a:off x="4520" y="10824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6" name="Line 40"/>
              <p:cNvSpPr>
                <a:spLocks noChangeShapeType="1"/>
              </p:cNvSpPr>
              <p:nvPr/>
            </p:nvSpPr>
            <p:spPr bwMode="auto">
              <a:xfrm flipH="1">
                <a:off x="4520" y="1096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7" name="Line 41"/>
              <p:cNvSpPr>
                <a:spLocks noChangeShapeType="1"/>
              </p:cNvSpPr>
              <p:nvPr/>
            </p:nvSpPr>
            <p:spPr bwMode="auto">
              <a:xfrm>
                <a:off x="4384" y="10960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9978" name="Line 42"/>
            <p:cNvSpPr>
              <a:spLocks noChangeShapeType="1"/>
            </p:cNvSpPr>
            <p:nvPr/>
          </p:nvSpPr>
          <p:spPr bwMode="auto">
            <a:xfrm>
              <a:off x="576" y="1700"/>
              <a:ext cx="13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9" name="Line 43"/>
            <p:cNvSpPr>
              <a:spLocks noChangeShapeType="1"/>
            </p:cNvSpPr>
            <p:nvPr/>
          </p:nvSpPr>
          <p:spPr bwMode="auto">
            <a:xfrm flipV="1">
              <a:off x="1953" y="1258"/>
              <a:ext cx="0" cy="4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0" name="Line 44"/>
            <p:cNvSpPr>
              <a:spLocks noChangeShapeType="1"/>
            </p:cNvSpPr>
            <p:nvPr/>
          </p:nvSpPr>
          <p:spPr bwMode="auto">
            <a:xfrm>
              <a:off x="1323" y="562"/>
              <a:ext cx="6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1" name="Line 45"/>
            <p:cNvSpPr>
              <a:spLocks noChangeShapeType="1"/>
            </p:cNvSpPr>
            <p:nvPr/>
          </p:nvSpPr>
          <p:spPr bwMode="auto">
            <a:xfrm>
              <a:off x="1953" y="562"/>
              <a:ext cx="0" cy="4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2" name="Line 46"/>
            <p:cNvSpPr>
              <a:spLocks noChangeShapeType="1"/>
            </p:cNvSpPr>
            <p:nvPr/>
          </p:nvSpPr>
          <p:spPr bwMode="auto">
            <a:xfrm>
              <a:off x="585" y="562"/>
              <a:ext cx="0" cy="2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3" name="Line 47"/>
            <p:cNvSpPr>
              <a:spLocks noChangeShapeType="1"/>
            </p:cNvSpPr>
            <p:nvPr/>
          </p:nvSpPr>
          <p:spPr bwMode="auto">
            <a:xfrm flipV="1">
              <a:off x="2088" y="1005"/>
              <a:ext cx="0" cy="2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4" name="Line 48"/>
            <p:cNvSpPr>
              <a:spLocks noChangeShapeType="1"/>
            </p:cNvSpPr>
            <p:nvPr/>
          </p:nvSpPr>
          <p:spPr bwMode="auto">
            <a:xfrm flipV="1">
              <a:off x="585" y="689"/>
              <a:ext cx="0" cy="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985" name="Group 49"/>
          <p:cNvGrpSpPr>
            <a:grpSpLocks/>
          </p:cNvGrpSpPr>
          <p:nvPr/>
        </p:nvGrpSpPr>
        <p:grpSpPr bwMode="auto">
          <a:xfrm>
            <a:off x="468313" y="914400"/>
            <a:ext cx="1195387" cy="1806575"/>
            <a:chOff x="2880" y="693"/>
            <a:chExt cx="753" cy="1138"/>
          </a:xfrm>
        </p:grpSpPr>
        <p:sp useBgFill="1">
          <p:nvSpPr>
            <p:cNvPr id="39986" name="Rectangle 50"/>
            <p:cNvSpPr>
              <a:spLocks noChangeArrowheads="1"/>
            </p:cNvSpPr>
            <p:nvPr/>
          </p:nvSpPr>
          <p:spPr bwMode="auto">
            <a:xfrm>
              <a:off x="2880" y="756"/>
              <a:ext cx="672" cy="1038"/>
            </a:xfrm>
            <a:prstGeom prst="rect">
              <a:avLst/>
            </a:pr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7" name="Oval 51"/>
            <p:cNvSpPr>
              <a:spLocks noChangeArrowheads="1"/>
            </p:cNvSpPr>
            <p:nvPr/>
          </p:nvSpPr>
          <p:spPr bwMode="auto">
            <a:xfrm>
              <a:off x="3019" y="1101"/>
              <a:ext cx="315" cy="2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8" name="Line 52"/>
            <p:cNvSpPr>
              <a:spLocks noChangeShapeType="1"/>
            </p:cNvSpPr>
            <p:nvPr/>
          </p:nvSpPr>
          <p:spPr bwMode="auto">
            <a:xfrm>
              <a:off x="3168" y="693"/>
              <a:ext cx="0" cy="11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989" name="Text Box 53"/>
            <p:cNvSpPr txBox="1">
              <a:spLocks noChangeArrowheads="1"/>
            </p:cNvSpPr>
            <p:nvPr/>
          </p:nvSpPr>
          <p:spPr bwMode="auto">
            <a:xfrm>
              <a:off x="3370" y="1036"/>
              <a:ext cx="263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en-US" altLang="zh-CN" i="1"/>
                <a:t>u</a:t>
              </a:r>
              <a:endParaRPr kumimoji="0" lang="en-US" altLang="zh-CN"/>
            </a:p>
          </p:txBody>
        </p:sp>
        <p:sp>
          <p:nvSpPr>
            <p:cNvPr id="39990" name="Text Box 54"/>
            <p:cNvSpPr txBox="1">
              <a:spLocks noChangeArrowheads="1"/>
            </p:cNvSpPr>
            <p:nvPr/>
          </p:nvSpPr>
          <p:spPr bwMode="auto">
            <a:xfrm>
              <a:off x="3370" y="1372"/>
              <a:ext cx="91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zh-CN" altLang="en-US" sz="2000"/>
                <a:t>–</a:t>
              </a:r>
            </a:p>
          </p:txBody>
        </p:sp>
        <p:sp>
          <p:nvSpPr>
            <p:cNvPr id="39991" name="Text Box 55"/>
            <p:cNvSpPr txBox="1">
              <a:spLocks noChangeArrowheads="1"/>
            </p:cNvSpPr>
            <p:nvPr/>
          </p:nvSpPr>
          <p:spPr bwMode="auto">
            <a:xfrm>
              <a:off x="3339" y="838"/>
              <a:ext cx="91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zh-CN" altLang="en-US" sz="2000"/>
                <a:t>+</a:t>
              </a:r>
            </a:p>
          </p:txBody>
        </p:sp>
      </p:grpSp>
      <p:grpSp>
        <p:nvGrpSpPr>
          <p:cNvPr id="40033" name="Group 97"/>
          <p:cNvGrpSpPr>
            <a:grpSpLocks/>
          </p:cNvGrpSpPr>
          <p:nvPr/>
        </p:nvGrpSpPr>
        <p:grpSpPr bwMode="auto">
          <a:xfrm>
            <a:off x="925513" y="933450"/>
            <a:ext cx="514350" cy="407988"/>
            <a:chOff x="2256" y="624"/>
            <a:chExt cx="324" cy="257"/>
          </a:xfrm>
        </p:grpSpPr>
        <p:sp>
          <p:nvSpPr>
            <p:cNvPr id="39993" name="Line 57"/>
            <p:cNvSpPr>
              <a:spLocks noChangeShapeType="1"/>
            </p:cNvSpPr>
            <p:nvPr/>
          </p:nvSpPr>
          <p:spPr bwMode="auto">
            <a:xfrm flipV="1">
              <a:off x="2256" y="723"/>
              <a:ext cx="0" cy="158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994" name="Text Box 58"/>
            <p:cNvSpPr txBox="1">
              <a:spLocks noChangeArrowheads="1"/>
            </p:cNvSpPr>
            <p:nvPr/>
          </p:nvSpPr>
          <p:spPr bwMode="auto">
            <a:xfrm>
              <a:off x="2317" y="624"/>
              <a:ext cx="263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en-US" altLang="zh-CN" i="1"/>
                <a:t>i</a:t>
              </a:r>
              <a:endParaRPr kumimoji="0" lang="en-US" altLang="zh-CN"/>
            </a:p>
          </p:txBody>
        </p:sp>
      </p:grpSp>
      <p:sp>
        <p:nvSpPr>
          <p:cNvPr id="39995" name="Rectangle 59"/>
          <p:cNvSpPr>
            <a:spLocks noChangeArrowheads="1"/>
          </p:cNvSpPr>
          <p:nvPr/>
        </p:nvSpPr>
        <p:spPr bwMode="auto">
          <a:xfrm>
            <a:off x="1779588" y="2895600"/>
            <a:ext cx="1039812" cy="4079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kumimoji="0" lang="zh-CN" altLang="en-US" sz="1800">
                <a:latin typeface="Tahoma" pitchFamily="34" charset="0"/>
              </a:rPr>
              <a:t>(</a:t>
            </a:r>
            <a:r>
              <a:rPr kumimoji="0" lang="en-US" altLang="zh-CN" sz="1800">
                <a:latin typeface="Tahoma" pitchFamily="34" charset="0"/>
              </a:rPr>
              <a:t>b)</a:t>
            </a:r>
          </a:p>
        </p:txBody>
      </p:sp>
      <p:sp>
        <p:nvSpPr>
          <p:cNvPr id="39996" name="Text Box 60"/>
          <p:cNvSpPr txBox="1">
            <a:spLocks noChangeArrowheads="1"/>
          </p:cNvSpPr>
          <p:nvPr/>
        </p:nvSpPr>
        <p:spPr bwMode="auto">
          <a:xfrm>
            <a:off x="4154487" y="3099595"/>
            <a:ext cx="416192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b="1" dirty="0">
                <a:latin typeface="+mj-ea"/>
                <a:ea typeface="+mj-ea"/>
              </a:rPr>
              <a:t>Then find the main unknown variable </a:t>
            </a:r>
            <a:r>
              <a:rPr kumimoji="0" lang="en-US" altLang="zh-CN" b="1" i="1" dirty="0" err="1">
                <a:latin typeface="+mj-ea"/>
                <a:ea typeface="+mj-ea"/>
              </a:rPr>
              <a:t>i</a:t>
            </a:r>
            <a:r>
              <a:rPr kumimoji="0" lang="en-US" altLang="zh-CN" b="1" baseline="-25000" dirty="0" err="1">
                <a:latin typeface="+mj-ea"/>
                <a:ea typeface="+mj-ea"/>
              </a:rPr>
              <a:t>L</a:t>
            </a:r>
            <a:endParaRPr kumimoji="0" lang="en-US" altLang="zh-CN" b="1" baseline="-25000" dirty="0">
              <a:latin typeface="+mj-ea"/>
              <a:ea typeface="+mj-ea"/>
            </a:endParaRPr>
          </a:p>
        </p:txBody>
      </p:sp>
      <p:graphicFrame>
        <p:nvGraphicFramePr>
          <p:cNvPr id="39997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29394"/>
              </p:ext>
            </p:extLst>
          </p:nvPr>
        </p:nvGraphicFramePr>
        <p:xfrm>
          <a:off x="3987800" y="3683180"/>
          <a:ext cx="470852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9" name="Equation" r:id="rId8" imgW="1930320" imgH="330120" progId="Equation.3">
                  <p:embed/>
                </p:oleObj>
              </mc:Choice>
              <mc:Fallback>
                <p:oleObj name="Equation" r:id="rId8" imgW="193032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800" y="3683180"/>
                        <a:ext cx="4708525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98" name="Text Box 62"/>
          <p:cNvSpPr txBox="1">
            <a:spLocks noChangeArrowheads="1"/>
          </p:cNvSpPr>
          <p:nvPr/>
        </p:nvSpPr>
        <p:spPr bwMode="auto">
          <a:xfrm>
            <a:off x="6081713" y="2813050"/>
            <a:ext cx="285750" cy="407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just" eaLnBrk="0" hangingPunct="0"/>
            <a:r>
              <a:rPr kumimoji="0" lang="zh-CN" altLang="en-US" sz="2000"/>
              <a:t>(</a:t>
            </a:r>
            <a:r>
              <a:rPr kumimoji="0" lang="en-US" altLang="zh-CN" sz="2000"/>
              <a:t>c)</a:t>
            </a:r>
          </a:p>
        </p:txBody>
      </p:sp>
      <p:grpSp>
        <p:nvGrpSpPr>
          <p:cNvPr id="39999" name="Group 63"/>
          <p:cNvGrpSpPr>
            <a:grpSpLocks/>
          </p:cNvGrpSpPr>
          <p:nvPr/>
        </p:nvGrpSpPr>
        <p:grpSpPr bwMode="auto">
          <a:xfrm>
            <a:off x="4154488" y="990600"/>
            <a:ext cx="417512" cy="1254125"/>
            <a:chOff x="2784" y="668"/>
            <a:chExt cx="263" cy="790"/>
          </a:xfrm>
        </p:grpSpPr>
        <p:sp>
          <p:nvSpPr>
            <p:cNvPr id="40000" name="Text Box 64"/>
            <p:cNvSpPr txBox="1">
              <a:spLocks noChangeArrowheads="1"/>
            </p:cNvSpPr>
            <p:nvPr/>
          </p:nvSpPr>
          <p:spPr bwMode="auto">
            <a:xfrm>
              <a:off x="2784" y="953"/>
              <a:ext cx="263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en-US" altLang="zh-CN" sz="1800" b="1" i="1"/>
                <a:t>u</a:t>
              </a:r>
              <a:r>
                <a:rPr kumimoji="0" lang="en-US" altLang="zh-CN" sz="1800" b="1"/>
                <a:t>(</a:t>
              </a:r>
              <a:r>
                <a:rPr kumimoji="0" lang="en-US" altLang="zh-CN" sz="1800" b="1" i="1"/>
                <a:t>t</a:t>
              </a:r>
              <a:r>
                <a:rPr kumimoji="0" lang="en-US" altLang="zh-CN" sz="1800" b="1"/>
                <a:t>)</a:t>
              </a:r>
            </a:p>
          </p:txBody>
        </p:sp>
        <p:sp>
          <p:nvSpPr>
            <p:cNvPr id="40001" name="Text Box 65"/>
            <p:cNvSpPr txBox="1">
              <a:spLocks noChangeArrowheads="1"/>
            </p:cNvSpPr>
            <p:nvPr/>
          </p:nvSpPr>
          <p:spPr bwMode="auto">
            <a:xfrm>
              <a:off x="2956" y="1202"/>
              <a:ext cx="91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zh-CN" altLang="en-US" sz="2000"/>
                <a:t>–</a:t>
              </a:r>
            </a:p>
          </p:txBody>
        </p:sp>
        <p:sp>
          <p:nvSpPr>
            <p:cNvPr id="40002" name="Text Box 66"/>
            <p:cNvSpPr txBox="1">
              <a:spLocks noChangeArrowheads="1"/>
            </p:cNvSpPr>
            <p:nvPr/>
          </p:nvSpPr>
          <p:spPr bwMode="auto">
            <a:xfrm>
              <a:off x="2956" y="668"/>
              <a:ext cx="91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zh-CN" altLang="en-US" sz="2000"/>
                <a:t>+</a:t>
              </a:r>
            </a:p>
          </p:txBody>
        </p:sp>
      </p:grpSp>
      <p:grpSp>
        <p:nvGrpSpPr>
          <p:cNvPr id="40003" name="Group 67"/>
          <p:cNvGrpSpPr>
            <a:grpSpLocks/>
          </p:cNvGrpSpPr>
          <p:nvPr/>
        </p:nvGrpSpPr>
        <p:grpSpPr bwMode="auto">
          <a:xfrm>
            <a:off x="4694238" y="804863"/>
            <a:ext cx="3276600" cy="1824037"/>
            <a:chOff x="3216" y="499"/>
            <a:chExt cx="2064" cy="1149"/>
          </a:xfrm>
        </p:grpSpPr>
        <p:sp>
          <p:nvSpPr>
            <p:cNvPr id="40004" name="Text Box 68"/>
            <p:cNvSpPr txBox="1">
              <a:spLocks noChangeArrowheads="1"/>
            </p:cNvSpPr>
            <p:nvPr/>
          </p:nvSpPr>
          <p:spPr bwMode="auto">
            <a:xfrm>
              <a:off x="4739" y="973"/>
              <a:ext cx="541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zh-CN" altLang="en-US" sz="2000"/>
                <a:t>50/3</a:t>
              </a:r>
              <a:r>
                <a:rPr kumimoji="0" lang="en-US" altLang="zh-CN" sz="2000"/>
                <a:t>Ω</a:t>
              </a:r>
            </a:p>
          </p:txBody>
        </p:sp>
        <p:sp>
          <p:nvSpPr>
            <p:cNvPr id="40005" name="Rectangle 69"/>
            <p:cNvSpPr>
              <a:spLocks noChangeArrowheads="1"/>
            </p:cNvSpPr>
            <p:nvPr/>
          </p:nvSpPr>
          <p:spPr bwMode="auto">
            <a:xfrm>
              <a:off x="4524" y="879"/>
              <a:ext cx="90" cy="379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6" name="Line 70"/>
            <p:cNvSpPr>
              <a:spLocks noChangeShapeType="1"/>
            </p:cNvSpPr>
            <p:nvPr/>
          </p:nvSpPr>
          <p:spPr bwMode="auto">
            <a:xfrm>
              <a:off x="4569" y="499"/>
              <a:ext cx="0" cy="3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7" name="Line 71"/>
            <p:cNvSpPr>
              <a:spLocks noChangeShapeType="1"/>
            </p:cNvSpPr>
            <p:nvPr/>
          </p:nvSpPr>
          <p:spPr bwMode="auto">
            <a:xfrm>
              <a:off x="4569" y="1258"/>
              <a:ext cx="0" cy="3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8" name="Text Box 72"/>
            <p:cNvSpPr txBox="1">
              <a:spLocks noChangeArrowheads="1"/>
            </p:cNvSpPr>
            <p:nvPr/>
          </p:nvSpPr>
          <p:spPr bwMode="auto">
            <a:xfrm>
              <a:off x="3405" y="953"/>
              <a:ext cx="517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en-US" altLang="zh-CN" sz="2000"/>
                <a:t>L=0.5H</a:t>
              </a:r>
            </a:p>
          </p:txBody>
        </p:sp>
        <p:grpSp>
          <p:nvGrpSpPr>
            <p:cNvPr id="40009" name="Group 73"/>
            <p:cNvGrpSpPr>
              <a:grpSpLocks/>
            </p:cNvGrpSpPr>
            <p:nvPr/>
          </p:nvGrpSpPr>
          <p:grpSpPr bwMode="auto">
            <a:xfrm>
              <a:off x="3225" y="763"/>
              <a:ext cx="45" cy="632"/>
              <a:chOff x="3704" y="3004"/>
              <a:chExt cx="68" cy="680"/>
            </a:xfrm>
          </p:grpSpPr>
          <p:grpSp>
            <p:nvGrpSpPr>
              <p:cNvPr id="40010" name="Group 74"/>
              <p:cNvGrpSpPr>
                <a:grpSpLocks/>
              </p:cNvGrpSpPr>
              <p:nvPr/>
            </p:nvGrpSpPr>
            <p:grpSpPr bwMode="auto">
              <a:xfrm>
                <a:off x="3704" y="3140"/>
                <a:ext cx="68" cy="136"/>
                <a:chOff x="3704" y="3004"/>
                <a:chExt cx="68" cy="136"/>
              </a:xfrm>
            </p:grpSpPr>
            <p:sp>
              <p:nvSpPr>
                <p:cNvPr id="40011" name="Arc 75"/>
                <p:cNvSpPr>
                  <a:spLocks/>
                </p:cNvSpPr>
                <p:nvPr/>
              </p:nvSpPr>
              <p:spPr bwMode="auto">
                <a:xfrm flipV="1">
                  <a:off x="3704" y="3072"/>
                  <a:ext cx="68" cy="6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012" name="Arc 76"/>
                <p:cNvSpPr>
                  <a:spLocks/>
                </p:cNvSpPr>
                <p:nvPr/>
              </p:nvSpPr>
              <p:spPr bwMode="auto">
                <a:xfrm>
                  <a:off x="3704" y="3004"/>
                  <a:ext cx="68" cy="6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013" name="Group 77"/>
              <p:cNvGrpSpPr>
                <a:grpSpLocks/>
              </p:cNvGrpSpPr>
              <p:nvPr/>
            </p:nvGrpSpPr>
            <p:grpSpPr bwMode="auto">
              <a:xfrm>
                <a:off x="3704" y="3276"/>
                <a:ext cx="68" cy="136"/>
                <a:chOff x="3704" y="3004"/>
                <a:chExt cx="68" cy="136"/>
              </a:xfrm>
            </p:grpSpPr>
            <p:sp>
              <p:nvSpPr>
                <p:cNvPr id="40014" name="Arc 78"/>
                <p:cNvSpPr>
                  <a:spLocks/>
                </p:cNvSpPr>
                <p:nvPr/>
              </p:nvSpPr>
              <p:spPr bwMode="auto">
                <a:xfrm flipV="1">
                  <a:off x="3704" y="3072"/>
                  <a:ext cx="68" cy="6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015" name="Arc 79"/>
                <p:cNvSpPr>
                  <a:spLocks/>
                </p:cNvSpPr>
                <p:nvPr/>
              </p:nvSpPr>
              <p:spPr bwMode="auto">
                <a:xfrm>
                  <a:off x="3704" y="3004"/>
                  <a:ext cx="68" cy="6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016" name="Group 80"/>
              <p:cNvGrpSpPr>
                <a:grpSpLocks/>
              </p:cNvGrpSpPr>
              <p:nvPr/>
            </p:nvGrpSpPr>
            <p:grpSpPr bwMode="auto">
              <a:xfrm>
                <a:off x="3704" y="3412"/>
                <a:ext cx="68" cy="136"/>
                <a:chOff x="3704" y="3004"/>
                <a:chExt cx="68" cy="136"/>
              </a:xfrm>
            </p:grpSpPr>
            <p:sp>
              <p:nvSpPr>
                <p:cNvPr id="40017" name="Arc 81"/>
                <p:cNvSpPr>
                  <a:spLocks/>
                </p:cNvSpPr>
                <p:nvPr/>
              </p:nvSpPr>
              <p:spPr bwMode="auto">
                <a:xfrm flipV="1">
                  <a:off x="3704" y="3072"/>
                  <a:ext cx="68" cy="6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018" name="Arc 82"/>
                <p:cNvSpPr>
                  <a:spLocks/>
                </p:cNvSpPr>
                <p:nvPr/>
              </p:nvSpPr>
              <p:spPr bwMode="auto">
                <a:xfrm>
                  <a:off x="3704" y="3004"/>
                  <a:ext cx="68" cy="6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0019" name="Line 83"/>
              <p:cNvSpPr>
                <a:spLocks noChangeShapeType="1"/>
              </p:cNvSpPr>
              <p:nvPr/>
            </p:nvSpPr>
            <p:spPr bwMode="auto">
              <a:xfrm>
                <a:off x="3704" y="3004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20" name="Line 84"/>
              <p:cNvSpPr>
                <a:spLocks noChangeShapeType="1"/>
              </p:cNvSpPr>
              <p:nvPr/>
            </p:nvSpPr>
            <p:spPr bwMode="auto">
              <a:xfrm>
                <a:off x="3704" y="3548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0021" name="Line 85"/>
            <p:cNvSpPr>
              <a:spLocks noChangeShapeType="1"/>
            </p:cNvSpPr>
            <p:nvPr/>
          </p:nvSpPr>
          <p:spPr bwMode="auto">
            <a:xfrm>
              <a:off x="3225" y="1364"/>
              <a:ext cx="0" cy="2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2" name="Line 86"/>
            <p:cNvSpPr>
              <a:spLocks noChangeShapeType="1"/>
            </p:cNvSpPr>
            <p:nvPr/>
          </p:nvSpPr>
          <p:spPr bwMode="auto">
            <a:xfrm flipV="1">
              <a:off x="3225" y="499"/>
              <a:ext cx="714" cy="1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3" name="Line 87"/>
            <p:cNvSpPr>
              <a:spLocks noChangeShapeType="1"/>
            </p:cNvSpPr>
            <p:nvPr/>
          </p:nvSpPr>
          <p:spPr bwMode="auto">
            <a:xfrm>
              <a:off x="3216" y="1648"/>
              <a:ext cx="13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4" name="Line 88"/>
            <p:cNvSpPr>
              <a:spLocks noChangeShapeType="1"/>
            </p:cNvSpPr>
            <p:nvPr/>
          </p:nvSpPr>
          <p:spPr bwMode="auto">
            <a:xfrm>
              <a:off x="3939" y="507"/>
              <a:ext cx="6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5" name="Line 89"/>
            <p:cNvSpPr>
              <a:spLocks noChangeShapeType="1"/>
            </p:cNvSpPr>
            <p:nvPr/>
          </p:nvSpPr>
          <p:spPr bwMode="auto">
            <a:xfrm>
              <a:off x="3216" y="528"/>
              <a:ext cx="0" cy="2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0034" name="Group 98"/>
          <p:cNvGrpSpPr>
            <a:grpSpLocks/>
          </p:cNvGrpSpPr>
          <p:nvPr/>
        </p:nvGrpSpPr>
        <p:grpSpPr bwMode="auto">
          <a:xfrm>
            <a:off x="5168900" y="803275"/>
            <a:ext cx="676275" cy="501650"/>
            <a:chOff x="2256" y="480"/>
            <a:chExt cx="426" cy="316"/>
          </a:xfrm>
        </p:grpSpPr>
        <p:sp>
          <p:nvSpPr>
            <p:cNvPr id="40027" name="Text Box 91"/>
            <p:cNvSpPr txBox="1">
              <a:spLocks noChangeArrowheads="1"/>
            </p:cNvSpPr>
            <p:nvPr/>
          </p:nvSpPr>
          <p:spPr bwMode="auto">
            <a:xfrm>
              <a:off x="2340" y="539"/>
              <a:ext cx="330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en-US" altLang="zh-CN" b="1" i="1"/>
                <a:t>i</a:t>
              </a:r>
              <a:r>
                <a:rPr kumimoji="0" lang="en-US" altLang="zh-CN" b="1" baseline="-25000"/>
                <a:t>L</a:t>
              </a:r>
              <a:r>
                <a:rPr kumimoji="0" lang="en-US" altLang="zh-CN" b="1"/>
                <a:t>(</a:t>
              </a:r>
              <a:r>
                <a:rPr kumimoji="0" lang="en-US" altLang="zh-CN" b="1" i="1"/>
                <a:t>t</a:t>
              </a:r>
              <a:r>
                <a:rPr kumimoji="0" lang="en-US" altLang="zh-CN" b="1"/>
                <a:t>)</a:t>
              </a:r>
              <a:endParaRPr kumimoji="0" lang="en-US" altLang="zh-CN" b="1" i="1"/>
            </a:p>
          </p:txBody>
        </p:sp>
        <p:sp>
          <p:nvSpPr>
            <p:cNvPr id="40028" name="Line 92"/>
            <p:cNvSpPr>
              <a:spLocks noChangeShapeType="1"/>
            </p:cNvSpPr>
            <p:nvPr/>
          </p:nvSpPr>
          <p:spPr bwMode="auto">
            <a:xfrm flipV="1">
              <a:off x="2256" y="480"/>
              <a:ext cx="426" cy="1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029" name="Text Box 93"/>
          <p:cNvSpPr txBox="1">
            <a:spLocks noChangeArrowheads="1"/>
          </p:cNvSpPr>
          <p:nvPr/>
        </p:nvSpPr>
        <p:spPr bwMode="auto">
          <a:xfrm>
            <a:off x="3995935" y="4502330"/>
            <a:ext cx="501015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b="1" dirty="0">
                <a:latin typeface="+mj-ea"/>
                <a:ea typeface="+mj-ea"/>
              </a:rPr>
              <a:t>Finally obtain the required unknown variable </a:t>
            </a:r>
            <a:r>
              <a:rPr kumimoji="0" lang="en-US" altLang="zh-CN" b="1" i="1" dirty="0">
                <a:latin typeface="+mj-ea"/>
                <a:ea typeface="+mj-ea"/>
              </a:rPr>
              <a:t>u</a:t>
            </a:r>
            <a:r>
              <a:rPr kumimoji="0" lang="en-US" altLang="zh-CN" b="1" dirty="0">
                <a:latin typeface="+mj-ea"/>
                <a:ea typeface="+mj-ea"/>
              </a:rPr>
              <a:t>(</a:t>
            </a:r>
            <a:r>
              <a:rPr kumimoji="0" lang="en-US" altLang="zh-CN" b="1" i="1" dirty="0">
                <a:latin typeface="+mj-ea"/>
                <a:ea typeface="+mj-ea"/>
              </a:rPr>
              <a:t>t</a:t>
            </a:r>
            <a:r>
              <a:rPr kumimoji="0" lang="en-US" altLang="zh-CN" b="1" dirty="0">
                <a:latin typeface="+mj-ea"/>
                <a:ea typeface="+mj-ea"/>
              </a:rPr>
              <a:t>)</a:t>
            </a:r>
          </a:p>
        </p:txBody>
      </p:sp>
      <p:graphicFrame>
        <p:nvGraphicFramePr>
          <p:cNvPr id="40030" name="Object 9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239168"/>
              </p:ext>
            </p:extLst>
          </p:nvPr>
        </p:nvGraphicFramePr>
        <p:xfrm>
          <a:off x="3788569" y="5185707"/>
          <a:ext cx="52832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0" name="公式" r:id="rId10" imgW="2781000" imgH="787320" progId="Equation.3">
                  <p:embed/>
                </p:oleObj>
              </mc:Choice>
              <mc:Fallback>
                <p:oleObj name="公式" r:id="rId10" imgW="2781000" imgH="787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8569" y="5185707"/>
                        <a:ext cx="5283200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32" name="Rectangle 96"/>
          <p:cNvSpPr>
            <a:spLocks noChangeArrowheads="1"/>
          </p:cNvSpPr>
          <p:nvPr/>
        </p:nvSpPr>
        <p:spPr bwMode="auto">
          <a:xfrm>
            <a:off x="98425" y="2846388"/>
            <a:ext cx="14927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b="1" dirty="0">
                <a:solidFill>
                  <a:srgbClr val="FF0000"/>
                </a:solidFill>
                <a:latin typeface="Comic Sans MS" panose="030F0702030302020204" pitchFamily="66" charset="0"/>
                <a:ea typeface="黑体" pitchFamily="2" charset="-122"/>
              </a:rPr>
              <a:t>Solution:</a:t>
            </a:r>
            <a:endParaRPr kumimoji="0" lang="zh-CN" altLang="en-US" b="1" dirty="0">
              <a:solidFill>
                <a:srgbClr val="FF0000"/>
              </a:solidFill>
              <a:latin typeface="Comic Sans MS" panose="030F0702030302020204" pitchFamily="66" charset="0"/>
              <a:ea typeface="黑体" pitchFamily="2" charset="-122"/>
            </a:endParaRPr>
          </a:p>
        </p:txBody>
      </p:sp>
      <p:grpSp>
        <p:nvGrpSpPr>
          <p:cNvPr id="40037" name="Group 101"/>
          <p:cNvGrpSpPr>
            <a:grpSpLocks/>
          </p:cNvGrpSpPr>
          <p:nvPr/>
        </p:nvGrpSpPr>
        <p:grpSpPr bwMode="auto">
          <a:xfrm>
            <a:off x="96838" y="4981575"/>
            <a:ext cx="2778131" cy="644525"/>
            <a:chOff x="61" y="3209"/>
            <a:chExt cx="1673" cy="335"/>
          </a:xfrm>
        </p:grpSpPr>
        <p:graphicFrame>
          <p:nvGraphicFramePr>
            <p:cNvPr id="39942" name="Object 6"/>
            <p:cNvGraphicFramePr>
              <a:graphicFrameLocks noChangeAspect="1"/>
            </p:cNvGraphicFramePr>
            <p:nvPr/>
          </p:nvGraphicFramePr>
          <p:xfrm>
            <a:off x="61" y="3209"/>
            <a:ext cx="1392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1" r:id="rId12" imgW="952087" imgH="228501" progId="Equation.3">
                    <p:embed/>
                  </p:oleObj>
                </mc:Choice>
                <mc:Fallback>
                  <p:oleObj r:id="rId12" imgW="952087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" y="3209"/>
                          <a:ext cx="1392" cy="3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036" name="Text Box 100"/>
            <p:cNvSpPr txBox="1">
              <a:spLocks noChangeArrowheads="1"/>
            </p:cNvSpPr>
            <p:nvPr/>
          </p:nvSpPr>
          <p:spPr bwMode="auto">
            <a:xfrm>
              <a:off x="1329" y="3212"/>
              <a:ext cx="405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l-GR" altLang="zh-CN"/>
                <a:t>Ω</a:t>
              </a:r>
            </a:p>
          </p:txBody>
        </p:sp>
      </p:grpSp>
      <p:sp>
        <p:nvSpPr>
          <p:cNvPr id="99" name="Text Box 9"/>
          <p:cNvSpPr txBox="1">
            <a:spLocks noChangeArrowheads="1"/>
          </p:cNvSpPr>
          <p:nvPr/>
        </p:nvSpPr>
        <p:spPr bwMode="auto">
          <a:xfrm>
            <a:off x="22225" y="70336"/>
            <a:ext cx="1695449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Example 6</a:t>
            </a:r>
            <a:endParaRPr kumimoji="1"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51142-E1EF-4721-85F8-37A18B2EA881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3486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99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40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0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9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9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0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0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9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8" dur="500"/>
                                        <p:tgtEl>
                                          <p:spTgt spid="3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0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0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0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0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99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6" dur="500"/>
                                        <p:tgtEl>
                                          <p:spTgt spid="40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autoUpdateAnimBg="0"/>
      <p:bldP spid="39995" grpId="0" animBg="1" autoUpdateAnimBg="0"/>
      <p:bldP spid="39996" grpId="0"/>
      <p:bldP spid="39998" grpId="0" autoUpdateAnimBg="0"/>
      <p:bldP spid="40029" grpId="0" autoUpdateAnimBg="0"/>
      <p:bldP spid="40032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1042988" y="188913"/>
            <a:ext cx="7705476" cy="604837"/>
          </a:xfrm>
        </p:spPr>
        <p:txBody>
          <a:bodyPr/>
          <a:lstStyle/>
          <a:p>
            <a:pPr algn="l"/>
            <a:r>
              <a:rPr kumimoji="1" lang="en-US" altLang="zh-CN" sz="4000" kern="1200" dirty="0">
                <a:ea typeface="宋体" pitchFamily="2" charset="-122"/>
              </a:rPr>
              <a:t>7.4   Singularity Function 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3E9D0-4E7D-494B-9FDA-030BD051EAFE}" type="slidenum">
              <a:rPr lang="en-US" altLang="zh-CN" smtClean="0"/>
              <a:pPr/>
              <a:t>25</a:t>
            </a:fld>
            <a:endParaRPr lang="en-US" altLang="zh-CN"/>
          </a:p>
        </p:txBody>
      </p:sp>
      <p:sp>
        <p:nvSpPr>
          <p:cNvPr id="163843" name="Rectangle 3"/>
          <p:cNvSpPr>
            <a:spLocks noRot="1" noChangeArrowheads="1"/>
          </p:cNvSpPr>
          <p:nvPr/>
        </p:nvSpPr>
        <p:spPr bwMode="auto">
          <a:xfrm>
            <a:off x="323850" y="1412875"/>
            <a:ext cx="7777163" cy="1511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b="1" i="1">
                <a:solidFill>
                  <a:srgbClr val="FF6600"/>
                </a:solidFill>
              </a:rPr>
              <a:t>Singularity Functions </a:t>
            </a:r>
            <a:r>
              <a:rPr lang="en-US" altLang="zh-CN" b="1" dirty="0">
                <a:solidFill>
                  <a:srgbClr val="FF6600"/>
                </a:solidFill>
              </a:rPr>
              <a:t>(</a:t>
            </a:r>
            <a:r>
              <a:rPr lang="en-US" altLang="zh-CN" b="1" i="1" dirty="0">
                <a:solidFill>
                  <a:srgbClr val="FF6600"/>
                </a:solidFill>
              </a:rPr>
              <a:t>switching functions</a:t>
            </a:r>
            <a:r>
              <a:rPr lang="en-US" altLang="zh-CN" b="1" dirty="0">
                <a:solidFill>
                  <a:srgbClr val="FF6600"/>
                </a:solidFill>
              </a:rPr>
              <a:t>)</a:t>
            </a:r>
            <a:r>
              <a:rPr lang="en-US" altLang="zh-CN" sz="2800" dirty="0">
                <a:solidFill>
                  <a:srgbClr val="FF6600"/>
                </a:solidFill>
              </a:rPr>
              <a:t> </a:t>
            </a:r>
            <a:r>
              <a:rPr lang="en-US" altLang="zh-CN" sz="2800" dirty="0"/>
              <a:t>are functions that either are discontinuous or have discontinuous derivatives.</a:t>
            </a:r>
          </a:p>
        </p:txBody>
      </p:sp>
      <p:sp>
        <p:nvSpPr>
          <p:cNvPr id="163846" name="Rectangle 6"/>
          <p:cNvSpPr>
            <a:spLocks noRot="1" noChangeArrowheads="1"/>
          </p:cNvSpPr>
          <p:nvPr/>
        </p:nvSpPr>
        <p:spPr bwMode="auto">
          <a:xfrm>
            <a:off x="611188" y="3284538"/>
            <a:ext cx="4967287" cy="21605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800" b="1" i="1" dirty="0">
                <a:solidFill>
                  <a:srgbClr val="FF6600"/>
                </a:solidFill>
              </a:rPr>
              <a:t>Types of Singularity Function</a:t>
            </a:r>
            <a:r>
              <a:rPr lang="en-US" altLang="zh-CN" sz="2800" b="1" dirty="0">
                <a:solidFill>
                  <a:srgbClr val="FF6600"/>
                </a:solidFill>
              </a:rPr>
              <a:t>:</a:t>
            </a:r>
          </a:p>
          <a:p>
            <a:pPr marL="609600" indent="-609600" algn="l"/>
            <a:r>
              <a:rPr lang="en-US" altLang="zh-CN" sz="2800" b="1" dirty="0"/>
              <a:t>            unit step ; </a:t>
            </a:r>
          </a:p>
          <a:p>
            <a:pPr marL="609600" indent="-609600" algn="l"/>
            <a:r>
              <a:rPr lang="en-US" altLang="zh-CN" sz="2800" b="1" dirty="0"/>
              <a:t>            unit impulse ; </a:t>
            </a:r>
          </a:p>
          <a:p>
            <a:pPr marL="609600" indent="-609600" algn="l"/>
            <a:r>
              <a:rPr lang="en-US" altLang="zh-CN" sz="2800" b="1" dirty="0"/>
              <a:t>            unit ramp.</a:t>
            </a:r>
          </a:p>
        </p:txBody>
      </p:sp>
    </p:spTree>
    <p:extLst>
      <p:ext uri="{BB962C8B-B14F-4D97-AF65-F5344CB8AC3E}">
        <p14:creationId xmlns:p14="http://schemas.microsoft.com/office/powerpoint/2010/main" val="2318885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3" grpId="0" animBg="1"/>
      <p:bldP spid="16384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70" name="Text Box 6"/>
          <p:cNvSpPr txBox="1">
            <a:spLocks noChangeArrowheads="1"/>
          </p:cNvSpPr>
          <p:nvPr/>
        </p:nvSpPr>
        <p:spPr bwMode="auto">
          <a:xfrm>
            <a:off x="323850" y="211138"/>
            <a:ext cx="3168030" cy="53181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b="1" dirty="0">
                <a:solidFill>
                  <a:schemeClr val="bg1"/>
                </a:solidFill>
              </a:rPr>
              <a:t>Unit Step Function</a:t>
            </a:r>
            <a:endParaRPr lang="en-US" altLang="zh-CN" sz="3600" b="1" dirty="0">
              <a:solidFill>
                <a:schemeClr val="bg1"/>
              </a:solidFill>
              <a:ea typeface="仿宋_GB2312" pitchFamily="49" charset="-122"/>
            </a:endParaRPr>
          </a:p>
        </p:txBody>
      </p:sp>
      <p:graphicFrame>
        <p:nvGraphicFramePr>
          <p:cNvPr id="164871" name="Object 7"/>
          <p:cNvGraphicFramePr>
            <a:graphicFrameLocks noChangeAspect="1"/>
          </p:cNvGraphicFramePr>
          <p:nvPr/>
        </p:nvGraphicFramePr>
        <p:xfrm>
          <a:off x="827088" y="981075"/>
          <a:ext cx="228758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6" name="Equation" r:id="rId3" imgW="1041120" imgH="457200" progId="Equation.DSMT4">
                  <p:embed/>
                </p:oleObj>
              </mc:Choice>
              <mc:Fallback>
                <p:oleObj name="Equation" r:id="rId3" imgW="10411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981075"/>
                        <a:ext cx="2287587" cy="1006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2" name="Object 8"/>
          <p:cNvGraphicFramePr>
            <a:graphicFrameLocks noChangeAspect="1"/>
          </p:cNvGraphicFramePr>
          <p:nvPr/>
        </p:nvGraphicFramePr>
        <p:xfrm>
          <a:off x="4932363" y="549275"/>
          <a:ext cx="2403475" cy="169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7" name="Visio" r:id="rId5" imgW="1607515" imgH="1124102" progId="Visio.Drawing.11">
                  <p:embed/>
                </p:oleObj>
              </mc:Choice>
              <mc:Fallback>
                <p:oleObj name="Visio" r:id="rId5" imgW="1607515" imgH="112410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549275"/>
                        <a:ext cx="2403475" cy="16938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3" name="Object 9"/>
          <p:cNvGraphicFramePr>
            <a:graphicFrameLocks noChangeAspect="1"/>
          </p:cNvGraphicFramePr>
          <p:nvPr/>
        </p:nvGraphicFramePr>
        <p:xfrm>
          <a:off x="4787900" y="2636838"/>
          <a:ext cx="2778125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8" name="Visio" r:id="rId7" imgW="1737055" imgH="1078992" progId="Visio.Drawing.11">
                  <p:embed/>
                </p:oleObj>
              </mc:Choice>
              <mc:Fallback>
                <p:oleObj name="Visio" r:id="rId7" imgW="1737055" imgH="107899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2636838"/>
                        <a:ext cx="2778125" cy="1727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4" name="Object 10"/>
          <p:cNvGraphicFramePr>
            <a:graphicFrameLocks noChangeAspect="1"/>
          </p:cNvGraphicFramePr>
          <p:nvPr/>
        </p:nvGraphicFramePr>
        <p:xfrm>
          <a:off x="827088" y="3068638"/>
          <a:ext cx="2846387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9" name="Equation" r:id="rId9" imgW="1295280" imgH="482400" progId="Equation.DSMT4">
                  <p:embed/>
                </p:oleObj>
              </mc:Choice>
              <mc:Fallback>
                <p:oleObj name="Equation" r:id="rId9" imgW="12952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068638"/>
                        <a:ext cx="2846387" cy="10636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8611691"/>
              </p:ext>
            </p:extLst>
          </p:nvPr>
        </p:nvGraphicFramePr>
        <p:xfrm>
          <a:off x="5200650" y="4746625"/>
          <a:ext cx="2052638" cy="143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0" name="Visio" r:id="rId11" imgW="1681462" imgH="1175561" progId="Visio.Drawing.11">
                  <p:embed/>
                </p:oleObj>
              </mc:Choice>
              <mc:Fallback>
                <p:oleObj name="Visio" r:id="rId11" imgW="1681462" imgH="117556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0650" y="4746625"/>
                        <a:ext cx="2052638" cy="14366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6" name="Object 12"/>
          <p:cNvGraphicFramePr>
            <a:graphicFrameLocks noChangeAspect="1"/>
          </p:cNvGraphicFramePr>
          <p:nvPr/>
        </p:nvGraphicFramePr>
        <p:xfrm>
          <a:off x="874713" y="5013325"/>
          <a:ext cx="304165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1" name="Equation" r:id="rId13" imgW="1384200" imgH="482400" progId="Equation.DSMT4">
                  <p:embed/>
                </p:oleObj>
              </mc:Choice>
              <mc:Fallback>
                <p:oleObj name="Equation" r:id="rId13" imgW="13842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713" y="5013325"/>
                        <a:ext cx="3041650" cy="10636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3E9D0-4E7D-494B-9FDA-030BD051EAFE}" type="slidenum">
              <a:rPr lang="en-US" altLang="zh-CN" smtClean="0"/>
              <a:pPr/>
              <a:t>26</a:t>
            </a:fld>
            <a:endParaRPr lang="en-US" altLang="zh-C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45AB9180-7C06-40E5-9EFD-5987ADAE886E}"/>
                  </a:ext>
                </a:extLst>
              </p14:cNvPr>
              <p14:cNvContentPartPr/>
              <p14:nvPr/>
            </p14:nvContentPartPr>
            <p14:xfrm>
              <a:off x="5534280" y="6004440"/>
              <a:ext cx="77400" cy="1188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45AB9180-7C06-40E5-9EFD-5987ADAE886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524920" y="5995080"/>
                <a:ext cx="96120" cy="3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908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4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4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0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ext Box 2"/>
          <p:cNvSpPr txBox="1">
            <a:spLocks noChangeArrowheads="1"/>
          </p:cNvSpPr>
          <p:nvPr/>
        </p:nvSpPr>
        <p:spPr bwMode="auto">
          <a:xfrm>
            <a:off x="323850" y="211138"/>
            <a:ext cx="7127875" cy="53181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b="1" dirty="0">
                <a:solidFill>
                  <a:schemeClr val="bg1"/>
                </a:solidFill>
              </a:rPr>
              <a:t>Usage of Step Function in circuit (Switching)</a:t>
            </a:r>
            <a:endParaRPr lang="en-US" altLang="zh-CN" sz="3600" b="1" dirty="0">
              <a:solidFill>
                <a:schemeClr val="bg1"/>
              </a:solidFill>
              <a:ea typeface="仿宋_GB2312" pitchFamily="49" charset="-122"/>
            </a:endParaRPr>
          </a:p>
        </p:txBody>
      </p:sp>
      <p:graphicFrame>
        <p:nvGraphicFramePr>
          <p:cNvPr id="165897" name="Object 9"/>
          <p:cNvGraphicFramePr>
            <a:graphicFrameLocks noChangeAspect="1"/>
          </p:cNvGraphicFramePr>
          <p:nvPr/>
        </p:nvGraphicFramePr>
        <p:xfrm>
          <a:off x="3851275" y="981075"/>
          <a:ext cx="4783138" cy="207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0" name="Visio" r:id="rId3" imgW="2990698" imgH="1298753" progId="Visio.Drawing.11">
                  <p:embed/>
                </p:oleObj>
              </mc:Choice>
              <mc:Fallback>
                <p:oleObj name="Visio" r:id="rId3" imgW="2990698" imgH="129875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981075"/>
                        <a:ext cx="4783138" cy="20764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8" name="Text Box 10"/>
          <p:cNvSpPr txBox="1">
            <a:spLocks noChangeArrowheads="1"/>
          </p:cNvSpPr>
          <p:nvPr/>
        </p:nvSpPr>
        <p:spPr bwMode="auto">
          <a:xfrm>
            <a:off x="611188" y="1341438"/>
            <a:ext cx="2952750" cy="531812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b="1" dirty="0"/>
              <a:t>Voltage source</a:t>
            </a:r>
            <a:endParaRPr lang="en-US" altLang="zh-CN" sz="3600" b="1" dirty="0">
              <a:ea typeface="仿宋_GB2312" pitchFamily="49" charset="-122"/>
            </a:endParaRPr>
          </a:p>
        </p:txBody>
      </p:sp>
      <p:graphicFrame>
        <p:nvGraphicFramePr>
          <p:cNvPr id="1658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351738"/>
              </p:ext>
            </p:extLst>
          </p:nvPr>
        </p:nvGraphicFramePr>
        <p:xfrm>
          <a:off x="3851275" y="3284538"/>
          <a:ext cx="4772025" cy="209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1" name="Visio" r:id="rId5" imgW="3002552" imgH="1327533" progId="Visio.Drawing.11">
                  <p:embed/>
                </p:oleObj>
              </mc:Choice>
              <mc:Fallback>
                <p:oleObj name="Visio" r:id="rId5" imgW="3002552" imgH="132753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3284538"/>
                        <a:ext cx="4772025" cy="20939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900" name="Text Box 12"/>
          <p:cNvSpPr txBox="1">
            <a:spLocks noChangeArrowheads="1"/>
          </p:cNvSpPr>
          <p:nvPr/>
        </p:nvSpPr>
        <p:spPr bwMode="auto">
          <a:xfrm>
            <a:off x="539750" y="3644900"/>
            <a:ext cx="2952750" cy="531813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b="1"/>
              <a:t>Current source</a:t>
            </a:r>
            <a:endParaRPr lang="en-US" altLang="zh-CN" sz="3600" b="1">
              <a:ea typeface="仿宋_GB2312" pitchFamily="49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3E9D0-4E7D-494B-9FDA-030BD051EAFE}" type="slidenum">
              <a:rPr lang="en-US" altLang="zh-CN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2784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5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5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5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5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5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5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5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5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0" grpId="0" animBg="1" autoUpdateAnimBg="0"/>
      <p:bldP spid="165898" grpId="0" animBg="1" autoUpdateAnimBg="0"/>
      <p:bldP spid="165900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1736" y="116632"/>
            <a:ext cx="9145016" cy="604837"/>
          </a:xfrm>
        </p:spPr>
        <p:txBody>
          <a:bodyPr/>
          <a:lstStyle/>
          <a:p>
            <a:r>
              <a:rPr kumimoji="1" lang="en-US" altLang="zh-CN" sz="3600" kern="1200" dirty="0">
                <a:ea typeface="宋体" pitchFamily="2" charset="-122"/>
              </a:rPr>
              <a:t>7.5 Step Response of An RC Circuit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3E9D0-4E7D-494B-9FDA-030BD051EAFE}" type="slidenum">
              <a:rPr lang="en-US" altLang="zh-CN" smtClean="0"/>
              <a:pPr/>
              <a:t>28</a:t>
            </a:fld>
            <a:endParaRPr lang="en-US" altLang="zh-CN"/>
          </a:p>
        </p:txBody>
      </p:sp>
      <p:sp>
        <p:nvSpPr>
          <p:cNvPr id="172035" name="Rectangle 3"/>
          <p:cNvSpPr>
            <a:spLocks noRot="1" noChangeArrowheads="1"/>
          </p:cNvSpPr>
          <p:nvPr/>
        </p:nvSpPr>
        <p:spPr bwMode="auto">
          <a:xfrm>
            <a:off x="395288" y="1125538"/>
            <a:ext cx="7777162" cy="1511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b="1" i="1" dirty="0">
                <a:solidFill>
                  <a:srgbClr val="FF6600"/>
                </a:solidFill>
              </a:rPr>
              <a:t>The step response of a circuit</a:t>
            </a:r>
            <a:r>
              <a:rPr lang="en-US" altLang="zh-CN" sz="2800" dirty="0">
                <a:solidFill>
                  <a:srgbClr val="FF6600"/>
                </a:solidFill>
              </a:rPr>
              <a:t> </a:t>
            </a:r>
            <a:r>
              <a:rPr lang="en-US" altLang="zh-CN" sz="2800" dirty="0"/>
              <a:t>is its behavior when the excitation is the step function, which may be a voltage or a current source.</a:t>
            </a:r>
          </a:p>
        </p:txBody>
      </p:sp>
      <p:graphicFrame>
        <p:nvGraphicFramePr>
          <p:cNvPr id="172037" name="Object 5"/>
          <p:cNvGraphicFramePr>
            <a:graphicFrameLocks noChangeAspect="1"/>
          </p:cNvGraphicFramePr>
          <p:nvPr/>
        </p:nvGraphicFramePr>
        <p:xfrm>
          <a:off x="611188" y="2852738"/>
          <a:ext cx="3243262" cy="222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46" name="Visio" r:id="rId3" imgW="2025091" imgH="1387450" progId="Visio.Drawing.11">
                  <p:embed/>
                </p:oleObj>
              </mc:Choice>
              <mc:Fallback>
                <p:oleObj name="Visio" r:id="rId3" imgW="2025091" imgH="138745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852738"/>
                        <a:ext cx="3243262" cy="22225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38" name="Object 6"/>
          <p:cNvGraphicFramePr>
            <a:graphicFrameLocks noChangeAspect="1"/>
          </p:cNvGraphicFramePr>
          <p:nvPr/>
        </p:nvGraphicFramePr>
        <p:xfrm>
          <a:off x="4140200" y="3716338"/>
          <a:ext cx="41910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47" name="Equation" r:id="rId5" imgW="190440" imgH="152280" progId="Equation.DSMT4">
                  <p:embed/>
                </p:oleObj>
              </mc:Choice>
              <mc:Fallback>
                <p:oleObj name="Equation" r:id="rId5" imgW="19044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716338"/>
                        <a:ext cx="419100" cy="3349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39" name="Object 7"/>
          <p:cNvGraphicFramePr>
            <a:graphicFrameLocks noChangeAspect="1"/>
          </p:cNvGraphicFramePr>
          <p:nvPr/>
        </p:nvGraphicFramePr>
        <p:xfrm>
          <a:off x="4932363" y="2852738"/>
          <a:ext cx="2919412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48" name="Visio" r:id="rId7" imgW="1821790" imgH="1292657" progId="Visio.Drawing.11">
                  <p:embed/>
                </p:oleObj>
              </mc:Choice>
              <mc:Fallback>
                <p:oleObj name="Visio" r:id="rId7" imgW="1821790" imgH="1292657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852738"/>
                        <a:ext cx="2919412" cy="2070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40" name="Object 8"/>
          <p:cNvGraphicFramePr>
            <a:graphicFrameLocks noChangeAspect="1"/>
          </p:cNvGraphicFramePr>
          <p:nvPr/>
        </p:nvGraphicFramePr>
        <p:xfrm>
          <a:off x="611188" y="5445125"/>
          <a:ext cx="4964112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49" name="Equation" r:id="rId9" imgW="2260440" imgH="241200" progId="Equation.DSMT4">
                  <p:embed/>
                </p:oleObj>
              </mc:Choice>
              <mc:Fallback>
                <p:oleObj name="Equation" r:id="rId9" imgW="22604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445125"/>
                        <a:ext cx="4964112" cy="5318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1663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2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2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2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2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3062" name="Object 6"/>
          <p:cNvGraphicFramePr>
            <a:graphicFrameLocks noChangeAspect="1"/>
          </p:cNvGraphicFramePr>
          <p:nvPr/>
        </p:nvGraphicFramePr>
        <p:xfrm>
          <a:off x="323850" y="260350"/>
          <a:ext cx="2919413" cy="187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55" name="Visio" r:id="rId3" imgW="1840078" imgH="1310945" progId="Visio.Drawing.11">
                  <p:embed/>
                </p:oleObj>
              </mc:Choice>
              <mc:Fallback>
                <p:oleObj name="Visio" r:id="rId3" imgW="1840078" imgH="131094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9509"/>
                      <a:stretch>
                        <a:fillRect/>
                      </a:stretch>
                    </p:blipFill>
                    <p:spPr bwMode="auto">
                      <a:xfrm>
                        <a:off x="323850" y="260350"/>
                        <a:ext cx="2919413" cy="1873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63" name="Object 7"/>
          <p:cNvGraphicFramePr>
            <a:graphicFrameLocks noChangeAspect="1"/>
          </p:cNvGraphicFramePr>
          <p:nvPr/>
        </p:nvGraphicFramePr>
        <p:xfrm>
          <a:off x="323850" y="2997200"/>
          <a:ext cx="24272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56" name="Equation" r:id="rId5" imgW="1104840" imgH="228600" progId="Equation.DSMT4">
                  <p:embed/>
                </p:oleObj>
              </mc:Choice>
              <mc:Fallback>
                <p:oleObj name="Equation" r:id="rId5" imgW="1104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997200"/>
                        <a:ext cx="2427288" cy="5048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66" name="Rectangle 10"/>
          <p:cNvSpPr>
            <a:spLocks noRot="1" noChangeArrowheads="1"/>
          </p:cNvSpPr>
          <p:nvPr/>
        </p:nvSpPr>
        <p:spPr bwMode="auto">
          <a:xfrm>
            <a:off x="179388" y="2276475"/>
            <a:ext cx="2520950" cy="5032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800"/>
              <a:t>Applying KVL:</a:t>
            </a:r>
            <a:r>
              <a:rPr lang="en-US" altLang="zh-CN" sz="2800" b="1"/>
              <a:t> </a:t>
            </a:r>
          </a:p>
        </p:txBody>
      </p:sp>
      <p:sp>
        <p:nvSpPr>
          <p:cNvPr id="173067" name="Rectangle 11"/>
          <p:cNvSpPr>
            <a:spLocks noRot="1" noChangeArrowheads="1"/>
          </p:cNvSpPr>
          <p:nvPr/>
        </p:nvSpPr>
        <p:spPr bwMode="auto">
          <a:xfrm>
            <a:off x="179388" y="3860800"/>
            <a:ext cx="1943100" cy="5032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800"/>
              <a:t>In addition,</a:t>
            </a:r>
            <a:r>
              <a:rPr lang="en-US" altLang="zh-CN" sz="2800" b="1"/>
              <a:t> </a:t>
            </a:r>
          </a:p>
        </p:txBody>
      </p:sp>
      <p:graphicFrame>
        <p:nvGraphicFramePr>
          <p:cNvPr id="173068" name="Object 12"/>
          <p:cNvGraphicFramePr>
            <a:graphicFrameLocks noChangeAspect="1"/>
          </p:cNvGraphicFramePr>
          <p:nvPr/>
        </p:nvGraphicFramePr>
        <p:xfrm>
          <a:off x="2339975" y="3644900"/>
          <a:ext cx="1198563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57" name="Equation" r:id="rId7" imgW="545760" imgH="393480" progId="Equation.DSMT4">
                  <p:embed/>
                </p:oleObj>
              </mc:Choice>
              <mc:Fallback>
                <p:oleObj name="Equation" r:id="rId7" imgW="5457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3644900"/>
                        <a:ext cx="1198563" cy="8683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69" name="Rectangle 13"/>
          <p:cNvSpPr>
            <a:spLocks noRot="1" noChangeArrowheads="1"/>
          </p:cNvSpPr>
          <p:nvPr/>
        </p:nvSpPr>
        <p:spPr bwMode="auto">
          <a:xfrm>
            <a:off x="250825" y="4797425"/>
            <a:ext cx="720725" cy="5032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800"/>
              <a:t>So,</a:t>
            </a:r>
            <a:r>
              <a:rPr lang="en-US" altLang="zh-CN" sz="2800" b="1"/>
              <a:t> </a:t>
            </a:r>
          </a:p>
        </p:txBody>
      </p:sp>
      <p:graphicFrame>
        <p:nvGraphicFramePr>
          <p:cNvPr id="173070" name="Object 14"/>
          <p:cNvGraphicFramePr>
            <a:graphicFrameLocks noChangeAspect="1"/>
          </p:cNvGraphicFramePr>
          <p:nvPr/>
        </p:nvGraphicFramePr>
        <p:xfrm>
          <a:off x="1258888" y="4652963"/>
          <a:ext cx="254000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58" name="Equation" r:id="rId9" imgW="1155600" imgH="393480" progId="Equation.DSMT4">
                  <p:embed/>
                </p:oleObj>
              </mc:Choice>
              <mc:Fallback>
                <p:oleObj name="Equation" r:id="rId9" imgW="1155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652963"/>
                        <a:ext cx="2540000" cy="869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71" name="Object 15"/>
          <p:cNvGraphicFramePr>
            <a:graphicFrameLocks noChangeAspect="1"/>
          </p:cNvGraphicFramePr>
          <p:nvPr/>
        </p:nvGraphicFramePr>
        <p:xfrm>
          <a:off x="323850" y="5876925"/>
          <a:ext cx="41910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59" name="Equation" r:id="rId11" imgW="190440" imgH="152280" progId="Equation.DSMT4">
                  <p:embed/>
                </p:oleObj>
              </mc:Choice>
              <mc:Fallback>
                <p:oleObj name="Equation" r:id="rId11" imgW="19044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876925"/>
                        <a:ext cx="419100" cy="3349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72" name="Object 16"/>
          <p:cNvGraphicFramePr>
            <a:graphicFrameLocks noChangeAspect="1"/>
          </p:cNvGraphicFramePr>
          <p:nvPr/>
        </p:nvGraphicFramePr>
        <p:xfrm>
          <a:off x="900113" y="5661025"/>
          <a:ext cx="270827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60" name="Equation" r:id="rId13" imgW="1231560" imgH="393480" progId="Equation.DSMT4">
                  <p:embed/>
                </p:oleObj>
              </mc:Choice>
              <mc:Fallback>
                <p:oleObj name="Equation" r:id="rId13" imgW="12315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661025"/>
                        <a:ext cx="2708275" cy="869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73" name="Rectangle 17"/>
          <p:cNvSpPr>
            <a:spLocks noRot="1" noChangeArrowheads="1"/>
          </p:cNvSpPr>
          <p:nvPr/>
        </p:nvSpPr>
        <p:spPr bwMode="auto">
          <a:xfrm>
            <a:off x="3708400" y="188913"/>
            <a:ext cx="2160588" cy="5032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800"/>
              <a:t>For </a:t>
            </a:r>
            <a:r>
              <a:rPr lang="en-US" altLang="zh-CN" sz="2800" i="1"/>
              <a:t>t</a:t>
            </a:r>
            <a:r>
              <a:rPr lang="en-US" altLang="zh-CN" sz="2800"/>
              <a:t>&gt;0,</a:t>
            </a:r>
            <a:r>
              <a:rPr lang="en-US" altLang="zh-CN" sz="2800" b="1"/>
              <a:t> </a:t>
            </a:r>
            <a:r>
              <a:rPr lang="en-US" altLang="zh-CN" sz="2800"/>
              <a:t>then</a:t>
            </a:r>
            <a:endParaRPr lang="en-US" altLang="zh-CN" sz="2800" b="1"/>
          </a:p>
        </p:txBody>
      </p:sp>
      <p:graphicFrame>
        <p:nvGraphicFramePr>
          <p:cNvPr id="173074" name="Object 18"/>
          <p:cNvGraphicFramePr>
            <a:graphicFrameLocks noChangeAspect="1"/>
          </p:cNvGraphicFramePr>
          <p:nvPr/>
        </p:nvGraphicFramePr>
        <p:xfrm>
          <a:off x="3563938" y="836613"/>
          <a:ext cx="214947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61" name="Equation" r:id="rId15" imgW="977760" imgH="393480" progId="Equation.DSMT4">
                  <p:embed/>
                </p:oleObj>
              </mc:Choice>
              <mc:Fallback>
                <p:oleObj name="Equation" r:id="rId15" imgW="9777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836613"/>
                        <a:ext cx="2149475" cy="869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75" name="Object 19"/>
          <p:cNvGraphicFramePr>
            <a:graphicFrameLocks noChangeAspect="1"/>
          </p:cNvGraphicFramePr>
          <p:nvPr/>
        </p:nvGraphicFramePr>
        <p:xfrm>
          <a:off x="5940425" y="1125538"/>
          <a:ext cx="41910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62" name="Equation" r:id="rId17" imgW="190440" imgH="152280" progId="Equation.DSMT4">
                  <p:embed/>
                </p:oleObj>
              </mc:Choice>
              <mc:Fallback>
                <p:oleObj name="Equation" r:id="rId17" imgW="19044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1125538"/>
                        <a:ext cx="419100" cy="3349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76" name="Object 20"/>
          <p:cNvGraphicFramePr>
            <a:graphicFrameLocks noChangeAspect="1"/>
          </p:cNvGraphicFramePr>
          <p:nvPr/>
        </p:nvGraphicFramePr>
        <p:xfrm>
          <a:off x="6659563" y="836613"/>
          <a:ext cx="1814512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63" name="Equation" r:id="rId19" imgW="825480" imgH="393480" progId="Equation.DSMT4">
                  <p:embed/>
                </p:oleObj>
              </mc:Choice>
              <mc:Fallback>
                <p:oleObj name="Equation" r:id="rId19" imgW="8254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836613"/>
                        <a:ext cx="1814512" cy="869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77" name="Object 21"/>
          <p:cNvGraphicFramePr>
            <a:graphicFrameLocks noChangeAspect="1"/>
          </p:cNvGraphicFramePr>
          <p:nvPr/>
        </p:nvGraphicFramePr>
        <p:xfrm>
          <a:off x="4067175" y="2133600"/>
          <a:ext cx="41910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64" name="Equation" r:id="rId21" imgW="190440" imgH="152280" progId="Equation.DSMT4">
                  <p:embed/>
                </p:oleObj>
              </mc:Choice>
              <mc:Fallback>
                <p:oleObj name="Equation" r:id="rId21" imgW="19044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2133600"/>
                        <a:ext cx="419100" cy="3349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78" name="Object 22"/>
          <p:cNvGraphicFramePr>
            <a:graphicFrameLocks noChangeAspect="1"/>
          </p:cNvGraphicFramePr>
          <p:nvPr/>
        </p:nvGraphicFramePr>
        <p:xfrm>
          <a:off x="4787900" y="1844675"/>
          <a:ext cx="1954213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65" name="Equation" r:id="rId23" imgW="888840" imgH="431640" progId="Equation.DSMT4">
                  <p:embed/>
                </p:oleObj>
              </mc:Choice>
              <mc:Fallback>
                <p:oleObj name="Equation" r:id="rId23" imgW="888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1844675"/>
                        <a:ext cx="1954213" cy="9540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79" name="Object 23"/>
          <p:cNvGraphicFramePr>
            <a:graphicFrameLocks noChangeAspect="1"/>
          </p:cNvGraphicFramePr>
          <p:nvPr/>
        </p:nvGraphicFramePr>
        <p:xfrm>
          <a:off x="4572000" y="3284538"/>
          <a:ext cx="41910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66" name="Equation" r:id="rId25" imgW="190440" imgH="152280" progId="Equation.DSMT4">
                  <p:embed/>
                </p:oleObj>
              </mc:Choice>
              <mc:Fallback>
                <p:oleObj name="Equation" r:id="rId25" imgW="19044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284538"/>
                        <a:ext cx="419100" cy="3349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8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795338"/>
              </p:ext>
            </p:extLst>
          </p:nvPr>
        </p:nvGraphicFramePr>
        <p:xfrm>
          <a:off x="5305425" y="2924175"/>
          <a:ext cx="301466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67" name="Equation" r:id="rId27" imgW="1371600" imgH="482400" progId="Equation.DSMT4">
                  <p:embed/>
                </p:oleObj>
              </mc:Choice>
              <mc:Fallback>
                <p:oleObj name="Equation" r:id="rId27" imgW="13716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5425" y="2924175"/>
                        <a:ext cx="3014663" cy="1066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8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6903540"/>
              </p:ext>
            </p:extLst>
          </p:nvPr>
        </p:nvGraphicFramePr>
        <p:xfrm>
          <a:off x="5307013" y="4149725"/>
          <a:ext cx="2398712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68" name="Equation" r:id="rId29" imgW="1091880" imgH="431640" progId="Equation.DSMT4">
                  <p:embed/>
                </p:oleObj>
              </mc:Choice>
              <mc:Fallback>
                <p:oleObj name="Equation" r:id="rId29" imgW="1091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7013" y="4149725"/>
                        <a:ext cx="2398712" cy="9540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82" name="Object 26"/>
          <p:cNvGraphicFramePr>
            <a:graphicFrameLocks noChangeAspect="1"/>
          </p:cNvGraphicFramePr>
          <p:nvPr/>
        </p:nvGraphicFramePr>
        <p:xfrm>
          <a:off x="4643438" y="5229225"/>
          <a:ext cx="2789237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69" name="Equation" r:id="rId31" imgW="1269720" imgH="291960" progId="Equation.DSMT4">
                  <p:embed/>
                </p:oleObj>
              </mc:Choice>
              <mc:Fallback>
                <p:oleObj name="Equation" r:id="rId31" imgW="12697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229225"/>
                        <a:ext cx="2789237" cy="6461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83" name="Object 27"/>
          <p:cNvGraphicFramePr>
            <a:graphicFrameLocks noChangeAspect="1"/>
          </p:cNvGraphicFramePr>
          <p:nvPr/>
        </p:nvGraphicFramePr>
        <p:xfrm>
          <a:off x="7667625" y="5373688"/>
          <a:ext cx="105886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70" name="Equation" r:id="rId33" imgW="482400" imgH="177480" progId="Equation.DSMT4">
                  <p:embed/>
                </p:oleObj>
              </mc:Choice>
              <mc:Fallback>
                <p:oleObj name="Equation" r:id="rId33" imgW="4824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5373688"/>
                        <a:ext cx="1058863" cy="3921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84" name="Rectangle 28"/>
          <p:cNvSpPr>
            <a:spLocks noRot="1" noChangeArrowheads="1"/>
          </p:cNvSpPr>
          <p:nvPr/>
        </p:nvSpPr>
        <p:spPr bwMode="auto">
          <a:xfrm>
            <a:off x="3779838" y="6165850"/>
            <a:ext cx="1081087" cy="5032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800"/>
              <a:t>Thus,</a:t>
            </a:r>
            <a:r>
              <a:rPr lang="en-US" altLang="zh-CN" sz="2800" b="1"/>
              <a:t> </a:t>
            </a:r>
          </a:p>
        </p:txBody>
      </p:sp>
      <p:graphicFrame>
        <p:nvGraphicFramePr>
          <p:cNvPr id="173085" name="Object 29"/>
          <p:cNvGraphicFramePr>
            <a:graphicFrameLocks noChangeAspect="1"/>
          </p:cNvGraphicFramePr>
          <p:nvPr/>
        </p:nvGraphicFramePr>
        <p:xfrm>
          <a:off x="5003800" y="6021388"/>
          <a:ext cx="4071938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71" name="Equation" r:id="rId35" imgW="1854000" imgH="291960" progId="Equation.DSMT4">
                  <p:embed/>
                </p:oleObj>
              </mc:Choice>
              <mc:Fallback>
                <p:oleObj name="Equation" r:id="rId35" imgW="18540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6021388"/>
                        <a:ext cx="4071938" cy="6461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9654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3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3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3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3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3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3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3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3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3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3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3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3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7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7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7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7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73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73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73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73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73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73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73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73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73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73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6" grpId="0" animBg="1"/>
      <p:bldP spid="173067" grpId="0" animBg="1"/>
      <p:bldP spid="173069" grpId="0" animBg="1"/>
      <p:bldP spid="173073" grpId="0" animBg="1"/>
      <p:bldP spid="17308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Text Box 2"/>
          <p:cNvSpPr txBox="1">
            <a:spLocks noChangeArrowheads="1"/>
          </p:cNvSpPr>
          <p:nvPr/>
        </p:nvSpPr>
        <p:spPr bwMode="auto">
          <a:xfrm>
            <a:off x="323850" y="188913"/>
            <a:ext cx="3455987" cy="53181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b="1" dirty="0">
                <a:solidFill>
                  <a:schemeClr val="bg1"/>
                </a:solidFill>
              </a:rPr>
              <a:t>Complete Response</a:t>
            </a:r>
            <a:endParaRPr lang="en-US" altLang="zh-CN" sz="3600" b="1" dirty="0">
              <a:solidFill>
                <a:schemeClr val="bg1"/>
              </a:solidFill>
              <a:ea typeface="仿宋_GB2312" pitchFamily="49" charset="-122"/>
            </a:endParaRPr>
          </a:p>
        </p:txBody>
      </p:sp>
      <p:graphicFrame>
        <p:nvGraphicFramePr>
          <p:cNvPr id="175107" name="Object 3"/>
          <p:cNvGraphicFramePr>
            <a:graphicFrameLocks noChangeAspect="1"/>
          </p:cNvGraphicFramePr>
          <p:nvPr/>
        </p:nvGraphicFramePr>
        <p:xfrm>
          <a:off x="250825" y="836613"/>
          <a:ext cx="4322763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75" name="Equation" r:id="rId3" imgW="1968480" imgH="533160" progId="Equation.DSMT4">
                  <p:embed/>
                </p:oleObj>
              </mc:Choice>
              <mc:Fallback>
                <p:oleObj name="Equation" r:id="rId3" imgW="196848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836613"/>
                        <a:ext cx="4322763" cy="11747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13" name="Rectangle 9"/>
          <p:cNvSpPr>
            <a:spLocks noRot="1" noChangeArrowheads="1"/>
          </p:cNvSpPr>
          <p:nvPr/>
        </p:nvSpPr>
        <p:spPr bwMode="auto">
          <a:xfrm>
            <a:off x="4859338" y="188913"/>
            <a:ext cx="3168650" cy="5032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800"/>
              <a:t>(2) If </a:t>
            </a:r>
            <a:r>
              <a:rPr lang="en-US" altLang="zh-CN" sz="2800" i="1"/>
              <a:t>V</a:t>
            </a:r>
            <a:r>
              <a:rPr lang="en-US" altLang="zh-CN" sz="2800" baseline="-25000"/>
              <a:t>0</a:t>
            </a:r>
            <a:r>
              <a:rPr lang="en-US" altLang="zh-CN" sz="2800"/>
              <a:t>=0 , there is</a:t>
            </a:r>
          </a:p>
        </p:txBody>
      </p:sp>
      <p:graphicFrame>
        <p:nvGraphicFramePr>
          <p:cNvPr id="175114" name="Object 10"/>
          <p:cNvGraphicFramePr>
            <a:graphicFrameLocks noChangeAspect="1"/>
          </p:cNvGraphicFramePr>
          <p:nvPr/>
        </p:nvGraphicFramePr>
        <p:xfrm>
          <a:off x="5076825" y="836613"/>
          <a:ext cx="3570288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76" name="Equation" r:id="rId5" imgW="1625400" imgH="533160" progId="Equation.DSMT4">
                  <p:embed/>
                </p:oleObj>
              </mc:Choice>
              <mc:Fallback>
                <p:oleObj name="Equation" r:id="rId5" imgW="162540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836613"/>
                        <a:ext cx="3570288" cy="11747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487310"/>
              </p:ext>
            </p:extLst>
          </p:nvPr>
        </p:nvGraphicFramePr>
        <p:xfrm>
          <a:off x="2708275" y="4206875"/>
          <a:ext cx="2368550" cy="199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77" name="Visio" r:id="rId7" imgW="1598371" imgH="1264310" progId="Visio.Drawing.11">
                  <p:embed/>
                </p:oleObj>
              </mc:Choice>
              <mc:Fallback>
                <p:oleObj name="Visio" r:id="rId7" imgW="1598371" imgH="126431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8275" y="4206875"/>
                        <a:ext cx="2368550" cy="19954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3029095"/>
              </p:ext>
            </p:extLst>
          </p:nvPr>
        </p:nvGraphicFramePr>
        <p:xfrm>
          <a:off x="4356100" y="2133600"/>
          <a:ext cx="2957513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78" name="Equation" r:id="rId9" imgW="1346040" imgH="393480" progId="Equation.DSMT4">
                  <p:embed/>
                </p:oleObj>
              </mc:Choice>
              <mc:Fallback>
                <p:oleObj name="Equation" r:id="rId9" imgW="13460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133600"/>
                        <a:ext cx="2957513" cy="8667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7" name="Object 13"/>
          <p:cNvGraphicFramePr>
            <a:graphicFrameLocks noChangeAspect="1"/>
          </p:cNvGraphicFramePr>
          <p:nvPr/>
        </p:nvGraphicFramePr>
        <p:xfrm>
          <a:off x="7596188" y="2276475"/>
          <a:ext cx="1058862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79" name="Equation" r:id="rId11" imgW="482400" imgH="177480" progId="Equation.DSMT4">
                  <p:embed/>
                </p:oleObj>
              </mc:Choice>
              <mc:Fallback>
                <p:oleObj name="Equation" r:id="rId11" imgW="4824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88" y="2276475"/>
                        <a:ext cx="1058862" cy="3921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3504620"/>
              </p:ext>
            </p:extLst>
          </p:nvPr>
        </p:nvGraphicFramePr>
        <p:xfrm>
          <a:off x="4348095" y="3122612"/>
          <a:ext cx="2287588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80" name="Equation" r:id="rId13" imgW="1041120" imgH="393480" progId="Equation.DSMT4">
                  <p:embed/>
                </p:oleObj>
              </mc:Choice>
              <mc:Fallback>
                <p:oleObj name="Equation" r:id="rId13" imgW="10411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8095" y="3122612"/>
                        <a:ext cx="2287588" cy="8667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2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8352290"/>
              </p:ext>
            </p:extLst>
          </p:nvPr>
        </p:nvGraphicFramePr>
        <p:xfrm>
          <a:off x="5610225" y="4360095"/>
          <a:ext cx="2786062" cy="192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81" name="Visio" r:id="rId15" imgW="1740103" imgH="1202741" progId="Visio.Drawing.11">
                  <p:embed/>
                </p:oleObj>
              </mc:Choice>
              <mc:Fallback>
                <p:oleObj name="Visio" r:id="rId15" imgW="1740103" imgH="120274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0225" y="4360095"/>
                        <a:ext cx="2786062" cy="19272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21" name="Rectangle 17"/>
          <p:cNvSpPr>
            <a:spLocks noRot="1" noChangeArrowheads="1"/>
          </p:cNvSpPr>
          <p:nvPr/>
        </p:nvSpPr>
        <p:spPr bwMode="auto">
          <a:xfrm>
            <a:off x="179388" y="2276475"/>
            <a:ext cx="2808287" cy="5032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800"/>
              <a:t>(1) If </a:t>
            </a:r>
            <a:r>
              <a:rPr lang="en-US" altLang="zh-CN" sz="2800" i="1"/>
              <a:t>V</a:t>
            </a:r>
            <a:r>
              <a:rPr lang="en-US" altLang="zh-CN" sz="2800" baseline="-25000"/>
              <a:t>s</a:t>
            </a:r>
            <a:r>
              <a:rPr lang="en-US" altLang="zh-CN" sz="2800"/>
              <a:t>&gt; </a:t>
            </a:r>
            <a:r>
              <a:rPr lang="en-US" altLang="zh-CN" sz="2800" i="1"/>
              <a:t>V</a:t>
            </a:r>
            <a:r>
              <a:rPr lang="en-US" altLang="zh-CN" sz="2800" baseline="-25000"/>
              <a:t>0 </a:t>
            </a:r>
            <a:r>
              <a:rPr lang="en-US" altLang="zh-CN" sz="2800"/>
              <a:t>, then</a:t>
            </a:r>
          </a:p>
        </p:txBody>
      </p:sp>
      <p:graphicFrame>
        <p:nvGraphicFramePr>
          <p:cNvPr id="17512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7664771"/>
              </p:ext>
            </p:extLst>
          </p:nvPr>
        </p:nvGraphicFramePr>
        <p:xfrm>
          <a:off x="394493" y="3000375"/>
          <a:ext cx="2378075" cy="241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82" name="Visio" r:id="rId17" imgW="1487424" imgH="1509065" progId="Visio.Drawing.11">
                  <p:embed/>
                </p:oleObj>
              </mc:Choice>
              <mc:Fallback>
                <p:oleObj name="Visio" r:id="rId17" imgW="1487424" imgH="150906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493" y="3000375"/>
                        <a:ext cx="2378075" cy="2413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3E9D0-4E7D-494B-9FDA-030BD051EAFE}" type="slidenum">
              <a:rPr lang="en-US" altLang="zh-CN" smtClean="0"/>
              <a:pPr/>
              <a:t>30</a:t>
            </a:fld>
            <a:endParaRPr lang="en-US" altLang="zh-CN"/>
          </a:p>
        </p:txBody>
      </p:sp>
      <p:graphicFrame>
        <p:nvGraphicFramePr>
          <p:cNvPr id="15" name="Object 7">
            <a:extLst>
              <a:ext uri="{FF2B5EF4-FFF2-40B4-BE49-F238E27FC236}">
                <a16:creationId xmlns:a16="http://schemas.microsoft.com/office/drawing/2014/main" id="{A77C7ECD-057F-5B43-8B6B-6315CE33A3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0312544"/>
              </p:ext>
            </p:extLst>
          </p:nvPr>
        </p:nvGraphicFramePr>
        <p:xfrm>
          <a:off x="6585411" y="3394915"/>
          <a:ext cx="2460323" cy="1744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83" name="Visio" r:id="rId19" imgW="1821790" imgH="1292657" progId="Visio.Drawing.11">
                  <p:embed/>
                </p:oleObj>
              </mc:Choice>
              <mc:Fallback>
                <p:oleObj name="Visio" r:id="rId19" imgW="1821790" imgH="1292657" progId="Visio.Drawing.11">
                  <p:embed/>
                  <p:pic>
                    <p:nvPicPr>
                      <p:cNvPr id="1720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5411" y="3394915"/>
                        <a:ext cx="2460323" cy="174456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1376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5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5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5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5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7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5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5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5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5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5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5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5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5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5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5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5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75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6" grpId="0" animBg="1" autoUpdateAnimBg="0"/>
      <p:bldP spid="175113" grpId="0" animBg="1"/>
      <p:bldP spid="17512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AutoShape 2"/>
          <p:cNvSpPr>
            <a:spLocks noChangeArrowheads="1"/>
          </p:cNvSpPr>
          <p:nvPr/>
        </p:nvSpPr>
        <p:spPr bwMode="auto">
          <a:xfrm>
            <a:off x="207962" y="2628900"/>
            <a:ext cx="2995885" cy="495300"/>
          </a:xfrm>
          <a:prstGeom prst="wedgeRectCallout">
            <a:avLst>
              <a:gd name="adj1" fmla="val 33086"/>
              <a:gd name="adj2" fmla="val -187822"/>
            </a:avLst>
          </a:prstGeom>
          <a:solidFill>
            <a:srgbClr val="FF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b="1" dirty="0">
                <a:solidFill>
                  <a:srgbClr val="000000"/>
                </a:solidFill>
              </a:rPr>
              <a:t>Steady-state response</a:t>
            </a:r>
            <a:endParaRPr lang="zh-CN" altLang="en-US" b="1" dirty="0">
              <a:solidFill>
                <a:srgbClr val="000000"/>
              </a:solidFill>
            </a:endParaRPr>
          </a:p>
        </p:txBody>
      </p:sp>
      <p:sp>
        <p:nvSpPr>
          <p:cNvPr id="52227" name="AutoShape 3"/>
          <p:cNvSpPr>
            <a:spLocks noChangeArrowheads="1"/>
          </p:cNvSpPr>
          <p:nvPr/>
        </p:nvSpPr>
        <p:spPr bwMode="auto">
          <a:xfrm>
            <a:off x="4530725" y="2495550"/>
            <a:ext cx="2777579" cy="685800"/>
          </a:xfrm>
          <a:prstGeom prst="wedgeRectCallout">
            <a:avLst>
              <a:gd name="adj1" fmla="val -49245"/>
              <a:gd name="adj2" fmla="val -122222"/>
            </a:avLst>
          </a:prstGeom>
          <a:solidFill>
            <a:srgbClr val="FF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b="1" dirty="0">
                <a:solidFill>
                  <a:srgbClr val="000000"/>
                </a:solidFill>
              </a:rPr>
              <a:t>Transient response</a:t>
            </a:r>
            <a:endParaRPr lang="zh-CN" altLang="en-US" b="1" dirty="0">
              <a:solidFill>
                <a:srgbClr val="000000"/>
              </a:solidFill>
            </a:endParaRPr>
          </a:p>
        </p:txBody>
      </p:sp>
      <p:graphicFrame>
        <p:nvGraphicFramePr>
          <p:cNvPr id="522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66049"/>
              </p:ext>
            </p:extLst>
          </p:nvPr>
        </p:nvGraphicFramePr>
        <p:xfrm>
          <a:off x="1666875" y="1247775"/>
          <a:ext cx="4714875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3" name="Equation" r:id="rId3" imgW="2184120" imgH="355320" progId="Equation.DSMT4">
                  <p:embed/>
                </p:oleObj>
              </mc:Choice>
              <mc:Fallback>
                <p:oleObj name="Equation" r:id="rId3" imgW="218412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875" y="1247775"/>
                        <a:ext cx="4714875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263" name="Group 39"/>
          <p:cNvGrpSpPr>
            <a:grpSpLocks/>
          </p:cNvGrpSpPr>
          <p:nvPr/>
        </p:nvGrpSpPr>
        <p:grpSpPr bwMode="auto">
          <a:xfrm>
            <a:off x="279400" y="4953004"/>
            <a:ext cx="3128963" cy="1082676"/>
            <a:chOff x="1200" y="3120"/>
            <a:chExt cx="1971" cy="682"/>
          </a:xfrm>
        </p:grpSpPr>
        <p:sp>
          <p:nvSpPr>
            <p:cNvPr id="52232" name="Freeform 8"/>
            <p:cNvSpPr>
              <a:spLocks/>
            </p:cNvSpPr>
            <p:nvPr/>
          </p:nvSpPr>
          <p:spPr bwMode="auto">
            <a:xfrm>
              <a:off x="1824" y="3120"/>
              <a:ext cx="1347" cy="632"/>
            </a:xfrm>
            <a:custGeom>
              <a:avLst/>
              <a:gdLst>
                <a:gd name="T0" fmla="*/ 0 w 1344"/>
                <a:gd name="T1" fmla="*/ 344 h 344"/>
                <a:gd name="T2" fmla="*/ 288 w 1344"/>
                <a:gd name="T3" fmla="*/ 152 h 344"/>
                <a:gd name="T4" fmla="*/ 624 w 1344"/>
                <a:gd name="T5" fmla="*/ 56 h 344"/>
                <a:gd name="T6" fmla="*/ 1104 w 1344"/>
                <a:gd name="T7" fmla="*/ 8 h 344"/>
                <a:gd name="T8" fmla="*/ 1344 w 1344"/>
                <a:gd name="T9" fmla="*/ 8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25400" cap="flat" cmpd="sng">
              <a:solidFill>
                <a:srgbClr val="0000CC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3" name="Rectangle 9"/>
            <p:cNvSpPr>
              <a:spLocks noChangeArrowheads="1"/>
            </p:cNvSpPr>
            <p:nvPr/>
          </p:nvSpPr>
          <p:spPr bwMode="auto">
            <a:xfrm>
              <a:off x="2340" y="3126"/>
              <a:ext cx="30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3200" b="1" i="1" dirty="0">
                  <a:solidFill>
                    <a:srgbClr val="0000CC"/>
                  </a:solidFill>
                </a:rPr>
                <a:t>v</a:t>
              </a:r>
              <a:r>
                <a:rPr lang="en-US" altLang="zh-CN" b="1" i="1" baseline="30000" dirty="0">
                  <a:solidFill>
                    <a:srgbClr val="0000CC"/>
                  </a:solidFill>
                </a:rPr>
                <a:t>"</a:t>
              </a:r>
              <a:endParaRPr lang="en-US" altLang="zh-CN" b="1" i="1" dirty="0">
                <a:solidFill>
                  <a:srgbClr val="0000CC"/>
                </a:solidFill>
              </a:endParaRPr>
            </a:p>
          </p:txBody>
        </p:sp>
        <p:grpSp>
          <p:nvGrpSpPr>
            <p:cNvPr id="52234" name="Group 10"/>
            <p:cNvGrpSpPr>
              <a:grpSpLocks/>
            </p:cNvGrpSpPr>
            <p:nvPr/>
          </p:nvGrpSpPr>
          <p:grpSpPr bwMode="auto">
            <a:xfrm>
              <a:off x="1200" y="3510"/>
              <a:ext cx="622" cy="292"/>
              <a:chOff x="1152" y="3502"/>
              <a:chExt cx="622" cy="292"/>
            </a:xfrm>
          </p:grpSpPr>
          <p:sp>
            <p:nvSpPr>
              <p:cNvPr id="52235" name="Text Box 11"/>
              <p:cNvSpPr txBox="1">
                <a:spLocks noChangeArrowheads="1"/>
              </p:cNvSpPr>
              <p:nvPr/>
            </p:nvSpPr>
            <p:spPr bwMode="auto">
              <a:xfrm>
                <a:off x="1392" y="3503"/>
                <a:ext cx="38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CC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zh-CN" altLang="en-US" b="1" i="1" dirty="0">
                    <a:solidFill>
                      <a:srgbClr val="0000CC"/>
                    </a:solidFill>
                  </a:rPr>
                  <a:t>-</a:t>
                </a:r>
                <a:r>
                  <a:rPr lang="en-US" altLang="zh-CN" b="1" i="1" dirty="0">
                    <a:solidFill>
                      <a:srgbClr val="0000CC"/>
                    </a:solidFill>
                  </a:rPr>
                  <a:t>V</a:t>
                </a:r>
                <a:r>
                  <a:rPr lang="en-US" altLang="zh-CN" b="1" i="1" baseline="-25000" dirty="0">
                    <a:solidFill>
                      <a:srgbClr val="0000CC"/>
                    </a:solidFill>
                  </a:rPr>
                  <a:t>S</a:t>
                </a:r>
              </a:p>
            </p:txBody>
          </p:sp>
          <p:sp>
            <p:nvSpPr>
              <p:cNvPr id="52236" name="Text Box 12"/>
              <p:cNvSpPr txBox="1">
                <a:spLocks noChangeArrowheads="1"/>
              </p:cNvSpPr>
              <p:nvPr/>
            </p:nvSpPr>
            <p:spPr bwMode="auto">
              <a:xfrm>
                <a:off x="1152" y="3502"/>
                <a:ext cx="31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CC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lang="en-US" altLang="zh-CN" b="1" i="1" dirty="0">
                    <a:solidFill>
                      <a:srgbClr val="0000CC"/>
                    </a:solidFill>
                  </a:rPr>
                  <a:t>V</a:t>
                </a:r>
                <a:r>
                  <a:rPr lang="en-US" altLang="zh-CN" b="1" baseline="-25000" dirty="0">
                    <a:solidFill>
                      <a:srgbClr val="0000CC"/>
                    </a:solidFill>
                  </a:rPr>
                  <a:t>0</a:t>
                </a:r>
                <a:endParaRPr lang="en-US" altLang="zh-CN" b="1" i="1" baseline="-25000" dirty="0">
                  <a:solidFill>
                    <a:srgbClr val="0000CC"/>
                  </a:solidFill>
                </a:endParaRPr>
              </a:p>
            </p:txBody>
          </p:sp>
        </p:grpSp>
      </p:grpSp>
      <p:sp>
        <p:nvSpPr>
          <p:cNvPr id="52237" name="AutoShape 13"/>
          <p:cNvSpPr>
            <a:spLocks noChangeArrowheads="1"/>
          </p:cNvSpPr>
          <p:nvPr/>
        </p:nvSpPr>
        <p:spPr bwMode="auto">
          <a:xfrm>
            <a:off x="5569650" y="5354638"/>
            <a:ext cx="2651844" cy="381000"/>
          </a:xfrm>
          <a:prstGeom prst="wedgeRectCallout">
            <a:avLst>
              <a:gd name="adj1" fmla="val -163375"/>
              <a:gd name="adj2" fmla="val -116250"/>
            </a:avLst>
          </a:prstGeom>
          <a:solidFill>
            <a:srgbClr val="00FFFF"/>
          </a:solidFill>
          <a:ln w="9525">
            <a:solidFill>
              <a:srgbClr val="0000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lang="en-US" altLang="zh-CN" b="1" dirty="0">
                <a:solidFill>
                  <a:srgbClr val="000000"/>
                </a:solidFill>
              </a:rPr>
              <a:t>Transient response</a:t>
            </a:r>
            <a:endParaRPr lang="zh-CN" altLang="en-US" sz="3200" b="1" dirty="0">
              <a:solidFill>
                <a:srgbClr val="000000"/>
              </a:solidFill>
            </a:endParaRPr>
          </a:p>
        </p:txBody>
      </p:sp>
      <p:grpSp>
        <p:nvGrpSpPr>
          <p:cNvPr id="52262" name="Group 38"/>
          <p:cNvGrpSpPr>
            <a:grpSpLocks/>
          </p:cNvGrpSpPr>
          <p:nvPr/>
        </p:nvGrpSpPr>
        <p:grpSpPr bwMode="auto">
          <a:xfrm>
            <a:off x="762000" y="3500441"/>
            <a:ext cx="3244851" cy="584201"/>
            <a:chOff x="1488" y="2205"/>
            <a:chExt cx="2044" cy="368"/>
          </a:xfrm>
        </p:grpSpPr>
        <p:sp>
          <p:nvSpPr>
            <p:cNvPr id="52240" name="Line 16"/>
            <p:cNvSpPr>
              <a:spLocks noChangeShapeType="1"/>
            </p:cNvSpPr>
            <p:nvPr/>
          </p:nvSpPr>
          <p:spPr bwMode="auto">
            <a:xfrm>
              <a:off x="1824" y="2400"/>
              <a:ext cx="1392" cy="0"/>
            </a:xfrm>
            <a:prstGeom prst="line">
              <a:avLst/>
            </a:prstGeom>
            <a:noFill/>
            <a:ln w="25400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41" name="Rectangle 17"/>
            <p:cNvSpPr>
              <a:spLocks noChangeArrowheads="1"/>
            </p:cNvSpPr>
            <p:nvPr/>
          </p:nvSpPr>
          <p:spPr bwMode="auto">
            <a:xfrm>
              <a:off x="3264" y="2205"/>
              <a:ext cx="26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3200" b="1" i="1" dirty="0">
                  <a:solidFill>
                    <a:srgbClr val="0000CC"/>
                  </a:solidFill>
                </a:rPr>
                <a:t>v</a:t>
              </a:r>
              <a:r>
                <a:rPr lang="en-US" altLang="zh-CN" b="1" i="1" baseline="30000" dirty="0">
                  <a:solidFill>
                    <a:srgbClr val="0000CC"/>
                  </a:solidFill>
                </a:rPr>
                <a:t>'</a:t>
              </a:r>
            </a:p>
          </p:txBody>
        </p:sp>
        <p:sp>
          <p:nvSpPr>
            <p:cNvPr id="52242" name="Text Box 18"/>
            <p:cNvSpPr txBox="1">
              <a:spLocks noChangeArrowheads="1"/>
            </p:cNvSpPr>
            <p:nvPr/>
          </p:nvSpPr>
          <p:spPr bwMode="auto">
            <a:xfrm>
              <a:off x="1488" y="2254"/>
              <a:ext cx="31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i="1" dirty="0">
                  <a:solidFill>
                    <a:srgbClr val="0000CC"/>
                  </a:solidFill>
                </a:rPr>
                <a:t>V</a:t>
              </a:r>
              <a:r>
                <a:rPr lang="en-US" altLang="zh-CN" b="1" i="1" baseline="-25000" dirty="0">
                  <a:solidFill>
                    <a:srgbClr val="0000CC"/>
                  </a:solidFill>
                </a:rPr>
                <a:t>S</a:t>
              </a:r>
            </a:p>
          </p:txBody>
        </p:sp>
      </p:grpSp>
      <p:sp>
        <p:nvSpPr>
          <p:cNvPr id="52243" name="AutoShape 19"/>
          <p:cNvSpPr>
            <a:spLocks noChangeArrowheads="1"/>
          </p:cNvSpPr>
          <p:nvPr/>
        </p:nvSpPr>
        <p:spPr bwMode="auto">
          <a:xfrm>
            <a:off x="5277971" y="3733800"/>
            <a:ext cx="2863676" cy="381000"/>
          </a:xfrm>
          <a:prstGeom prst="wedgeRectCallout">
            <a:avLst>
              <a:gd name="adj1" fmla="val -91139"/>
              <a:gd name="adj2" fmla="val -27083"/>
            </a:avLst>
          </a:prstGeom>
          <a:solidFill>
            <a:srgbClr val="FF66CC"/>
          </a:solidFill>
          <a:ln w="9525">
            <a:solidFill>
              <a:srgbClr val="0000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lang="en-US" altLang="zh-CN" b="1" dirty="0">
                <a:solidFill>
                  <a:srgbClr val="0000CC"/>
                </a:solidFill>
              </a:rPr>
              <a:t>Steady-state response</a:t>
            </a:r>
            <a:endParaRPr lang="zh-CN" altLang="en-US" b="1" dirty="0">
              <a:solidFill>
                <a:srgbClr val="0000CC"/>
              </a:solidFill>
            </a:endParaRPr>
          </a:p>
        </p:txBody>
      </p:sp>
      <p:grpSp>
        <p:nvGrpSpPr>
          <p:cNvPr id="52244" name="Group 20"/>
          <p:cNvGrpSpPr>
            <a:grpSpLocks/>
          </p:cNvGrpSpPr>
          <p:nvPr/>
        </p:nvGrpSpPr>
        <p:grpSpPr bwMode="auto">
          <a:xfrm>
            <a:off x="762000" y="3895725"/>
            <a:ext cx="7770800" cy="928688"/>
            <a:chOff x="1510" y="2304"/>
            <a:chExt cx="3921" cy="585"/>
          </a:xfrm>
        </p:grpSpPr>
        <p:grpSp>
          <p:nvGrpSpPr>
            <p:cNvPr id="52245" name="Group 21"/>
            <p:cNvGrpSpPr>
              <a:grpSpLocks/>
            </p:cNvGrpSpPr>
            <p:nvPr/>
          </p:nvGrpSpPr>
          <p:grpSpPr bwMode="auto">
            <a:xfrm>
              <a:off x="1510" y="2304"/>
              <a:ext cx="1649" cy="480"/>
              <a:chOff x="1471" y="2688"/>
              <a:chExt cx="1649" cy="480"/>
            </a:xfrm>
          </p:grpSpPr>
          <p:grpSp>
            <p:nvGrpSpPr>
              <p:cNvPr id="52246" name="Group 22"/>
              <p:cNvGrpSpPr>
                <a:grpSpLocks/>
              </p:cNvGrpSpPr>
              <p:nvPr/>
            </p:nvGrpSpPr>
            <p:grpSpPr bwMode="auto">
              <a:xfrm>
                <a:off x="1488" y="2688"/>
                <a:ext cx="1632" cy="480"/>
                <a:chOff x="1488" y="2688"/>
                <a:chExt cx="1632" cy="480"/>
              </a:xfrm>
            </p:grpSpPr>
            <p:sp>
              <p:nvSpPr>
                <p:cNvPr id="52247" name="Freeform 23"/>
                <p:cNvSpPr>
                  <a:spLocks/>
                </p:cNvSpPr>
                <p:nvPr/>
              </p:nvSpPr>
              <p:spPr bwMode="auto">
                <a:xfrm>
                  <a:off x="1776" y="2688"/>
                  <a:ext cx="1344" cy="480"/>
                </a:xfrm>
                <a:custGeom>
                  <a:avLst/>
                  <a:gdLst>
                    <a:gd name="T0" fmla="*/ 0 w 1344"/>
                    <a:gd name="T1" fmla="*/ 344 h 344"/>
                    <a:gd name="T2" fmla="*/ 288 w 1344"/>
                    <a:gd name="T3" fmla="*/ 152 h 344"/>
                    <a:gd name="T4" fmla="*/ 624 w 1344"/>
                    <a:gd name="T5" fmla="*/ 56 h 344"/>
                    <a:gd name="T6" fmla="*/ 1104 w 1344"/>
                    <a:gd name="T7" fmla="*/ 8 h 344"/>
                    <a:gd name="T8" fmla="*/ 1344 w 1344"/>
                    <a:gd name="T9" fmla="*/ 8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44" h="344">
                      <a:moveTo>
                        <a:pt x="0" y="344"/>
                      </a:moveTo>
                      <a:cubicBezTo>
                        <a:pt x="92" y="272"/>
                        <a:pt x="184" y="200"/>
                        <a:pt x="288" y="152"/>
                      </a:cubicBezTo>
                      <a:cubicBezTo>
                        <a:pt x="392" y="104"/>
                        <a:pt x="488" y="80"/>
                        <a:pt x="624" y="56"/>
                      </a:cubicBezTo>
                      <a:cubicBezTo>
                        <a:pt x="760" y="32"/>
                        <a:pt x="984" y="16"/>
                        <a:pt x="1104" y="8"/>
                      </a:cubicBezTo>
                      <a:cubicBezTo>
                        <a:pt x="1224" y="0"/>
                        <a:pt x="1304" y="8"/>
                        <a:pt x="1344" y="8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48" name="Line 24"/>
                <p:cNvSpPr>
                  <a:spLocks noChangeShapeType="1"/>
                </p:cNvSpPr>
                <p:nvPr/>
              </p:nvSpPr>
              <p:spPr bwMode="auto">
                <a:xfrm>
                  <a:off x="1488" y="3168"/>
                  <a:ext cx="272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2249" name="Text Box 25"/>
              <p:cNvSpPr txBox="1">
                <a:spLocks noChangeArrowheads="1"/>
              </p:cNvSpPr>
              <p:nvPr/>
            </p:nvSpPr>
            <p:spPr bwMode="auto">
              <a:xfrm>
                <a:off x="1471" y="2830"/>
                <a:ext cx="2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 i="1" dirty="0">
                    <a:solidFill>
                      <a:srgbClr val="FF3300"/>
                    </a:solidFill>
                  </a:rPr>
                  <a:t>V</a:t>
                </a:r>
                <a:r>
                  <a:rPr lang="en-US" altLang="zh-CN" b="1" baseline="-25000" dirty="0">
                    <a:solidFill>
                      <a:srgbClr val="FF3300"/>
                    </a:solidFill>
                  </a:rPr>
                  <a:t>0</a:t>
                </a:r>
                <a:endParaRPr lang="en-US" altLang="zh-CN" b="1" i="1" baseline="-25000" dirty="0"/>
              </a:p>
            </p:txBody>
          </p:sp>
          <p:sp>
            <p:nvSpPr>
              <p:cNvPr id="52250" name="Text Box 26"/>
              <p:cNvSpPr txBox="1">
                <a:spLocks noChangeArrowheads="1"/>
              </p:cNvSpPr>
              <p:nvPr/>
            </p:nvSpPr>
            <p:spPr bwMode="auto">
              <a:xfrm>
                <a:off x="2185" y="2783"/>
                <a:ext cx="16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 i="1" dirty="0">
                    <a:solidFill>
                      <a:srgbClr val="FF0000"/>
                    </a:solidFill>
                  </a:rPr>
                  <a:t>v</a:t>
                </a:r>
                <a:endParaRPr lang="en-US" altLang="zh-CN" b="1" dirty="0"/>
              </a:p>
            </p:txBody>
          </p:sp>
        </p:grpSp>
        <p:sp>
          <p:nvSpPr>
            <p:cNvPr id="52251" name="AutoShape 27"/>
            <p:cNvSpPr>
              <a:spLocks noChangeArrowheads="1"/>
            </p:cNvSpPr>
            <p:nvPr/>
          </p:nvSpPr>
          <p:spPr bwMode="auto">
            <a:xfrm>
              <a:off x="4140" y="2649"/>
              <a:ext cx="1291" cy="240"/>
            </a:xfrm>
            <a:prstGeom prst="wedgeRectCallout">
              <a:avLst>
                <a:gd name="adj1" fmla="val -186717"/>
                <a:gd name="adj2" fmla="val -1375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lang="en-US" altLang="zh-CN" b="1" dirty="0">
                  <a:solidFill>
                    <a:srgbClr val="000000"/>
                  </a:solidFill>
                </a:rPr>
                <a:t>Complete response</a:t>
              </a:r>
              <a:endParaRPr lang="zh-CN" altLang="en-US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52252" name="Group 28"/>
          <p:cNvGrpSpPr>
            <a:grpSpLocks/>
          </p:cNvGrpSpPr>
          <p:nvPr/>
        </p:nvGrpSpPr>
        <p:grpSpPr bwMode="auto">
          <a:xfrm>
            <a:off x="900113" y="2970213"/>
            <a:ext cx="3392487" cy="3278188"/>
            <a:chOff x="1575" y="1727"/>
            <a:chExt cx="2137" cy="2065"/>
          </a:xfrm>
        </p:grpSpPr>
        <p:grpSp>
          <p:nvGrpSpPr>
            <p:cNvPr id="52253" name="Group 29"/>
            <p:cNvGrpSpPr>
              <a:grpSpLocks/>
            </p:cNvGrpSpPr>
            <p:nvPr/>
          </p:nvGrpSpPr>
          <p:grpSpPr bwMode="auto">
            <a:xfrm>
              <a:off x="1575" y="1727"/>
              <a:ext cx="2137" cy="2065"/>
              <a:chOff x="1539" y="2111"/>
              <a:chExt cx="2137" cy="2065"/>
            </a:xfrm>
          </p:grpSpPr>
          <p:sp>
            <p:nvSpPr>
              <p:cNvPr id="52254" name="Line 30"/>
              <p:cNvSpPr>
                <a:spLocks noChangeShapeType="1"/>
              </p:cNvSpPr>
              <p:nvPr/>
            </p:nvSpPr>
            <p:spPr bwMode="auto">
              <a:xfrm>
                <a:off x="1539" y="3312"/>
                <a:ext cx="19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55" name="Line 31"/>
              <p:cNvSpPr>
                <a:spLocks noChangeShapeType="1"/>
              </p:cNvSpPr>
              <p:nvPr/>
            </p:nvSpPr>
            <p:spPr bwMode="auto">
              <a:xfrm flipV="1">
                <a:off x="1776" y="2256"/>
                <a:ext cx="0" cy="19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56" name="Text Box 32"/>
              <p:cNvSpPr txBox="1">
                <a:spLocks noChangeArrowheads="1"/>
              </p:cNvSpPr>
              <p:nvPr/>
            </p:nvSpPr>
            <p:spPr bwMode="auto">
              <a:xfrm>
                <a:off x="3507" y="3168"/>
                <a:ext cx="16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 i="1"/>
                  <a:t>t</a:t>
                </a:r>
                <a:endParaRPr lang="en-US" altLang="zh-CN" b="1"/>
              </a:p>
            </p:txBody>
          </p:sp>
          <p:sp>
            <p:nvSpPr>
              <p:cNvPr id="52257" name="Text Box 33"/>
              <p:cNvSpPr txBox="1">
                <a:spLocks noChangeArrowheads="1"/>
              </p:cNvSpPr>
              <p:nvPr/>
            </p:nvSpPr>
            <p:spPr bwMode="auto">
              <a:xfrm>
                <a:off x="1824" y="2111"/>
                <a:ext cx="20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 i="1" dirty="0"/>
                  <a:t>v</a:t>
                </a:r>
                <a:endParaRPr lang="en-US" altLang="zh-CN" b="1" dirty="0"/>
              </a:p>
            </p:txBody>
          </p:sp>
        </p:grpSp>
        <p:sp>
          <p:nvSpPr>
            <p:cNvPr id="52258" name="Text Box 34"/>
            <p:cNvSpPr txBox="1">
              <a:spLocks noChangeArrowheads="1"/>
            </p:cNvSpPr>
            <p:nvPr/>
          </p:nvSpPr>
          <p:spPr bwMode="auto">
            <a:xfrm>
              <a:off x="1590" y="29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b="1"/>
                <a:t>0</a:t>
              </a:r>
              <a:endParaRPr lang="zh-CN" altLang="en-US"/>
            </a:p>
          </p:txBody>
        </p:sp>
      </p:grpSp>
      <p:sp>
        <p:nvSpPr>
          <p:cNvPr id="52259" name="Text Box 35"/>
          <p:cNvSpPr txBox="1">
            <a:spLocks noChangeArrowheads="1"/>
          </p:cNvSpPr>
          <p:nvPr/>
        </p:nvSpPr>
        <p:spPr bwMode="auto">
          <a:xfrm>
            <a:off x="0" y="786111"/>
            <a:ext cx="9067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zh-CN" altLang="en-US" b="1" dirty="0">
                <a:solidFill>
                  <a:schemeClr val="tx2"/>
                </a:solidFill>
              </a:rPr>
              <a:t>(1) </a:t>
            </a:r>
            <a:r>
              <a:rPr lang="zh-CN" altLang="en-US" dirty="0">
                <a:solidFill>
                  <a:schemeClr val="tx2"/>
                </a:solidFill>
              </a:rPr>
              <a:t> </a:t>
            </a:r>
            <a:r>
              <a:rPr lang="en-US" altLang="zh-CN" b="1" dirty="0">
                <a:solidFill>
                  <a:schemeClr val="tx2"/>
                </a:solidFill>
              </a:rPr>
              <a:t>Complete response </a:t>
            </a:r>
            <a:r>
              <a:rPr lang="zh-CN" altLang="en-US" b="1" dirty="0">
                <a:solidFill>
                  <a:schemeClr val="tx2"/>
                </a:solidFill>
              </a:rPr>
              <a:t>= </a:t>
            </a:r>
            <a:r>
              <a:rPr lang="en-US" altLang="zh-CN" b="1" dirty="0">
                <a:solidFill>
                  <a:schemeClr val="tx2"/>
                </a:solidFill>
              </a:rPr>
              <a:t>Steady- state response</a:t>
            </a:r>
            <a:r>
              <a:rPr lang="zh-CN" altLang="en-US" b="1" dirty="0">
                <a:solidFill>
                  <a:schemeClr val="tx2"/>
                </a:solidFill>
              </a:rPr>
              <a:t>+</a:t>
            </a:r>
            <a:r>
              <a:rPr lang="en-US" altLang="zh-CN" b="1" dirty="0">
                <a:solidFill>
                  <a:schemeClr val="tx2"/>
                </a:solidFill>
              </a:rPr>
              <a:t> Transient response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52260" name="Text Box 36"/>
          <p:cNvSpPr txBox="1">
            <a:spLocks noChangeArrowheads="1"/>
          </p:cNvSpPr>
          <p:nvPr/>
        </p:nvSpPr>
        <p:spPr bwMode="auto">
          <a:xfrm>
            <a:off x="95417" y="37952"/>
            <a:ext cx="8126077" cy="5847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FF0000"/>
                </a:solidFill>
              </a:rPr>
              <a:t>Two ways of decomposing complete response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51142-E1EF-4721-85F8-37A18B2EA881}" type="slidenum">
              <a:rPr lang="en-US" altLang="zh-CN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73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2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2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2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2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2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 animBg="1" autoUpdateAnimBg="0"/>
      <p:bldP spid="52227" grpId="0" animBg="1" autoUpdateAnimBg="0"/>
      <p:bldP spid="52237" grpId="0" animBg="1" autoUpdateAnimBg="0"/>
      <p:bldP spid="52243" grpId="0" animBg="1" autoUpdateAnimBg="0"/>
      <p:bldP spid="52259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50" name="Group 2"/>
          <p:cNvGrpSpPr>
            <a:grpSpLocks/>
          </p:cNvGrpSpPr>
          <p:nvPr/>
        </p:nvGrpSpPr>
        <p:grpSpPr bwMode="auto">
          <a:xfrm>
            <a:off x="827088" y="2649538"/>
            <a:ext cx="2401887" cy="1951038"/>
            <a:chOff x="319" y="407"/>
            <a:chExt cx="1513" cy="1229"/>
          </a:xfrm>
        </p:grpSpPr>
        <p:grpSp>
          <p:nvGrpSpPr>
            <p:cNvPr id="53251" name="Group 3"/>
            <p:cNvGrpSpPr>
              <a:grpSpLocks/>
            </p:cNvGrpSpPr>
            <p:nvPr/>
          </p:nvGrpSpPr>
          <p:grpSpPr bwMode="auto">
            <a:xfrm>
              <a:off x="319" y="407"/>
              <a:ext cx="1513" cy="989"/>
              <a:chOff x="3456" y="1891"/>
              <a:chExt cx="2142" cy="989"/>
            </a:xfrm>
          </p:grpSpPr>
          <p:sp>
            <p:nvSpPr>
              <p:cNvPr id="53252" name="Line 4"/>
              <p:cNvSpPr>
                <a:spLocks noChangeShapeType="1"/>
              </p:cNvSpPr>
              <p:nvPr/>
            </p:nvSpPr>
            <p:spPr bwMode="auto">
              <a:xfrm>
                <a:off x="4656" y="2304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3253" name="Group 5"/>
              <p:cNvGrpSpPr>
                <a:grpSpLocks/>
              </p:cNvGrpSpPr>
              <p:nvPr/>
            </p:nvGrpSpPr>
            <p:grpSpPr bwMode="auto">
              <a:xfrm>
                <a:off x="3456" y="1891"/>
                <a:ext cx="2142" cy="989"/>
                <a:chOff x="3456" y="1939"/>
                <a:chExt cx="2142" cy="989"/>
              </a:xfrm>
            </p:grpSpPr>
            <p:grpSp>
              <p:nvGrpSpPr>
                <p:cNvPr id="53254" name="Group 6"/>
                <p:cNvGrpSpPr>
                  <a:grpSpLocks/>
                </p:cNvGrpSpPr>
                <p:nvPr/>
              </p:nvGrpSpPr>
              <p:grpSpPr bwMode="auto">
                <a:xfrm>
                  <a:off x="4967" y="2006"/>
                  <a:ext cx="265" cy="298"/>
                  <a:chOff x="1847" y="470"/>
                  <a:chExt cx="265" cy="298"/>
                </a:xfrm>
              </p:grpSpPr>
              <p:sp>
                <p:nvSpPr>
                  <p:cNvPr id="53255" name="Line 7"/>
                  <p:cNvSpPr>
                    <a:spLocks noChangeShapeType="1"/>
                  </p:cNvSpPr>
                  <p:nvPr/>
                </p:nvSpPr>
                <p:spPr bwMode="auto">
                  <a:xfrm>
                    <a:off x="1872" y="768"/>
                    <a:ext cx="240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256" name="Text Box 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47" y="470"/>
                    <a:ext cx="239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99FF99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 i="1"/>
                      <a:t>i</a:t>
                    </a:r>
                    <a:endParaRPr lang="en-US" altLang="zh-CN" b="1"/>
                  </a:p>
                </p:txBody>
              </p:sp>
            </p:grpSp>
            <p:grpSp>
              <p:nvGrpSpPr>
                <p:cNvPr id="53257" name="Group 9"/>
                <p:cNvGrpSpPr>
                  <a:grpSpLocks/>
                </p:cNvGrpSpPr>
                <p:nvPr/>
              </p:nvGrpSpPr>
              <p:grpSpPr bwMode="auto">
                <a:xfrm>
                  <a:off x="3787" y="1939"/>
                  <a:ext cx="745" cy="317"/>
                  <a:chOff x="1099" y="931"/>
                  <a:chExt cx="745" cy="317"/>
                </a:xfrm>
              </p:grpSpPr>
              <p:sp>
                <p:nvSpPr>
                  <p:cNvPr id="53258" name="Line 1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00" y="1104"/>
                    <a:ext cx="144" cy="144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259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99" y="931"/>
                    <a:ext cx="745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99FF99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2000" b="1"/>
                      <a:t>S(</a:t>
                    </a:r>
                    <a:r>
                      <a:rPr lang="en-US" altLang="zh-CN" sz="2000" b="1" i="1"/>
                      <a:t>t</a:t>
                    </a:r>
                    <a:r>
                      <a:rPr lang="en-US" altLang="zh-CN" sz="2000" b="1"/>
                      <a:t>=0)</a:t>
                    </a:r>
                  </a:p>
                </p:txBody>
              </p:sp>
            </p:grpSp>
            <p:sp>
              <p:nvSpPr>
                <p:cNvPr id="53260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3556" y="2466"/>
                  <a:ext cx="402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000" b="1" i="1" dirty="0"/>
                    <a:t>V</a:t>
                  </a:r>
                  <a:r>
                    <a:rPr lang="en-US" altLang="zh-CN" sz="2000" b="1" i="1" baseline="-25000" dirty="0"/>
                    <a:t>S</a:t>
                  </a:r>
                  <a:endParaRPr lang="en-US" altLang="zh-CN" sz="2000" b="1" dirty="0"/>
                </a:p>
              </p:txBody>
            </p:sp>
            <p:grpSp>
              <p:nvGrpSpPr>
                <p:cNvPr id="53261" name="Group 13"/>
                <p:cNvGrpSpPr>
                  <a:grpSpLocks/>
                </p:cNvGrpSpPr>
                <p:nvPr/>
              </p:nvGrpSpPr>
              <p:grpSpPr bwMode="auto">
                <a:xfrm>
                  <a:off x="4273" y="2304"/>
                  <a:ext cx="685" cy="307"/>
                  <a:chOff x="769" y="768"/>
                  <a:chExt cx="685" cy="307"/>
                </a:xfrm>
              </p:grpSpPr>
              <p:grpSp>
                <p:nvGrpSpPr>
                  <p:cNvPr id="53262" name="Group 14"/>
                  <p:cNvGrpSpPr>
                    <a:grpSpLocks/>
                  </p:cNvGrpSpPr>
                  <p:nvPr/>
                </p:nvGrpSpPr>
                <p:grpSpPr bwMode="auto">
                  <a:xfrm>
                    <a:off x="769" y="768"/>
                    <a:ext cx="685" cy="288"/>
                    <a:chOff x="769" y="768"/>
                    <a:chExt cx="685" cy="288"/>
                  </a:xfrm>
                </p:grpSpPr>
                <p:sp>
                  <p:nvSpPr>
                    <p:cNvPr id="53263" name="Text Box 1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769" y="768"/>
                      <a:ext cx="31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99FF99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54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zh-CN" altLang="en-US" b="1"/>
                        <a:t>+</a:t>
                      </a:r>
                    </a:p>
                  </p:txBody>
                </p:sp>
                <p:sp>
                  <p:nvSpPr>
                    <p:cNvPr id="53264" name="Text Box 1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54" y="768"/>
                      <a:ext cx="300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99FF99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54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zh-CN" altLang="en-US" b="1"/>
                        <a:t>–</a:t>
                      </a:r>
                    </a:p>
                  </p:txBody>
                </p:sp>
              </p:grpSp>
              <p:sp>
                <p:nvSpPr>
                  <p:cNvPr id="53265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29" y="825"/>
                    <a:ext cx="38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99FF99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2000" b="1" i="1"/>
                      <a:t>u</a:t>
                    </a:r>
                    <a:r>
                      <a:rPr lang="en-US" altLang="zh-CN" sz="2000" b="1" i="1" baseline="-25000"/>
                      <a:t>R</a:t>
                    </a:r>
                    <a:endParaRPr lang="en-US" altLang="zh-CN" sz="2000" b="1" baseline="-25000"/>
                  </a:p>
                </p:txBody>
              </p:sp>
            </p:grpSp>
            <p:grpSp>
              <p:nvGrpSpPr>
                <p:cNvPr id="53266" name="Group 18"/>
                <p:cNvGrpSpPr>
                  <a:grpSpLocks/>
                </p:cNvGrpSpPr>
                <p:nvPr/>
              </p:nvGrpSpPr>
              <p:grpSpPr bwMode="auto">
                <a:xfrm>
                  <a:off x="3456" y="2256"/>
                  <a:ext cx="2142" cy="672"/>
                  <a:chOff x="192" y="912"/>
                  <a:chExt cx="2142" cy="672"/>
                </a:xfrm>
              </p:grpSpPr>
              <p:sp>
                <p:nvSpPr>
                  <p:cNvPr id="53267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1008"/>
                    <a:ext cx="672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268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008"/>
                    <a:ext cx="336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269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008"/>
                    <a:ext cx="0" cy="24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53270" name="Group 22"/>
                  <p:cNvGrpSpPr>
                    <a:grpSpLocks/>
                  </p:cNvGrpSpPr>
                  <p:nvPr/>
                </p:nvGrpSpPr>
                <p:grpSpPr bwMode="auto">
                  <a:xfrm>
                    <a:off x="192" y="1248"/>
                    <a:ext cx="192" cy="48"/>
                    <a:chOff x="528" y="1488"/>
                    <a:chExt cx="192" cy="48"/>
                  </a:xfrm>
                </p:grpSpPr>
                <p:sp>
                  <p:nvSpPr>
                    <p:cNvPr id="53271" name="Line 2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28" y="1488"/>
                      <a:ext cx="192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3272" name="Line 2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76" y="1536"/>
                      <a:ext cx="96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53273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296"/>
                    <a:ext cx="0" cy="24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53274" name="Group 26"/>
                  <p:cNvGrpSpPr>
                    <a:grpSpLocks/>
                  </p:cNvGrpSpPr>
                  <p:nvPr/>
                </p:nvGrpSpPr>
                <p:grpSpPr bwMode="auto">
                  <a:xfrm>
                    <a:off x="1643" y="912"/>
                    <a:ext cx="691" cy="672"/>
                    <a:chOff x="1643" y="720"/>
                    <a:chExt cx="691" cy="672"/>
                  </a:xfrm>
                </p:grpSpPr>
                <p:sp>
                  <p:nvSpPr>
                    <p:cNvPr id="53275" name="Text Box 2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643" y="1027"/>
                      <a:ext cx="316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99FF99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54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2000" b="1" i="1"/>
                        <a:t>C</a:t>
                      </a:r>
                      <a:endParaRPr lang="en-US" altLang="zh-CN" sz="2000" b="1"/>
                    </a:p>
                  </p:txBody>
                </p:sp>
                <p:grpSp>
                  <p:nvGrpSpPr>
                    <p:cNvPr id="53276" name="Group 2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37" y="720"/>
                      <a:ext cx="397" cy="672"/>
                      <a:chOff x="1937" y="720"/>
                      <a:chExt cx="397" cy="672"/>
                    </a:xfrm>
                  </p:grpSpPr>
                  <p:grpSp>
                    <p:nvGrpSpPr>
                      <p:cNvPr id="53277" name="Group 2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015" y="720"/>
                        <a:ext cx="319" cy="672"/>
                        <a:chOff x="1583" y="1248"/>
                        <a:chExt cx="319" cy="672"/>
                      </a:xfrm>
                    </p:grpSpPr>
                    <p:sp>
                      <p:nvSpPr>
                        <p:cNvPr id="53278" name="Text Box 30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83" y="1248"/>
                          <a:ext cx="319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>
                          <a:spAutoFit/>
                        </a:bodyPr>
                        <a:lstStyle/>
                        <a:p>
                          <a:pPr>
                            <a:spcBef>
                              <a:spcPct val="50000"/>
                            </a:spcBef>
                          </a:pPr>
                          <a:r>
                            <a:rPr lang="zh-CN" altLang="en-US" b="1"/>
                            <a:t>+</a:t>
                          </a:r>
                        </a:p>
                      </p:txBody>
                    </p:sp>
                    <p:sp>
                      <p:nvSpPr>
                        <p:cNvPr id="53279" name="Text Box 31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86" y="1632"/>
                          <a:ext cx="30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>
                          <a:spAutoFit/>
                        </a:bodyPr>
                        <a:lstStyle/>
                        <a:p>
                          <a:pPr>
                            <a:spcBef>
                              <a:spcPct val="50000"/>
                            </a:spcBef>
                          </a:pPr>
                          <a:r>
                            <a:rPr lang="zh-CN" altLang="en-US" b="1"/>
                            <a:t>–</a:t>
                          </a:r>
                        </a:p>
                      </p:txBody>
                    </p:sp>
                  </p:grpSp>
                  <p:sp>
                    <p:nvSpPr>
                      <p:cNvPr id="53280" name="Text Box 32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937" y="920"/>
                        <a:ext cx="266" cy="2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2000" b="1" i="1" dirty="0"/>
                          <a:t>v</a:t>
                        </a:r>
                        <a:endParaRPr lang="en-US" altLang="zh-CN" sz="2000" b="1" dirty="0"/>
                      </a:p>
                    </p:txBody>
                  </p:sp>
                </p:grpSp>
                <p:grpSp>
                  <p:nvGrpSpPr>
                    <p:cNvPr id="53281" name="Group 3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24" y="1008"/>
                      <a:ext cx="192" cy="96"/>
                      <a:chOff x="1824" y="1680"/>
                      <a:chExt cx="192" cy="96"/>
                    </a:xfrm>
                  </p:grpSpPr>
                  <p:sp>
                    <p:nvSpPr>
                      <p:cNvPr id="53282" name="Line 3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824" y="1680"/>
                        <a:ext cx="192" cy="0"/>
                      </a:xfrm>
                      <a:prstGeom prst="line">
                        <a:avLst/>
                      </a:prstGeom>
                      <a:noFill/>
                      <a:ln w="254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3283" name="Line 3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824" y="1776"/>
                        <a:ext cx="192" cy="0"/>
                      </a:xfrm>
                      <a:prstGeom prst="line">
                        <a:avLst/>
                      </a:prstGeom>
                      <a:noFill/>
                      <a:ln w="254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53284" name="Line 3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920" y="1104"/>
                      <a:ext cx="0" cy="24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3285" name="Line 3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920" y="816"/>
                      <a:ext cx="0" cy="192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53286" name="Line 38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624" y="912"/>
                    <a:ext cx="144" cy="96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287" name="Line 39"/>
                  <p:cNvSpPr>
                    <a:spLocks noChangeShapeType="1"/>
                  </p:cNvSpPr>
                  <p:nvPr/>
                </p:nvSpPr>
                <p:spPr bwMode="auto">
                  <a:xfrm>
                    <a:off x="1680" y="1008"/>
                    <a:ext cx="240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288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536"/>
                    <a:ext cx="1632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3289" name="Group 41"/>
                <p:cNvGrpSpPr>
                  <a:grpSpLocks/>
                </p:cNvGrpSpPr>
                <p:nvPr/>
              </p:nvGrpSpPr>
              <p:grpSpPr bwMode="auto">
                <a:xfrm>
                  <a:off x="4416" y="2083"/>
                  <a:ext cx="372" cy="317"/>
                  <a:chOff x="1008" y="547"/>
                  <a:chExt cx="372" cy="317"/>
                </a:xfrm>
              </p:grpSpPr>
              <p:sp>
                <p:nvSpPr>
                  <p:cNvPr id="53290" name="Text Box 4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65" y="547"/>
                    <a:ext cx="315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99FF99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2000" b="1" i="1"/>
                      <a:t>R</a:t>
                    </a:r>
                    <a:endParaRPr lang="en-US" altLang="zh-CN" sz="2000" b="1"/>
                  </a:p>
                </p:txBody>
              </p:sp>
              <p:sp>
                <p:nvSpPr>
                  <p:cNvPr id="53291" name="Rectangle 43"/>
                  <p:cNvSpPr>
                    <a:spLocks noChangeArrowheads="1"/>
                  </p:cNvSpPr>
                  <p:nvPr/>
                </p:nvSpPr>
                <p:spPr bwMode="auto">
                  <a:xfrm>
                    <a:off x="1008" y="768"/>
                    <a:ext cx="288" cy="96"/>
                  </a:xfrm>
                  <a:prstGeom prst="rect">
                    <a:avLst/>
                  </a:prstGeom>
                  <a:solidFill>
                    <a:srgbClr val="99FF99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53292" name="Text Box 44"/>
            <p:cNvSpPr txBox="1">
              <a:spLocks noChangeArrowheads="1"/>
            </p:cNvSpPr>
            <p:nvPr/>
          </p:nvSpPr>
          <p:spPr bwMode="auto">
            <a:xfrm>
              <a:off x="470" y="1268"/>
              <a:ext cx="95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3200" b="1" i="1" dirty="0" err="1"/>
                <a:t>u</a:t>
              </a:r>
              <a:r>
                <a:rPr lang="en-US" altLang="zh-CN" b="1" i="1" baseline="-25000" dirty="0" err="1"/>
                <a:t>C</a:t>
              </a:r>
              <a:r>
                <a:rPr lang="en-US" altLang="zh-CN" b="1" i="1" baseline="-25000" dirty="0"/>
                <a:t> </a:t>
              </a:r>
              <a:r>
                <a:rPr lang="en-US" altLang="zh-CN" b="1" dirty="0"/>
                <a:t>(0</a:t>
              </a:r>
              <a:r>
                <a:rPr lang="en-US" altLang="zh-CN" b="1" baseline="-25000" dirty="0"/>
                <a:t>-</a:t>
              </a:r>
              <a:r>
                <a:rPr lang="en-US" altLang="zh-CN" b="1" dirty="0"/>
                <a:t>)=</a:t>
              </a:r>
              <a:r>
                <a:rPr lang="en-US" altLang="zh-CN" b="1" i="1" dirty="0"/>
                <a:t>V</a:t>
              </a:r>
              <a:r>
                <a:rPr lang="en-US" altLang="zh-CN" b="1" baseline="-25000" dirty="0"/>
                <a:t>0</a:t>
              </a:r>
              <a:endParaRPr lang="en-US" altLang="zh-CN" b="1" dirty="0"/>
            </a:p>
          </p:txBody>
        </p:sp>
      </p:grpSp>
      <p:grpSp>
        <p:nvGrpSpPr>
          <p:cNvPr id="53293" name="Group 45"/>
          <p:cNvGrpSpPr>
            <a:grpSpLocks/>
          </p:cNvGrpSpPr>
          <p:nvPr/>
        </p:nvGrpSpPr>
        <p:grpSpPr bwMode="auto">
          <a:xfrm>
            <a:off x="1444626" y="4629150"/>
            <a:ext cx="2989263" cy="1903413"/>
            <a:chOff x="1900" y="406"/>
            <a:chExt cx="1883" cy="1199"/>
          </a:xfrm>
        </p:grpSpPr>
        <p:grpSp>
          <p:nvGrpSpPr>
            <p:cNvPr id="53294" name="Group 46"/>
            <p:cNvGrpSpPr>
              <a:grpSpLocks/>
            </p:cNvGrpSpPr>
            <p:nvPr/>
          </p:nvGrpSpPr>
          <p:grpSpPr bwMode="auto">
            <a:xfrm>
              <a:off x="2222" y="406"/>
              <a:ext cx="1561" cy="989"/>
              <a:chOff x="3456" y="1891"/>
              <a:chExt cx="2142" cy="989"/>
            </a:xfrm>
          </p:grpSpPr>
          <p:sp>
            <p:nvSpPr>
              <p:cNvPr id="53295" name="Line 47"/>
              <p:cNvSpPr>
                <a:spLocks noChangeShapeType="1"/>
              </p:cNvSpPr>
              <p:nvPr/>
            </p:nvSpPr>
            <p:spPr bwMode="auto">
              <a:xfrm>
                <a:off x="4656" y="2304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3296" name="Group 48"/>
              <p:cNvGrpSpPr>
                <a:grpSpLocks/>
              </p:cNvGrpSpPr>
              <p:nvPr/>
            </p:nvGrpSpPr>
            <p:grpSpPr bwMode="auto">
              <a:xfrm>
                <a:off x="3456" y="1891"/>
                <a:ext cx="2142" cy="989"/>
                <a:chOff x="3456" y="1939"/>
                <a:chExt cx="2142" cy="989"/>
              </a:xfrm>
            </p:grpSpPr>
            <p:grpSp>
              <p:nvGrpSpPr>
                <p:cNvPr id="53297" name="Group 49"/>
                <p:cNvGrpSpPr>
                  <a:grpSpLocks/>
                </p:cNvGrpSpPr>
                <p:nvPr/>
              </p:nvGrpSpPr>
              <p:grpSpPr bwMode="auto">
                <a:xfrm>
                  <a:off x="4970" y="2006"/>
                  <a:ext cx="262" cy="298"/>
                  <a:chOff x="1850" y="470"/>
                  <a:chExt cx="262" cy="298"/>
                </a:xfrm>
              </p:grpSpPr>
              <p:sp>
                <p:nvSpPr>
                  <p:cNvPr id="53298" name="Line 50"/>
                  <p:cNvSpPr>
                    <a:spLocks noChangeShapeType="1"/>
                  </p:cNvSpPr>
                  <p:nvPr/>
                </p:nvSpPr>
                <p:spPr bwMode="auto">
                  <a:xfrm>
                    <a:off x="1872" y="768"/>
                    <a:ext cx="240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299" name="Text Box 5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50" y="470"/>
                    <a:ext cx="23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99FF99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 i="1"/>
                      <a:t>i</a:t>
                    </a:r>
                    <a:endParaRPr lang="en-US" altLang="zh-CN" b="1"/>
                  </a:p>
                </p:txBody>
              </p:sp>
            </p:grpSp>
            <p:grpSp>
              <p:nvGrpSpPr>
                <p:cNvPr id="53300" name="Group 52"/>
                <p:cNvGrpSpPr>
                  <a:grpSpLocks/>
                </p:cNvGrpSpPr>
                <p:nvPr/>
              </p:nvGrpSpPr>
              <p:grpSpPr bwMode="auto">
                <a:xfrm>
                  <a:off x="3796" y="1939"/>
                  <a:ext cx="722" cy="317"/>
                  <a:chOff x="1108" y="931"/>
                  <a:chExt cx="722" cy="317"/>
                </a:xfrm>
              </p:grpSpPr>
              <p:sp>
                <p:nvSpPr>
                  <p:cNvPr id="53301" name="Line 5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00" y="1104"/>
                    <a:ext cx="144" cy="144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302" name="Text Box 5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08" y="931"/>
                    <a:ext cx="722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99FF99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2000" b="1"/>
                      <a:t>S(</a:t>
                    </a:r>
                    <a:r>
                      <a:rPr lang="en-US" altLang="zh-CN" sz="2000" b="1" i="1"/>
                      <a:t>t=</a:t>
                    </a:r>
                    <a:r>
                      <a:rPr lang="en-US" altLang="zh-CN" sz="2000" b="1"/>
                      <a:t>0)</a:t>
                    </a:r>
                  </a:p>
                </p:txBody>
              </p:sp>
            </p:grpSp>
            <p:sp>
              <p:nvSpPr>
                <p:cNvPr id="53303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3563" y="2466"/>
                  <a:ext cx="390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000" b="1" i="1" dirty="0"/>
                    <a:t>V</a:t>
                  </a:r>
                  <a:r>
                    <a:rPr lang="en-US" altLang="zh-CN" sz="2000" b="1" i="1" baseline="-25000" dirty="0"/>
                    <a:t>S</a:t>
                  </a:r>
                  <a:endParaRPr lang="en-US" altLang="zh-CN" sz="2000" b="1" dirty="0"/>
                </a:p>
              </p:txBody>
            </p:sp>
            <p:grpSp>
              <p:nvGrpSpPr>
                <p:cNvPr id="53304" name="Group 56"/>
                <p:cNvGrpSpPr>
                  <a:grpSpLocks/>
                </p:cNvGrpSpPr>
                <p:nvPr/>
              </p:nvGrpSpPr>
              <p:grpSpPr bwMode="auto">
                <a:xfrm>
                  <a:off x="4277" y="2304"/>
                  <a:ext cx="675" cy="326"/>
                  <a:chOff x="773" y="768"/>
                  <a:chExt cx="675" cy="326"/>
                </a:xfrm>
              </p:grpSpPr>
              <p:grpSp>
                <p:nvGrpSpPr>
                  <p:cNvPr id="53305" name="Group 57"/>
                  <p:cNvGrpSpPr>
                    <a:grpSpLocks/>
                  </p:cNvGrpSpPr>
                  <p:nvPr/>
                </p:nvGrpSpPr>
                <p:grpSpPr bwMode="auto">
                  <a:xfrm>
                    <a:off x="773" y="768"/>
                    <a:ext cx="675" cy="288"/>
                    <a:chOff x="773" y="768"/>
                    <a:chExt cx="675" cy="288"/>
                  </a:xfrm>
                </p:grpSpPr>
                <p:sp>
                  <p:nvSpPr>
                    <p:cNvPr id="53306" name="Text Box 5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773" y="768"/>
                      <a:ext cx="309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99FF99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54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zh-CN" altLang="en-US" b="1"/>
                        <a:t>+</a:t>
                      </a:r>
                    </a:p>
                  </p:txBody>
                </p:sp>
                <p:sp>
                  <p:nvSpPr>
                    <p:cNvPr id="53307" name="Text Box 5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57" y="768"/>
                      <a:ext cx="291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99FF99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54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zh-CN" altLang="en-US" b="1"/>
                        <a:t>–</a:t>
                      </a:r>
                    </a:p>
                  </p:txBody>
                </p:sp>
              </p:grpSp>
              <p:sp>
                <p:nvSpPr>
                  <p:cNvPr id="53308" name="Text Box 6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10" y="806"/>
                    <a:ext cx="42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99FF99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 i="1"/>
                      <a:t>u</a:t>
                    </a:r>
                    <a:r>
                      <a:rPr lang="en-US" altLang="zh-CN" b="1" i="1" baseline="-25000"/>
                      <a:t>R</a:t>
                    </a:r>
                    <a:endParaRPr lang="en-US" altLang="zh-CN" b="1" baseline="-25000"/>
                  </a:p>
                </p:txBody>
              </p:sp>
            </p:grpSp>
            <p:grpSp>
              <p:nvGrpSpPr>
                <p:cNvPr id="53309" name="Group 61"/>
                <p:cNvGrpSpPr>
                  <a:grpSpLocks/>
                </p:cNvGrpSpPr>
                <p:nvPr/>
              </p:nvGrpSpPr>
              <p:grpSpPr bwMode="auto">
                <a:xfrm>
                  <a:off x="3456" y="2256"/>
                  <a:ext cx="2142" cy="672"/>
                  <a:chOff x="192" y="912"/>
                  <a:chExt cx="2142" cy="672"/>
                </a:xfrm>
              </p:grpSpPr>
              <p:sp>
                <p:nvSpPr>
                  <p:cNvPr id="53310" name="Line 62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1008"/>
                    <a:ext cx="672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311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008"/>
                    <a:ext cx="336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312" name="Line 64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008"/>
                    <a:ext cx="0" cy="24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53313" name="Group 65"/>
                  <p:cNvGrpSpPr>
                    <a:grpSpLocks/>
                  </p:cNvGrpSpPr>
                  <p:nvPr/>
                </p:nvGrpSpPr>
                <p:grpSpPr bwMode="auto">
                  <a:xfrm>
                    <a:off x="192" y="1248"/>
                    <a:ext cx="192" cy="48"/>
                    <a:chOff x="528" y="1488"/>
                    <a:chExt cx="192" cy="48"/>
                  </a:xfrm>
                </p:grpSpPr>
                <p:sp>
                  <p:nvSpPr>
                    <p:cNvPr id="53314" name="Line 6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28" y="1488"/>
                      <a:ext cx="192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3315" name="Line 6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76" y="1536"/>
                      <a:ext cx="96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53316" name="Line 68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296"/>
                    <a:ext cx="0" cy="24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53317" name="Group 69"/>
                  <p:cNvGrpSpPr>
                    <a:grpSpLocks/>
                  </p:cNvGrpSpPr>
                  <p:nvPr/>
                </p:nvGrpSpPr>
                <p:grpSpPr bwMode="auto">
                  <a:xfrm>
                    <a:off x="1647" y="912"/>
                    <a:ext cx="687" cy="672"/>
                    <a:chOff x="1647" y="720"/>
                    <a:chExt cx="687" cy="672"/>
                  </a:xfrm>
                </p:grpSpPr>
                <p:sp>
                  <p:nvSpPr>
                    <p:cNvPr id="53318" name="Text Box 7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647" y="1027"/>
                      <a:ext cx="306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99FF99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54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2000" b="1" i="1"/>
                        <a:t>C</a:t>
                      </a:r>
                      <a:endParaRPr lang="en-US" altLang="zh-CN" sz="2000" b="1"/>
                    </a:p>
                  </p:txBody>
                </p:sp>
                <p:grpSp>
                  <p:nvGrpSpPr>
                    <p:cNvPr id="53319" name="Group 7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10" y="720"/>
                      <a:ext cx="524" cy="672"/>
                      <a:chOff x="1810" y="720"/>
                      <a:chExt cx="524" cy="672"/>
                    </a:xfrm>
                  </p:grpSpPr>
                  <p:grpSp>
                    <p:nvGrpSpPr>
                      <p:cNvPr id="53320" name="Group 7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016" y="720"/>
                        <a:ext cx="309" cy="672"/>
                        <a:chOff x="1584" y="1248"/>
                        <a:chExt cx="309" cy="672"/>
                      </a:xfrm>
                    </p:grpSpPr>
                    <p:sp>
                      <p:nvSpPr>
                        <p:cNvPr id="53321" name="Text Box 73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84" y="1248"/>
                          <a:ext cx="309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>
                          <a:spAutoFit/>
                        </a:bodyPr>
                        <a:lstStyle/>
                        <a:p>
                          <a:pPr>
                            <a:spcBef>
                              <a:spcPct val="50000"/>
                            </a:spcBef>
                          </a:pPr>
                          <a:r>
                            <a:rPr lang="zh-CN" altLang="en-US" b="1"/>
                            <a:t>+</a:t>
                          </a:r>
                        </a:p>
                      </p:txBody>
                    </p:sp>
                    <p:sp>
                      <p:nvSpPr>
                        <p:cNvPr id="53322" name="Text Box 74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87" y="1632"/>
                          <a:ext cx="291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>
                          <a:spAutoFit/>
                        </a:bodyPr>
                        <a:lstStyle/>
                        <a:p>
                          <a:pPr>
                            <a:spcBef>
                              <a:spcPct val="50000"/>
                            </a:spcBef>
                          </a:pPr>
                          <a:r>
                            <a:rPr lang="zh-CN" altLang="en-US" b="1"/>
                            <a:t>–</a:t>
                          </a:r>
                        </a:p>
                      </p:txBody>
                    </p:sp>
                  </p:grpSp>
                  <p:sp>
                    <p:nvSpPr>
                      <p:cNvPr id="53323" name="Text Box 75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810" y="862"/>
                        <a:ext cx="524" cy="3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zh-CN" altLang="en-US" sz="3200" b="1" i="1" dirty="0"/>
                          <a:t>   </a:t>
                        </a:r>
                        <a:r>
                          <a:rPr lang="en-US" altLang="zh-CN" sz="2000" b="1" i="1" dirty="0"/>
                          <a:t>v</a:t>
                        </a:r>
                      </a:p>
                    </p:txBody>
                  </p:sp>
                </p:grpSp>
                <p:grpSp>
                  <p:nvGrpSpPr>
                    <p:cNvPr id="53324" name="Group 7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24" y="1008"/>
                      <a:ext cx="192" cy="96"/>
                      <a:chOff x="1824" y="1680"/>
                      <a:chExt cx="192" cy="96"/>
                    </a:xfrm>
                  </p:grpSpPr>
                  <p:sp>
                    <p:nvSpPr>
                      <p:cNvPr id="53325" name="Line 7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824" y="1680"/>
                        <a:ext cx="192" cy="0"/>
                      </a:xfrm>
                      <a:prstGeom prst="line">
                        <a:avLst/>
                      </a:prstGeom>
                      <a:noFill/>
                      <a:ln w="254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3326" name="Line 7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824" y="1776"/>
                        <a:ext cx="192" cy="0"/>
                      </a:xfrm>
                      <a:prstGeom prst="line">
                        <a:avLst/>
                      </a:prstGeom>
                      <a:noFill/>
                      <a:ln w="254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53327" name="Line 7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920" y="1104"/>
                      <a:ext cx="0" cy="24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3328" name="Line 8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920" y="816"/>
                      <a:ext cx="0" cy="192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53329" name="Line 81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624" y="912"/>
                    <a:ext cx="144" cy="96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330" name="Line 82"/>
                  <p:cNvSpPr>
                    <a:spLocks noChangeShapeType="1"/>
                  </p:cNvSpPr>
                  <p:nvPr/>
                </p:nvSpPr>
                <p:spPr bwMode="auto">
                  <a:xfrm>
                    <a:off x="1680" y="1008"/>
                    <a:ext cx="240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331" name="Line 83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536"/>
                    <a:ext cx="1632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3332" name="Group 84"/>
                <p:cNvGrpSpPr>
                  <a:grpSpLocks/>
                </p:cNvGrpSpPr>
                <p:nvPr/>
              </p:nvGrpSpPr>
              <p:grpSpPr bwMode="auto">
                <a:xfrm>
                  <a:off x="4416" y="2083"/>
                  <a:ext cx="366" cy="317"/>
                  <a:chOff x="1008" y="547"/>
                  <a:chExt cx="366" cy="317"/>
                </a:xfrm>
              </p:grpSpPr>
              <p:sp>
                <p:nvSpPr>
                  <p:cNvPr id="53333" name="Text Box 8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68" y="547"/>
                    <a:ext cx="30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99FF99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2000" b="1" i="1"/>
                      <a:t>R</a:t>
                    </a:r>
                    <a:endParaRPr lang="en-US" altLang="zh-CN" sz="2000" b="1"/>
                  </a:p>
                </p:txBody>
              </p:sp>
              <p:sp>
                <p:nvSpPr>
                  <p:cNvPr id="53334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1008" y="768"/>
                    <a:ext cx="288" cy="96"/>
                  </a:xfrm>
                  <a:prstGeom prst="rect">
                    <a:avLst/>
                  </a:prstGeom>
                  <a:solidFill>
                    <a:srgbClr val="99FF99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53335" name="Text Box 87"/>
            <p:cNvSpPr txBox="1">
              <a:spLocks noChangeArrowheads="1"/>
            </p:cNvSpPr>
            <p:nvPr/>
          </p:nvSpPr>
          <p:spPr bwMode="auto">
            <a:xfrm>
              <a:off x="1900" y="838"/>
              <a:ext cx="29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4000" b="1">
                  <a:solidFill>
                    <a:srgbClr val="FF3300"/>
                  </a:solidFill>
                </a:rPr>
                <a:t>=</a:t>
              </a:r>
            </a:p>
          </p:txBody>
        </p:sp>
        <p:sp>
          <p:nvSpPr>
            <p:cNvPr id="53336" name="Text Box 88"/>
            <p:cNvSpPr txBox="1">
              <a:spLocks noChangeArrowheads="1"/>
            </p:cNvSpPr>
            <p:nvPr/>
          </p:nvSpPr>
          <p:spPr bwMode="auto">
            <a:xfrm>
              <a:off x="2476" y="1317"/>
              <a:ext cx="8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i="1"/>
                <a:t>u</a:t>
              </a:r>
              <a:r>
                <a:rPr lang="en-US" altLang="zh-CN" b="1" i="1" baseline="-25000"/>
                <a:t>C</a:t>
              </a:r>
              <a:r>
                <a:rPr lang="en-US" altLang="zh-CN" b="1" baseline="-25000"/>
                <a:t> </a:t>
              </a:r>
              <a:r>
                <a:rPr lang="en-US" altLang="zh-CN" b="1"/>
                <a:t>(0</a:t>
              </a:r>
              <a:r>
                <a:rPr lang="en-US" altLang="zh-CN" b="1" baseline="-25000"/>
                <a:t>-</a:t>
              </a:r>
              <a:r>
                <a:rPr lang="en-US" altLang="zh-CN" b="1"/>
                <a:t>)=0</a:t>
              </a:r>
            </a:p>
          </p:txBody>
        </p:sp>
      </p:grpSp>
      <p:sp>
        <p:nvSpPr>
          <p:cNvPr id="53337" name="Text Box 89"/>
          <p:cNvSpPr txBox="1">
            <a:spLocks noChangeArrowheads="1"/>
          </p:cNvSpPr>
          <p:nvPr/>
        </p:nvSpPr>
        <p:spPr bwMode="auto">
          <a:xfrm>
            <a:off x="4422775" y="5340350"/>
            <a:ext cx="4730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4000" b="1">
                <a:solidFill>
                  <a:srgbClr val="FF3300"/>
                </a:solidFill>
              </a:rPr>
              <a:t>+</a:t>
            </a:r>
          </a:p>
        </p:txBody>
      </p:sp>
      <p:grpSp>
        <p:nvGrpSpPr>
          <p:cNvPr id="53426" name="Group 178"/>
          <p:cNvGrpSpPr>
            <a:grpSpLocks/>
          </p:cNvGrpSpPr>
          <p:nvPr/>
        </p:nvGrpSpPr>
        <p:grpSpPr bwMode="auto">
          <a:xfrm>
            <a:off x="4935539" y="4684713"/>
            <a:ext cx="2341563" cy="1905000"/>
            <a:chOff x="4109" y="1823"/>
            <a:chExt cx="1475" cy="1200"/>
          </a:xfrm>
        </p:grpSpPr>
        <p:sp>
          <p:nvSpPr>
            <p:cNvPr id="53339" name="Text Box 91"/>
            <p:cNvSpPr txBox="1">
              <a:spLocks noChangeArrowheads="1"/>
            </p:cNvSpPr>
            <p:nvPr/>
          </p:nvSpPr>
          <p:spPr bwMode="auto">
            <a:xfrm>
              <a:off x="4272" y="2732"/>
              <a:ext cx="9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i="1" dirty="0" err="1"/>
                <a:t>u</a:t>
              </a:r>
              <a:r>
                <a:rPr lang="en-US" altLang="zh-CN" b="1" i="1" baseline="-25000" dirty="0" err="1"/>
                <a:t>C</a:t>
              </a:r>
              <a:r>
                <a:rPr lang="en-US" altLang="zh-CN" b="1" i="1" baseline="-25000" dirty="0"/>
                <a:t> </a:t>
              </a:r>
              <a:r>
                <a:rPr lang="en-US" altLang="zh-CN" b="1" dirty="0"/>
                <a:t>(0</a:t>
              </a:r>
              <a:r>
                <a:rPr lang="en-US" altLang="zh-CN" b="1" baseline="-25000" dirty="0"/>
                <a:t>-</a:t>
              </a:r>
              <a:r>
                <a:rPr lang="en-US" altLang="zh-CN" b="1" dirty="0"/>
                <a:t>)=</a:t>
              </a:r>
              <a:r>
                <a:rPr lang="en-US" altLang="zh-CN" b="1" i="1" dirty="0"/>
                <a:t>V</a:t>
              </a:r>
              <a:r>
                <a:rPr lang="en-US" altLang="zh-CN" b="1" baseline="-25000" dirty="0"/>
                <a:t>0</a:t>
              </a:r>
              <a:endParaRPr lang="en-US" altLang="zh-CN" b="1" dirty="0"/>
            </a:p>
          </p:txBody>
        </p:sp>
        <p:grpSp>
          <p:nvGrpSpPr>
            <p:cNvPr id="53340" name="Group 92"/>
            <p:cNvGrpSpPr>
              <a:grpSpLocks/>
            </p:cNvGrpSpPr>
            <p:nvPr/>
          </p:nvGrpSpPr>
          <p:grpSpPr bwMode="auto">
            <a:xfrm>
              <a:off x="4109" y="1823"/>
              <a:ext cx="1475" cy="989"/>
              <a:chOff x="4005" y="115"/>
              <a:chExt cx="1475" cy="989"/>
            </a:xfrm>
          </p:grpSpPr>
          <p:sp>
            <p:nvSpPr>
              <p:cNvPr id="53341" name="Line 93"/>
              <p:cNvSpPr>
                <a:spLocks noChangeShapeType="1"/>
              </p:cNvSpPr>
              <p:nvPr/>
            </p:nvSpPr>
            <p:spPr bwMode="auto">
              <a:xfrm>
                <a:off x="4803" y="528"/>
                <a:ext cx="27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3342" name="Group 94"/>
              <p:cNvGrpSpPr>
                <a:grpSpLocks/>
              </p:cNvGrpSpPr>
              <p:nvPr/>
            </p:nvGrpSpPr>
            <p:grpSpPr bwMode="auto">
              <a:xfrm>
                <a:off x="4005" y="115"/>
                <a:ext cx="1475" cy="989"/>
                <a:chOff x="4005" y="115"/>
                <a:chExt cx="1475" cy="989"/>
              </a:xfrm>
            </p:grpSpPr>
            <p:grpSp>
              <p:nvGrpSpPr>
                <p:cNvPr id="53343" name="Group 95"/>
                <p:cNvGrpSpPr>
                  <a:grpSpLocks/>
                </p:cNvGrpSpPr>
                <p:nvPr/>
              </p:nvGrpSpPr>
              <p:grpSpPr bwMode="auto">
                <a:xfrm>
                  <a:off x="4005" y="432"/>
                  <a:ext cx="1475" cy="672"/>
                  <a:chOff x="4005" y="432"/>
                  <a:chExt cx="1475" cy="672"/>
                </a:xfrm>
              </p:grpSpPr>
              <p:grpSp>
                <p:nvGrpSpPr>
                  <p:cNvPr id="53344" name="Group 96"/>
                  <p:cNvGrpSpPr>
                    <a:grpSpLocks/>
                  </p:cNvGrpSpPr>
                  <p:nvPr/>
                </p:nvGrpSpPr>
                <p:grpSpPr bwMode="auto">
                  <a:xfrm>
                    <a:off x="4005" y="432"/>
                    <a:ext cx="1475" cy="672"/>
                    <a:chOff x="4005" y="432"/>
                    <a:chExt cx="1475" cy="672"/>
                  </a:xfrm>
                </p:grpSpPr>
                <p:sp>
                  <p:nvSpPr>
                    <p:cNvPr id="53345" name="Line 9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352" y="528"/>
                      <a:ext cx="486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3346" name="Line 9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05" y="528"/>
                      <a:ext cx="243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3347" name="Line 9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05" y="528"/>
                      <a:ext cx="0" cy="24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3348" name="Line 10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05" y="816"/>
                      <a:ext cx="0" cy="24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53349" name="Group 10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986" y="432"/>
                      <a:ext cx="494" cy="672"/>
                      <a:chOff x="1647" y="720"/>
                      <a:chExt cx="683" cy="672"/>
                    </a:xfrm>
                  </p:grpSpPr>
                  <p:sp>
                    <p:nvSpPr>
                      <p:cNvPr id="53350" name="Text Box 102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647" y="1027"/>
                        <a:ext cx="30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2000" b="1" i="1"/>
                          <a:t>C</a:t>
                        </a:r>
                        <a:endParaRPr lang="en-US" altLang="zh-CN" sz="2000" b="1"/>
                      </a:p>
                    </p:txBody>
                  </p:sp>
                  <p:grpSp>
                    <p:nvGrpSpPr>
                      <p:cNvPr id="53351" name="Group 10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852" y="720"/>
                        <a:ext cx="478" cy="672"/>
                        <a:chOff x="1852" y="720"/>
                        <a:chExt cx="478" cy="672"/>
                      </a:xfrm>
                    </p:grpSpPr>
                    <p:grpSp>
                      <p:nvGrpSpPr>
                        <p:cNvPr id="53352" name="Group 104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019" y="720"/>
                          <a:ext cx="311" cy="672"/>
                          <a:chOff x="1587" y="1248"/>
                          <a:chExt cx="311" cy="672"/>
                        </a:xfrm>
                      </p:grpSpPr>
                      <p:sp>
                        <p:nvSpPr>
                          <p:cNvPr id="53353" name="Text Box 105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87" y="1248"/>
                            <a:ext cx="311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99FF99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54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>
                            <a:spAutoFit/>
                          </a:bodyPr>
                          <a:lstStyle/>
                          <a:p>
                            <a:pPr>
                              <a:spcBef>
                                <a:spcPct val="50000"/>
                              </a:spcBef>
                            </a:pPr>
                            <a:r>
                              <a:rPr lang="zh-CN" altLang="en-US" b="1"/>
                              <a:t>+</a:t>
                            </a:r>
                          </a:p>
                        </p:txBody>
                      </p:sp>
                      <p:sp>
                        <p:nvSpPr>
                          <p:cNvPr id="53354" name="Text Box 106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88" y="1632"/>
                            <a:ext cx="294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99FF99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54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  <p:txBody>
                          <a:bodyPr wrap="none" anchor="ctr">
                            <a:spAutoFit/>
                          </a:bodyPr>
                          <a:lstStyle/>
                          <a:p>
                            <a:pPr>
                              <a:spcBef>
                                <a:spcPct val="50000"/>
                              </a:spcBef>
                            </a:pPr>
                            <a:r>
                              <a:rPr lang="zh-CN" altLang="en-US" b="1"/>
                              <a:t>–</a:t>
                            </a:r>
                          </a:p>
                        </p:txBody>
                      </p:sp>
                    </p:grpSp>
                    <p:sp>
                      <p:nvSpPr>
                        <p:cNvPr id="53355" name="Text Box 107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852" y="862"/>
                          <a:ext cx="439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>
                          <a:spAutoFit/>
                        </a:bodyPr>
                        <a:lstStyle/>
                        <a:p>
                          <a:pPr>
                            <a:spcBef>
                              <a:spcPct val="50000"/>
                            </a:spcBef>
                          </a:pPr>
                          <a:r>
                            <a:rPr lang="zh-CN" altLang="en-US" sz="3200" b="1" i="1" dirty="0"/>
                            <a:t>  </a:t>
                          </a:r>
                          <a:r>
                            <a:rPr lang="en-US" altLang="zh-CN" sz="2000" b="1" i="1" dirty="0"/>
                            <a:t>v</a:t>
                          </a:r>
                          <a:endParaRPr lang="en-US" altLang="zh-CN" sz="2000" b="1" dirty="0"/>
                        </a:p>
                      </p:txBody>
                    </p:sp>
                  </p:grpSp>
                  <p:grpSp>
                    <p:nvGrpSpPr>
                      <p:cNvPr id="53356" name="Group 10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824" y="1008"/>
                        <a:ext cx="192" cy="96"/>
                        <a:chOff x="1824" y="1680"/>
                        <a:chExt cx="192" cy="96"/>
                      </a:xfrm>
                    </p:grpSpPr>
                    <p:sp>
                      <p:nvSpPr>
                        <p:cNvPr id="53357" name="Line 10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824" y="1680"/>
                          <a:ext cx="192" cy="0"/>
                        </a:xfrm>
                        <a:prstGeom prst="line">
                          <a:avLst/>
                        </a:prstGeom>
                        <a:noFill/>
                        <a:ln w="254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53358" name="Line 11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824" y="1776"/>
                          <a:ext cx="192" cy="0"/>
                        </a:xfrm>
                        <a:prstGeom prst="line">
                          <a:avLst/>
                        </a:prstGeom>
                        <a:noFill/>
                        <a:ln w="254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sp>
                    <p:nvSpPr>
                      <p:cNvPr id="53359" name="Line 111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1920" y="1104"/>
                        <a:ext cx="0" cy="240"/>
                      </a:xfrm>
                      <a:prstGeom prst="line">
                        <a:avLst/>
                      </a:prstGeom>
                      <a:noFill/>
                      <a:ln w="254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3360" name="Line 112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1920" y="816"/>
                        <a:ext cx="0" cy="192"/>
                      </a:xfrm>
                      <a:prstGeom prst="line">
                        <a:avLst/>
                      </a:prstGeom>
                      <a:noFill/>
                      <a:ln w="254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53361" name="Line 113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4248" y="432"/>
                      <a:ext cx="104" cy="96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3362" name="Line 1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011" y="528"/>
                      <a:ext cx="174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3363" name="Line 1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05" y="1056"/>
                      <a:ext cx="1180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53364" name="Line 116"/>
                  <p:cNvSpPr>
                    <a:spLocks noChangeShapeType="1"/>
                  </p:cNvSpPr>
                  <p:nvPr/>
                </p:nvSpPr>
                <p:spPr bwMode="auto">
                  <a:xfrm>
                    <a:off x="4010" y="624"/>
                    <a:ext cx="0" cy="288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3365" name="Group 117"/>
                <p:cNvGrpSpPr>
                  <a:grpSpLocks/>
                </p:cNvGrpSpPr>
                <p:nvPr/>
              </p:nvGrpSpPr>
              <p:grpSpPr bwMode="auto">
                <a:xfrm>
                  <a:off x="4180" y="115"/>
                  <a:ext cx="1039" cy="672"/>
                  <a:chOff x="4180" y="115"/>
                  <a:chExt cx="1039" cy="672"/>
                </a:xfrm>
              </p:grpSpPr>
              <p:grpSp>
                <p:nvGrpSpPr>
                  <p:cNvPr id="53366" name="Group 118"/>
                  <p:cNvGrpSpPr>
                    <a:grpSpLocks/>
                  </p:cNvGrpSpPr>
                  <p:nvPr/>
                </p:nvGrpSpPr>
                <p:grpSpPr bwMode="auto">
                  <a:xfrm>
                    <a:off x="5029" y="182"/>
                    <a:ext cx="190" cy="298"/>
                    <a:chOff x="1848" y="470"/>
                    <a:chExt cx="264" cy="298"/>
                  </a:xfrm>
                </p:grpSpPr>
                <p:sp>
                  <p:nvSpPr>
                    <p:cNvPr id="53367" name="Line 11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72" y="768"/>
                      <a:ext cx="240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3368" name="Text Box 12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848" y="470"/>
                      <a:ext cx="235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99FF99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54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b="1" i="1"/>
                        <a:t>i</a:t>
                      </a:r>
                      <a:endParaRPr lang="en-US" altLang="zh-CN" b="1"/>
                    </a:p>
                  </p:txBody>
                </p:sp>
              </p:grpSp>
              <p:grpSp>
                <p:nvGrpSpPr>
                  <p:cNvPr id="53369" name="Group 121"/>
                  <p:cNvGrpSpPr>
                    <a:grpSpLocks/>
                  </p:cNvGrpSpPr>
                  <p:nvPr/>
                </p:nvGrpSpPr>
                <p:grpSpPr bwMode="auto">
                  <a:xfrm>
                    <a:off x="4180" y="115"/>
                    <a:ext cx="526" cy="317"/>
                    <a:chOff x="1106" y="931"/>
                    <a:chExt cx="728" cy="317"/>
                  </a:xfrm>
                </p:grpSpPr>
                <p:sp>
                  <p:nvSpPr>
                    <p:cNvPr id="53370" name="Line 122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200" y="1104"/>
                      <a:ext cx="144" cy="144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3371" name="Text Box 12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06" y="931"/>
                      <a:ext cx="728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99FF99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54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2000" b="1"/>
                        <a:t>S(</a:t>
                      </a:r>
                      <a:r>
                        <a:rPr lang="en-US" altLang="zh-CN" sz="2000" b="1" i="1"/>
                        <a:t>t=</a:t>
                      </a:r>
                      <a:r>
                        <a:rPr lang="en-US" altLang="zh-CN" sz="2000" b="1"/>
                        <a:t>0)</a:t>
                      </a:r>
                    </a:p>
                  </p:txBody>
                </p:sp>
              </p:grpSp>
              <p:grpSp>
                <p:nvGrpSpPr>
                  <p:cNvPr id="53372" name="Group 124"/>
                  <p:cNvGrpSpPr>
                    <a:grpSpLocks/>
                  </p:cNvGrpSpPr>
                  <p:nvPr/>
                </p:nvGrpSpPr>
                <p:grpSpPr bwMode="auto">
                  <a:xfrm>
                    <a:off x="4529" y="480"/>
                    <a:ext cx="490" cy="307"/>
                    <a:chOff x="773" y="768"/>
                    <a:chExt cx="678" cy="307"/>
                  </a:xfrm>
                </p:grpSpPr>
                <p:grpSp>
                  <p:nvGrpSpPr>
                    <p:cNvPr id="53373" name="Group 12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773" y="768"/>
                      <a:ext cx="678" cy="288"/>
                      <a:chOff x="773" y="768"/>
                      <a:chExt cx="678" cy="288"/>
                    </a:xfrm>
                  </p:grpSpPr>
                  <p:sp>
                    <p:nvSpPr>
                      <p:cNvPr id="53374" name="Text Box 12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773" y="768"/>
                        <a:ext cx="311" cy="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zh-CN" altLang="en-US" b="1"/>
                          <a:t>+</a:t>
                        </a:r>
                      </a:p>
                    </p:txBody>
                  </p:sp>
                  <p:sp>
                    <p:nvSpPr>
                      <p:cNvPr id="53375" name="Text Box 127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157" y="768"/>
                        <a:ext cx="294" cy="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zh-CN" altLang="en-US" b="1"/>
                          <a:t>–</a:t>
                        </a:r>
                      </a:p>
                    </p:txBody>
                  </p:sp>
                </p:grpSp>
                <p:sp>
                  <p:nvSpPr>
                    <p:cNvPr id="53376" name="Text Box 12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932" y="825"/>
                      <a:ext cx="379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99FF99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54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2000" b="1" i="1"/>
                        <a:t>u</a:t>
                      </a:r>
                      <a:r>
                        <a:rPr lang="en-US" altLang="zh-CN" sz="2000" b="1" i="1" baseline="-25000"/>
                        <a:t>R</a:t>
                      </a:r>
                    </a:p>
                  </p:txBody>
                </p:sp>
              </p:grpSp>
              <p:grpSp>
                <p:nvGrpSpPr>
                  <p:cNvPr id="53377" name="Group 129"/>
                  <p:cNvGrpSpPr>
                    <a:grpSpLocks/>
                  </p:cNvGrpSpPr>
                  <p:nvPr/>
                </p:nvGrpSpPr>
                <p:grpSpPr bwMode="auto">
                  <a:xfrm>
                    <a:off x="4630" y="259"/>
                    <a:ext cx="266" cy="317"/>
                    <a:chOff x="1008" y="547"/>
                    <a:chExt cx="369" cy="317"/>
                  </a:xfrm>
                </p:grpSpPr>
                <p:sp>
                  <p:nvSpPr>
                    <p:cNvPr id="53378" name="Text Box 13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068" y="547"/>
                      <a:ext cx="309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99FF99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54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2000" b="1" i="1"/>
                        <a:t>R</a:t>
                      </a:r>
                      <a:endParaRPr lang="en-US" altLang="zh-CN" sz="2000" b="1"/>
                    </a:p>
                  </p:txBody>
                </p:sp>
                <p:sp>
                  <p:nvSpPr>
                    <p:cNvPr id="53379" name="Rectangle 13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08" y="768"/>
                      <a:ext cx="288" cy="96"/>
                    </a:xfrm>
                    <a:prstGeom prst="rect">
                      <a:avLst/>
                    </a:prstGeom>
                    <a:solidFill>
                      <a:srgbClr val="99FF99"/>
                    </a:solidFill>
                    <a:ln w="254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</p:grpSp>
        <p:sp>
          <p:nvSpPr>
            <p:cNvPr id="53380" name="Line 132"/>
            <p:cNvSpPr>
              <a:spLocks noChangeShapeType="1"/>
            </p:cNvSpPr>
            <p:nvPr/>
          </p:nvSpPr>
          <p:spPr bwMode="auto">
            <a:xfrm>
              <a:off x="4109" y="2284"/>
              <a:ext cx="0" cy="384"/>
            </a:xfrm>
            <a:prstGeom prst="line">
              <a:avLst/>
            </a:prstGeom>
            <a:noFill/>
            <a:ln w="25400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3381" name="Text Box 133"/>
          <p:cNvSpPr txBox="1">
            <a:spLocks noChangeArrowheads="1"/>
          </p:cNvSpPr>
          <p:nvPr/>
        </p:nvSpPr>
        <p:spPr bwMode="auto">
          <a:xfrm>
            <a:off x="146050" y="194102"/>
            <a:ext cx="824237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zh-CN" altLang="en-US" b="1" dirty="0"/>
              <a:t>(2) </a:t>
            </a:r>
            <a:r>
              <a:rPr lang="zh-CN" altLang="en-US" dirty="0"/>
              <a:t> </a:t>
            </a:r>
            <a:r>
              <a:rPr lang="en-US" altLang="zh-CN" b="1" dirty="0"/>
              <a:t>Complete response </a:t>
            </a:r>
            <a:r>
              <a:rPr lang="zh-CN" altLang="en-US" b="1" dirty="0"/>
              <a:t>= </a:t>
            </a:r>
            <a:r>
              <a:rPr lang="en-US" altLang="zh-CN" b="1" dirty="0"/>
              <a:t>Natural response (Zero-input response)</a:t>
            </a:r>
            <a:r>
              <a:rPr lang="zh-CN" altLang="en-US" b="1" dirty="0"/>
              <a:t> + </a:t>
            </a:r>
            <a:r>
              <a:rPr lang="en-US" altLang="zh-CN" b="1" dirty="0"/>
              <a:t>Forced response (Zero-state response)</a:t>
            </a:r>
            <a:endParaRPr lang="zh-CN" altLang="en-US" b="1" dirty="0"/>
          </a:p>
        </p:txBody>
      </p:sp>
      <p:sp>
        <p:nvSpPr>
          <p:cNvPr id="53382" name="AutoShape 134"/>
          <p:cNvSpPr>
            <a:spLocks noChangeArrowheads="1"/>
          </p:cNvSpPr>
          <p:nvPr/>
        </p:nvSpPr>
        <p:spPr bwMode="auto">
          <a:xfrm>
            <a:off x="639763" y="2084388"/>
            <a:ext cx="2620962" cy="381000"/>
          </a:xfrm>
          <a:prstGeom prst="wedgeRectCallout">
            <a:avLst>
              <a:gd name="adj1" fmla="val 32194"/>
              <a:gd name="adj2" fmla="val -122083"/>
            </a:avLst>
          </a:prstGeom>
          <a:solidFill>
            <a:srgbClr val="FF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lang="en-US" altLang="zh-CN" b="1" dirty="0">
                <a:solidFill>
                  <a:srgbClr val="000000"/>
                </a:solidFill>
              </a:rPr>
              <a:t>Forced response</a:t>
            </a:r>
            <a:endParaRPr lang="zh-CN" altLang="en-US" b="1" dirty="0">
              <a:solidFill>
                <a:srgbClr val="000000"/>
              </a:solidFill>
            </a:endParaRPr>
          </a:p>
        </p:txBody>
      </p:sp>
      <p:sp>
        <p:nvSpPr>
          <p:cNvPr id="53383" name="AutoShape 135"/>
          <p:cNvSpPr>
            <a:spLocks noChangeArrowheads="1"/>
          </p:cNvSpPr>
          <p:nvPr/>
        </p:nvSpPr>
        <p:spPr bwMode="auto">
          <a:xfrm>
            <a:off x="4687888" y="2133600"/>
            <a:ext cx="2571750" cy="381000"/>
          </a:xfrm>
          <a:prstGeom prst="wedgeRectCallout">
            <a:avLst>
              <a:gd name="adj1" fmla="val -64384"/>
              <a:gd name="adj2" fmla="val -135000"/>
            </a:avLst>
          </a:prstGeom>
          <a:solidFill>
            <a:srgbClr val="FF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lang="en-US" altLang="zh-CN" b="1" dirty="0">
                <a:solidFill>
                  <a:srgbClr val="000000"/>
                </a:solidFill>
              </a:rPr>
              <a:t>Natural response</a:t>
            </a:r>
            <a:endParaRPr lang="zh-CN" altLang="en-US" b="1" dirty="0">
              <a:solidFill>
                <a:srgbClr val="000000"/>
              </a:solidFill>
            </a:endParaRPr>
          </a:p>
        </p:txBody>
      </p:sp>
      <p:graphicFrame>
        <p:nvGraphicFramePr>
          <p:cNvPr id="53384" name="Object 1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964945"/>
              </p:ext>
            </p:extLst>
          </p:nvPr>
        </p:nvGraphicFramePr>
        <p:xfrm>
          <a:off x="900113" y="1058863"/>
          <a:ext cx="5835650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8" name="Equation" r:id="rId3" imgW="2628720" imgH="355320" progId="Equation.DSMT4">
                  <p:embed/>
                </p:oleObj>
              </mc:Choice>
              <mc:Fallback>
                <p:oleObj name="Equation" r:id="rId3" imgW="262872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058863"/>
                        <a:ext cx="5835650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51142-E1EF-4721-85F8-37A18B2EA881}" type="slidenum">
              <a:rPr lang="en-US" altLang="zh-CN" smtClean="0"/>
              <a:pPr/>
              <a:t>32</a:t>
            </a:fld>
            <a:endParaRPr lang="en-US" altLang="zh-CN"/>
          </a:p>
        </p:txBody>
      </p:sp>
      <p:graphicFrame>
        <p:nvGraphicFramePr>
          <p:cNvPr id="139" name="Object 4">
            <a:extLst>
              <a:ext uri="{FF2B5EF4-FFF2-40B4-BE49-F238E27FC236}">
                <a16:creationId xmlns:a16="http://schemas.microsoft.com/office/drawing/2014/main" id="{653D6A62-B71A-864C-9ED2-5C32CC5915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6391741"/>
              </p:ext>
            </p:extLst>
          </p:nvPr>
        </p:nvGraphicFramePr>
        <p:xfrm>
          <a:off x="3779549" y="3216276"/>
          <a:ext cx="4714875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9" name="Equation" r:id="rId5" imgW="2184120" imgH="355320" progId="Equation.DSMT4">
                  <p:embed/>
                </p:oleObj>
              </mc:Choice>
              <mc:Fallback>
                <p:oleObj name="Equation" r:id="rId5" imgW="2184120" imgH="355320" progId="Equation.DSMT4">
                  <p:embed/>
                  <p:pic>
                    <p:nvPicPr>
                      <p:cNvPr id="522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549" y="3216276"/>
                        <a:ext cx="4714875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9355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3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3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3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3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37" grpId="0" autoUpdateAnimBg="0"/>
      <p:bldP spid="53381" grpId="0"/>
      <p:bldP spid="53382" grpId="0" animBg="1" autoUpdateAnimBg="0"/>
      <p:bldP spid="53383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74" name="Group 2"/>
          <p:cNvGrpSpPr>
            <a:grpSpLocks/>
          </p:cNvGrpSpPr>
          <p:nvPr/>
        </p:nvGrpSpPr>
        <p:grpSpPr bwMode="auto">
          <a:xfrm>
            <a:off x="290620" y="404812"/>
            <a:ext cx="6624619" cy="1528763"/>
            <a:chOff x="933" y="303"/>
            <a:chExt cx="3832" cy="963"/>
          </a:xfrm>
        </p:grpSpPr>
        <p:graphicFrame>
          <p:nvGraphicFramePr>
            <p:cNvPr id="5427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2498180"/>
                </p:ext>
              </p:extLst>
            </p:nvPr>
          </p:nvGraphicFramePr>
          <p:xfrm>
            <a:off x="964" y="303"/>
            <a:ext cx="3676" cy="4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31" name="Equation" r:id="rId3" imgW="2628720" imgH="355320" progId="Equation.DSMT4">
                    <p:embed/>
                  </p:oleObj>
                </mc:Choice>
                <mc:Fallback>
                  <p:oleObj name="Equation" r:id="rId3" imgW="2628720" imgH="3553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4" y="303"/>
                          <a:ext cx="3676" cy="49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76" name="AutoShape 4"/>
            <p:cNvSpPr>
              <a:spLocks noChangeArrowheads="1"/>
            </p:cNvSpPr>
            <p:nvPr/>
          </p:nvSpPr>
          <p:spPr bwMode="auto">
            <a:xfrm>
              <a:off x="933" y="1026"/>
              <a:ext cx="1560" cy="240"/>
            </a:xfrm>
            <a:prstGeom prst="wedgeRectCallout">
              <a:avLst>
                <a:gd name="adj1" fmla="val 28013"/>
                <a:gd name="adj2" fmla="val -14791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b="1" dirty="0">
                  <a:solidFill>
                    <a:srgbClr val="000000"/>
                  </a:solidFill>
                </a:rPr>
                <a:t>Zero-state response</a:t>
              </a:r>
              <a:endParaRPr lang="zh-CN" altLang="en-US" b="1" dirty="0">
                <a:solidFill>
                  <a:srgbClr val="000000"/>
                </a:solidFill>
              </a:endParaRPr>
            </a:p>
          </p:txBody>
        </p:sp>
        <p:sp>
          <p:nvSpPr>
            <p:cNvPr id="54277" name="AutoShape 5"/>
            <p:cNvSpPr>
              <a:spLocks noChangeArrowheads="1"/>
            </p:cNvSpPr>
            <p:nvPr/>
          </p:nvSpPr>
          <p:spPr bwMode="auto">
            <a:xfrm>
              <a:off x="3167" y="1009"/>
              <a:ext cx="1598" cy="240"/>
            </a:xfrm>
            <a:prstGeom prst="wedgeRectCallout">
              <a:avLst>
                <a:gd name="adj1" fmla="val -66003"/>
                <a:gd name="adj2" fmla="val -135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b="1" dirty="0"/>
                <a:t>Zero-input response</a:t>
              </a:r>
              <a:endParaRPr lang="zh-CN" altLang="en-US" b="1" dirty="0"/>
            </a:p>
          </p:txBody>
        </p:sp>
      </p:grpSp>
      <p:grpSp>
        <p:nvGrpSpPr>
          <p:cNvPr id="54278" name="Group 6"/>
          <p:cNvGrpSpPr>
            <a:grpSpLocks/>
          </p:cNvGrpSpPr>
          <p:nvPr/>
        </p:nvGrpSpPr>
        <p:grpSpPr bwMode="auto">
          <a:xfrm>
            <a:off x="1795463" y="2457450"/>
            <a:ext cx="3552825" cy="3768724"/>
            <a:chOff x="1539" y="1118"/>
            <a:chExt cx="2238" cy="2374"/>
          </a:xfrm>
        </p:grpSpPr>
        <p:sp>
          <p:nvSpPr>
            <p:cNvPr id="54279" name="Line 7"/>
            <p:cNvSpPr>
              <a:spLocks noChangeShapeType="1"/>
            </p:cNvSpPr>
            <p:nvPr/>
          </p:nvSpPr>
          <p:spPr bwMode="auto">
            <a:xfrm>
              <a:off x="1540" y="2983"/>
              <a:ext cx="19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0" name="Line 8"/>
            <p:cNvSpPr>
              <a:spLocks noChangeShapeType="1"/>
            </p:cNvSpPr>
            <p:nvPr/>
          </p:nvSpPr>
          <p:spPr bwMode="auto">
            <a:xfrm flipV="1">
              <a:off x="1777" y="1217"/>
              <a:ext cx="0" cy="22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1" name="Text Box 9"/>
            <p:cNvSpPr txBox="1">
              <a:spLocks noChangeArrowheads="1"/>
            </p:cNvSpPr>
            <p:nvPr/>
          </p:nvSpPr>
          <p:spPr bwMode="auto">
            <a:xfrm>
              <a:off x="3608" y="2838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i="1"/>
                <a:t>t</a:t>
              </a:r>
              <a:endParaRPr lang="en-US" altLang="zh-CN" b="1"/>
            </a:p>
          </p:txBody>
        </p:sp>
        <p:sp>
          <p:nvSpPr>
            <p:cNvPr id="54282" name="Text Box 10"/>
            <p:cNvSpPr txBox="1">
              <a:spLocks noChangeArrowheads="1"/>
            </p:cNvSpPr>
            <p:nvPr/>
          </p:nvSpPr>
          <p:spPr bwMode="auto">
            <a:xfrm>
              <a:off x="1861" y="1118"/>
              <a:ext cx="2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i="1" dirty="0"/>
                <a:t>v</a:t>
              </a:r>
              <a:endParaRPr lang="en-US" altLang="zh-CN" b="1" dirty="0"/>
            </a:p>
          </p:txBody>
        </p:sp>
        <p:sp>
          <p:nvSpPr>
            <p:cNvPr id="54283" name="Text Box 11"/>
            <p:cNvSpPr txBox="1">
              <a:spLocks noChangeArrowheads="1"/>
            </p:cNvSpPr>
            <p:nvPr/>
          </p:nvSpPr>
          <p:spPr bwMode="auto">
            <a:xfrm>
              <a:off x="1539" y="296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/>
                <a:t>0</a:t>
              </a:r>
            </a:p>
          </p:txBody>
        </p:sp>
      </p:grpSp>
      <p:grpSp>
        <p:nvGrpSpPr>
          <p:cNvPr id="54298" name="Group 26"/>
          <p:cNvGrpSpPr>
            <a:grpSpLocks/>
          </p:cNvGrpSpPr>
          <p:nvPr/>
        </p:nvGrpSpPr>
        <p:grpSpPr bwMode="auto">
          <a:xfrm>
            <a:off x="1595438" y="3565526"/>
            <a:ext cx="5857057" cy="1843088"/>
            <a:chOff x="3042" y="1380"/>
            <a:chExt cx="3117" cy="1161"/>
          </a:xfrm>
        </p:grpSpPr>
        <p:sp>
          <p:nvSpPr>
            <p:cNvPr id="54285" name="Line 13"/>
            <p:cNvSpPr>
              <a:spLocks noChangeShapeType="1"/>
            </p:cNvSpPr>
            <p:nvPr/>
          </p:nvSpPr>
          <p:spPr bwMode="auto">
            <a:xfrm>
              <a:off x="3368" y="1544"/>
              <a:ext cx="13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6" name="Text Box 14"/>
            <p:cNvSpPr txBox="1">
              <a:spLocks noChangeArrowheads="1"/>
            </p:cNvSpPr>
            <p:nvPr/>
          </p:nvSpPr>
          <p:spPr bwMode="auto">
            <a:xfrm>
              <a:off x="3042" y="1380"/>
              <a:ext cx="29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800" b="1" i="1" dirty="0">
                  <a:solidFill>
                    <a:srgbClr val="FF0000"/>
                  </a:solidFill>
                </a:rPr>
                <a:t>V</a:t>
              </a:r>
              <a:r>
                <a:rPr lang="en-US" altLang="zh-CN" sz="2800" b="1" i="1" baseline="-25000" dirty="0">
                  <a:solidFill>
                    <a:srgbClr val="FF0000"/>
                  </a:solidFill>
                </a:rPr>
                <a:t>S</a:t>
              </a:r>
            </a:p>
          </p:txBody>
        </p:sp>
        <p:sp>
          <p:nvSpPr>
            <p:cNvPr id="54287" name="Freeform 15"/>
            <p:cNvSpPr>
              <a:spLocks/>
            </p:cNvSpPr>
            <p:nvPr/>
          </p:nvSpPr>
          <p:spPr bwMode="auto">
            <a:xfrm>
              <a:off x="3359" y="1600"/>
              <a:ext cx="1329" cy="941"/>
            </a:xfrm>
            <a:custGeom>
              <a:avLst/>
              <a:gdLst>
                <a:gd name="T0" fmla="*/ 0 w 1344"/>
                <a:gd name="T1" fmla="*/ 344 h 344"/>
                <a:gd name="T2" fmla="*/ 288 w 1344"/>
                <a:gd name="T3" fmla="*/ 152 h 344"/>
                <a:gd name="T4" fmla="*/ 624 w 1344"/>
                <a:gd name="T5" fmla="*/ 56 h 344"/>
                <a:gd name="T6" fmla="*/ 1104 w 1344"/>
                <a:gd name="T7" fmla="*/ 8 h 344"/>
                <a:gd name="T8" fmla="*/ 1344 w 1344"/>
                <a:gd name="T9" fmla="*/ 8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8" name="AutoShape 16"/>
            <p:cNvSpPr>
              <a:spLocks noChangeArrowheads="1"/>
            </p:cNvSpPr>
            <p:nvPr/>
          </p:nvSpPr>
          <p:spPr bwMode="auto">
            <a:xfrm>
              <a:off x="4736" y="1956"/>
              <a:ext cx="1423" cy="334"/>
            </a:xfrm>
            <a:prstGeom prst="wedgeRectCallout">
              <a:avLst>
                <a:gd name="adj1" fmla="val -80677"/>
                <a:gd name="adj2" fmla="val -124474"/>
              </a:avLst>
            </a:prstGeom>
            <a:solidFill>
              <a:schemeClr val="hlink"/>
            </a:solidFill>
            <a:ln w="28575">
              <a:solidFill>
                <a:srgbClr val="FF0000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b="1" dirty="0">
                  <a:solidFill>
                    <a:srgbClr val="000000"/>
                  </a:solidFill>
                </a:rPr>
                <a:t>Zero-state response</a:t>
              </a:r>
              <a:endParaRPr lang="zh-CN" altLang="en-US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54289" name="Group 17"/>
          <p:cNvGrpSpPr>
            <a:grpSpLocks/>
          </p:cNvGrpSpPr>
          <p:nvPr/>
        </p:nvGrpSpPr>
        <p:grpSpPr bwMode="auto">
          <a:xfrm>
            <a:off x="1722438" y="2846388"/>
            <a:ext cx="4257972" cy="1801812"/>
            <a:chOff x="3593" y="1187"/>
            <a:chExt cx="2271" cy="1135"/>
          </a:xfrm>
        </p:grpSpPr>
        <p:sp>
          <p:nvSpPr>
            <p:cNvPr id="54290" name="Freeform 18"/>
            <p:cNvSpPr>
              <a:spLocks/>
            </p:cNvSpPr>
            <p:nvPr/>
          </p:nvSpPr>
          <p:spPr bwMode="auto">
            <a:xfrm>
              <a:off x="3843" y="1824"/>
              <a:ext cx="1323" cy="498"/>
            </a:xfrm>
            <a:custGeom>
              <a:avLst/>
              <a:gdLst>
                <a:gd name="T0" fmla="*/ 0 w 1344"/>
                <a:gd name="T1" fmla="*/ 344 h 344"/>
                <a:gd name="T2" fmla="*/ 288 w 1344"/>
                <a:gd name="T3" fmla="*/ 152 h 344"/>
                <a:gd name="T4" fmla="*/ 624 w 1344"/>
                <a:gd name="T5" fmla="*/ 56 h 344"/>
                <a:gd name="T6" fmla="*/ 1104 w 1344"/>
                <a:gd name="T7" fmla="*/ 8 h 344"/>
                <a:gd name="T8" fmla="*/ 1344 w 1344"/>
                <a:gd name="T9" fmla="*/ 8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57150" cap="flat" cmpd="sng">
              <a:solidFill>
                <a:srgbClr val="FF66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91" name="Line 19"/>
            <p:cNvSpPr>
              <a:spLocks noChangeShapeType="1"/>
            </p:cNvSpPr>
            <p:nvPr/>
          </p:nvSpPr>
          <p:spPr bwMode="auto">
            <a:xfrm>
              <a:off x="3593" y="2322"/>
              <a:ext cx="268" cy="0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92" name="AutoShape 20"/>
            <p:cNvSpPr>
              <a:spLocks noChangeArrowheads="1"/>
            </p:cNvSpPr>
            <p:nvPr/>
          </p:nvSpPr>
          <p:spPr bwMode="auto">
            <a:xfrm>
              <a:off x="4456" y="1187"/>
              <a:ext cx="1408" cy="240"/>
            </a:xfrm>
            <a:prstGeom prst="wedgeRectCallout">
              <a:avLst>
                <a:gd name="adj1" fmla="val -56250"/>
                <a:gd name="adj2" fmla="val 251667"/>
              </a:avLst>
            </a:prstGeom>
            <a:solidFill>
              <a:srgbClr val="FF9933"/>
            </a:solidFill>
            <a:ln w="254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lang="en-US" altLang="zh-CN" b="1" dirty="0">
                  <a:solidFill>
                    <a:srgbClr val="000000"/>
                  </a:solidFill>
                </a:rPr>
                <a:t>Complete response</a:t>
              </a:r>
              <a:endParaRPr lang="zh-CN" altLang="en-US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54299" name="Group 27"/>
          <p:cNvGrpSpPr>
            <a:grpSpLocks/>
          </p:cNvGrpSpPr>
          <p:nvPr/>
        </p:nvGrpSpPr>
        <p:grpSpPr bwMode="auto">
          <a:xfrm>
            <a:off x="1495425" y="4094163"/>
            <a:ext cx="5813290" cy="2230438"/>
            <a:chOff x="1518" y="2579"/>
            <a:chExt cx="3321" cy="1405"/>
          </a:xfrm>
        </p:grpSpPr>
        <p:sp>
          <p:nvSpPr>
            <p:cNvPr id="54294" name="Freeform 22"/>
            <p:cNvSpPr>
              <a:spLocks/>
            </p:cNvSpPr>
            <p:nvPr/>
          </p:nvSpPr>
          <p:spPr bwMode="auto">
            <a:xfrm flipV="1">
              <a:off x="1919" y="2930"/>
              <a:ext cx="1513" cy="452"/>
            </a:xfrm>
            <a:custGeom>
              <a:avLst/>
              <a:gdLst>
                <a:gd name="T0" fmla="*/ 0 w 1344"/>
                <a:gd name="T1" fmla="*/ 344 h 344"/>
                <a:gd name="T2" fmla="*/ 288 w 1344"/>
                <a:gd name="T3" fmla="*/ 152 h 344"/>
                <a:gd name="T4" fmla="*/ 624 w 1344"/>
                <a:gd name="T5" fmla="*/ 56 h 344"/>
                <a:gd name="T6" fmla="*/ 1104 w 1344"/>
                <a:gd name="T7" fmla="*/ 8 h 344"/>
                <a:gd name="T8" fmla="*/ 1344 w 1344"/>
                <a:gd name="T9" fmla="*/ 8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25400" cap="flat" cmpd="sng">
              <a:solidFill>
                <a:srgbClr val="0000CC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95" name="AutoShape 23"/>
            <p:cNvSpPr>
              <a:spLocks noChangeArrowheads="1"/>
            </p:cNvSpPr>
            <p:nvPr/>
          </p:nvSpPr>
          <p:spPr bwMode="auto">
            <a:xfrm>
              <a:off x="3211" y="3733"/>
              <a:ext cx="1628" cy="251"/>
            </a:xfrm>
            <a:prstGeom prst="wedgeRectCallout">
              <a:avLst>
                <a:gd name="adj1" fmla="val -64703"/>
                <a:gd name="adj2" fmla="val -196490"/>
              </a:avLst>
            </a:prstGeom>
            <a:solidFill>
              <a:schemeClr val="folHlink"/>
            </a:solidFill>
            <a:ln w="9525">
              <a:solidFill>
                <a:srgbClr val="0000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b="1" dirty="0">
                  <a:solidFill>
                    <a:srgbClr val="0000CC"/>
                  </a:solidFill>
                </a:rPr>
                <a:t>Zero-input response</a:t>
              </a:r>
              <a:endParaRPr lang="zh-CN" altLang="en-US" b="1" dirty="0">
                <a:solidFill>
                  <a:srgbClr val="0000CC"/>
                </a:solidFill>
              </a:endParaRPr>
            </a:p>
          </p:txBody>
        </p:sp>
        <p:sp>
          <p:nvSpPr>
            <p:cNvPr id="54296" name="Text Box 24"/>
            <p:cNvSpPr txBox="1">
              <a:spLocks noChangeArrowheads="1"/>
            </p:cNvSpPr>
            <p:nvPr/>
          </p:nvSpPr>
          <p:spPr bwMode="auto">
            <a:xfrm>
              <a:off x="1518" y="2579"/>
              <a:ext cx="31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800" b="1" i="1" dirty="0">
                  <a:solidFill>
                    <a:srgbClr val="0000CC"/>
                  </a:solidFill>
                </a:rPr>
                <a:t>V</a:t>
              </a:r>
              <a:r>
                <a:rPr lang="en-US" altLang="zh-CN" sz="2800" b="1" baseline="-25000" dirty="0">
                  <a:solidFill>
                    <a:srgbClr val="0000CC"/>
                  </a:solidFill>
                </a:rPr>
                <a:t>0</a:t>
              </a:r>
              <a:endParaRPr lang="en-US" altLang="zh-CN" sz="2800" b="1" i="1" baseline="-25000" dirty="0">
                <a:solidFill>
                  <a:srgbClr val="0000CC"/>
                </a:solidFill>
              </a:endParaRPr>
            </a:p>
          </p:txBody>
        </p:sp>
        <p:sp>
          <p:nvSpPr>
            <p:cNvPr id="54297" name="Line 25"/>
            <p:cNvSpPr>
              <a:spLocks noChangeShapeType="1"/>
            </p:cNvSpPr>
            <p:nvPr/>
          </p:nvSpPr>
          <p:spPr bwMode="auto">
            <a:xfrm>
              <a:off x="1631" y="2920"/>
              <a:ext cx="264" cy="8"/>
            </a:xfrm>
            <a:prstGeom prst="line">
              <a:avLst/>
            </a:prstGeom>
            <a:noFill/>
            <a:ln w="25400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3011160" y="6381751"/>
            <a:ext cx="2895600" cy="457200"/>
          </a:xfrm>
        </p:spPr>
        <p:txBody>
          <a:bodyPr/>
          <a:lstStyle/>
          <a:p>
            <a:r>
              <a:rPr lang="en-US" altLang="zh-CN" dirty="0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51142-E1EF-4721-85F8-37A18B2EA881}" type="slidenum">
              <a:rPr lang="en-US" altLang="zh-CN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2754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4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4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101600" y="139413"/>
            <a:ext cx="7638752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 algn="l"/>
            <a:r>
              <a:rPr lang="zh-CN" altLang="en-US" b="1" dirty="0"/>
              <a:t>  </a:t>
            </a:r>
            <a:r>
              <a:rPr lang="en-US" altLang="zh-CN" sz="3200" b="1" dirty="0">
                <a:solidFill>
                  <a:schemeClr val="bg1"/>
                </a:solidFill>
              </a:rPr>
              <a:t>Comparison of two decomposing methods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grpSp>
        <p:nvGrpSpPr>
          <p:cNvPr id="55311" name="Group 15"/>
          <p:cNvGrpSpPr>
            <a:grpSpLocks/>
          </p:cNvGrpSpPr>
          <p:nvPr/>
        </p:nvGrpSpPr>
        <p:grpSpPr bwMode="auto">
          <a:xfrm>
            <a:off x="137038" y="4294188"/>
            <a:ext cx="6610939" cy="1420812"/>
            <a:chOff x="641" y="2873"/>
            <a:chExt cx="3751" cy="895"/>
          </a:xfrm>
        </p:grpSpPr>
        <p:graphicFrame>
          <p:nvGraphicFramePr>
            <p:cNvPr id="55300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3287841"/>
                </p:ext>
              </p:extLst>
            </p:nvPr>
          </p:nvGraphicFramePr>
          <p:xfrm>
            <a:off x="716" y="2873"/>
            <a:ext cx="3676" cy="4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00" name="Equation" r:id="rId3" imgW="2628720" imgH="355320" progId="Equation.DSMT4">
                    <p:embed/>
                  </p:oleObj>
                </mc:Choice>
                <mc:Fallback>
                  <p:oleObj name="Equation" r:id="rId3" imgW="2628720" imgH="3553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" y="2873"/>
                          <a:ext cx="3676" cy="4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3333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01" name="AutoShape 5"/>
            <p:cNvSpPr>
              <a:spLocks noChangeArrowheads="1"/>
            </p:cNvSpPr>
            <p:nvPr/>
          </p:nvSpPr>
          <p:spPr bwMode="auto">
            <a:xfrm>
              <a:off x="641" y="3504"/>
              <a:ext cx="1291" cy="264"/>
            </a:xfrm>
            <a:prstGeom prst="wedgeRectCallout">
              <a:avLst>
                <a:gd name="adj1" fmla="val 44773"/>
                <a:gd name="adj2" fmla="val -12064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b="1" dirty="0">
                  <a:solidFill>
                    <a:srgbClr val="000000"/>
                  </a:solidFill>
                </a:rPr>
                <a:t>Forced response</a:t>
              </a:r>
              <a:endParaRPr lang="zh-CN" altLang="en-US" b="1" dirty="0">
                <a:solidFill>
                  <a:srgbClr val="000000"/>
                </a:solidFill>
              </a:endParaRPr>
            </a:p>
          </p:txBody>
        </p:sp>
        <p:sp>
          <p:nvSpPr>
            <p:cNvPr id="55302" name="AutoShape 6"/>
            <p:cNvSpPr>
              <a:spLocks noChangeArrowheads="1"/>
            </p:cNvSpPr>
            <p:nvPr/>
          </p:nvSpPr>
          <p:spPr bwMode="auto">
            <a:xfrm>
              <a:off x="2640" y="3487"/>
              <a:ext cx="1375" cy="281"/>
            </a:xfrm>
            <a:prstGeom prst="wedgeRectCallout">
              <a:avLst>
                <a:gd name="adj1" fmla="val -48838"/>
                <a:gd name="adj2" fmla="val -11625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b="1" dirty="0">
                  <a:solidFill>
                    <a:srgbClr val="000000"/>
                  </a:solidFill>
                </a:rPr>
                <a:t>Natural response</a:t>
              </a:r>
              <a:endParaRPr lang="zh-CN" altLang="en-US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55309" name="Text Box 13"/>
          <p:cNvSpPr txBox="1">
            <a:spLocks noChangeArrowheads="1"/>
          </p:cNvSpPr>
          <p:nvPr/>
        </p:nvSpPr>
        <p:spPr bwMode="auto">
          <a:xfrm>
            <a:off x="71438" y="3833168"/>
            <a:ext cx="81729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Complete response </a:t>
            </a:r>
            <a:r>
              <a:rPr lang="zh-CN" altLang="en-US" b="1" dirty="0">
                <a:solidFill>
                  <a:srgbClr val="FF0000"/>
                </a:solidFill>
              </a:rPr>
              <a:t>= </a:t>
            </a:r>
            <a:r>
              <a:rPr lang="en-US" altLang="zh-CN" b="1" dirty="0">
                <a:solidFill>
                  <a:srgbClr val="FF0000"/>
                </a:solidFill>
              </a:rPr>
              <a:t>natural response</a:t>
            </a:r>
            <a:r>
              <a:rPr lang="zh-CN" altLang="en-US" b="1" dirty="0">
                <a:solidFill>
                  <a:srgbClr val="FF0000"/>
                </a:solidFill>
              </a:rPr>
              <a:t> + </a:t>
            </a:r>
            <a:r>
              <a:rPr lang="en-US" altLang="zh-CN" b="1" dirty="0">
                <a:solidFill>
                  <a:srgbClr val="FF0000"/>
                </a:solidFill>
              </a:rPr>
              <a:t>forced response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5310" name="Text Box 14"/>
          <p:cNvSpPr txBox="1">
            <a:spLocks noChangeArrowheads="1"/>
          </p:cNvSpPr>
          <p:nvPr/>
        </p:nvSpPr>
        <p:spPr bwMode="auto">
          <a:xfrm>
            <a:off x="215900" y="912168"/>
            <a:ext cx="84605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en-US" altLang="zh-CN" b="1" dirty="0">
                <a:solidFill>
                  <a:srgbClr val="FF0000"/>
                </a:solidFill>
              </a:rPr>
              <a:t>Complete response</a:t>
            </a:r>
            <a:r>
              <a:rPr lang="zh-CN" altLang="en-US" b="1" dirty="0">
                <a:solidFill>
                  <a:srgbClr val="FF0000"/>
                </a:solidFill>
              </a:rPr>
              <a:t> = </a:t>
            </a:r>
            <a:r>
              <a:rPr lang="en-US" altLang="zh-CN" b="1" dirty="0">
                <a:solidFill>
                  <a:srgbClr val="FF0000"/>
                </a:solidFill>
              </a:rPr>
              <a:t>steady-state response </a:t>
            </a:r>
            <a:r>
              <a:rPr lang="zh-CN" altLang="en-US" b="1" dirty="0">
                <a:solidFill>
                  <a:srgbClr val="FF0000"/>
                </a:solidFill>
              </a:rPr>
              <a:t>+ </a:t>
            </a:r>
            <a:r>
              <a:rPr lang="en-US" altLang="zh-CN" b="1" dirty="0">
                <a:solidFill>
                  <a:srgbClr val="FF0000"/>
                </a:solidFill>
              </a:rPr>
              <a:t>transient response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55315" name="Group 19"/>
          <p:cNvGrpSpPr>
            <a:grpSpLocks/>
          </p:cNvGrpSpPr>
          <p:nvPr/>
        </p:nvGrpSpPr>
        <p:grpSpPr bwMode="auto">
          <a:xfrm>
            <a:off x="101600" y="1374775"/>
            <a:ext cx="6646863" cy="1482725"/>
            <a:chOff x="336" y="866"/>
            <a:chExt cx="4187" cy="934"/>
          </a:xfrm>
        </p:grpSpPr>
        <p:sp>
          <p:nvSpPr>
            <p:cNvPr id="55312" name="AutoShape 16"/>
            <p:cNvSpPr>
              <a:spLocks noChangeArrowheads="1"/>
            </p:cNvSpPr>
            <p:nvPr/>
          </p:nvSpPr>
          <p:spPr bwMode="auto">
            <a:xfrm>
              <a:off x="336" y="1560"/>
              <a:ext cx="1863" cy="240"/>
            </a:xfrm>
            <a:prstGeom prst="wedgeRectCallout">
              <a:avLst>
                <a:gd name="adj1" fmla="val 40221"/>
                <a:gd name="adj2" fmla="val -175833"/>
              </a:avLst>
            </a:prstGeom>
            <a:solidFill>
              <a:srgbClr val="FF66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b="1" dirty="0">
                  <a:solidFill>
                    <a:srgbClr val="000000"/>
                  </a:solidFill>
                </a:rPr>
                <a:t>Steady-state response</a:t>
              </a:r>
              <a:endParaRPr lang="zh-CN" altLang="en-US" b="1" dirty="0">
                <a:solidFill>
                  <a:srgbClr val="000000"/>
                </a:solidFill>
              </a:endParaRPr>
            </a:p>
          </p:txBody>
        </p:sp>
        <p:sp>
          <p:nvSpPr>
            <p:cNvPr id="55313" name="AutoShape 17"/>
            <p:cNvSpPr>
              <a:spLocks noChangeArrowheads="1"/>
            </p:cNvSpPr>
            <p:nvPr/>
          </p:nvSpPr>
          <p:spPr bwMode="auto">
            <a:xfrm>
              <a:off x="2784" y="1560"/>
              <a:ext cx="1739" cy="240"/>
            </a:xfrm>
            <a:prstGeom prst="wedgeRectCallout">
              <a:avLst>
                <a:gd name="adj1" fmla="val -49713"/>
                <a:gd name="adj2" fmla="val -165833"/>
              </a:avLst>
            </a:prstGeom>
            <a:solidFill>
              <a:srgbClr val="FF66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b="1" dirty="0">
                  <a:solidFill>
                    <a:srgbClr val="000000"/>
                  </a:solidFill>
                </a:rPr>
                <a:t>Transient response</a:t>
              </a:r>
              <a:endParaRPr lang="zh-CN" altLang="en-US" b="1" dirty="0">
                <a:solidFill>
                  <a:srgbClr val="000000"/>
                </a:solidFill>
              </a:endParaRPr>
            </a:p>
          </p:txBody>
        </p:sp>
        <p:graphicFrame>
          <p:nvGraphicFramePr>
            <p:cNvPr id="55314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805235"/>
                </p:ext>
              </p:extLst>
            </p:nvPr>
          </p:nvGraphicFramePr>
          <p:xfrm>
            <a:off x="1432" y="866"/>
            <a:ext cx="2758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01" name="Equation" r:id="rId5" imgW="2184120" imgH="355320" progId="Equation.DSMT4">
                    <p:embed/>
                  </p:oleObj>
                </mc:Choice>
                <mc:Fallback>
                  <p:oleObj name="Equation" r:id="rId5" imgW="2184120" imgH="3553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2" y="866"/>
                          <a:ext cx="2758" cy="4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3185651" y="6410945"/>
            <a:ext cx="2895600" cy="457200"/>
          </a:xfrm>
        </p:spPr>
        <p:txBody>
          <a:bodyPr/>
          <a:lstStyle/>
          <a:p>
            <a:r>
              <a:rPr lang="en-US" altLang="zh-CN" dirty="0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51142-E1EF-4721-85F8-37A18B2EA881}" type="slidenum">
              <a:rPr lang="en-US" altLang="zh-CN" smtClean="0"/>
              <a:pPr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7212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9" grpId="0" build="p" autoUpdateAnimBg="0"/>
      <p:bldP spid="55310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Text Box 2"/>
          <p:cNvSpPr txBox="1">
            <a:spLocks noChangeArrowheads="1"/>
          </p:cNvSpPr>
          <p:nvPr/>
        </p:nvSpPr>
        <p:spPr bwMode="auto">
          <a:xfrm>
            <a:off x="250825" y="246063"/>
            <a:ext cx="2089150" cy="5318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Conclusion</a:t>
            </a:r>
            <a:endParaRPr lang="en-US" altLang="zh-CN" sz="3600" b="1" dirty="0">
              <a:solidFill>
                <a:srgbClr val="FF0000"/>
              </a:solidFill>
              <a:ea typeface="仿宋_GB2312" pitchFamily="49" charset="-122"/>
            </a:endParaRPr>
          </a:p>
        </p:txBody>
      </p:sp>
      <p:graphicFrame>
        <p:nvGraphicFramePr>
          <p:cNvPr id="177156" name="Object 4"/>
          <p:cNvGraphicFramePr>
            <a:graphicFrameLocks noChangeAspect="1"/>
          </p:cNvGraphicFramePr>
          <p:nvPr/>
        </p:nvGraphicFramePr>
        <p:xfrm>
          <a:off x="468313" y="908050"/>
          <a:ext cx="4071937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59" name="Equation" r:id="rId3" imgW="1854000" imgH="291960" progId="Equation.DSMT4">
                  <p:embed/>
                </p:oleObj>
              </mc:Choice>
              <mc:Fallback>
                <p:oleObj name="Equation" r:id="rId3" imgW="18540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908050"/>
                        <a:ext cx="4071937" cy="6461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7" name="Object 5"/>
          <p:cNvGraphicFramePr>
            <a:graphicFrameLocks noChangeAspect="1"/>
          </p:cNvGraphicFramePr>
          <p:nvPr/>
        </p:nvGraphicFramePr>
        <p:xfrm>
          <a:off x="1476375" y="2060575"/>
          <a:ext cx="41910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60" name="Equation" r:id="rId5" imgW="190440" imgH="152280" progId="Equation.DSMT4">
                  <p:embed/>
                </p:oleObj>
              </mc:Choice>
              <mc:Fallback>
                <p:oleObj name="Equation" r:id="rId5" imgW="19044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060575"/>
                        <a:ext cx="419100" cy="3349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61" name="Object 9"/>
          <p:cNvGraphicFramePr>
            <a:graphicFrameLocks noChangeAspect="1"/>
          </p:cNvGraphicFramePr>
          <p:nvPr/>
        </p:nvGraphicFramePr>
        <p:xfrm>
          <a:off x="2251075" y="1844675"/>
          <a:ext cx="410051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61" name="Equation" r:id="rId7" imgW="1866600" imgH="304560" progId="Equation.DSMT4">
                  <p:embed/>
                </p:oleObj>
              </mc:Choice>
              <mc:Fallback>
                <p:oleObj name="Equation" r:id="rId7" imgW="18666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1075" y="1844675"/>
                        <a:ext cx="4100513" cy="673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63" name="Rectangle 11"/>
          <p:cNvSpPr>
            <a:spLocks noRot="1" noChangeArrowheads="1"/>
          </p:cNvSpPr>
          <p:nvPr/>
        </p:nvSpPr>
        <p:spPr bwMode="auto">
          <a:xfrm>
            <a:off x="250825" y="2708275"/>
            <a:ext cx="6265863" cy="5032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800"/>
              <a:t>Three things required for the step response</a:t>
            </a:r>
          </a:p>
        </p:txBody>
      </p:sp>
      <p:graphicFrame>
        <p:nvGraphicFramePr>
          <p:cNvPr id="177166" name="Object 14"/>
          <p:cNvGraphicFramePr>
            <a:graphicFrameLocks noChangeAspect="1"/>
          </p:cNvGraphicFramePr>
          <p:nvPr/>
        </p:nvGraphicFramePr>
        <p:xfrm>
          <a:off x="395288" y="3357563"/>
          <a:ext cx="5972175" cy="145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62" name="Equation" r:id="rId9" imgW="2717640" imgH="660240" progId="Equation.DSMT4">
                  <p:embed/>
                </p:oleObj>
              </mc:Choice>
              <mc:Fallback>
                <p:oleObj name="Equation" r:id="rId9" imgW="271764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357563"/>
                        <a:ext cx="5972175" cy="1452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67" name="Rectangle 15"/>
          <p:cNvSpPr>
            <a:spLocks noRot="1" noChangeArrowheads="1"/>
          </p:cNvSpPr>
          <p:nvPr/>
        </p:nvSpPr>
        <p:spPr bwMode="auto">
          <a:xfrm>
            <a:off x="684213" y="4941888"/>
            <a:ext cx="2089150" cy="576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3200" b="1" i="1" dirty="0">
                <a:solidFill>
                  <a:srgbClr val="FF6600"/>
                </a:solidFill>
              </a:rPr>
              <a:t>Time delay</a:t>
            </a:r>
            <a:endParaRPr lang="en-US" altLang="zh-CN" sz="3200" dirty="0">
              <a:solidFill>
                <a:srgbClr val="FF6600"/>
              </a:solidFill>
            </a:endParaRPr>
          </a:p>
        </p:txBody>
      </p:sp>
      <p:graphicFrame>
        <p:nvGraphicFramePr>
          <p:cNvPr id="17716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811495"/>
              </p:ext>
            </p:extLst>
          </p:nvPr>
        </p:nvGraphicFramePr>
        <p:xfrm>
          <a:off x="700088" y="5745163"/>
          <a:ext cx="46005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63" name="Equation" r:id="rId11" imgW="2095200" imgH="253800" progId="Equation.DSMT4">
                  <p:embed/>
                </p:oleObj>
              </mc:Choice>
              <mc:Fallback>
                <p:oleObj name="Equation" r:id="rId11" imgW="20952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8" y="5745163"/>
                        <a:ext cx="4600575" cy="5619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590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7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7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7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7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7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7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7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7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7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7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4" grpId="0" animBg="1" autoUpdateAnimBg="0"/>
      <p:bldP spid="177163" grpId="0" animBg="1"/>
      <p:bldP spid="17716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2020" y="-161105"/>
            <a:ext cx="8910736" cy="1193834"/>
          </a:xfrm>
          <a:noFill/>
        </p:spPr>
        <p:txBody>
          <a:bodyPr/>
          <a:lstStyle/>
          <a:p>
            <a:pPr algn="l"/>
            <a:r>
              <a:rPr lang="en-US" altLang="zh-CN" sz="2800" b="1" dirty="0">
                <a:solidFill>
                  <a:srgbClr val="FF0000"/>
                </a:solidFill>
                <a:effectLst/>
                <a:latin typeface="+mj-ea"/>
              </a:rPr>
              <a:t>Shortcut method for analyzing first-order circuit</a:t>
            </a:r>
            <a:endParaRPr lang="zh-CN" altLang="en-US" sz="2800" b="1" dirty="0">
              <a:solidFill>
                <a:srgbClr val="FF0000"/>
              </a:solidFill>
              <a:effectLst/>
              <a:latin typeface="+mj-ea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TJU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75D67-06F2-4722-AE99-1816CF71DB45}" type="slidenum">
              <a:rPr lang="en-US" altLang="zh-CN" smtClean="0"/>
              <a:pPr/>
              <a:t>36</a:t>
            </a:fld>
            <a:endParaRPr lang="en-US" altLang="zh-CN"/>
          </a:p>
        </p:txBody>
      </p:sp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268286" y="2078039"/>
            <a:ext cx="2278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en-US" altLang="zh-CN" b="1" dirty="0"/>
              <a:t>General form</a:t>
            </a:r>
            <a:r>
              <a:rPr lang="zh-CN" altLang="en-US" b="1" dirty="0"/>
              <a:t>：</a:t>
            </a:r>
          </a:p>
        </p:txBody>
      </p:sp>
      <p:sp>
        <p:nvSpPr>
          <p:cNvPr id="56328" name="Text Box 8"/>
          <p:cNvSpPr txBox="1">
            <a:spLocks noChangeArrowheads="1"/>
          </p:cNvSpPr>
          <p:nvPr/>
        </p:nvSpPr>
        <p:spPr bwMode="auto">
          <a:xfrm>
            <a:off x="5413375" y="3255963"/>
            <a:ext cx="21669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800" b="1" dirty="0">
                <a:solidFill>
                  <a:srgbClr val="FF0000"/>
                </a:solidFill>
              </a:rPr>
              <a:t>three factors</a:t>
            </a:r>
            <a:endParaRPr kumimoji="0" lang="en-US" altLang="zh-CN" sz="2800" b="1" dirty="0">
              <a:cs typeface="Times New Roman" pitchFamily="18" charset="0"/>
            </a:endParaRPr>
          </a:p>
        </p:txBody>
      </p:sp>
      <p:sp>
        <p:nvSpPr>
          <p:cNvPr id="56330" name="Text Box 10"/>
          <p:cNvSpPr txBox="1">
            <a:spLocks noChangeArrowheads="1"/>
          </p:cNvSpPr>
          <p:nvPr/>
        </p:nvSpPr>
        <p:spPr bwMode="auto">
          <a:xfrm>
            <a:off x="241299" y="989866"/>
            <a:ext cx="25304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b="1" dirty="0"/>
              <a:t>Step response of an RC circuit:</a:t>
            </a:r>
            <a:endParaRPr kumimoji="0" lang="en-US" altLang="zh-CN" b="1" dirty="0">
              <a:latin typeface="Tahoma" pitchFamily="34" charset="0"/>
            </a:endParaRPr>
          </a:p>
        </p:txBody>
      </p:sp>
      <p:graphicFrame>
        <p:nvGraphicFramePr>
          <p:cNvPr id="56332" name="Object 12"/>
          <p:cNvGraphicFramePr>
            <a:graphicFrameLocks noChangeAspect="1"/>
          </p:cNvGraphicFramePr>
          <p:nvPr/>
        </p:nvGraphicFramePr>
        <p:xfrm>
          <a:off x="2668588" y="2074863"/>
          <a:ext cx="51816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93" r:id="rId3" imgW="1916868" imgH="253890" progId="Equation.3">
                  <p:embed/>
                </p:oleObj>
              </mc:Choice>
              <mc:Fallback>
                <p:oleObj r:id="rId3" imgW="1916868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8588" y="2074863"/>
                        <a:ext cx="5181600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0205397"/>
              </p:ext>
            </p:extLst>
          </p:nvPr>
        </p:nvGraphicFramePr>
        <p:xfrm>
          <a:off x="3141663" y="854075"/>
          <a:ext cx="4708525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94" name="Equation" r:id="rId5" imgW="2184120" imgH="355320" progId="Equation.DSMT4">
                  <p:embed/>
                </p:oleObj>
              </mc:Choice>
              <mc:Fallback>
                <p:oleObj name="Equation" r:id="rId5" imgW="218412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1663" y="854075"/>
                        <a:ext cx="4708525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43" name="Line 23"/>
          <p:cNvSpPr>
            <a:spLocks noChangeShapeType="1"/>
          </p:cNvSpPr>
          <p:nvPr/>
        </p:nvSpPr>
        <p:spPr bwMode="auto">
          <a:xfrm>
            <a:off x="5695950" y="1617663"/>
            <a:ext cx="719138" cy="6334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44" name="Line 24"/>
          <p:cNvSpPr>
            <a:spLocks noChangeShapeType="1"/>
          </p:cNvSpPr>
          <p:nvPr/>
        </p:nvSpPr>
        <p:spPr bwMode="auto">
          <a:xfrm>
            <a:off x="4003675" y="1566863"/>
            <a:ext cx="0" cy="508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45" name="Line 25"/>
          <p:cNvSpPr>
            <a:spLocks noChangeShapeType="1"/>
          </p:cNvSpPr>
          <p:nvPr/>
        </p:nvSpPr>
        <p:spPr bwMode="auto">
          <a:xfrm>
            <a:off x="4878388" y="1566863"/>
            <a:ext cx="371475" cy="558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6364" name="Group 44"/>
          <p:cNvGrpSpPr>
            <a:grpSpLocks/>
          </p:cNvGrpSpPr>
          <p:nvPr/>
        </p:nvGrpSpPr>
        <p:grpSpPr bwMode="auto">
          <a:xfrm>
            <a:off x="3673475" y="2112963"/>
            <a:ext cx="1739900" cy="1327150"/>
            <a:chOff x="2631" y="1279"/>
            <a:chExt cx="1096" cy="836"/>
          </a:xfrm>
        </p:grpSpPr>
        <p:sp>
          <p:nvSpPr>
            <p:cNvPr id="56349" name="Oval 29"/>
            <p:cNvSpPr>
              <a:spLocks noChangeArrowheads="1"/>
            </p:cNvSpPr>
            <p:nvPr/>
          </p:nvSpPr>
          <p:spPr bwMode="auto">
            <a:xfrm>
              <a:off x="2631" y="1279"/>
              <a:ext cx="519" cy="41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52" name="Line 32"/>
            <p:cNvSpPr>
              <a:spLocks noChangeShapeType="1"/>
            </p:cNvSpPr>
            <p:nvPr/>
          </p:nvSpPr>
          <p:spPr bwMode="auto">
            <a:xfrm>
              <a:off x="2993" y="1701"/>
              <a:ext cx="734" cy="41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365" name="Group 45"/>
          <p:cNvGrpSpPr>
            <a:grpSpLocks/>
          </p:cNvGrpSpPr>
          <p:nvPr/>
        </p:nvGrpSpPr>
        <p:grpSpPr bwMode="auto">
          <a:xfrm>
            <a:off x="4949825" y="2125663"/>
            <a:ext cx="823913" cy="1130300"/>
            <a:chOff x="3435" y="1287"/>
            <a:chExt cx="519" cy="712"/>
          </a:xfrm>
        </p:grpSpPr>
        <p:sp>
          <p:nvSpPr>
            <p:cNvPr id="56350" name="Oval 30"/>
            <p:cNvSpPr>
              <a:spLocks noChangeArrowheads="1"/>
            </p:cNvSpPr>
            <p:nvPr/>
          </p:nvSpPr>
          <p:spPr bwMode="auto">
            <a:xfrm>
              <a:off x="3435" y="1287"/>
              <a:ext cx="519" cy="41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53" name="Line 33"/>
            <p:cNvSpPr>
              <a:spLocks noChangeShapeType="1"/>
            </p:cNvSpPr>
            <p:nvPr/>
          </p:nvSpPr>
          <p:spPr bwMode="auto">
            <a:xfrm>
              <a:off x="3842" y="1693"/>
              <a:ext cx="112" cy="30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366" name="Group 46"/>
          <p:cNvGrpSpPr>
            <a:grpSpLocks/>
          </p:cNvGrpSpPr>
          <p:nvPr/>
        </p:nvGrpSpPr>
        <p:grpSpPr bwMode="auto">
          <a:xfrm>
            <a:off x="6645275" y="2125663"/>
            <a:ext cx="1204913" cy="1042987"/>
            <a:chOff x="4503" y="1287"/>
            <a:chExt cx="759" cy="657"/>
          </a:xfrm>
        </p:grpSpPr>
        <p:sp>
          <p:nvSpPr>
            <p:cNvPr id="56351" name="Oval 31"/>
            <p:cNvSpPr>
              <a:spLocks noChangeArrowheads="1"/>
            </p:cNvSpPr>
            <p:nvPr/>
          </p:nvSpPr>
          <p:spPr bwMode="auto">
            <a:xfrm>
              <a:off x="5092" y="1287"/>
              <a:ext cx="170" cy="293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54" name="Line 34"/>
            <p:cNvSpPr>
              <a:spLocks noChangeShapeType="1"/>
            </p:cNvSpPr>
            <p:nvPr/>
          </p:nvSpPr>
          <p:spPr bwMode="auto">
            <a:xfrm flipH="1">
              <a:off x="4503" y="1525"/>
              <a:ext cx="589" cy="41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8052782"/>
              </p:ext>
            </p:extLst>
          </p:nvPr>
        </p:nvGraphicFramePr>
        <p:xfrm>
          <a:off x="563563" y="4509120"/>
          <a:ext cx="5270500" cy="148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95" name="Equation" r:id="rId7" imgW="2387520" imgH="660240" progId="Equation.DSMT4">
                  <p:embed/>
                </p:oleObj>
              </mc:Choice>
              <mc:Fallback>
                <p:oleObj name="Equation" r:id="rId7" imgW="2387520" imgH="6602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3" y="4509120"/>
                        <a:ext cx="5270500" cy="14811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3836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63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3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6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6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6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6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6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6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6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6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6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6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6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6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6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6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6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5" grpId="0" autoUpdateAnimBg="0"/>
      <p:bldP spid="56328" grpId="0"/>
      <p:bldP spid="56330" grpId="0" autoUpdateAnimBg="0"/>
      <p:bldP spid="56343" grpId="0" animBg="1"/>
      <p:bldP spid="56344" grpId="0" animBg="1"/>
      <p:bldP spid="5634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9108" y="114300"/>
            <a:ext cx="2514080" cy="479425"/>
          </a:xfrm>
          <a:solidFill>
            <a:schemeClr val="bg1"/>
          </a:solidFill>
        </p:spPr>
        <p:txBody>
          <a:bodyPr/>
          <a:lstStyle/>
          <a:p>
            <a:pPr algn="l"/>
            <a:r>
              <a:rPr lang="en-US" altLang="zh-CN" sz="2800" b="1" dirty="0">
                <a:solidFill>
                  <a:srgbClr val="FF0000"/>
                </a:solidFill>
                <a:ea typeface="宋体" charset="-122"/>
              </a:rPr>
              <a:t>Example 1</a:t>
            </a:r>
            <a:endParaRPr lang="zh-CN" altLang="en-US" sz="2800" b="1" dirty="0">
              <a:solidFill>
                <a:srgbClr val="FF0000"/>
              </a:solidFill>
              <a:ea typeface="宋体" charset="-122"/>
            </a:endParaRPr>
          </a:p>
        </p:txBody>
      </p:sp>
      <p:graphicFrame>
        <p:nvGraphicFramePr>
          <p:cNvPr id="58422" name="Object 5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8739443"/>
              </p:ext>
            </p:extLst>
          </p:nvPr>
        </p:nvGraphicFramePr>
        <p:xfrm>
          <a:off x="995363" y="6097588"/>
          <a:ext cx="42926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52" name="Equation" r:id="rId3" imgW="2361960" imgH="228600" progId="Equation.DSMT4">
                  <p:embed/>
                </p:oleObj>
              </mc:Choice>
              <mc:Fallback>
                <p:oleObj name="Equation" r:id="rId3" imgW="2361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363" y="6097588"/>
                        <a:ext cx="42926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 cap="flat" cmpd="sng" algn="ctr">
                            <a:solidFill>
                              <a:srgbClr val="FF00FF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75D67-06F2-4722-AE99-1816CF71DB45}" type="slidenum">
              <a:rPr lang="en-US" altLang="zh-CN" smtClean="0"/>
              <a:pPr/>
              <a:t>37</a:t>
            </a:fld>
            <a:endParaRPr lang="en-US" altLang="zh-CN"/>
          </a:p>
        </p:txBody>
      </p:sp>
      <p:graphicFrame>
        <p:nvGraphicFramePr>
          <p:cNvPr id="58371" name="Object 3"/>
          <p:cNvGraphicFramePr>
            <a:graphicFrameLocks noChangeAspect="1"/>
          </p:cNvGraphicFramePr>
          <p:nvPr/>
        </p:nvGraphicFramePr>
        <p:xfrm>
          <a:off x="685800" y="3105150"/>
          <a:ext cx="3284538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53" name="Equation" r:id="rId5" imgW="1447560" imgH="253800" progId="Equation.3">
                  <p:embed/>
                </p:oleObj>
              </mc:Choice>
              <mc:Fallback>
                <p:oleObj name="Equation" r:id="rId5" imgW="14475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105150"/>
                        <a:ext cx="3284538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2" name="Object 4"/>
          <p:cNvGraphicFramePr>
            <a:graphicFrameLocks noChangeAspect="1"/>
          </p:cNvGraphicFramePr>
          <p:nvPr/>
        </p:nvGraphicFramePr>
        <p:xfrm>
          <a:off x="615950" y="4483100"/>
          <a:ext cx="3643313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54" name="公式" r:id="rId7" imgW="1739880" imgH="406080" progId="Equation.3">
                  <p:embed/>
                </p:oleObj>
              </mc:Choice>
              <mc:Fallback>
                <p:oleObj name="公式" r:id="rId7" imgW="17398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" y="4483100"/>
                        <a:ext cx="3643313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3" name="Object 5"/>
          <p:cNvGraphicFramePr>
            <a:graphicFrameLocks noChangeAspect="1"/>
          </p:cNvGraphicFramePr>
          <p:nvPr/>
        </p:nvGraphicFramePr>
        <p:xfrm>
          <a:off x="685800" y="3678238"/>
          <a:ext cx="2947988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55" name="Equation" r:id="rId9" imgW="1371600" imgH="406080" progId="Equation.3">
                  <p:embed/>
                </p:oleObj>
              </mc:Choice>
              <mc:Fallback>
                <p:oleObj name="Equation" r:id="rId9" imgW="13716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678238"/>
                        <a:ext cx="2947988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4" name="Object 6"/>
          <p:cNvGraphicFramePr>
            <a:graphicFrameLocks noChangeAspect="1"/>
          </p:cNvGraphicFramePr>
          <p:nvPr/>
        </p:nvGraphicFramePr>
        <p:xfrm>
          <a:off x="555625" y="5421313"/>
          <a:ext cx="417512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56" name="公式" r:id="rId11" imgW="1803240" imgH="241200" progId="Equation.3">
                  <p:embed/>
                </p:oleObj>
              </mc:Choice>
              <mc:Fallback>
                <p:oleObj name="公式" r:id="rId11" imgW="18032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" y="5421313"/>
                        <a:ext cx="4175125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5" name="Text Box 7"/>
          <p:cNvSpPr txBox="1">
            <a:spLocks noChangeArrowheads="1"/>
          </p:cNvSpPr>
          <p:nvPr/>
        </p:nvSpPr>
        <p:spPr bwMode="auto">
          <a:xfrm>
            <a:off x="4309331" y="228600"/>
            <a:ext cx="444011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en-US" altLang="zh-CN" sz="2800" b="1" dirty="0"/>
              <a:t>The switch is closed at</a:t>
            </a:r>
            <a:r>
              <a:rPr lang="en-US" altLang="zh-CN" sz="2800" b="1" i="1" dirty="0"/>
              <a:t> t </a:t>
            </a:r>
            <a:r>
              <a:rPr lang="en-US" altLang="zh-CN" sz="2800" b="1" dirty="0"/>
              <a:t>= 0, find </a:t>
            </a:r>
            <a:r>
              <a:rPr lang="en-US" altLang="zh-CN" sz="2800" b="1" i="1" dirty="0" err="1"/>
              <a:t>u</a:t>
            </a:r>
            <a:r>
              <a:rPr lang="en-US" altLang="zh-CN" sz="2800" b="1" i="1" baseline="-25000" dirty="0" err="1"/>
              <a:t>C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t</a:t>
            </a:r>
            <a:r>
              <a:rPr lang="en-US" altLang="zh-CN" sz="2800" b="1" dirty="0"/>
              <a:t>) for </a:t>
            </a:r>
            <a:r>
              <a:rPr lang="en-US" altLang="zh-CN" sz="2800" b="1" i="1" dirty="0"/>
              <a:t>t </a:t>
            </a:r>
            <a:r>
              <a:rPr lang="en-US" altLang="zh-CN" sz="2800" b="1" dirty="0"/>
              <a:t>&gt;0.</a:t>
            </a:r>
          </a:p>
        </p:txBody>
      </p:sp>
      <p:sp>
        <p:nvSpPr>
          <p:cNvPr id="58376" name="Text Box 8"/>
          <p:cNvSpPr txBox="1">
            <a:spLocks noChangeArrowheads="1"/>
          </p:cNvSpPr>
          <p:nvPr/>
        </p:nvSpPr>
        <p:spPr bwMode="auto">
          <a:xfrm>
            <a:off x="261938" y="1998197"/>
            <a:ext cx="17732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Solution</a:t>
            </a:r>
            <a:r>
              <a:rPr lang="zh-CN" altLang="en-US" b="1" dirty="0">
                <a:solidFill>
                  <a:srgbClr val="FF0000"/>
                </a:solidFill>
              </a:rPr>
              <a:t>：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58377" name="Group 9"/>
          <p:cNvGrpSpPr>
            <a:grpSpLocks/>
          </p:cNvGrpSpPr>
          <p:nvPr/>
        </p:nvGrpSpPr>
        <p:grpSpPr bwMode="auto">
          <a:xfrm>
            <a:off x="5097463" y="3608388"/>
            <a:ext cx="3613150" cy="2684462"/>
            <a:chOff x="3272" y="1065"/>
            <a:chExt cx="2276" cy="1691"/>
          </a:xfrm>
        </p:grpSpPr>
        <p:sp>
          <p:nvSpPr>
            <p:cNvPr id="58378" name="Line 10"/>
            <p:cNvSpPr>
              <a:spLocks noChangeShapeType="1"/>
            </p:cNvSpPr>
            <p:nvPr/>
          </p:nvSpPr>
          <p:spPr bwMode="auto">
            <a:xfrm>
              <a:off x="3735" y="2420"/>
              <a:ext cx="17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79" name="Line 11"/>
            <p:cNvSpPr>
              <a:spLocks noChangeShapeType="1"/>
            </p:cNvSpPr>
            <p:nvPr/>
          </p:nvSpPr>
          <p:spPr bwMode="auto">
            <a:xfrm flipV="1">
              <a:off x="3879" y="1140"/>
              <a:ext cx="0" cy="16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80" name="Line 12"/>
            <p:cNvSpPr>
              <a:spLocks noChangeShapeType="1"/>
            </p:cNvSpPr>
            <p:nvPr/>
          </p:nvSpPr>
          <p:spPr bwMode="auto">
            <a:xfrm>
              <a:off x="3879" y="2180"/>
              <a:ext cx="1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81" name="Freeform 13"/>
            <p:cNvSpPr>
              <a:spLocks/>
            </p:cNvSpPr>
            <p:nvPr/>
          </p:nvSpPr>
          <p:spPr bwMode="auto">
            <a:xfrm>
              <a:off x="3879" y="1604"/>
              <a:ext cx="1354" cy="518"/>
            </a:xfrm>
            <a:custGeom>
              <a:avLst/>
              <a:gdLst>
                <a:gd name="T0" fmla="*/ 0 w 1354"/>
                <a:gd name="T1" fmla="*/ 0 h 518"/>
                <a:gd name="T2" fmla="*/ 144 w 1354"/>
                <a:gd name="T3" fmla="*/ 240 h 518"/>
                <a:gd name="T4" fmla="*/ 384 w 1354"/>
                <a:gd name="T5" fmla="*/ 384 h 518"/>
                <a:gd name="T6" fmla="*/ 816 w 1354"/>
                <a:gd name="T7" fmla="*/ 480 h 518"/>
                <a:gd name="T8" fmla="*/ 1354 w 1354"/>
                <a:gd name="T9" fmla="*/ 518 h 5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4" h="518">
                  <a:moveTo>
                    <a:pt x="0" y="0"/>
                  </a:moveTo>
                  <a:cubicBezTo>
                    <a:pt x="40" y="88"/>
                    <a:pt x="80" y="176"/>
                    <a:pt x="144" y="240"/>
                  </a:cubicBezTo>
                  <a:cubicBezTo>
                    <a:pt x="208" y="304"/>
                    <a:pt x="272" y="344"/>
                    <a:pt x="384" y="384"/>
                  </a:cubicBezTo>
                  <a:cubicBezTo>
                    <a:pt x="496" y="424"/>
                    <a:pt x="654" y="458"/>
                    <a:pt x="816" y="480"/>
                  </a:cubicBezTo>
                  <a:cubicBezTo>
                    <a:pt x="978" y="502"/>
                    <a:pt x="1242" y="510"/>
                    <a:pt x="1354" y="518"/>
                  </a:cubicBez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82" name="Text Box 14"/>
            <p:cNvSpPr txBox="1">
              <a:spLocks noChangeArrowheads="1"/>
            </p:cNvSpPr>
            <p:nvPr/>
          </p:nvSpPr>
          <p:spPr bwMode="auto">
            <a:xfrm>
              <a:off x="5379" y="2468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i="1"/>
                <a:t>t</a:t>
              </a:r>
              <a:endParaRPr lang="en-US" altLang="zh-CN" b="1"/>
            </a:p>
          </p:txBody>
        </p:sp>
        <p:sp>
          <p:nvSpPr>
            <p:cNvPr id="58383" name="Text Box 15"/>
            <p:cNvSpPr txBox="1">
              <a:spLocks noChangeArrowheads="1"/>
            </p:cNvSpPr>
            <p:nvPr/>
          </p:nvSpPr>
          <p:spPr bwMode="auto">
            <a:xfrm>
              <a:off x="3991" y="1065"/>
              <a:ext cx="2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i="1"/>
                <a:t>u</a:t>
              </a:r>
              <a:r>
                <a:rPr lang="en-US" altLang="zh-CN" b="1" i="1" baseline="-25000"/>
                <a:t>c</a:t>
              </a:r>
              <a:endParaRPr lang="en-US" altLang="zh-CN" b="1"/>
            </a:p>
          </p:txBody>
        </p:sp>
        <p:sp>
          <p:nvSpPr>
            <p:cNvPr id="58384" name="Text Box 16"/>
            <p:cNvSpPr txBox="1">
              <a:spLocks noChangeArrowheads="1"/>
            </p:cNvSpPr>
            <p:nvPr/>
          </p:nvSpPr>
          <p:spPr bwMode="auto">
            <a:xfrm>
              <a:off x="3400" y="137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800" b="1"/>
                <a:t>2</a:t>
              </a:r>
              <a:endParaRPr lang="zh-CN" altLang="en-US" b="1"/>
            </a:p>
          </p:txBody>
        </p:sp>
        <p:sp>
          <p:nvSpPr>
            <p:cNvPr id="58385" name="Text Box 17"/>
            <p:cNvSpPr txBox="1">
              <a:spLocks noChangeArrowheads="1"/>
            </p:cNvSpPr>
            <p:nvPr/>
          </p:nvSpPr>
          <p:spPr bwMode="auto">
            <a:xfrm>
              <a:off x="4228" y="1068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b="1"/>
                <a:t>(</a:t>
              </a:r>
              <a:r>
                <a:rPr lang="en-US" altLang="zh-CN" b="1"/>
                <a:t>V)</a:t>
              </a:r>
            </a:p>
          </p:txBody>
        </p:sp>
        <p:sp>
          <p:nvSpPr>
            <p:cNvPr id="58386" name="Text Box 18"/>
            <p:cNvSpPr txBox="1">
              <a:spLocks noChangeArrowheads="1"/>
            </p:cNvSpPr>
            <p:nvPr/>
          </p:nvSpPr>
          <p:spPr bwMode="auto">
            <a:xfrm>
              <a:off x="3272" y="2002"/>
              <a:ext cx="5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b="1"/>
                <a:t>0.667</a:t>
              </a:r>
              <a:endParaRPr lang="zh-CN" altLang="en-US"/>
            </a:p>
          </p:txBody>
        </p:sp>
        <p:sp>
          <p:nvSpPr>
            <p:cNvPr id="58387" name="Text Box 19"/>
            <p:cNvSpPr txBox="1">
              <a:spLocks noChangeArrowheads="1"/>
            </p:cNvSpPr>
            <p:nvPr/>
          </p:nvSpPr>
          <p:spPr bwMode="auto">
            <a:xfrm>
              <a:off x="3630" y="245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/>
                <a:t>0</a:t>
              </a:r>
            </a:p>
          </p:txBody>
        </p:sp>
        <p:sp>
          <p:nvSpPr>
            <p:cNvPr id="58388" name="Line 20"/>
            <p:cNvSpPr>
              <a:spLocks noChangeShapeType="1"/>
            </p:cNvSpPr>
            <p:nvPr/>
          </p:nvSpPr>
          <p:spPr bwMode="auto">
            <a:xfrm>
              <a:off x="3636" y="1609"/>
              <a:ext cx="23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8389" name="Object 21"/>
          <p:cNvGraphicFramePr>
            <a:graphicFrameLocks noChangeAspect="1"/>
          </p:cNvGraphicFramePr>
          <p:nvPr/>
        </p:nvGraphicFramePr>
        <p:xfrm>
          <a:off x="704850" y="2057400"/>
          <a:ext cx="5389563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57" name="公式" r:id="rId13" imgW="2197080" imgH="355320" progId="Equation.3">
                  <p:embed/>
                </p:oleObj>
              </mc:Choice>
              <mc:Fallback>
                <p:oleObj name="公式" r:id="rId13" imgW="219708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" y="2057400"/>
                        <a:ext cx="5389563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425" name="Group 57"/>
          <p:cNvGrpSpPr>
            <a:grpSpLocks/>
          </p:cNvGrpSpPr>
          <p:nvPr/>
        </p:nvGrpSpPr>
        <p:grpSpPr bwMode="auto">
          <a:xfrm>
            <a:off x="50800" y="228600"/>
            <a:ext cx="4178300" cy="1630363"/>
            <a:chOff x="32" y="144"/>
            <a:chExt cx="2632" cy="1027"/>
          </a:xfrm>
        </p:grpSpPr>
        <p:grpSp>
          <p:nvGrpSpPr>
            <p:cNvPr id="58391" name="Group 23"/>
            <p:cNvGrpSpPr>
              <a:grpSpLocks/>
            </p:cNvGrpSpPr>
            <p:nvPr/>
          </p:nvGrpSpPr>
          <p:grpSpPr bwMode="auto">
            <a:xfrm>
              <a:off x="432" y="672"/>
              <a:ext cx="240" cy="240"/>
              <a:chOff x="768" y="2928"/>
              <a:chExt cx="288" cy="288"/>
            </a:xfrm>
          </p:grpSpPr>
          <p:sp>
            <p:nvSpPr>
              <p:cNvPr id="58392" name="Oval 24"/>
              <p:cNvSpPr>
                <a:spLocks noChangeArrowheads="1"/>
              </p:cNvSpPr>
              <p:nvPr/>
            </p:nvSpPr>
            <p:spPr bwMode="auto">
              <a:xfrm>
                <a:off x="768" y="2928"/>
                <a:ext cx="288" cy="288"/>
              </a:xfrm>
              <a:prstGeom prst="ellipse">
                <a:avLst/>
              </a:prstGeom>
              <a:solidFill>
                <a:srgbClr val="00FFFF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393" name="Line 25"/>
              <p:cNvSpPr>
                <a:spLocks noChangeShapeType="1"/>
              </p:cNvSpPr>
              <p:nvPr/>
            </p:nvSpPr>
            <p:spPr bwMode="auto">
              <a:xfrm>
                <a:off x="768" y="3072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8394" name="Line 26"/>
            <p:cNvSpPr>
              <a:spLocks noChangeShapeType="1"/>
            </p:cNvSpPr>
            <p:nvPr/>
          </p:nvSpPr>
          <p:spPr bwMode="auto">
            <a:xfrm flipV="1">
              <a:off x="576" y="480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95" name="Line 27"/>
            <p:cNvSpPr>
              <a:spLocks noChangeShapeType="1"/>
            </p:cNvSpPr>
            <p:nvPr/>
          </p:nvSpPr>
          <p:spPr bwMode="auto">
            <a:xfrm flipV="1">
              <a:off x="383" y="648"/>
              <a:ext cx="0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96" name="Rectangle 28"/>
            <p:cNvSpPr>
              <a:spLocks noChangeArrowheads="1"/>
            </p:cNvSpPr>
            <p:nvPr/>
          </p:nvSpPr>
          <p:spPr bwMode="auto">
            <a:xfrm>
              <a:off x="960" y="672"/>
              <a:ext cx="96" cy="240"/>
            </a:xfrm>
            <a:prstGeom prst="rect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97" name="Line 29"/>
            <p:cNvSpPr>
              <a:spLocks noChangeShapeType="1"/>
            </p:cNvSpPr>
            <p:nvPr/>
          </p:nvSpPr>
          <p:spPr bwMode="auto">
            <a:xfrm>
              <a:off x="576" y="480"/>
              <a:ext cx="7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98" name="Line 30"/>
            <p:cNvSpPr>
              <a:spLocks noChangeShapeType="1"/>
            </p:cNvSpPr>
            <p:nvPr/>
          </p:nvSpPr>
          <p:spPr bwMode="auto">
            <a:xfrm>
              <a:off x="1344" y="480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99" name="Line 31"/>
            <p:cNvSpPr>
              <a:spLocks noChangeShapeType="1"/>
            </p:cNvSpPr>
            <p:nvPr/>
          </p:nvSpPr>
          <p:spPr bwMode="auto">
            <a:xfrm>
              <a:off x="1632" y="480"/>
              <a:ext cx="0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00" name="Line 32"/>
            <p:cNvSpPr>
              <a:spLocks noChangeShapeType="1"/>
            </p:cNvSpPr>
            <p:nvPr/>
          </p:nvSpPr>
          <p:spPr bwMode="auto">
            <a:xfrm>
              <a:off x="1632" y="912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01" name="Line 33"/>
            <p:cNvSpPr>
              <a:spLocks noChangeShapeType="1"/>
            </p:cNvSpPr>
            <p:nvPr/>
          </p:nvSpPr>
          <p:spPr bwMode="auto">
            <a:xfrm>
              <a:off x="576" y="1152"/>
              <a:ext cx="17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02" name="Line 34"/>
            <p:cNvSpPr>
              <a:spLocks noChangeShapeType="1"/>
            </p:cNvSpPr>
            <p:nvPr/>
          </p:nvSpPr>
          <p:spPr bwMode="auto">
            <a:xfrm flipV="1">
              <a:off x="1008" y="480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03" name="Line 35"/>
            <p:cNvSpPr>
              <a:spLocks noChangeShapeType="1"/>
            </p:cNvSpPr>
            <p:nvPr/>
          </p:nvSpPr>
          <p:spPr bwMode="auto">
            <a:xfrm>
              <a:off x="1008" y="912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04" name="Line 36"/>
            <p:cNvSpPr>
              <a:spLocks noChangeShapeType="1"/>
            </p:cNvSpPr>
            <p:nvPr/>
          </p:nvSpPr>
          <p:spPr bwMode="auto">
            <a:xfrm flipV="1">
              <a:off x="576" y="912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05" name="Text Box 37"/>
            <p:cNvSpPr txBox="1">
              <a:spLocks noChangeArrowheads="1"/>
            </p:cNvSpPr>
            <p:nvPr/>
          </p:nvSpPr>
          <p:spPr bwMode="auto">
            <a:xfrm>
              <a:off x="32" y="648"/>
              <a:ext cx="3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b="1"/>
                <a:t>1</a:t>
              </a:r>
              <a:r>
                <a:rPr lang="en-US" altLang="zh-CN" b="1"/>
                <a:t>A</a:t>
              </a:r>
              <a:endParaRPr lang="en-US" altLang="zh-CN" b="1">
                <a:sym typeface="Symbol" pitchFamily="18" charset="2"/>
              </a:endParaRPr>
            </a:p>
          </p:txBody>
        </p:sp>
        <p:sp>
          <p:nvSpPr>
            <p:cNvPr id="58406" name="Text Box 38"/>
            <p:cNvSpPr txBox="1">
              <a:spLocks noChangeArrowheads="1"/>
            </p:cNvSpPr>
            <p:nvPr/>
          </p:nvSpPr>
          <p:spPr bwMode="auto">
            <a:xfrm>
              <a:off x="1056" y="528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b="1"/>
                <a:t>2</a:t>
              </a:r>
              <a:r>
                <a:rPr lang="zh-CN" altLang="en-US" b="1">
                  <a:sym typeface="Symbol" pitchFamily="18" charset="2"/>
                </a:rPr>
                <a:t></a:t>
              </a:r>
              <a:endParaRPr lang="zh-CN" altLang="en-US" b="1"/>
            </a:p>
          </p:txBody>
        </p:sp>
        <p:sp>
          <p:nvSpPr>
            <p:cNvPr id="58407" name="Line 39"/>
            <p:cNvSpPr>
              <a:spLocks noChangeShapeType="1"/>
            </p:cNvSpPr>
            <p:nvPr/>
          </p:nvSpPr>
          <p:spPr bwMode="auto">
            <a:xfrm>
              <a:off x="1536" y="912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08" name="Line 40"/>
            <p:cNvSpPr>
              <a:spLocks noChangeShapeType="1"/>
            </p:cNvSpPr>
            <p:nvPr/>
          </p:nvSpPr>
          <p:spPr bwMode="auto">
            <a:xfrm>
              <a:off x="1536" y="816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09" name="Line 41"/>
            <p:cNvSpPr>
              <a:spLocks noChangeShapeType="1"/>
            </p:cNvSpPr>
            <p:nvPr/>
          </p:nvSpPr>
          <p:spPr bwMode="auto">
            <a:xfrm>
              <a:off x="1632" y="480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10" name="Line 42"/>
            <p:cNvSpPr>
              <a:spLocks noChangeShapeType="1"/>
            </p:cNvSpPr>
            <p:nvPr/>
          </p:nvSpPr>
          <p:spPr bwMode="auto">
            <a:xfrm flipV="1">
              <a:off x="1824" y="336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11" name="Line 43"/>
            <p:cNvSpPr>
              <a:spLocks noChangeShapeType="1"/>
            </p:cNvSpPr>
            <p:nvPr/>
          </p:nvSpPr>
          <p:spPr bwMode="auto">
            <a:xfrm>
              <a:off x="2064" y="480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12" name="Rectangle 44"/>
            <p:cNvSpPr>
              <a:spLocks noChangeArrowheads="1"/>
            </p:cNvSpPr>
            <p:nvPr/>
          </p:nvSpPr>
          <p:spPr bwMode="auto">
            <a:xfrm>
              <a:off x="2256" y="720"/>
              <a:ext cx="96" cy="240"/>
            </a:xfrm>
            <a:prstGeom prst="rect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13" name="Line 45"/>
            <p:cNvSpPr>
              <a:spLocks noChangeShapeType="1"/>
            </p:cNvSpPr>
            <p:nvPr/>
          </p:nvSpPr>
          <p:spPr bwMode="auto">
            <a:xfrm flipV="1">
              <a:off x="2304" y="480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14" name="Line 46"/>
            <p:cNvSpPr>
              <a:spLocks noChangeShapeType="1"/>
            </p:cNvSpPr>
            <p:nvPr/>
          </p:nvSpPr>
          <p:spPr bwMode="auto">
            <a:xfrm>
              <a:off x="2304" y="960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15" name="Line 47"/>
            <p:cNvSpPr>
              <a:spLocks noChangeShapeType="1"/>
            </p:cNvSpPr>
            <p:nvPr/>
          </p:nvSpPr>
          <p:spPr bwMode="auto">
            <a:xfrm>
              <a:off x="1824" y="374"/>
              <a:ext cx="24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16" name="Text Box 48"/>
            <p:cNvSpPr txBox="1">
              <a:spLocks noChangeArrowheads="1"/>
            </p:cNvSpPr>
            <p:nvPr/>
          </p:nvSpPr>
          <p:spPr bwMode="auto">
            <a:xfrm>
              <a:off x="2304" y="720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b="1"/>
                <a:t>1</a:t>
              </a:r>
              <a:r>
                <a:rPr lang="zh-CN" altLang="en-US" b="1">
                  <a:sym typeface="Symbol" pitchFamily="18" charset="2"/>
                </a:rPr>
                <a:t></a:t>
              </a:r>
            </a:p>
          </p:txBody>
        </p:sp>
        <p:sp>
          <p:nvSpPr>
            <p:cNvPr id="58417" name="Text Box 49"/>
            <p:cNvSpPr txBox="1">
              <a:spLocks noChangeArrowheads="1"/>
            </p:cNvSpPr>
            <p:nvPr/>
          </p:nvSpPr>
          <p:spPr bwMode="auto">
            <a:xfrm>
              <a:off x="1243" y="816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b="1"/>
                <a:t>3</a:t>
              </a:r>
              <a:r>
                <a:rPr lang="en-US" altLang="zh-CN" b="1"/>
                <a:t>F</a:t>
              </a:r>
            </a:p>
          </p:txBody>
        </p:sp>
        <p:sp>
          <p:nvSpPr>
            <p:cNvPr id="58418" name="Text Box 50"/>
            <p:cNvSpPr txBox="1">
              <a:spLocks noChangeArrowheads="1"/>
            </p:cNvSpPr>
            <p:nvPr/>
          </p:nvSpPr>
          <p:spPr bwMode="auto">
            <a:xfrm>
              <a:off x="1440" y="576"/>
              <a:ext cx="225" cy="5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b="1"/>
                <a:t>+</a:t>
              </a:r>
            </a:p>
            <a:p>
              <a:r>
                <a:rPr lang="zh-CN" altLang="en-US" sz="3200" b="1"/>
                <a:t>-</a:t>
              </a:r>
              <a:endParaRPr lang="zh-CN" altLang="en-US" b="1"/>
            </a:p>
          </p:txBody>
        </p:sp>
        <p:sp>
          <p:nvSpPr>
            <p:cNvPr id="58419" name="Text Box 51"/>
            <p:cNvSpPr txBox="1">
              <a:spLocks noChangeArrowheads="1"/>
            </p:cNvSpPr>
            <p:nvPr/>
          </p:nvSpPr>
          <p:spPr bwMode="auto">
            <a:xfrm>
              <a:off x="1757" y="76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i="1"/>
                <a:t>u</a:t>
              </a:r>
              <a:r>
                <a:rPr lang="en-US" altLang="zh-CN" b="1" i="1" baseline="-25000"/>
                <a:t>C</a:t>
              </a:r>
              <a:endParaRPr lang="en-US" altLang="zh-CN" b="1"/>
            </a:p>
          </p:txBody>
        </p:sp>
        <p:sp>
          <p:nvSpPr>
            <p:cNvPr id="58420" name="Rectangle 52"/>
            <p:cNvSpPr>
              <a:spLocks noChangeArrowheads="1"/>
            </p:cNvSpPr>
            <p:nvPr/>
          </p:nvSpPr>
          <p:spPr bwMode="auto">
            <a:xfrm>
              <a:off x="1456" y="144"/>
              <a:ext cx="6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 i="1"/>
                <a:t>S</a:t>
              </a:r>
              <a:r>
                <a:rPr lang="en-US" altLang="zh-CN" b="1"/>
                <a:t>(</a:t>
              </a:r>
              <a:r>
                <a:rPr lang="en-US" altLang="zh-CN" b="1" i="1"/>
                <a:t>t</a:t>
              </a:r>
              <a:r>
                <a:rPr lang="en-US" altLang="zh-CN" b="1"/>
                <a:t>=0)</a:t>
              </a:r>
            </a:p>
          </p:txBody>
        </p:sp>
      </p:grpSp>
      <p:sp>
        <p:nvSpPr>
          <p:cNvPr id="58424" name="Text Box 56"/>
          <p:cNvSpPr txBox="1">
            <a:spLocks noChangeArrowheads="1"/>
          </p:cNvSpPr>
          <p:nvPr/>
        </p:nvSpPr>
        <p:spPr bwMode="auto">
          <a:xfrm>
            <a:off x="5287963" y="3105150"/>
            <a:ext cx="2482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A plot of </a:t>
            </a:r>
            <a:r>
              <a:rPr lang="en-US" altLang="zh-CN" b="1" i="1" dirty="0" err="1"/>
              <a:t>u</a:t>
            </a:r>
            <a:r>
              <a:rPr lang="en-US" altLang="zh-CN" b="1" i="1" baseline="-25000" dirty="0" err="1"/>
              <a:t>C</a:t>
            </a:r>
            <a:r>
              <a:rPr lang="en-US" altLang="zh-CN" b="1" dirty="0"/>
              <a:t>(</a:t>
            </a:r>
            <a:r>
              <a:rPr lang="en-US" altLang="zh-CN" b="1" i="1" dirty="0"/>
              <a:t>t</a:t>
            </a:r>
            <a:r>
              <a:rPr lang="en-US" altLang="zh-CN" b="1" dirty="0"/>
              <a:t>) 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405588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8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8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8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8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6" grpId="0" autoUpdateAnimBg="0"/>
      <p:bldP spid="5842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324" y="60325"/>
            <a:ext cx="2335213" cy="476250"/>
          </a:xfrm>
          <a:solidFill>
            <a:schemeClr val="bg1"/>
          </a:solidFill>
        </p:spPr>
        <p:txBody>
          <a:bodyPr/>
          <a:lstStyle/>
          <a:p>
            <a:pPr algn="l"/>
            <a:r>
              <a:rPr lang="en-US" altLang="zh-CN" sz="2800" b="1" dirty="0">
                <a:solidFill>
                  <a:srgbClr val="FF0000"/>
                </a:solidFill>
                <a:latin typeface="+mj-ea"/>
              </a:rPr>
              <a:t>Example 2</a:t>
            </a:r>
            <a:endParaRPr lang="zh-CN" altLang="en-US" sz="2800" b="1" dirty="0">
              <a:solidFill>
                <a:srgbClr val="FF0000"/>
              </a:solidFill>
              <a:latin typeface="+mj-ea"/>
            </a:endParaRPr>
          </a:p>
        </p:txBody>
      </p:sp>
      <p:graphicFrame>
        <p:nvGraphicFramePr>
          <p:cNvPr id="60473" name="Object 57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57861774"/>
              </p:ext>
            </p:extLst>
          </p:nvPr>
        </p:nvGraphicFramePr>
        <p:xfrm>
          <a:off x="5549935" y="6093296"/>
          <a:ext cx="577022" cy="310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21" name="公式" r:id="rId3" imgW="330120" imgH="177480" progId="Equation.3">
                  <p:embed/>
                </p:oleObj>
              </mc:Choice>
              <mc:Fallback>
                <p:oleObj name="公式" r:id="rId3" imgW="33012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9935" y="6093296"/>
                        <a:ext cx="577022" cy="3107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75" name="Object 59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84697147"/>
              </p:ext>
            </p:extLst>
          </p:nvPr>
        </p:nvGraphicFramePr>
        <p:xfrm>
          <a:off x="8046368" y="4221088"/>
          <a:ext cx="552644" cy="297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22" name="公式" r:id="rId5" imgW="330120" imgH="177480" progId="Equation.3">
                  <p:embed/>
                </p:oleObj>
              </mc:Choice>
              <mc:Fallback>
                <p:oleObj name="公式" r:id="rId5" imgW="33012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6368" y="4221088"/>
                        <a:ext cx="552644" cy="2975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76D1-A2E5-4AA6-A259-A001A2652F48}" type="slidenum">
              <a:rPr lang="en-US" altLang="zh-CN" smtClean="0"/>
              <a:pPr/>
              <a:t>38</a:t>
            </a:fld>
            <a:endParaRPr lang="en-US" altLang="zh-CN"/>
          </a:p>
        </p:txBody>
      </p:sp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2161381" y="106363"/>
            <a:ext cx="65135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0" lang="en-US" altLang="zh-CN" b="1" dirty="0"/>
              <a:t>The switch has been closed for a long time. At t=0, the switch is opened. Find </a:t>
            </a:r>
            <a:r>
              <a:rPr kumimoji="0" lang="en-US" altLang="zh-CN" b="1" i="1" dirty="0" err="1">
                <a:cs typeface="Times New Roman" pitchFamily="18" charset="0"/>
              </a:rPr>
              <a:t>u</a:t>
            </a:r>
            <a:r>
              <a:rPr kumimoji="0" lang="en-US" altLang="zh-CN" b="1" baseline="-30000" dirty="0" err="1">
                <a:cs typeface="Times New Roman" pitchFamily="18" charset="0"/>
              </a:rPr>
              <a:t>C</a:t>
            </a:r>
            <a:r>
              <a:rPr kumimoji="0" lang="en-US" altLang="zh-CN" b="1" dirty="0">
                <a:cs typeface="Times New Roman" pitchFamily="18" charset="0"/>
              </a:rPr>
              <a:t> </a:t>
            </a:r>
            <a:r>
              <a:rPr kumimoji="0" lang="en-US" altLang="zh-CN" b="1" dirty="0"/>
              <a:t>and </a:t>
            </a:r>
            <a:r>
              <a:rPr kumimoji="0" lang="en-US" altLang="zh-CN" b="1" i="1" dirty="0" err="1">
                <a:cs typeface="Times New Roman" pitchFamily="18" charset="0"/>
              </a:rPr>
              <a:t>i</a:t>
            </a:r>
            <a:r>
              <a:rPr kumimoji="0" lang="en-US" altLang="zh-CN" b="1" baseline="-30000" dirty="0" err="1">
                <a:cs typeface="Times New Roman" pitchFamily="18" charset="0"/>
              </a:rPr>
              <a:t>C</a:t>
            </a:r>
            <a:r>
              <a:rPr kumimoji="0" lang="en-US" altLang="zh-CN" b="1" baseline="-30000" dirty="0">
                <a:cs typeface="Times New Roman" pitchFamily="18" charset="0"/>
              </a:rPr>
              <a:t> </a:t>
            </a:r>
            <a:r>
              <a:rPr kumimoji="0" lang="en-US" altLang="zh-CN" b="1" dirty="0">
                <a:cs typeface="Times New Roman" pitchFamily="18" charset="0"/>
              </a:rPr>
              <a:t>for </a:t>
            </a:r>
            <a:r>
              <a:rPr kumimoji="0" lang="en-US" altLang="zh-CN" b="1" i="1" dirty="0">
                <a:cs typeface="Times New Roman" pitchFamily="18" charset="0"/>
              </a:rPr>
              <a:t>t </a:t>
            </a:r>
            <a:r>
              <a:rPr kumimoji="0" lang="en-US" altLang="zh-CN" b="1" dirty="0"/>
              <a:t>≥</a:t>
            </a:r>
            <a:r>
              <a:rPr kumimoji="0" lang="en-US" altLang="zh-CN" b="1" dirty="0">
                <a:cs typeface="Times New Roman" pitchFamily="18" charset="0"/>
              </a:rPr>
              <a:t>0</a:t>
            </a:r>
            <a:r>
              <a:rPr kumimoji="0" lang="en-US" altLang="zh-CN" b="1" dirty="0"/>
              <a:t>.</a:t>
            </a:r>
            <a:endParaRPr kumimoji="0" lang="en-US" altLang="zh-CN" b="1" dirty="0">
              <a:latin typeface="Tahoma" pitchFamily="34" charset="0"/>
            </a:endParaRPr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174624" y="3645024"/>
            <a:ext cx="4487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Solution: </a:t>
            </a:r>
            <a:r>
              <a:rPr kumimoji="0" lang="en-US" altLang="zh-CN" b="1" dirty="0">
                <a:latin typeface="+mj-ea"/>
                <a:ea typeface="+mj-ea"/>
              </a:rPr>
              <a:t>the initial value of </a:t>
            </a:r>
            <a:r>
              <a:rPr kumimoji="0" lang="en-US" altLang="zh-CN" b="1" i="1" dirty="0" err="1">
                <a:latin typeface="+mj-ea"/>
                <a:ea typeface="+mj-ea"/>
              </a:rPr>
              <a:t>u</a:t>
            </a:r>
            <a:r>
              <a:rPr kumimoji="0" lang="en-US" altLang="zh-CN" b="1" baseline="-25000" dirty="0" err="1">
                <a:latin typeface="+mj-ea"/>
                <a:ea typeface="+mj-ea"/>
              </a:rPr>
              <a:t>C</a:t>
            </a:r>
            <a:r>
              <a:rPr kumimoji="0" lang="zh-CN" altLang="en-US" b="1" dirty="0">
                <a:latin typeface="+mj-ea"/>
                <a:ea typeface="+mj-ea"/>
              </a:rPr>
              <a:t>：</a:t>
            </a:r>
          </a:p>
        </p:txBody>
      </p: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103188" y="5334000"/>
            <a:ext cx="25161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b="1" dirty="0">
                <a:latin typeface="+mj-ea"/>
                <a:ea typeface="+mj-ea"/>
              </a:rPr>
              <a:t>Time constant</a:t>
            </a:r>
            <a:r>
              <a:rPr kumimoji="0" lang="zh-CN" altLang="en-US" b="1" dirty="0">
                <a:latin typeface="+mj-ea"/>
                <a:ea typeface="+mj-ea"/>
              </a:rPr>
              <a:t>：</a:t>
            </a:r>
          </a:p>
        </p:txBody>
      </p:sp>
      <p:graphicFrame>
        <p:nvGraphicFramePr>
          <p:cNvPr id="604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8950264"/>
              </p:ext>
            </p:extLst>
          </p:nvPr>
        </p:nvGraphicFramePr>
        <p:xfrm>
          <a:off x="264319" y="3990678"/>
          <a:ext cx="3729038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23" r:id="rId6" imgW="1726451" imgH="355446" progId="Equation.3">
                  <p:embed/>
                </p:oleObj>
              </mc:Choice>
              <mc:Fallback>
                <p:oleObj r:id="rId6" imgW="1726451" imgH="3554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9" y="3990678"/>
                        <a:ext cx="3729038" cy="763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4" name="Object 8"/>
          <p:cNvGraphicFramePr>
            <a:graphicFrameLocks noChangeAspect="1"/>
          </p:cNvGraphicFramePr>
          <p:nvPr/>
        </p:nvGraphicFramePr>
        <p:xfrm>
          <a:off x="1138238" y="4756150"/>
          <a:ext cx="21336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24" r:id="rId8" imgW="876300" imgH="228600" progId="Equation.3">
                  <p:embed/>
                </p:oleObj>
              </mc:Choice>
              <mc:Fallback>
                <p:oleObj r:id="rId8" imgW="876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238" y="4756150"/>
                        <a:ext cx="2133600" cy="557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455189"/>
              </p:ext>
            </p:extLst>
          </p:nvPr>
        </p:nvGraphicFramePr>
        <p:xfrm>
          <a:off x="2373835" y="5334000"/>
          <a:ext cx="5770562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25" r:id="rId10" imgW="2273300" imgH="254000" progId="Equation.3">
                  <p:embed/>
                </p:oleObj>
              </mc:Choice>
              <mc:Fallback>
                <p:oleObj r:id="rId10" imgW="22733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3835" y="5334000"/>
                        <a:ext cx="5770562" cy="649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6" name="Object 10"/>
          <p:cNvGraphicFramePr>
            <a:graphicFrameLocks noChangeAspect="1"/>
          </p:cNvGraphicFramePr>
          <p:nvPr/>
        </p:nvGraphicFramePr>
        <p:xfrm>
          <a:off x="190500" y="5983288"/>
          <a:ext cx="4816475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26" r:id="rId12" imgW="2095500" imgH="228600" progId="Equation.3">
                  <p:embed/>
                </p:oleObj>
              </mc:Choice>
              <mc:Fallback>
                <p:oleObj r:id="rId12" imgW="2095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" y="5983288"/>
                        <a:ext cx="4816475" cy="598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036465"/>
              </p:ext>
            </p:extLst>
          </p:nvPr>
        </p:nvGraphicFramePr>
        <p:xfrm>
          <a:off x="4722668" y="3423418"/>
          <a:ext cx="3789362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27" r:id="rId14" imgW="1473200" imgH="355600" progId="Equation.3">
                  <p:embed/>
                </p:oleObj>
              </mc:Choice>
              <mc:Fallback>
                <p:oleObj r:id="rId14" imgW="1473200" imgH="35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2668" y="3423418"/>
                        <a:ext cx="3789362" cy="9048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456" name="Group 40"/>
          <p:cNvGrpSpPr>
            <a:grpSpLocks/>
          </p:cNvGrpSpPr>
          <p:nvPr/>
        </p:nvGrpSpPr>
        <p:grpSpPr bwMode="auto">
          <a:xfrm>
            <a:off x="4622800" y="946150"/>
            <a:ext cx="4521733" cy="2155824"/>
            <a:chOff x="3360" y="944"/>
            <a:chExt cx="2394" cy="1358"/>
          </a:xfrm>
        </p:grpSpPr>
        <p:sp>
          <p:nvSpPr>
            <p:cNvPr id="60457" name="Line 41"/>
            <p:cNvSpPr>
              <a:spLocks noChangeShapeType="1"/>
            </p:cNvSpPr>
            <p:nvPr/>
          </p:nvSpPr>
          <p:spPr bwMode="auto">
            <a:xfrm>
              <a:off x="3360" y="2016"/>
              <a:ext cx="20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58" name="Line 42"/>
            <p:cNvSpPr>
              <a:spLocks noChangeShapeType="1"/>
            </p:cNvSpPr>
            <p:nvPr/>
          </p:nvSpPr>
          <p:spPr bwMode="auto">
            <a:xfrm flipV="1">
              <a:off x="3792" y="1056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59" name="Line 43"/>
            <p:cNvSpPr>
              <a:spLocks noChangeShapeType="1"/>
            </p:cNvSpPr>
            <p:nvPr/>
          </p:nvSpPr>
          <p:spPr bwMode="auto">
            <a:xfrm>
              <a:off x="3792" y="1271"/>
              <a:ext cx="12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60" name="Text Box 44"/>
            <p:cNvSpPr txBox="1">
              <a:spLocks noChangeArrowheads="1"/>
            </p:cNvSpPr>
            <p:nvPr/>
          </p:nvSpPr>
          <p:spPr bwMode="auto">
            <a:xfrm>
              <a:off x="5178" y="2052"/>
              <a:ext cx="5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000" b="1" i="1" dirty="0"/>
                <a:t>t/</a:t>
              </a:r>
              <a:r>
                <a:rPr kumimoji="0" lang="en-US" altLang="zh-CN" sz="2000" b="1" dirty="0"/>
                <a:t>s</a:t>
              </a:r>
            </a:p>
          </p:txBody>
        </p:sp>
        <p:sp>
          <p:nvSpPr>
            <p:cNvPr id="60461" name="Text Box 45"/>
            <p:cNvSpPr txBox="1">
              <a:spLocks noChangeArrowheads="1"/>
            </p:cNvSpPr>
            <p:nvPr/>
          </p:nvSpPr>
          <p:spPr bwMode="auto">
            <a:xfrm>
              <a:off x="3805" y="944"/>
              <a:ext cx="61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000" b="1" i="1" dirty="0" err="1"/>
                <a:t>u</a:t>
              </a:r>
              <a:r>
                <a:rPr kumimoji="0" lang="en-US" altLang="zh-CN" sz="2000" b="1" i="1" baseline="-25000" dirty="0" err="1"/>
                <a:t>c</a:t>
              </a:r>
              <a:r>
                <a:rPr kumimoji="0" lang="en-US" altLang="zh-CN" sz="2000" b="1" i="1" dirty="0"/>
                <a:t>/</a:t>
              </a:r>
              <a:r>
                <a:rPr kumimoji="0" lang="en-US" altLang="zh-CN" sz="2000" b="1" dirty="0"/>
                <a:t>v</a:t>
              </a:r>
            </a:p>
          </p:txBody>
        </p:sp>
        <p:sp>
          <p:nvSpPr>
            <p:cNvPr id="60462" name="Text Box 46"/>
            <p:cNvSpPr txBox="1">
              <a:spLocks noChangeArrowheads="1"/>
            </p:cNvSpPr>
            <p:nvPr/>
          </p:nvSpPr>
          <p:spPr bwMode="auto">
            <a:xfrm>
              <a:off x="3552" y="1148"/>
              <a:ext cx="36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2000" b="1"/>
                <a:t>6</a:t>
              </a:r>
            </a:p>
          </p:txBody>
        </p:sp>
        <p:sp>
          <p:nvSpPr>
            <p:cNvPr id="60463" name="Text Box 47"/>
            <p:cNvSpPr txBox="1">
              <a:spLocks noChangeArrowheads="1"/>
            </p:cNvSpPr>
            <p:nvPr/>
          </p:nvSpPr>
          <p:spPr bwMode="auto">
            <a:xfrm>
              <a:off x="3475" y="1455"/>
              <a:ext cx="4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2000" b="1"/>
                <a:t>4</a:t>
              </a:r>
            </a:p>
          </p:txBody>
        </p:sp>
        <p:sp>
          <p:nvSpPr>
            <p:cNvPr id="60464" name="Text Box 48"/>
            <p:cNvSpPr txBox="1">
              <a:spLocks noChangeArrowheads="1"/>
            </p:cNvSpPr>
            <p:nvPr/>
          </p:nvSpPr>
          <p:spPr bwMode="auto">
            <a:xfrm>
              <a:off x="3532" y="1950"/>
              <a:ext cx="4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2000" b="1"/>
                <a:t>0</a:t>
              </a:r>
            </a:p>
          </p:txBody>
        </p:sp>
      </p:grpSp>
      <p:sp>
        <p:nvSpPr>
          <p:cNvPr id="60465" name="Text Box 49"/>
          <p:cNvSpPr txBox="1">
            <a:spLocks noChangeArrowheads="1"/>
          </p:cNvSpPr>
          <p:nvPr/>
        </p:nvSpPr>
        <p:spPr bwMode="auto">
          <a:xfrm>
            <a:off x="96839" y="3009900"/>
            <a:ext cx="353905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b="1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We should firstly find </a:t>
            </a:r>
            <a:r>
              <a:rPr kumimoji="0" lang="en-US" altLang="zh-CN" sz="2800" b="1" i="1" dirty="0" err="1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u</a:t>
            </a:r>
            <a:r>
              <a:rPr kumimoji="0" lang="en-US" altLang="zh-CN" sz="2800" b="1" baseline="-25000" dirty="0" err="1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c</a:t>
            </a:r>
            <a:endParaRPr kumimoji="0" lang="en-US" altLang="zh-CN" sz="2800" b="1" baseline="-25000" dirty="0">
              <a:solidFill>
                <a:schemeClr val="accent2">
                  <a:lumMod val="7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60472" name="Group 56"/>
          <p:cNvGrpSpPr>
            <a:grpSpLocks/>
          </p:cNvGrpSpPr>
          <p:nvPr/>
        </p:nvGrpSpPr>
        <p:grpSpPr bwMode="auto">
          <a:xfrm>
            <a:off x="5095875" y="1498600"/>
            <a:ext cx="1698625" cy="609600"/>
            <a:chOff x="2938" y="1152"/>
            <a:chExt cx="1070" cy="384"/>
          </a:xfrm>
        </p:grpSpPr>
        <p:sp>
          <p:nvSpPr>
            <p:cNvPr id="60454" name="Line 38"/>
            <p:cNvSpPr>
              <a:spLocks noChangeShapeType="1"/>
            </p:cNvSpPr>
            <p:nvPr/>
          </p:nvSpPr>
          <p:spPr bwMode="auto">
            <a:xfrm>
              <a:off x="2938" y="1503"/>
              <a:ext cx="22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71" name="Arc 55"/>
            <p:cNvSpPr>
              <a:spLocks/>
            </p:cNvSpPr>
            <p:nvPr/>
          </p:nvSpPr>
          <p:spPr bwMode="auto">
            <a:xfrm rot="11008752" flipV="1">
              <a:off x="3167" y="1152"/>
              <a:ext cx="841" cy="3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0479" name="Group 63"/>
          <p:cNvGrpSpPr>
            <a:grpSpLocks/>
          </p:cNvGrpSpPr>
          <p:nvPr/>
        </p:nvGrpSpPr>
        <p:grpSpPr bwMode="auto">
          <a:xfrm>
            <a:off x="103188" y="968375"/>
            <a:ext cx="4456112" cy="1962150"/>
            <a:chOff x="65" y="610"/>
            <a:chExt cx="2807" cy="1236"/>
          </a:xfrm>
        </p:grpSpPr>
        <p:sp>
          <p:nvSpPr>
            <p:cNvPr id="60429" name="Oval 13"/>
            <p:cNvSpPr>
              <a:spLocks noChangeArrowheads="1"/>
            </p:cNvSpPr>
            <p:nvPr/>
          </p:nvSpPr>
          <p:spPr bwMode="auto">
            <a:xfrm>
              <a:off x="65" y="1066"/>
              <a:ext cx="321" cy="3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0" name="Rectangle 14"/>
            <p:cNvSpPr>
              <a:spLocks noChangeArrowheads="1"/>
            </p:cNvSpPr>
            <p:nvPr/>
          </p:nvSpPr>
          <p:spPr bwMode="auto">
            <a:xfrm>
              <a:off x="225" y="646"/>
              <a:ext cx="1141" cy="12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1" name="Line 15"/>
            <p:cNvSpPr>
              <a:spLocks noChangeShapeType="1"/>
            </p:cNvSpPr>
            <p:nvPr/>
          </p:nvSpPr>
          <p:spPr bwMode="auto">
            <a:xfrm>
              <a:off x="1366" y="646"/>
              <a:ext cx="7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32" name="Line 16"/>
            <p:cNvSpPr>
              <a:spLocks noChangeShapeType="1"/>
            </p:cNvSpPr>
            <p:nvPr/>
          </p:nvSpPr>
          <p:spPr bwMode="auto">
            <a:xfrm>
              <a:off x="1366" y="1846"/>
              <a:ext cx="7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33" name="Line 17"/>
            <p:cNvSpPr>
              <a:spLocks noChangeShapeType="1"/>
            </p:cNvSpPr>
            <p:nvPr/>
          </p:nvSpPr>
          <p:spPr bwMode="auto">
            <a:xfrm>
              <a:off x="2150" y="646"/>
              <a:ext cx="0" cy="3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34" name="Line 18"/>
            <p:cNvSpPr>
              <a:spLocks noChangeShapeType="1"/>
            </p:cNvSpPr>
            <p:nvPr/>
          </p:nvSpPr>
          <p:spPr bwMode="auto">
            <a:xfrm>
              <a:off x="2150" y="1126"/>
              <a:ext cx="0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35" name="Rectangle 19"/>
            <p:cNvSpPr>
              <a:spLocks noChangeArrowheads="1"/>
            </p:cNvSpPr>
            <p:nvPr/>
          </p:nvSpPr>
          <p:spPr bwMode="auto">
            <a:xfrm>
              <a:off x="2118" y="1306"/>
              <a:ext cx="71" cy="3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60438" name="Rectangle 22"/>
            <p:cNvSpPr>
              <a:spLocks noChangeArrowheads="1"/>
            </p:cNvSpPr>
            <p:nvPr/>
          </p:nvSpPr>
          <p:spPr bwMode="auto">
            <a:xfrm>
              <a:off x="1294" y="1306"/>
              <a:ext cx="143" cy="60"/>
            </a:xfrm>
            <a:prstGeom prst="rect">
              <a:avLst/>
            </a:pr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9" name="Line 23"/>
            <p:cNvSpPr>
              <a:spLocks noChangeShapeType="1"/>
            </p:cNvSpPr>
            <p:nvPr/>
          </p:nvSpPr>
          <p:spPr bwMode="auto">
            <a:xfrm>
              <a:off x="1223" y="1306"/>
              <a:ext cx="2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40" name="Line 24"/>
            <p:cNvSpPr>
              <a:spLocks noChangeShapeType="1"/>
            </p:cNvSpPr>
            <p:nvPr/>
          </p:nvSpPr>
          <p:spPr bwMode="auto">
            <a:xfrm>
              <a:off x="1223" y="1366"/>
              <a:ext cx="2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41" name="Text Box 25"/>
            <p:cNvSpPr txBox="1">
              <a:spLocks noChangeArrowheads="1"/>
            </p:cNvSpPr>
            <p:nvPr/>
          </p:nvSpPr>
          <p:spPr bwMode="auto">
            <a:xfrm>
              <a:off x="298" y="941"/>
              <a:ext cx="428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800" dirty="0"/>
                <a:t>+</a:t>
              </a:r>
            </a:p>
            <a:p>
              <a:pPr>
                <a:spcBef>
                  <a:spcPct val="50000"/>
                </a:spcBef>
              </a:pPr>
              <a:r>
                <a:rPr kumimoji="0" lang="zh-CN" altLang="en-US" sz="2000" dirty="0">
                  <a:latin typeface="Tahoma" pitchFamily="34" charset="0"/>
                </a:rPr>
                <a:t>-</a:t>
              </a:r>
            </a:p>
          </p:txBody>
        </p:sp>
        <p:sp>
          <p:nvSpPr>
            <p:cNvPr id="60442" name="Text Box 26"/>
            <p:cNvSpPr txBox="1">
              <a:spLocks noChangeArrowheads="1"/>
            </p:cNvSpPr>
            <p:nvPr/>
          </p:nvSpPr>
          <p:spPr bwMode="auto">
            <a:xfrm>
              <a:off x="369" y="1066"/>
              <a:ext cx="42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2000"/>
                <a:t>6</a:t>
              </a:r>
              <a:r>
                <a:rPr kumimoji="0" lang="en-US" altLang="zh-CN" sz="2000"/>
                <a:t>V</a:t>
              </a:r>
            </a:p>
          </p:txBody>
        </p:sp>
        <p:sp>
          <p:nvSpPr>
            <p:cNvPr id="60443" name="Text Box 27"/>
            <p:cNvSpPr txBox="1">
              <a:spLocks noChangeArrowheads="1"/>
            </p:cNvSpPr>
            <p:nvPr/>
          </p:nvSpPr>
          <p:spPr bwMode="auto">
            <a:xfrm>
              <a:off x="1509" y="1046"/>
              <a:ext cx="427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800" dirty="0">
                  <a:latin typeface="Tahoma" pitchFamily="34" charset="0"/>
                </a:rPr>
                <a:t>+</a:t>
              </a:r>
            </a:p>
            <a:p>
              <a:pPr>
                <a:spcBef>
                  <a:spcPct val="50000"/>
                </a:spcBef>
              </a:pPr>
              <a:r>
                <a:rPr kumimoji="0" lang="zh-CN" altLang="en-US" sz="2000" dirty="0">
                  <a:latin typeface="Tahoma" pitchFamily="34" charset="0"/>
                </a:rPr>
                <a:t>-</a:t>
              </a:r>
            </a:p>
          </p:txBody>
        </p:sp>
        <p:sp>
          <p:nvSpPr>
            <p:cNvPr id="60444" name="Text Box 28"/>
            <p:cNvSpPr txBox="1">
              <a:spLocks noChangeArrowheads="1"/>
            </p:cNvSpPr>
            <p:nvPr/>
          </p:nvSpPr>
          <p:spPr bwMode="auto">
            <a:xfrm>
              <a:off x="1509" y="1162"/>
              <a:ext cx="64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b="1" i="1" dirty="0" err="1">
                  <a:solidFill>
                    <a:srgbClr val="0000CC"/>
                  </a:solidFill>
                </a:rPr>
                <a:t>u</a:t>
              </a:r>
              <a:r>
                <a:rPr kumimoji="0" lang="en-US" altLang="zh-CN" b="1" baseline="-25000" dirty="0" err="1"/>
                <a:t>c</a:t>
              </a:r>
              <a:endParaRPr kumimoji="0" lang="en-US" altLang="zh-CN" b="1" dirty="0"/>
            </a:p>
          </p:txBody>
        </p:sp>
        <p:sp>
          <p:nvSpPr>
            <p:cNvPr id="60445" name="Text Box 29"/>
            <p:cNvSpPr txBox="1">
              <a:spLocks noChangeArrowheads="1"/>
            </p:cNvSpPr>
            <p:nvPr/>
          </p:nvSpPr>
          <p:spPr bwMode="auto">
            <a:xfrm>
              <a:off x="581" y="646"/>
              <a:ext cx="5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2000"/>
                <a:t>3</a:t>
              </a:r>
              <a:r>
                <a:rPr kumimoji="0" lang="en-US" altLang="zh-CN" sz="2000"/>
                <a:t>k</a:t>
              </a:r>
              <a:r>
                <a:rPr kumimoji="0" lang="en-US" altLang="zh-CN" sz="2000">
                  <a:sym typeface="Symbol" pitchFamily="18" charset="2"/>
                </a:rPr>
                <a:t></a:t>
              </a:r>
              <a:endParaRPr kumimoji="0" lang="en-US" altLang="zh-CN" sz="2000"/>
            </a:p>
          </p:txBody>
        </p:sp>
        <p:sp>
          <p:nvSpPr>
            <p:cNvPr id="60446" name="Text Box 30"/>
            <p:cNvSpPr txBox="1">
              <a:spLocks noChangeArrowheads="1"/>
            </p:cNvSpPr>
            <p:nvPr/>
          </p:nvSpPr>
          <p:spPr bwMode="auto">
            <a:xfrm>
              <a:off x="1365" y="826"/>
              <a:ext cx="57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zh-CN" altLang="en-US" sz="2000"/>
                <a:t>1</a:t>
              </a:r>
              <a:r>
                <a:rPr kumimoji="0" lang="en-US" altLang="zh-CN" sz="2000"/>
                <a:t>k</a:t>
              </a:r>
              <a:r>
                <a:rPr kumimoji="0" lang="en-US" altLang="zh-CN" sz="2000">
                  <a:sym typeface="Symbol" pitchFamily="18" charset="2"/>
                </a:rPr>
                <a:t></a:t>
              </a:r>
              <a:endParaRPr kumimoji="0" lang="en-US" altLang="zh-CN" sz="2000"/>
            </a:p>
          </p:txBody>
        </p:sp>
        <p:sp>
          <p:nvSpPr>
            <p:cNvPr id="60447" name="Text Box 31"/>
            <p:cNvSpPr txBox="1">
              <a:spLocks noChangeArrowheads="1"/>
            </p:cNvSpPr>
            <p:nvPr/>
          </p:nvSpPr>
          <p:spPr bwMode="auto">
            <a:xfrm>
              <a:off x="2157" y="1306"/>
              <a:ext cx="5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zh-CN" altLang="en-US" sz="2000"/>
                <a:t>6</a:t>
              </a:r>
              <a:r>
                <a:rPr kumimoji="0" lang="en-US" altLang="zh-CN" sz="2000"/>
                <a:t>k</a:t>
              </a:r>
              <a:r>
                <a:rPr kumimoji="0" lang="en-US" altLang="zh-CN" sz="2000">
                  <a:sym typeface="Symbol" pitchFamily="18" charset="2"/>
                </a:rPr>
                <a:t></a:t>
              </a:r>
              <a:endParaRPr kumimoji="0" lang="en-US" altLang="zh-CN" sz="2000"/>
            </a:p>
          </p:txBody>
        </p:sp>
        <p:sp>
          <p:nvSpPr>
            <p:cNvPr id="60448" name="Line 32"/>
            <p:cNvSpPr>
              <a:spLocks noChangeShapeType="1"/>
            </p:cNvSpPr>
            <p:nvPr/>
          </p:nvSpPr>
          <p:spPr bwMode="auto">
            <a:xfrm flipV="1">
              <a:off x="2150" y="826"/>
              <a:ext cx="71" cy="3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49" name="Line 33"/>
            <p:cNvSpPr>
              <a:spLocks noChangeShapeType="1"/>
            </p:cNvSpPr>
            <p:nvPr/>
          </p:nvSpPr>
          <p:spPr bwMode="auto">
            <a:xfrm>
              <a:off x="2007" y="1006"/>
              <a:ext cx="428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50" name="Text Box 34"/>
            <p:cNvSpPr txBox="1">
              <a:spLocks noChangeArrowheads="1"/>
            </p:cNvSpPr>
            <p:nvPr/>
          </p:nvSpPr>
          <p:spPr bwMode="auto">
            <a:xfrm>
              <a:off x="2181" y="766"/>
              <a:ext cx="6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2000" b="1"/>
                <a:t>S(t=0)</a:t>
              </a:r>
            </a:p>
          </p:txBody>
        </p:sp>
        <p:sp>
          <p:nvSpPr>
            <p:cNvPr id="60451" name="Line 35"/>
            <p:cNvSpPr>
              <a:spLocks noChangeShapeType="1"/>
            </p:cNvSpPr>
            <p:nvPr/>
          </p:nvSpPr>
          <p:spPr bwMode="auto">
            <a:xfrm>
              <a:off x="1366" y="1546"/>
              <a:ext cx="0" cy="18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52" name="Text Box 36"/>
            <p:cNvSpPr txBox="1">
              <a:spLocks noChangeArrowheads="1"/>
            </p:cNvSpPr>
            <p:nvPr/>
          </p:nvSpPr>
          <p:spPr bwMode="auto">
            <a:xfrm>
              <a:off x="1069" y="1426"/>
              <a:ext cx="641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b="1" i="1" dirty="0" err="1">
                  <a:solidFill>
                    <a:srgbClr val="0000CC"/>
                  </a:solidFill>
                </a:rPr>
                <a:t>i</a:t>
              </a:r>
              <a:r>
                <a:rPr kumimoji="0" lang="en-US" altLang="zh-CN" b="1" baseline="-25000" dirty="0" err="1">
                  <a:solidFill>
                    <a:srgbClr val="0000CC"/>
                  </a:solidFill>
                </a:rPr>
                <a:t>c</a:t>
              </a:r>
              <a:endParaRPr kumimoji="0" lang="en-US" altLang="zh-CN" b="1" dirty="0">
                <a:solidFill>
                  <a:srgbClr val="0000CC"/>
                </a:solidFill>
              </a:endParaRPr>
            </a:p>
          </p:txBody>
        </p:sp>
        <p:sp>
          <p:nvSpPr>
            <p:cNvPr id="60470" name="Text Box 54"/>
            <p:cNvSpPr txBox="1">
              <a:spLocks noChangeArrowheads="1"/>
            </p:cNvSpPr>
            <p:nvPr/>
          </p:nvSpPr>
          <p:spPr bwMode="auto">
            <a:xfrm>
              <a:off x="737" y="1169"/>
              <a:ext cx="63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b="1"/>
                <a:t>10</a:t>
              </a:r>
              <a:r>
                <a:rPr lang="en-US" altLang="zh-CN" sz="2000" b="1">
                  <a:cs typeface="Times New Roman" pitchFamily="18" charset="0"/>
                </a:rPr>
                <a:t>uF</a:t>
              </a:r>
            </a:p>
          </p:txBody>
        </p:sp>
        <p:sp>
          <p:nvSpPr>
            <p:cNvPr id="60477" name="Rectangle 61"/>
            <p:cNvSpPr>
              <a:spLocks noChangeArrowheads="1"/>
            </p:cNvSpPr>
            <p:nvPr/>
          </p:nvSpPr>
          <p:spPr bwMode="auto">
            <a:xfrm>
              <a:off x="1326" y="835"/>
              <a:ext cx="71" cy="3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78" name="Rectangle 62"/>
            <p:cNvSpPr>
              <a:spLocks noChangeArrowheads="1"/>
            </p:cNvSpPr>
            <p:nvPr/>
          </p:nvSpPr>
          <p:spPr bwMode="auto">
            <a:xfrm rot="16200000" flipH="1">
              <a:off x="779" y="496"/>
              <a:ext cx="71" cy="3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257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0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0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0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0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0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6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0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0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0" grpId="0" autoUpdateAnimBg="0"/>
      <p:bldP spid="60421" grpId="0" autoUpdateAnimBg="0"/>
      <p:bldP spid="60465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0" y="188640"/>
            <a:ext cx="9289280" cy="604837"/>
          </a:xfrm>
        </p:spPr>
        <p:txBody>
          <a:bodyPr/>
          <a:lstStyle/>
          <a:p>
            <a:r>
              <a:rPr kumimoji="1" lang="en-US" altLang="zh-CN" sz="3600" kern="1200" dirty="0">
                <a:ea typeface="宋体" pitchFamily="2" charset="-122"/>
              </a:rPr>
              <a:t>7.6 Step Response of An RL Circuit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3E9D0-4E7D-494B-9FDA-030BD051EAFE}" type="slidenum">
              <a:rPr lang="en-US" altLang="zh-CN" smtClean="0"/>
              <a:pPr/>
              <a:t>39</a:t>
            </a:fld>
            <a:endParaRPr lang="en-US" altLang="zh-CN"/>
          </a:p>
        </p:txBody>
      </p:sp>
      <p:sp>
        <p:nvSpPr>
          <p:cNvPr id="178179" name="Rectangle 3"/>
          <p:cNvSpPr>
            <a:spLocks noRot="1" noChangeArrowheads="1"/>
          </p:cNvSpPr>
          <p:nvPr/>
        </p:nvSpPr>
        <p:spPr bwMode="auto">
          <a:xfrm>
            <a:off x="395288" y="1125538"/>
            <a:ext cx="7777162" cy="1511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b="1" i="1" dirty="0">
                <a:solidFill>
                  <a:srgbClr val="FF6600"/>
                </a:solidFill>
              </a:rPr>
              <a:t>The step response of a circuit</a:t>
            </a:r>
            <a:r>
              <a:rPr lang="en-US" altLang="zh-CN" sz="2800" dirty="0">
                <a:solidFill>
                  <a:srgbClr val="FF6600"/>
                </a:solidFill>
              </a:rPr>
              <a:t> </a:t>
            </a:r>
            <a:r>
              <a:rPr lang="en-US" altLang="zh-CN" sz="2800" dirty="0"/>
              <a:t>is its behavior when the excitation is the step function, which may be a voltage or a current source.</a:t>
            </a:r>
          </a:p>
        </p:txBody>
      </p:sp>
      <p:graphicFrame>
        <p:nvGraphicFramePr>
          <p:cNvPr id="178181" name="Object 5"/>
          <p:cNvGraphicFramePr>
            <a:graphicFrameLocks noChangeAspect="1"/>
          </p:cNvGraphicFramePr>
          <p:nvPr/>
        </p:nvGraphicFramePr>
        <p:xfrm>
          <a:off x="4140200" y="3716338"/>
          <a:ext cx="41910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8" name="Equation" r:id="rId3" imgW="190440" imgH="152280" progId="Equation.DSMT4">
                  <p:embed/>
                </p:oleObj>
              </mc:Choice>
              <mc:Fallback>
                <p:oleObj name="Equation" r:id="rId3" imgW="19044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716338"/>
                        <a:ext cx="419100" cy="3349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83" name="Object 7"/>
          <p:cNvGraphicFramePr>
            <a:graphicFrameLocks noChangeAspect="1"/>
          </p:cNvGraphicFramePr>
          <p:nvPr/>
        </p:nvGraphicFramePr>
        <p:xfrm>
          <a:off x="681038" y="5445125"/>
          <a:ext cx="4824412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9" name="Equation" r:id="rId5" imgW="2197080" imgH="241200" progId="Equation.DSMT4">
                  <p:embed/>
                </p:oleObj>
              </mc:Choice>
              <mc:Fallback>
                <p:oleObj name="Equation" r:id="rId5" imgW="2197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038" y="5445125"/>
                        <a:ext cx="4824412" cy="5318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84" name="Object 8"/>
          <p:cNvGraphicFramePr>
            <a:graphicFrameLocks noChangeAspect="1"/>
          </p:cNvGraphicFramePr>
          <p:nvPr/>
        </p:nvGraphicFramePr>
        <p:xfrm>
          <a:off x="684213" y="2924175"/>
          <a:ext cx="3257550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60" name="Visio" r:id="rId7" imgW="2051914" imgH="1310945" progId="Visio.Drawing.11">
                  <p:embed/>
                </p:oleObj>
              </mc:Choice>
              <mc:Fallback>
                <p:oleObj name="Visio" r:id="rId7" imgW="2051914" imgH="131094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924175"/>
                        <a:ext cx="3257550" cy="2070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85" name="Object 9"/>
          <p:cNvGraphicFramePr>
            <a:graphicFrameLocks noChangeAspect="1"/>
          </p:cNvGraphicFramePr>
          <p:nvPr/>
        </p:nvGraphicFramePr>
        <p:xfrm>
          <a:off x="4787900" y="2852738"/>
          <a:ext cx="3022600" cy="206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61" name="Visio" r:id="rId9" imgW="1905914" imgH="1310945" progId="Visio.Drawing.11">
                  <p:embed/>
                </p:oleObj>
              </mc:Choice>
              <mc:Fallback>
                <p:oleObj name="Visio" r:id="rId9" imgW="1905914" imgH="131094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2852738"/>
                        <a:ext cx="3022600" cy="20685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5506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8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8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2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050236"/>
              </p:ext>
            </p:extLst>
          </p:nvPr>
        </p:nvGraphicFramePr>
        <p:xfrm>
          <a:off x="3995738" y="347663"/>
          <a:ext cx="125571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2" name="Equation" r:id="rId3" imgW="571320" imgH="228600" progId="Equation.DSMT4">
                  <p:embed/>
                </p:oleObj>
              </mc:Choice>
              <mc:Fallback>
                <p:oleObj name="Equation" r:id="rId3" imgW="571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47663"/>
                        <a:ext cx="1255712" cy="5016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161843"/>
              </p:ext>
            </p:extLst>
          </p:nvPr>
        </p:nvGraphicFramePr>
        <p:xfrm>
          <a:off x="2832100" y="2924175"/>
          <a:ext cx="46609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3" name="Equation" r:id="rId5" imgW="2120760" imgH="342720" progId="Equation.DSMT4">
                  <p:embed/>
                </p:oleObj>
              </mc:Choice>
              <mc:Fallback>
                <p:oleObj name="Equation" r:id="rId5" imgW="212076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0" y="2924175"/>
                        <a:ext cx="4660900" cy="752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9" name="Object 9"/>
          <p:cNvGraphicFramePr>
            <a:graphicFrameLocks noChangeAspect="1"/>
          </p:cNvGraphicFramePr>
          <p:nvPr/>
        </p:nvGraphicFramePr>
        <p:xfrm>
          <a:off x="179388" y="188913"/>
          <a:ext cx="3022600" cy="206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4" name="Visio" r:id="rId7" imgW="1905914" imgH="1310945" progId="Visio.Drawing.11">
                  <p:embed/>
                </p:oleObj>
              </mc:Choice>
              <mc:Fallback>
                <p:oleObj name="Visio" r:id="rId7" imgW="1905914" imgH="131094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88913"/>
                        <a:ext cx="3022600" cy="20685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6081959"/>
              </p:ext>
            </p:extLst>
          </p:nvPr>
        </p:nvGraphicFramePr>
        <p:xfrm>
          <a:off x="3475038" y="1289050"/>
          <a:ext cx="43815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5" name="Equation" r:id="rId9" imgW="1993680" imgH="291960" progId="Equation.DSMT4">
                  <p:embed/>
                </p:oleObj>
              </mc:Choice>
              <mc:Fallback>
                <p:oleObj name="Equation" r:id="rId9" imgW="199368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5038" y="1289050"/>
                        <a:ext cx="4381500" cy="6413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11" name="Object 11"/>
          <p:cNvGraphicFramePr>
            <a:graphicFrameLocks noChangeAspect="1"/>
          </p:cNvGraphicFramePr>
          <p:nvPr/>
        </p:nvGraphicFramePr>
        <p:xfrm>
          <a:off x="8101013" y="1196975"/>
          <a:ext cx="865187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6" name="Equation" r:id="rId11" imgW="393480" imgH="393480" progId="Equation.DSMT4">
                  <p:embed/>
                </p:oleObj>
              </mc:Choice>
              <mc:Fallback>
                <p:oleObj name="Equation" r:id="rId11" imgW="3934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1013" y="1196975"/>
                        <a:ext cx="865187" cy="8651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12" name="Rectangle 12"/>
          <p:cNvSpPr>
            <a:spLocks noRot="1" noChangeArrowheads="1"/>
          </p:cNvSpPr>
          <p:nvPr/>
        </p:nvSpPr>
        <p:spPr bwMode="auto">
          <a:xfrm>
            <a:off x="2878138" y="2349500"/>
            <a:ext cx="5870575" cy="5032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800" dirty="0"/>
              <a:t>Where </a:t>
            </a:r>
            <a:r>
              <a:rPr lang="en-US" altLang="zh-CN" sz="2800" b="1" i="1" dirty="0">
                <a:solidFill>
                  <a:srgbClr val="FF6600"/>
                </a:solidFill>
              </a:rPr>
              <a:t>A</a:t>
            </a:r>
            <a:r>
              <a:rPr lang="en-US" altLang="zh-CN" sz="2800" dirty="0"/>
              <a:t> is a constant to be determined.</a:t>
            </a:r>
          </a:p>
        </p:txBody>
      </p:sp>
      <p:graphicFrame>
        <p:nvGraphicFramePr>
          <p:cNvPr id="179213" name="Object 13"/>
          <p:cNvGraphicFramePr>
            <a:graphicFrameLocks noChangeAspect="1"/>
          </p:cNvGraphicFramePr>
          <p:nvPr/>
        </p:nvGraphicFramePr>
        <p:xfrm>
          <a:off x="2411413" y="3789363"/>
          <a:ext cx="262255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7" name="Equation" r:id="rId13" imgW="1193760" imgH="393480" progId="Equation.DSMT4">
                  <p:embed/>
                </p:oleObj>
              </mc:Choice>
              <mc:Fallback>
                <p:oleObj name="Equation" r:id="rId13" imgW="11937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789363"/>
                        <a:ext cx="2622550" cy="869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14" name="Rectangle 14"/>
          <p:cNvSpPr>
            <a:spLocks noRot="1" noChangeArrowheads="1"/>
          </p:cNvSpPr>
          <p:nvPr/>
        </p:nvSpPr>
        <p:spPr bwMode="auto">
          <a:xfrm>
            <a:off x="1403350" y="4005263"/>
            <a:ext cx="720725" cy="5032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800"/>
              <a:t>So,</a:t>
            </a:r>
            <a:r>
              <a:rPr lang="en-US" altLang="zh-CN" sz="2800" b="1"/>
              <a:t> </a:t>
            </a:r>
          </a:p>
        </p:txBody>
      </p:sp>
      <p:sp>
        <p:nvSpPr>
          <p:cNvPr id="179215" name="Rectangle 15"/>
          <p:cNvSpPr>
            <a:spLocks noRot="1" noChangeArrowheads="1"/>
          </p:cNvSpPr>
          <p:nvPr/>
        </p:nvSpPr>
        <p:spPr bwMode="auto">
          <a:xfrm>
            <a:off x="539750" y="4941888"/>
            <a:ext cx="1944688" cy="5032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800"/>
              <a:t>When </a:t>
            </a:r>
            <a:r>
              <a:rPr lang="en-US" altLang="zh-CN" sz="2800" i="1"/>
              <a:t>t=</a:t>
            </a:r>
            <a:r>
              <a:rPr lang="en-US" altLang="zh-CN" sz="2800"/>
              <a:t>0,</a:t>
            </a:r>
            <a:r>
              <a:rPr lang="en-US" altLang="zh-CN" sz="2800" b="1"/>
              <a:t> </a:t>
            </a:r>
          </a:p>
        </p:txBody>
      </p:sp>
      <p:graphicFrame>
        <p:nvGraphicFramePr>
          <p:cNvPr id="179216" name="Object 16"/>
          <p:cNvGraphicFramePr>
            <a:graphicFrameLocks noChangeAspect="1"/>
          </p:cNvGraphicFramePr>
          <p:nvPr/>
        </p:nvGraphicFramePr>
        <p:xfrm>
          <a:off x="2700338" y="4797425"/>
          <a:ext cx="2649537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8" name="Equation" r:id="rId15" imgW="1206360" imgH="393480" progId="Equation.DSMT4">
                  <p:embed/>
                </p:oleObj>
              </mc:Choice>
              <mc:Fallback>
                <p:oleObj name="Equation" r:id="rId15" imgW="12063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797425"/>
                        <a:ext cx="2649537" cy="869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17" name="Object 17"/>
          <p:cNvGraphicFramePr>
            <a:graphicFrameLocks noChangeAspect="1"/>
          </p:cNvGraphicFramePr>
          <p:nvPr/>
        </p:nvGraphicFramePr>
        <p:xfrm>
          <a:off x="5508625" y="5013325"/>
          <a:ext cx="41910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9" name="Equation" r:id="rId17" imgW="190440" imgH="152280" progId="Equation.DSMT4">
                  <p:embed/>
                </p:oleObj>
              </mc:Choice>
              <mc:Fallback>
                <p:oleObj name="Equation" r:id="rId17" imgW="19044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5013325"/>
                        <a:ext cx="419100" cy="3349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18" name="Object 18"/>
          <p:cNvGraphicFramePr>
            <a:graphicFrameLocks noChangeAspect="1"/>
          </p:cNvGraphicFramePr>
          <p:nvPr/>
        </p:nvGraphicFramePr>
        <p:xfrm>
          <a:off x="6227763" y="4724400"/>
          <a:ext cx="156210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60" name="Equation" r:id="rId19" imgW="711000" imgH="393480" progId="Equation.DSMT4">
                  <p:embed/>
                </p:oleObj>
              </mc:Choice>
              <mc:Fallback>
                <p:oleObj name="Equation" r:id="rId19" imgW="7110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4724400"/>
                        <a:ext cx="1562100" cy="869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19" name="Rectangle 19"/>
          <p:cNvSpPr>
            <a:spLocks noRot="1" noChangeArrowheads="1"/>
          </p:cNvSpPr>
          <p:nvPr/>
        </p:nvSpPr>
        <p:spPr bwMode="auto">
          <a:xfrm>
            <a:off x="468313" y="6021388"/>
            <a:ext cx="2087562" cy="5032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800"/>
              <a:t>Thus, we get</a:t>
            </a:r>
          </a:p>
        </p:txBody>
      </p:sp>
      <p:graphicFrame>
        <p:nvGraphicFramePr>
          <p:cNvPr id="179220" name="Object 20"/>
          <p:cNvGraphicFramePr>
            <a:graphicFrameLocks noChangeAspect="1"/>
          </p:cNvGraphicFramePr>
          <p:nvPr/>
        </p:nvGraphicFramePr>
        <p:xfrm>
          <a:off x="2714625" y="5799138"/>
          <a:ext cx="315277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61" name="Equation" r:id="rId21" imgW="1434960" imgH="393480" progId="Equation.DSMT4">
                  <p:embed/>
                </p:oleObj>
              </mc:Choice>
              <mc:Fallback>
                <p:oleObj name="Equation" r:id="rId21" imgW="14349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5799138"/>
                        <a:ext cx="3152775" cy="869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3E9D0-4E7D-494B-9FDA-030BD051EAFE}" type="slidenum">
              <a:rPr lang="en-US" altLang="zh-CN" smtClean="0"/>
              <a:pPr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722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9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9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9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9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9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9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9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9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9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9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9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9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9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9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9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9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9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9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9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7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12" grpId="0" animBg="1"/>
      <p:bldP spid="179214" grpId="0" animBg="1"/>
      <p:bldP spid="179215" grpId="0" animBg="1"/>
      <p:bldP spid="17921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Text Box 2"/>
          <p:cNvSpPr txBox="1">
            <a:spLocks noChangeArrowheads="1"/>
          </p:cNvSpPr>
          <p:nvPr/>
        </p:nvSpPr>
        <p:spPr bwMode="auto">
          <a:xfrm>
            <a:off x="250826" y="246063"/>
            <a:ext cx="3384550" cy="531812"/>
          </a:xfrm>
          <a:prstGeom prst="rect">
            <a:avLst/>
          </a:prstGeom>
          <a:solidFill>
            <a:schemeClr val="accent2">
              <a:lumMod val="50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b="1" dirty="0">
                <a:solidFill>
                  <a:schemeClr val="bg1"/>
                </a:solidFill>
              </a:rPr>
              <a:t>Step response figure</a:t>
            </a:r>
            <a:endParaRPr lang="en-US" altLang="zh-CN" sz="3600" b="1" dirty="0">
              <a:solidFill>
                <a:schemeClr val="bg1"/>
              </a:solidFill>
              <a:ea typeface="仿宋_GB2312" pitchFamily="49" charset="-122"/>
            </a:endParaRPr>
          </a:p>
        </p:txBody>
      </p:sp>
      <p:graphicFrame>
        <p:nvGraphicFramePr>
          <p:cNvPr id="181256" name="Object 8"/>
          <p:cNvGraphicFramePr>
            <a:graphicFrameLocks noChangeAspect="1"/>
          </p:cNvGraphicFramePr>
          <p:nvPr/>
        </p:nvGraphicFramePr>
        <p:xfrm>
          <a:off x="4427538" y="908050"/>
          <a:ext cx="3597275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86" name="Equation" r:id="rId3" imgW="1638000" imgH="660240" progId="Equation.DSMT4">
                  <p:embed/>
                </p:oleObj>
              </mc:Choice>
              <mc:Fallback>
                <p:oleObj name="Equation" r:id="rId3" imgW="163800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908050"/>
                        <a:ext cx="3597275" cy="14605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9" name="Object 11"/>
          <p:cNvGraphicFramePr>
            <a:graphicFrameLocks noChangeAspect="1"/>
          </p:cNvGraphicFramePr>
          <p:nvPr/>
        </p:nvGraphicFramePr>
        <p:xfrm>
          <a:off x="323850" y="1916113"/>
          <a:ext cx="2667000" cy="248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87" name="Visio" r:id="rId5" imgW="1668170" imgH="1557223" progId="Visio.Drawing.11">
                  <p:embed/>
                </p:oleObj>
              </mc:Choice>
              <mc:Fallback>
                <p:oleObj name="Visio" r:id="rId5" imgW="1668170" imgH="155722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916113"/>
                        <a:ext cx="2667000" cy="2489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60" name="Object 12"/>
          <p:cNvGraphicFramePr>
            <a:graphicFrameLocks noChangeAspect="1"/>
          </p:cNvGraphicFramePr>
          <p:nvPr/>
        </p:nvGraphicFramePr>
        <p:xfrm>
          <a:off x="395288" y="908050"/>
          <a:ext cx="315277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88" name="Equation" r:id="rId7" imgW="1434960" imgH="393480" progId="Equation.DSMT4">
                  <p:embed/>
                </p:oleObj>
              </mc:Choice>
              <mc:Fallback>
                <p:oleObj name="Equation" r:id="rId7" imgW="14349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908050"/>
                        <a:ext cx="3152775" cy="869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61" name="Rectangle 13"/>
          <p:cNvSpPr>
            <a:spLocks noRot="1" noChangeArrowheads="1"/>
          </p:cNvSpPr>
          <p:nvPr/>
        </p:nvSpPr>
        <p:spPr bwMode="auto">
          <a:xfrm>
            <a:off x="4500563" y="188913"/>
            <a:ext cx="2665412" cy="5032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800"/>
              <a:t>When </a:t>
            </a:r>
            <a:r>
              <a:rPr lang="en-US" altLang="zh-CN" sz="2800" i="1"/>
              <a:t>I</a:t>
            </a:r>
            <a:r>
              <a:rPr lang="en-US" altLang="zh-CN" sz="2800" i="1" baseline="-25000"/>
              <a:t>0</a:t>
            </a:r>
            <a:r>
              <a:rPr lang="en-US" altLang="zh-CN" sz="2800" i="1"/>
              <a:t>=</a:t>
            </a:r>
            <a:r>
              <a:rPr lang="en-US" altLang="zh-CN" sz="2800"/>
              <a:t>0, then</a:t>
            </a:r>
            <a:r>
              <a:rPr lang="en-US" altLang="zh-CN" sz="2800" b="1"/>
              <a:t> </a:t>
            </a:r>
          </a:p>
        </p:txBody>
      </p:sp>
      <p:sp>
        <p:nvSpPr>
          <p:cNvPr id="181262" name="Rectangle 14"/>
          <p:cNvSpPr>
            <a:spLocks noRot="1" noChangeArrowheads="1"/>
          </p:cNvSpPr>
          <p:nvPr/>
        </p:nvSpPr>
        <p:spPr bwMode="auto">
          <a:xfrm>
            <a:off x="3635375" y="2636838"/>
            <a:ext cx="720725" cy="5032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800"/>
              <a:t>Or,</a:t>
            </a:r>
            <a:r>
              <a:rPr lang="en-US" altLang="zh-CN" sz="2800" b="1"/>
              <a:t> </a:t>
            </a:r>
          </a:p>
        </p:txBody>
      </p:sp>
      <p:graphicFrame>
        <p:nvGraphicFramePr>
          <p:cNvPr id="181263" name="Object 15"/>
          <p:cNvGraphicFramePr>
            <a:graphicFrameLocks noChangeAspect="1"/>
          </p:cNvGraphicFramePr>
          <p:nvPr/>
        </p:nvGraphicFramePr>
        <p:xfrm>
          <a:off x="4716463" y="2492375"/>
          <a:ext cx="2982912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89" name="Equation" r:id="rId9" imgW="1358640" imgH="393480" progId="Equation.DSMT4">
                  <p:embed/>
                </p:oleObj>
              </mc:Choice>
              <mc:Fallback>
                <p:oleObj name="Equation" r:id="rId9" imgW="13586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2492375"/>
                        <a:ext cx="2982912" cy="869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64" name="Rectangle 16"/>
          <p:cNvSpPr>
            <a:spLocks noRot="1" noChangeArrowheads="1"/>
          </p:cNvSpPr>
          <p:nvPr/>
        </p:nvSpPr>
        <p:spPr bwMode="auto">
          <a:xfrm>
            <a:off x="3563938" y="3500438"/>
            <a:ext cx="4248422" cy="576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800" b="1" i="1" dirty="0">
                <a:solidFill>
                  <a:srgbClr val="FF6600"/>
                </a:solidFill>
              </a:rPr>
              <a:t>Voltage across the inductor</a:t>
            </a:r>
            <a:endParaRPr lang="en-US" altLang="zh-CN" sz="2800" dirty="0">
              <a:solidFill>
                <a:srgbClr val="FF6600"/>
              </a:solidFill>
            </a:endParaRPr>
          </a:p>
        </p:txBody>
      </p:sp>
      <p:graphicFrame>
        <p:nvGraphicFramePr>
          <p:cNvPr id="181265" name="Object 17"/>
          <p:cNvGraphicFramePr>
            <a:graphicFrameLocks noChangeAspect="1"/>
          </p:cNvGraphicFramePr>
          <p:nvPr/>
        </p:nvGraphicFramePr>
        <p:xfrm>
          <a:off x="395288" y="4652963"/>
          <a:ext cx="2368550" cy="199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90" name="Visio" r:id="rId11" imgW="1479194" imgH="1246022" progId="Visio.Drawing.11">
                  <p:embed/>
                </p:oleObj>
              </mc:Choice>
              <mc:Fallback>
                <p:oleObj name="Visio" r:id="rId11" imgW="1479194" imgH="124602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652963"/>
                        <a:ext cx="2368550" cy="19954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66" name="Object 18"/>
          <p:cNvGraphicFramePr>
            <a:graphicFrameLocks noChangeAspect="1"/>
          </p:cNvGraphicFramePr>
          <p:nvPr/>
        </p:nvGraphicFramePr>
        <p:xfrm>
          <a:off x="5713413" y="4221163"/>
          <a:ext cx="315118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91" name="Equation" r:id="rId13" imgW="1434960" imgH="393480" progId="Equation.DSMT4">
                  <p:embed/>
                </p:oleObj>
              </mc:Choice>
              <mc:Fallback>
                <p:oleObj name="Equation" r:id="rId13" imgW="14349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3413" y="4221163"/>
                        <a:ext cx="3151187" cy="8667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67" name="Object 19"/>
          <p:cNvGraphicFramePr>
            <a:graphicFrameLocks noChangeAspect="1"/>
          </p:cNvGraphicFramePr>
          <p:nvPr/>
        </p:nvGraphicFramePr>
        <p:xfrm>
          <a:off x="3132138" y="4652963"/>
          <a:ext cx="2482850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92" name="Visio" r:id="rId15" imgW="1552042" imgH="1202741" progId="Visio.Drawing.11">
                  <p:embed/>
                </p:oleObj>
              </mc:Choice>
              <mc:Fallback>
                <p:oleObj name="Visio" r:id="rId15" imgW="1552042" imgH="120274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4652963"/>
                        <a:ext cx="2482850" cy="192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68" name="Rectangle 20"/>
          <p:cNvSpPr>
            <a:spLocks noRot="1" noChangeArrowheads="1"/>
          </p:cNvSpPr>
          <p:nvPr/>
        </p:nvSpPr>
        <p:spPr bwMode="auto">
          <a:xfrm>
            <a:off x="5724525" y="5373688"/>
            <a:ext cx="720725" cy="5032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800"/>
              <a:t>Or,</a:t>
            </a:r>
            <a:r>
              <a:rPr lang="en-US" altLang="zh-CN" sz="2800" b="1"/>
              <a:t> </a:t>
            </a:r>
          </a:p>
        </p:txBody>
      </p:sp>
      <p:graphicFrame>
        <p:nvGraphicFramePr>
          <p:cNvPr id="181269" name="Object 21"/>
          <p:cNvGraphicFramePr>
            <a:graphicFrameLocks noChangeAspect="1"/>
          </p:cNvGraphicFramePr>
          <p:nvPr/>
        </p:nvGraphicFramePr>
        <p:xfrm>
          <a:off x="6659563" y="5373688"/>
          <a:ext cx="2286000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93" name="Equation" r:id="rId17" imgW="1041120" imgH="291960" progId="Equation.DSMT4">
                  <p:embed/>
                </p:oleObj>
              </mc:Choice>
              <mc:Fallback>
                <p:oleObj name="Equation" r:id="rId17" imgW="10411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5373688"/>
                        <a:ext cx="2286000" cy="6461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3189287" y="6525344"/>
            <a:ext cx="2895600" cy="457200"/>
          </a:xfrm>
        </p:spPr>
        <p:txBody>
          <a:bodyPr/>
          <a:lstStyle/>
          <a:p>
            <a:r>
              <a:rPr lang="en-US" altLang="zh-CN" dirty="0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3E9D0-4E7D-494B-9FDA-030BD051EAFE}" type="slidenum">
              <a:rPr lang="en-US" altLang="zh-CN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2183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1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1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8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1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1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1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1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1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1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1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1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8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1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1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8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0" grpId="0" animBg="1" autoUpdateAnimBg="0"/>
      <p:bldP spid="181261" grpId="0" animBg="1"/>
      <p:bldP spid="181262" grpId="0" animBg="1"/>
      <p:bldP spid="181264" grpId="0" animBg="1"/>
      <p:bldP spid="18126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ext Box 2"/>
          <p:cNvSpPr txBox="1">
            <a:spLocks noChangeArrowheads="1"/>
          </p:cNvSpPr>
          <p:nvPr/>
        </p:nvSpPr>
        <p:spPr bwMode="auto">
          <a:xfrm>
            <a:off x="250825" y="246063"/>
            <a:ext cx="2089150" cy="5318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Conclusion</a:t>
            </a:r>
            <a:endParaRPr lang="en-US" altLang="zh-CN" sz="3600" b="1" dirty="0">
              <a:solidFill>
                <a:srgbClr val="FF0000"/>
              </a:solidFill>
              <a:ea typeface="仿宋_GB2312" pitchFamily="49" charset="-122"/>
            </a:endParaRPr>
          </a:p>
        </p:txBody>
      </p:sp>
      <p:graphicFrame>
        <p:nvGraphicFramePr>
          <p:cNvPr id="180228" name="Object 4"/>
          <p:cNvGraphicFramePr>
            <a:graphicFrameLocks noChangeAspect="1"/>
          </p:cNvGraphicFramePr>
          <p:nvPr/>
        </p:nvGraphicFramePr>
        <p:xfrm>
          <a:off x="1476375" y="2060575"/>
          <a:ext cx="41910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75" name="Equation" r:id="rId3" imgW="190440" imgH="152280" progId="Equation.DSMT4">
                  <p:embed/>
                </p:oleObj>
              </mc:Choice>
              <mc:Fallback>
                <p:oleObj name="Equation" r:id="rId3" imgW="19044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060575"/>
                        <a:ext cx="419100" cy="3349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29" name="Object 5"/>
          <p:cNvGraphicFramePr>
            <a:graphicFrameLocks noChangeAspect="1"/>
          </p:cNvGraphicFramePr>
          <p:nvPr/>
        </p:nvGraphicFramePr>
        <p:xfrm>
          <a:off x="2193925" y="1916113"/>
          <a:ext cx="38481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76" name="Equation" r:id="rId5" imgW="1752480" imgH="304560" progId="Equation.DSMT4">
                  <p:embed/>
                </p:oleObj>
              </mc:Choice>
              <mc:Fallback>
                <p:oleObj name="Equation" r:id="rId5" imgW="17524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925" y="1916113"/>
                        <a:ext cx="3848100" cy="673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30" name="Rectangle 6"/>
          <p:cNvSpPr>
            <a:spLocks noRot="1" noChangeArrowheads="1"/>
          </p:cNvSpPr>
          <p:nvPr/>
        </p:nvSpPr>
        <p:spPr bwMode="auto">
          <a:xfrm>
            <a:off x="250825" y="2708275"/>
            <a:ext cx="6265863" cy="5032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800"/>
              <a:t>Three things required for the step response</a:t>
            </a:r>
          </a:p>
        </p:txBody>
      </p:sp>
      <p:graphicFrame>
        <p:nvGraphicFramePr>
          <p:cNvPr id="180231" name="Object 7"/>
          <p:cNvGraphicFramePr>
            <a:graphicFrameLocks noChangeAspect="1"/>
          </p:cNvGraphicFramePr>
          <p:nvPr/>
        </p:nvGraphicFramePr>
        <p:xfrm>
          <a:off x="539750" y="3357563"/>
          <a:ext cx="5776913" cy="145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77" name="Equation" r:id="rId7" imgW="2628720" imgH="660240" progId="Equation.DSMT4">
                  <p:embed/>
                </p:oleObj>
              </mc:Choice>
              <mc:Fallback>
                <p:oleObj name="Equation" r:id="rId7" imgW="262872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357563"/>
                        <a:ext cx="5776913" cy="1452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32" name="Rectangle 8"/>
          <p:cNvSpPr>
            <a:spLocks noRot="1" noChangeArrowheads="1"/>
          </p:cNvSpPr>
          <p:nvPr/>
        </p:nvSpPr>
        <p:spPr bwMode="auto">
          <a:xfrm>
            <a:off x="684213" y="4941888"/>
            <a:ext cx="2089150" cy="576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800" b="1" i="1" dirty="0">
                <a:solidFill>
                  <a:srgbClr val="FF6600"/>
                </a:solidFill>
              </a:rPr>
              <a:t>Time delay</a:t>
            </a:r>
            <a:endParaRPr lang="en-US" altLang="zh-CN" sz="2800" dirty="0">
              <a:solidFill>
                <a:srgbClr val="FF6600"/>
              </a:solidFill>
            </a:endParaRPr>
          </a:p>
        </p:txBody>
      </p:sp>
      <p:graphicFrame>
        <p:nvGraphicFramePr>
          <p:cNvPr id="1802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104564"/>
              </p:ext>
            </p:extLst>
          </p:nvPr>
        </p:nvGraphicFramePr>
        <p:xfrm>
          <a:off x="814388" y="5745163"/>
          <a:ext cx="43497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78" name="Equation" r:id="rId9" imgW="1981080" imgH="253800" progId="Equation.DSMT4">
                  <p:embed/>
                </p:oleObj>
              </mc:Choice>
              <mc:Fallback>
                <p:oleObj name="Equation" r:id="rId9" imgW="19810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388" y="5745163"/>
                        <a:ext cx="4349750" cy="5619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4" name="Object 10"/>
          <p:cNvGraphicFramePr>
            <a:graphicFrameLocks noChangeAspect="1"/>
          </p:cNvGraphicFramePr>
          <p:nvPr/>
        </p:nvGraphicFramePr>
        <p:xfrm>
          <a:off x="611188" y="908050"/>
          <a:ext cx="315277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79" name="Equation" r:id="rId11" imgW="1434960" imgH="393480" progId="Equation.DSMT4">
                  <p:embed/>
                </p:oleObj>
              </mc:Choice>
              <mc:Fallback>
                <p:oleObj name="Equation" r:id="rId11" imgW="14349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908050"/>
                        <a:ext cx="3152775" cy="869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3E9D0-4E7D-494B-9FDA-030BD051EAFE}" type="slidenum">
              <a:rPr lang="en-US" altLang="zh-CN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4297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0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0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0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0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6" grpId="0" animBg="1" autoUpdateAnimBg="0"/>
      <p:bldP spid="180230" grpId="0" animBg="1"/>
      <p:bldP spid="18023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Text Box 3"/>
          <p:cNvSpPr txBox="1">
            <a:spLocks noChangeArrowheads="1"/>
          </p:cNvSpPr>
          <p:nvPr/>
        </p:nvSpPr>
        <p:spPr bwMode="auto">
          <a:xfrm>
            <a:off x="1878806" y="69850"/>
            <a:ext cx="7583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zh-CN" altLang="en-US" b="1" dirty="0"/>
              <a:t> </a:t>
            </a:r>
            <a:r>
              <a:rPr kumimoji="0" lang="en-US" altLang="zh-CN" b="1" dirty="0"/>
              <a:t>Given </a:t>
            </a:r>
            <a:r>
              <a:rPr kumimoji="0" lang="en-US" altLang="zh-CN" b="1" i="1" dirty="0" err="1">
                <a:cs typeface="Times New Roman" pitchFamily="18" charset="0"/>
              </a:rPr>
              <a:t>i</a:t>
            </a:r>
            <a:r>
              <a:rPr kumimoji="0" lang="en-US" altLang="zh-CN" b="1" baseline="-30000" dirty="0" err="1">
                <a:cs typeface="Times New Roman" pitchFamily="18" charset="0"/>
              </a:rPr>
              <a:t>L</a:t>
            </a:r>
            <a:r>
              <a:rPr kumimoji="0" lang="en-US" altLang="zh-CN" b="1" baseline="-30000" dirty="0">
                <a:cs typeface="Times New Roman" pitchFamily="18" charset="0"/>
              </a:rPr>
              <a:t> </a:t>
            </a:r>
            <a:r>
              <a:rPr kumimoji="0" lang="en-US" altLang="zh-CN" b="1" dirty="0">
                <a:cs typeface="Times New Roman" pitchFamily="18" charset="0"/>
              </a:rPr>
              <a:t>(0</a:t>
            </a:r>
            <a:r>
              <a:rPr kumimoji="0" lang="en-US" altLang="zh-CN" b="1" baseline="-30000" dirty="0"/>
              <a:t>+</a:t>
            </a:r>
            <a:r>
              <a:rPr kumimoji="0" lang="en-US" altLang="zh-CN" b="1" dirty="0">
                <a:cs typeface="Times New Roman" pitchFamily="18" charset="0"/>
              </a:rPr>
              <a:t>) = 2A </a:t>
            </a:r>
            <a:r>
              <a:rPr kumimoji="0" lang="en-US" altLang="zh-CN" b="1" dirty="0"/>
              <a:t>，find </a:t>
            </a:r>
            <a:r>
              <a:rPr kumimoji="0" lang="en-US" altLang="zh-CN" b="1" i="1" dirty="0" err="1">
                <a:cs typeface="Times New Roman" pitchFamily="18" charset="0"/>
              </a:rPr>
              <a:t>i</a:t>
            </a:r>
            <a:r>
              <a:rPr kumimoji="0" lang="en-US" altLang="zh-CN" b="1" baseline="-30000" dirty="0" err="1">
                <a:cs typeface="Times New Roman" pitchFamily="18" charset="0"/>
              </a:rPr>
              <a:t>L</a:t>
            </a:r>
            <a:r>
              <a:rPr kumimoji="0" lang="en-US" altLang="zh-CN" b="1" dirty="0">
                <a:cs typeface="Times New Roman" pitchFamily="18" charset="0"/>
              </a:rPr>
              <a:t>(</a:t>
            </a:r>
            <a:r>
              <a:rPr kumimoji="0" lang="en-US" altLang="zh-CN" b="1" i="1" dirty="0">
                <a:cs typeface="Times New Roman" pitchFamily="18" charset="0"/>
              </a:rPr>
              <a:t>t</a:t>
            </a:r>
            <a:r>
              <a:rPr kumimoji="0" lang="en-US" altLang="zh-CN" b="1" dirty="0">
                <a:cs typeface="Times New Roman" pitchFamily="18" charset="0"/>
              </a:rPr>
              <a:t>)</a:t>
            </a:r>
            <a:r>
              <a:rPr kumimoji="0" lang="zh-CN" altLang="en-US" b="1" dirty="0"/>
              <a:t> </a:t>
            </a:r>
            <a:r>
              <a:rPr kumimoji="0" lang="en-US" altLang="zh-CN" b="1" dirty="0"/>
              <a:t>and </a:t>
            </a:r>
            <a:r>
              <a:rPr kumimoji="0" lang="en-US" altLang="zh-CN" b="1" i="1" dirty="0">
                <a:cs typeface="Times New Roman" pitchFamily="18" charset="0"/>
              </a:rPr>
              <a:t>i</a:t>
            </a:r>
            <a:r>
              <a:rPr kumimoji="0" lang="en-US" altLang="zh-CN" b="1" baseline="-30000" dirty="0">
                <a:cs typeface="Times New Roman" pitchFamily="18" charset="0"/>
              </a:rPr>
              <a:t>1</a:t>
            </a:r>
            <a:r>
              <a:rPr kumimoji="0" lang="en-US" altLang="zh-CN" b="1" dirty="0">
                <a:cs typeface="Times New Roman" pitchFamily="18" charset="0"/>
              </a:rPr>
              <a:t>(</a:t>
            </a:r>
            <a:r>
              <a:rPr kumimoji="0" lang="en-US" altLang="zh-CN" b="1" i="1" dirty="0">
                <a:cs typeface="Times New Roman" pitchFamily="18" charset="0"/>
              </a:rPr>
              <a:t>t</a:t>
            </a:r>
            <a:r>
              <a:rPr kumimoji="0" lang="en-US" altLang="zh-CN" b="1" dirty="0">
                <a:cs typeface="Times New Roman" pitchFamily="18" charset="0"/>
              </a:rPr>
              <a:t>)</a:t>
            </a:r>
            <a:r>
              <a:rPr kumimoji="0" lang="en-US" altLang="zh-CN" b="1" i="1" dirty="0">
                <a:cs typeface="Times New Roman" pitchFamily="18" charset="0"/>
              </a:rPr>
              <a:t> </a:t>
            </a:r>
            <a:r>
              <a:rPr kumimoji="0" lang="en-US" altLang="zh-CN" b="1" dirty="0">
                <a:cs typeface="Times New Roman" pitchFamily="18" charset="0"/>
              </a:rPr>
              <a:t>for</a:t>
            </a:r>
            <a:r>
              <a:rPr kumimoji="0" lang="en-US" altLang="zh-CN" b="1" i="1" dirty="0">
                <a:cs typeface="Times New Roman" pitchFamily="18" charset="0"/>
              </a:rPr>
              <a:t> t </a:t>
            </a:r>
            <a:r>
              <a:rPr kumimoji="0" lang="en-US" altLang="zh-CN" b="1" dirty="0">
                <a:cs typeface="Times New Roman" pitchFamily="18" charset="0"/>
              </a:rPr>
              <a:t>&gt;0</a:t>
            </a:r>
            <a:r>
              <a:rPr kumimoji="0" lang="en-US" altLang="zh-CN" b="1" i="1" dirty="0">
                <a:cs typeface="Times New Roman" pitchFamily="18" charset="0"/>
              </a:rPr>
              <a:t>.</a:t>
            </a:r>
            <a:r>
              <a:rPr kumimoji="0" lang="en-US" altLang="zh-CN" b="1" dirty="0">
                <a:latin typeface="Tahoma" pitchFamily="34" charset="0"/>
              </a:rPr>
              <a:t> </a:t>
            </a:r>
          </a:p>
        </p:txBody>
      </p:sp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82550" y="3354388"/>
            <a:ext cx="46815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b="1" dirty="0"/>
              <a:t>Find the </a:t>
            </a:r>
            <a:r>
              <a:rPr kumimoji="0" lang="en-US" altLang="zh-CN" b="1" dirty="0" err="1"/>
              <a:t>Thevenin</a:t>
            </a:r>
            <a:r>
              <a:rPr kumimoji="0" lang="en-US" altLang="zh-CN" b="1" dirty="0"/>
              <a:t> equivalent with respect to the inductor terminals</a:t>
            </a:r>
            <a:endParaRPr kumimoji="0" lang="en-US" altLang="zh-CN" b="1" dirty="0">
              <a:latin typeface="Tahoma" pitchFamily="34" charset="0"/>
            </a:endParaRPr>
          </a:p>
        </p:txBody>
      </p:sp>
      <p:sp>
        <p:nvSpPr>
          <p:cNvPr id="61445" name="Text Box 5"/>
          <p:cNvSpPr txBox="1">
            <a:spLocks noChangeArrowheads="1"/>
          </p:cNvSpPr>
          <p:nvPr/>
        </p:nvSpPr>
        <p:spPr bwMode="auto">
          <a:xfrm>
            <a:off x="244475" y="4510088"/>
            <a:ext cx="2949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b="1" i="1">
                <a:cs typeface="Times New Roman" pitchFamily="18" charset="0"/>
              </a:rPr>
              <a:t>i</a:t>
            </a:r>
            <a:r>
              <a:rPr kumimoji="0" lang="en-US" altLang="zh-CN" b="1" baseline="-30000">
                <a:cs typeface="Times New Roman" pitchFamily="18" charset="0"/>
              </a:rPr>
              <a:t>L </a:t>
            </a:r>
            <a:r>
              <a:rPr kumimoji="0" lang="en-US" altLang="zh-CN" b="1">
                <a:cs typeface="Times New Roman" pitchFamily="18" charset="0"/>
              </a:rPr>
              <a:t>(0</a:t>
            </a:r>
            <a:r>
              <a:rPr kumimoji="0" lang="en-US" altLang="zh-CN" b="1" baseline="-30000">
                <a:cs typeface="Times New Roman" pitchFamily="18" charset="0"/>
              </a:rPr>
              <a:t>+</a:t>
            </a:r>
            <a:r>
              <a:rPr kumimoji="0" lang="en-US" altLang="zh-CN" b="1">
                <a:cs typeface="Times New Roman" pitchFamily="18" charset="0"/>
              </a:rPr>
              <a:t>) = 2</a:t>
            </a:r>
            <a:r>
              <a:rPr kumimoji="0" lang="en-US" altLang="zh-CN" sz="2000" b="1">
                <a:latin typeface="Tahoma" pitchFamily="34" charset="0"/>
              </a:rPr>
              <a:t> </a:t>
            </a:r>
            <a:r>
              <a:rPr kumimoji="0" lang="en-US" altLang="zh-CN" sz="2000" b="1"/>
              <a:t>V</a:t>
            </a:r>
          </a:p>
        </p:txBody>
      </p:sp>
      <p:grpSp>
        <p:nvGrpSpPr>
          <p:cNvPr id="61529" name="Group 89"/>
          <p:cNvGrpSpPr>
            <a:grpSpLocks/>
          </p:cNvGrpSpPr>
          <p:nvPr/>
        </p:nvGrpSpPr>
        <p:grpSpPr bwMode="auto">
          <a:xfrm>
            <a:off x="4462463" y="3863975"/>
            <a:ext cx="3495675" cy="1243013"/>
            <a:chOff x="2811" y="2434"/>
            <a:chExt cx="2202" cy="783"/>
          </a:xfrm>
        </p:grpSpPr>
        <p:graphicFrame>
          <p:nvGraphicFramePr>
            <p:cNvPr id="61525" name="Object 85"/>
            <p:cNvGraphicFramePr>
              <a:graphicFrameLocks noChangeAspect="1"/>
            </p:cNvGraphicFramePr>
            <p:nvPr/>
          </p:nvGraphicFramePr>
          <p:xfrm>
            <a:off x="4496" y="2905"/>
            <a:ext cx="517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44" name="公式" r:id="rId3" imgW="330120" imgH="177480" progId="Equation.3">
                    <p:embed/>
                  </p:oleObj>
                </mc:Choice>
                <mc:Fallback>
                  <p:oleObj name="公式" r:id="rId3" imgW="33012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6" y="2905"/>
                          <a:ext cx="517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49" name="Object 9"/>
            <p:cNvGraphicFramePr>
              <a:graphicFrameLocks noChangeAspect="1"/>
            </p:cNvGraphicFramePr>
            <p:nvPr/>
          </p:nvGraphicFramePr>
          <p:xfrm>
            <a:off x="2811" y="2434"/>
            <a:ext cx="1744" cy="7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45" r:id="rId5" imgW="1040948" imgH="469696" progId="Equation.3">
                    <p:embed/>
                  </p:oleObj>
                </mc:Choice>
                <mc:Fallback>
                  <p:oleObj r:id="rId5" imgW="1040948" imgH="46969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1" y="2434"/>
                          <a:ext cx="1744" cy="7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487" name="Text Box 47"/>
          <p:cNvSpPr txBox="1">
            <a:spLocks noChangeArrowheads="1"/>
          </p:cNvSpPr>
          <p:nvPr/>
        </p:nvSpPr>
        <p:spPr bwMode="auto">
          <a:xfrm>
            <a:off x="4451350" y="2722563"/>
            <a:ext cx="4369122" cy="484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just" eaLnBrk="0" hangingPunct="0"/>
            <a:r>
              <a:rPr kumimoji="0" lang="en-US" altLang="zh-CN" b="1" dirty="0"/>
              <a:t>The </a:t>
            </a:r>
            <a:r>
              <a:rPr kumimoji="0" lang="en-US" altLang="zh-CN" b="1" dirty="0" err="1"/>
              <a:t>Thevenin</a:t>
            </a:r>
            <a:r>
              <a:rPr kumimoji="0" lang="en-US" altLang="zh-CN" b="1" dirty="0"/>
              <a:t> equivalent circuit</a:t>
            </a:r>
            <a:endParaRPr kumimoji="0" lang="zh-CN" altLang="en-US" b="1" dirty="0"/>
          </a:p>
        </p:txBody>
      </p:sp>
      <p:sp>
        <p:nvSpPr>
          <p:cNvPr id="61489" name="Text Box 49"/>
          <p:cNvSpPr txBox="1">
            <a:spLocks noChangeArrowheads="1"/>
          </p:cNvSpPr>
          <p:nvPr/>
        </p:nvSpPr>
        <p:spPr bwMode="auto">
          <a:xfrm>
            <a:off x="4784725" y="1098550"/>
            <a:ext cx="563563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just" eaLnBrk="0" hangingPunct="0"/>
            <a:r>
              <a:rPr kumimoji="0" lang="en-US" altLang="zh-CN" b="1" i="1"/>
              <a:t>U</a:t>
            </a:r>
            <a:r>
              <a:rPr kumimoji="0" lang="en-US" altLang="zh-CN" b="1" baseline="-25000"/>
              <a:t>oc</a:t>
            </a:r>
            <a:endParaRPr kumimoji="0" lang="en-US" altLang="zh-CN" b="1"/>
          </a:p>
        </p:txBody>
      </p:sp>
      <p:sp>
        <p:nvSpPr>
          <p:cNvPr id="61490" name="Text Box 50"/>
          <p:cNvSpPr txBox="1">
            <a:spLocks noChangeArrowheads="1"/>
          </p:cNvSpPr>
          <p:nvPr/>
        </p:nvSpPr>
        <p:spPr bwMode="auto">
          <a:xfrm>
            <a:off x="4660900" y="1914525"/>
            <a:ext cx="4984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just" eaLnBrk="0" hangingPunct="0"/>
            <a:r>
              <a:rPr kumimoji="0" lang="en-US" altLang="zh-CN" b="1" i="1"/>
              <a:t>R</a:t>
            </a:r>
            <a:r>
              <a:rPr kumimoji="0" lang="en-US" altLang="zh-CN" b="1" baseline="-25000"/>
              <a:t>eq</a:t>
            </a:r>
            <a:endParaRPr kumimoji="0" lang="en-US" altLang="zh-CN" b="1" i="1"/>
          </a:p>
        </p:txBody>
      </p:sp>
      <p:sp>
        <p:nvSpPr>
          <p:cNvPr id="61491" name="Text Box 51"/>
          <p:cNvSpPr txBox="1">
            <a:spLocks noChangeArrowheads="1"/>
          </p:cNvSpPr>
          <p:nvPr/>
        </p:nvSpPr>
        <p:spPr bwMode="auto">
          <a:xfrm>
            <a:off x="4535488" y="1458913"/>
            <a:ext cx="254000" cy="436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just" eaLnBrk="0" hangingPunct="0"/>
            <a:r>
              <a:rPr kumimoji="0" lang="zh-CN" altLang="en-US" b="1"/>
              <a:t>–</a:t>
            </a:r>
          </a:p>
        </p:txBody>
      </p:sp>
      <p:sp>
        <p:nvSpPr>
          <p:cNvPr id="61492" name="Text Box 52"/>
          <p:cNvSpPr txBox="1">
            <a:spLocks noChangeArrowheads="1"/>
          </p:cNvSpPr>
          <p:nvPr/>
        </p:nvSpPr>
        <p:spPr bwMode="auto">
          <a:xfrm>
            <a:off x="4535488" y="930275"/>
            <a:ext cx="254000" cy="43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just" eaLnBrk="0" hangingPunct="0"/>
            <a:r>
              <a:rPr kumimoji="0" lang="zh-CN" altLang="en-US" b="1"/>
              <a:t>+</a:t>
            </a:r>
          </a:p>
        </p:txBody>
      </p:sp>
      <p:sp>
        <p:nvSpPr>
          <p:cNvPr id="61493" name="Oval 53"/>
          <p:cNvSpPr>
            <a:spLocks noChangeArrowheads="1"/>
          </p:cNvSpPr>
          <p:nvPr/>
        </p:nvSpPr>
        <p:spPr bwMode="auto">
          <a:xfrm>
            <a:off x="4224338" y="1160463"/>
            <a:ext cx="498475" cy="431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94" name="Line 54"/>
          <p:cNvSpPr>
            <a:spLocks noChangeShapeType="1"/>
          </p:cNvSpPr>
          <p:nvPr/>
        </p:nvSpPr>
        <p:spPr bwMode="auto">
          <a:xfrm>
            <a:off x="4473575" y="946150"/>
            <a:ext cx="13731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95" name="Line 55"/>
          <p:cNvSpPr>
            <a:spLocks noChangeShapeType="1"/>
          </p:cNvSpPr>
          <p:nvPr/>
        </p:nvSpPr>
        <p:spPr bwMode="auto">
          <a:xfrm>
            <a:off x="4473575" y="946150"/>
            <a:ext cx="0" cy="977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96" name="Rectangle 56"/>
          <p:cNvSpPr>
            <a:spLocks noChangeArrowheads="1"/>
          </p:cNvSpPr>
          <p:nvPr/>
        </p:nvSpPr>
        <p:spPr bwMode="auto">
          <a:xfrm>
            <a:off x="4348163" y="1924050"/>
            <a:ext cx="249237" cy="4381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97" name="Line 57"/>
          <p:cNvSpPr>
            <a:spLocks noChangeShapeType="1"/>
          </p:cNvSpPr>
          <p:nvPr/>
        </p:nvSpPr>
        <p:spPr bwMode="auto">
          <a:xfrm>
            <a:off x="4473575" y="2347913"/>
            <a:ext cx="0" cy="3206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98" name="Text Box 58"/>
          <p:cNvSpPr txBox="1">
            <a:spLocks noChangeArrowheads="1"/>
          </p:cNvSpPr>
          <p:nvPr/>
        </p:nvSpPr>
        <p:spPr bwMode="auto">
          <a:xfrm>
            <a:off x="6032500" y="2076450"/>
            <a:ext cx="436563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just" eaLnBrk="0" hangingPunct="0"/>
            <a:r>
              <a:rPr kumimoji="0" lang="en-US" altLang="zh-CN" b="1" i="1">
                <a:solidFill>
                  <a:srgbClr val="FF0000"/>
                </a:solidFill>
              </a:rPr>
              <a:t>i</a:t>
            </a:r>
            <a:r>
              <a:rPr kumimoji="0" lang="en-US" altLang="zh-CN" b="1" baseline="-25000">
                <a:solidFill>
                  <a:srgbClr val="FF0000"/>
                </a:solidFill>
              </a:rPr>
              <a:t>L</a:t>
            </a:r>
            <a:endParaRPr kumimoji="0" lang="en-US" altLang="zh-CN" b="1">
              <a:solidFill>
                <a:srgbClr val="FF0000"/>
              </a:solidFill>
            </a:endParaRPr>
          </a:p>
        </p:txBody>
      </p:sp>
      <p:sp>
        <p:nvSpPr>
          <p:cNvPr id="61499" name="Text Box 59"/>
          <p:cNvSpPr txBox="1">
            <a:spLocks noChangeArrowheads="1"/>
          </p:cNvSpPr>
          <p:nvPr/>
        </p:nvSpPr>
        <p:spPr bwMode="auto">
          <a:xfrm>
            <a:off x="6032500" y="1538288"/>
            <a:ext cx="436563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just" eaLnBrk="0" hangingPunct="0"/>
            <a:r>
              <a:rPr kumimoji="0" lang="zh-CN" altLang="en-US" b="1"/>
              <a:t>3</a:t>
            </a:r>
            <a:r>
              <a:rPr kumimoji="0" lang="en-US" altLang="zh-CN" b="1"/>
              <a:t>H</a:t>
            </a:r>
          </a:p>
        </p:txBody>
      </p:sp>
      <p:grpSp>
        <p:nvGrpSpPr>
          <p:cNvPr id="61500" name="Group 60"/>
          <p:cNvGrpSpPr>
            <a:grpSpLocks/>
          </p:cNvGrpSpPr>
          <p:nvPr/>
        </p:nvGrpSpPr>
        <p:grpSpPr bwMode="auto">
          <a:xfrm>
            <a:off x="5846763" y="1484313"/>
            <a:ext cx="123825" cy="647700"/>
            <a:chOff x="4384" y="14088"/>
            <a:chExt cx="68" cy="408"/>
          </a:xfrm>
        </p:grpSpPr>
        <p:grpSp>
          <p:nvGrpSpPr>
            <p:cNvPr id="61501" name="Group 61"/>
            <p:cNvGrpSpPr>
              <a:grpSpLocks/>
            </p:cNvGrpSpPr>
            <p:nvPr/>
          </p:nvGrpSpPr>
          <p:grpSpPr bwMode="auto">
            <a:xfrm>
              <a:off x="4384" y="14088"/>
              <a:ext cx="68" cy="136"/>
              <a:chOff x="4384" y="14088"/>
              <a:chExt cx="68" cy="136"/>
            </a:xfrm>
          </p:grpSpPr>
          <p:sp>
            <p:nvSpPr>
              <p:cNvPr id="61502" name="Arc 62"/>
              <p:cNvSpPr>
                <a:spLocks/>
              </p:cNvSpPr>
              <p:nvPr/>
            </p:nvSpPr>
            <p:spPr bwMode="auto">
              <a:xfrm>
                <a:off x="4384" y="14088"/>
                <a:ext cx="68" cy="6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03" name="Arc 63"/>
              <p:cNvSpPr>
                <a:spLocks/>
              </p:cNvSpPr>
              <p:nvPr/>
            </p:nvSpPr>
            <p:spPr bwMode="auto">
              <a:xfrm flipV="1">
                <a:off x="4384" y="14156"/>
                <a:ext cx="68" cy="6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1504" name="Group 64"/>
            <p:cNvGrpSpPr>
              <a:grpSpLocks/>
            </p:cNvGrpSpPr>
            <p:nvPr/>
          </p:nvGrpSpPr>
          <p:grpSpPr bwMode="auto">
            <a:xfrm>
              <a:off x="4384" y="14224"/>
              <a:ext cx="68" cy="136"/>
              <a:chOff x="4384" y="14088"/>
              <a:chExt cx="68" cy="136"/>
            </a:xfrm>
          </p:grpSpPr>
          <p:sp>
            <p:nvSpPr>
              <p:cNvPr id="61505" name="Arc 65"/>
              <p:cNvSpPr>
                <a:spLocks/>
              </p:cNvSpPr>
              <p:nvPr/>
            </p:nvSpPr>
            <p:spPr bwMode="auto">
              <a:xfrm>
                <a:off x="4384" y="14088"/>
                <a:ext cx="68" cy="6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06" name="Arc 66"/>
              <p:cNvSpPr>
                <a:spLocks/>
              </p:cNvSpPr>
              <p:nvPr/>
            </p:nvSpPr>
            <p:spPr bwMode="auto">
              <a:xfrm flipV="1">
                <a:off x="4384" y="14156"/>
                <a:ext cx="68" cy="6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1507" name="Group 67"/>
            <p:cNvGrpSpPr>
              <a:grpSpLocks/>
            </p:cNvGrpSpPr>
            <p:nvPr/>
          </p:nvGrpSpPr>
          <p:grpSpPr bwMode="auto">
            <a:xfrm>
              <a:off x="4384" y="14360"/>
              <a:ext cx="68" cy="136"/>
              <a:chOff x="4384" y="14088"/>
              <a:chExt cx="68" cy="136"/>
            </a:xfrm>
          </p:grpSpPr>
          <p:sp>
            <p:nvSpPr>
              <p:cNvPr id="61508" name="Arc 68"/>
              <p:cNvSpPr>
                <a:spLocks/>
              </p:cNvSpPr>
              <p:nvPr/>
            </p:nvSpPr>
            <p:spPr bwMode="auto">
              <a:xfrm>
                <a:off x="4384" y="14088"/>
                <a:ext cx="68" cy="6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09" name="Arc 69"/>
              <p:cNvSpPr>
                <a:spLocks/>
              </p:cNvSpPr>
              <p:nvPr/>
            </p:nvSpPr>
            <p:spPr bwMode="auto">
              <a:xfrm flipV="1">
                <a:off x="4384" y="14156"/>
                <a:ext cx="68" cy="6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61510" name="Line 70"/>
          <p:cNvSpPr>
            <a:spLocks noChangeShapeType="1"/>
          </p:cNvSpPr>
          <p:nvPr/>
        </p:nvSpPr>
        <p:spPr bwMode="auto">
          <a:xfrm>
            <a:off x="5846763" y="2132013"/>
            <a:ext cx="0" cy="3222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11" name="Line 71"/>
          <p:cNvSpPr>
            <a:spLocks noChangeShapeType="1"/>
          </p:cNvSpPr>
          <p:nvPr/>
        </p:nvSpPr>
        <p:spPr bwMode="auto">
          <a:xfrm>
            <a:off x="5846763" y="2398713"/>
            <a:ext cx="0" cy="269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12" name="Line 72"/>
          <p:cNvSpPr>
            <a:spLocks noChangeShapeType="1"/>
          </p:cNvSpPr>
          <p:nvPr/>
        </p:nvSpPr>
        <p:spPr bwMode="auto">
          <a:xfrm>
            <a:off x="5846763" y="946150"/>
            <a:ext cx="0" cy="5381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13" name="Line 73"/>
          <p:cNvSpPr>
            <a:spLocks noChangeShapeType="1"/>
          </p:cNvSpPr>
          <p:nvPr/>
        </p:nvSpPr>
        <p:spPr bwMode="auto">
          <a:xfrm>
            <a:off x="4473575" y="2668588"/>
            <a:ext cx="13731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14" name="Rectangle 74"/>
          <p:cNvSpPr>
            <a:spLocks noChangeArrowheads="1"/>
          </p:cNvSpPr>
          <p:nvPr/>
        </p:nvSpPr>
        <p:spPr bwMode="auto">
          <a:xfrm>
            <a:off x="165363" y="2882900"/>
            <a:ext cx="163987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just" eaLnBrk="0" hangingPunct="0"/>
            <a:r>
              <a:rPr kumimoji="0" lang="en-US" altLang="zh-CN" sz="2800" b="1" dirty="0">
                <a:solidFill>
                  <a:srgbClr val="FF0000"/>
                </a:solidFill>
              </a:rPr>
              <a:t>Solution</a:t>
            </a:r>
            <a:r>
              <a:rPr kumimoji="0" lang="zh-CN" altLang="en-US" sz="2800" b="1" dirty="0">
                <a:solidFill>
                  <a:srgbClr val="FF0000"/>
                </a:solidFill>
              </a:rPr>
              <a:t>：</a:t>
            </a:r>
          </a:p>
        </p:txBody>
      </p:sp>
      <p:sp>
        <p:nvSpPr>
          <p:cNvPr id="61516" name="Rectangle 76"/>
          <p:cNvSpPr>
            <a:spLocks noChangeArrowheads="1"/>
          </p:cNvSpPr>
          <p:nvPr/>
        </p:nvSpPr>
        <p:spPr bwMode="auto">
          <a:xfrm>
            <a:off x="4535488" y="5168900"/>
            <a:ext cx="13763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just" eaLnBrk="0" hangingPunct="0"/>
            <a:r>
              <a:rPr kumimoji="0" lang="en-US" altLang="zh-CN" dirty="0">
                <a:latin typeface="+mj-ea"/>
                <a:ea typeface="+mj-ea"/>
              </a:rPr>
              <a:t>Finally</a:t>
            </a:r>
            <a:r>
              <a:rPr kumimoji="0" lang="zh-CN" altLang="en-US" dirty="0">
                <a:latin typeface="+mj-ea"/>
                <a:ea typeface="+mj-ea"/>
              </a:rPr>
              <a:t>：</a:t>
            </a:r>
          </a:p>
        </p:txBody>
      </p:sp>
      <p:sp>
        <p:nvSpPr>
          <p:cNvPr id="61517" name="Rectangle 77"/>
          <p:cNvSpPr>
            <a:spLocks noChangeArrowheads="1"/>
          </p:cNvSpPr>
          <p:nvPr/>
        </p:nvSpPr>
        <p:spPr bwMode="auto">
          <a:xfrm>
            <a:off x="1540668" y="2977912"/>
            <a:ext cx="3330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just" eaLnBrk="0" hangingPunct="0"/>
            <a:r>
              <a:rPr kumimoji="0" lang="en-US" altLang="zh-CN" b="1" dirty="0">
                <a:latin typeface="+mj-ea"/>
                <a:ea typeface="+mj-ea"/>
              </a:rPr>
              <a:t> Firstly determine </a:t>
            </a:r>
            <a:r>
              <a:rPr kumimoji="0" lang="en-US" altLang="zh-CN" b="1" i="1" dirty="0" err="1">
                <a:latin typeface="+mj-ea"/>
                <a:ea typeface="+mj-ea"/>
                <a:cs typeface="Times New Roman" pitchFamily="18" charset="0"/>
              </a:rPr>
              <a:t>i</a:t>
            </a:r>
            <a:r>
              <a:rPr kumimoji="0" lang="en-US" altLang="zh-CN" b="1" baseline="-30000" dirty="0" err="1">
                <a:latin typeface="+mj-ea"/>
                <a:ea typeface="+mj-ea"/>
                <a:cs typeface="Times New Roman" pitchFamily="18" charset="0"/>
              </a:rPr>
              <a:t>L</a:t>
            </a:r>
            <a:r>
              <a:rPr kumimoji="0" lang="en-US" altLang="zh-CN" b="1" dirty="0">
                <a:latin typeface="+mj-ea"/>
                <a:ea typeface="+mj-ea"/>
                <a:cs typeface="Times New Roman" pitchFamily="18" charset="0"/>
              </a:rPr>
              <a:t>(</a:t>
            </a:r>
            <a:r>
              <a:rPr kumimoji="0" lang="en-US" altLang="zh-CN" b="1" i="1" dirty="0">
                <a:latin typeface="+mj-ea"/>
                <a:ea typeface="+mj-ea"/>
                <a:cs typeface="Times New Roman" pitchFamily="18" charset="0"/>
              </a:rPr>
              <a:t>t</a:t>
            </a:r>
            <a:r>
              <a:rPr kumimoji="0" lang="en-US" altLang="zh-CN" b="1" dirty="0">
                <a:latin typeface="+mj-ea"/>
                <a:ea typeface="+mj-ea"/>
                <a:cs typeface="Times New Roman" pitchFamily="18" charset="0"/>
              </a:rPr>
              <a:t>)</a:t>
            </a:r>
          </a:p>
        </p:txBody>
      </p:sp>
      <p:grpSp>
        <p:nvGrpSpPr>
          <p:cNvPr id="61521" name="Group 81"/>
          <p:cNvGrpSpPr>
            <a:grpSpLocks/>
          </p:cNvGrpSpPr>
          <p:nvPr/>
        </p:nvGrpSpPr>
        <p:grpSpPr bwMode="auto">
          <a:xfrm>
            <a:off x="600075" y="869950"/>
            <a:ext cx="3146425" cy="1987550"/>
            <a:chOff x="378" y="756"/>
            <a:chExt cx="1982" cy="1252"/>
          </a:xfrm>
        </p:grpSpPr>
        <p:sp>
          <p:nvSpPr>
            <p:cNvPr id="61453" name="Text Box 13"/>
            <p:cNvSpPr txBox="1">
              <a:spLocks noChangeArrowheads="1"/>
            </p:cNvSpPr>
            <p:nvPr/>
          </p:nvSpPr>
          <p:spPr bwMode="auto">
            <a:xfrm>
              <a:off x="1530" y="1017"/>
              <a:ext cx="217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zh-CN" altLang="en-US" sz="2000" b="1"/>
                <a:t>2</a:t>
              </a:r>
              <a:r>
                <a:rPr kumimoji="0" lang="en-US" altLang="zh-CN" sz="2000" b="1" i="1"/>
                <a:t>i</a:t>
              </a:r>
              <a:r>
                <a:rPr kumimoji="0" lang="en-US" altLang="zh-CN" sz="2000" b="1" baseline="-25000"/>
                <a:t>1</a:t>
              </a:r>
              <a:endParaRPr kumimoji="0" lang="en-US" altLang="zh-CN" sz="2000" b="1"/>
            </a:p>
          </p:txBody>
        </p:sp>
        <p:sp useBgFill="1">
          <p:nvSpPr>
            <p:cNvPr id="61454" name="Text Box 14"/>
            <p:cNvSpPr txBox="1">
              <a:spLocks noChangeArrowheads="1"/>
            </p:cNvSpPr>
            <p:nvPr/>
          </p:nvSpPr>
          <p:spPr bwMode="auto">
            <a:xfrm>
              <a:off x="1282" y="794"/>
              <a:ext cx="154" cy="248"/>
            </a:xfrm>
            <a:prstGeom prst="rect">
              <a:avLst/>
            </a:pr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zh-CN" altLang="en-US" sz="2000" b="1"/>
                <a:t>–</a:t>
              </a:r>
            </a:p>
          </p:txBody>
        </p:sp>
        <p:sp useBgFill="1">
          <p:nvSpPr>
            <p:cNvPr id="61455" name="Text Box 15"/>
            <p:cNvSpPr txBox="1">
              <a:spLocks noChangeArrowheads="1"/>
            </p:cNvSpPr>
            <p:nvPr/>
          </p:nvSpPr>
          <p:spPr bwMode="auto">
            <a:xfrm>
              <a:off x="1789" y="822"/>
              <a:ext cx="183" cy="287"/>
            </a:xfrm>
            <a:prstGeom prst="rect">
              <a:avLst/>
            </a:pr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zh-CN" altLang="en-US" sz="2000" b="1"/>
                <a:t>+</a:t>
              </a:r>
            </a:p>
          </p:txBody>
        </p:sp>
        <p:sp>
          <p:nvSpPr>
            <p:cNvPr id="61456" name="Text Box 16"/>
            <p:cNvSpPr txBox="1">
              <a:spLocks noChangeArrowheads="1"/>
            </p:cNvSpPr>
            <p:nvPr/>
          </p:nvSpPr>
          <p:spPr bwMode="auto">
            <a:xfrm>
              <a:off x="749" y="1248"/>
              <a:ext cx="217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33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zh-CN" altLang="en-US" sz="2000" b="1"/>
                <a:t>4</a:t>
              </a:r>
              <a:r>
                <a:rPr kumimoji="0" lang="en-US" altLang="zh-CN" sz="2000" b="1"/>
                <a:t>A</a:t>
              </a:r>
            </a:p>
          </p:txBody>
        </p:sp>
        <p:sp useBgFill="1">
          <p:nvSpPr>
            <p:cNvPr id="61457" name="Text Box 17"/>
            <p:cNvSpPr txBox="1">
              <a:spLocks noChangeArrowheads="1"/>
            </p:cNvSpPr>
            <p:nvPr/>
          </p:nvSpPr>
          <p:spPr bwMode="auto">
            <a:xfrm>
              <a:off x="1276" y="1248"/>
              <a:ext cx="333" cy="326"/>
            </a:xfrm>
            <a:prstGeom prst="rect">
              <a:avLst/>
            </a:pr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zh-CN" altLang="en-US" sz="2000" b="1"/>
                <a:t>4</a:t>
              </a:r>
              <a:r>
                <a:rPr kumimoji="0" lang="en-US" altLang="zh-CN" sz="2000" b="1"/>
                <a:t>Ω</a:t>
              </a:r>
            </a:p>
          </p:txBody>
        </p:sp>
        <p:sp>
          <p:nvSpPr>
            <p:cNvPr id="61458" name="Text Box 18"/>
            <p:cNvSpPr txBox="1">
              <a:spLocks noChangeArrowheads="1"/>
            </p:cNvSpPr>
            <p:nvPr/>
          </p:nvSpPr>
          <p:spPr bwMode="auto">
            <a:xfrm>
              <a:off x="1245" y="1610"/>
              <a:ext cx="18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en-US" altLang="zh-CN" sz="2000" b="1" i="1">
                  <a:solidFill>
                    <a:srgbClr val="FF0000"/>
                  </a:solidFill>
                </a:rPr>
                <a:t>i</a:t>
              </a:r>
              <a:r>
                <a:rPr kumimoji="0" lang="en-US" altLang="zh-CN" sz="2000" b="1" baseline="-25000">
                  <a:solidFill>
                    <a:srgbClr val="FF0000"/>
                  </a:solidFill>
                </a:rPr>
                <a:t>1</a:t>
              </a:r>
              <a:endParaRPr kumimoji="0"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61459" name="Text Box 19"/>
            <p:cNvSpPr txBox="1">
              <a:spLocks noChangeArrowheads="1"/>
            </p:cNvSpPr>
            <p:nvPr/>
          </p:nvSpPr>
          <p:spPr bwMode="auto">
            <a:xfrm>
              <a:off x="2113" y="1610"/>
              <a:ext cx="21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en-US" altLang="zh-CN" sz="2000" b="1" i="1">
                  <a:solidFill>
                    <a:srgbClr val="FF0000"/>
                  </a:solidFill>
                </a:rPr>
                <a:t>i</a:t>
              </a:r>
              <a:r>
                <a:rPr kumimoji="0" lang="en-US" altLang="zh-CN" sz="2000" b="1" baseline="-25000">
                  <a:solidFill>
                    <a:srgbClr val="FF0000"/>
                  </a:solidFill>
                </a:rPr>
                <a:t>L</a:t>
              </a:r>
              <a:endParaRPr kumimoji="0" lang="en-US" altLang="zh-CN" sz="2000" b="1">
                <a:solidFill>
                  <a:srgbClr val="FF0000"/>
                </a:solidFill>
              </a:endParaRPr>
            </a:p>
          </p:txBody>
        </p:sp>
        <p:sp>
          <p:nvSpPr>
            <p:cNvPr id="61460" name="Oval 20"/>
            <p:cNvSpPr>
              <a:spLocks noChangeArrowheads="1"/>
            </p:cNvSpPr>
            <p:nvPr/>
          </p:nvSpPr>
          <p:spPr bwMode="auto">
            <a:xfrm>
              <a:off x="378" y="1284"/>
              <a:ext cx="248" cy="29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1" name="Line 21"/>
            <p:cNvSpPr>
              <a:spLocks noChangeShapeType="1"/>
            </p:cNvSpPr>
            <p:nvPr/>
          </p:nvSpPr>
          <p:spPr bwMode="auto">
            <a:xfrm>
              <a:off x="378" y="1430"/>
              <a:ext cx="2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2" name="Rectangle 22"/>
            <p:cNvSpPr>
              <a:spLocks noChangeArrowheads="1"/>
            </p:cNvSpPr>
            <p:nvPr/>
          </p:nvSpPr>
          <p:spPr bwMode="auto">
            <a:xfrm>
              <a:off x="1122" y="1213"/>
              <a:ext cx="123" cy="43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3" name="Line 23"/>
            <p:cNvSpPr>
              <a:spLocks noChangeShapeType="1"/>
            </p:cNvSpPr>
            <p:nvPr/>
          </p:nvSpPr>
          <p:spPr bwMode="auto">
            <a:xfrm flipH="1" flipV="1">
              <a:off x="680" y="1190"/>
              <a:ext cx="16" cy="4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4" name="Line 24"/>
            <p:cNvSpPr>
              <a:spLocks noChangeShapeType="1"/>
            </p:cNvSpPr>
            <p:nvPr/>
          </p:nvSpPr>
          <p:spPr bwMode="auto">
            <a:xfrm>
              <a:off x="502" y="1574"/>
              <a:ext cx="0" cy="4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5" name="Line 25"/>
            <p:cNvSpPr>
              <a:spLocks noChangeShapeType="1"/>
            </p:cNvSpPr>
            <p:nvPr/>
          </p:nvSpPr>
          <p:spPr bwMode="auto">
            <a:xfrm>
              <a:off x="502" y="850"/>
              <a:ext cx="0" cy="4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6" name="Line 26"/>
            <p:cNvSpPr>
              <a:spLocks noChangeShapeType="1"/>
            </p:cNvSpPr>
            <p:nvPr/>
          </p:nvSpPr>
          <p:spPr bwMode="auto">
            <a:xfrm>
              <a:off x="502" y="850"/>
              <a:ext cx="6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7" name="Line 27"/>
            <p:cNvSpPr>
              <a:spLocks noChangeShapeType="1"/>
            </p:cNvSpPr>
            <p:nvPr/>
          </p:nvSpPr>
          <p:spPr bwMode="auto">
            <a:xfrm flipH="1">
              <a:off x="1183" y="850"/>
              <a:ext cx="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8" name="Line 28"/>
            <p:cNvSpPr>
              <a:spLocks noChangeShapeType="1"/>
            </p:cNvSpPr>
            <p:nvPr/>
          </p:nvSpPr>
          <p:spPr bwMode="auto">
            <a:xfrm>
              <a:off x="1183" y="850"/>
              <a:ext cx="8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61469" name="Text Box 29"/>
            <p:cNvSpPr txBox="1">
              <a:spLocks noChangeArrowheads="1"/>
            </p:cNvSpPr>
            <p:nvPr/>
          </p:nvSpPr>
          <p:spPr bwMode="auto">
            <a:xfrm>
              <a:off x="2143" y="1248"/>
              <a:ext cx="217" cy="326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kumimoji="0" lang="zh-CN" altLang="en-US" sz="2000" b="1"/>
                <a:t>3</a:t>
              </a:r>
              <a:r>
                <a:rPr kumimoji="0" lang="en-US" altLang="zh-CN" sz="2000" b="1"/>
                <a:t>H</a:t>
              </a:r>
            </a:p>
          </p:txBody>
        </p:sp>
        <p:sp>
          <p:nvSpPr>
            <p:cNvPr id="61470" name="Line 30"/>
            <p:cNvSpPr>
              <a:spLocks noChangeShapeType="1"/>
            </p:cNvSpPr>
            <p:nvPr/>
          </p:nvSpPr>
          <p:spPr bwMode="auto">
            <a:xfrm>
              <a:off x="2050" y="850"/>
              <a:ext cx="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471" name="Group 31"/>
            <p:cNvGrpSpPr>
              <a:grpSpLocks/>
            </p:cNvGrpSpPr>
            <p:nvPr/>
          </p:nvGrpSpPr>
          <p:grpSpPr bwMode="auto">
            <a:xfrm>
              <a:off x="2050" y="1213"/>
              <a:ext cx="63" cy="434"/>
              <a:chOff x="4384" y="14088"/>
              <a:chExt cx="68" cy="408"/>
            </a:xfrm>
          </p:grpSpPr>
          <p:grpSp>
            <p:nvGrpSpPr>
              <p:cNvPr id="61472" name="Group 32"/>
              <p:cNvGrpSpPr>
                <a:grpSpLocks/>
              </p:cNvGrpSpPr>
              <p:nvPr/>
            </p:nvGrpSpPr>
            <p:grpSpPr bwMode="auto">
              <a:xfrm>
                <a:off x="4384" y="14088"/>
                <a:ext cx="68" cy="136"/>
                <a:chOff x="4384" y="14088"/>
                <a:chExt cx="68" cy="136"/>
              </a:xfrm>
            </p:grpSpPr>
            <p:sp>
              <p:nvSpPr>
                <p:cNvPr id="61473" name="Arc 33"/>
                <p:cNvSpPr>
                  <a:spLocks/>
                </p:cNvSpPr>
                <p:nvPr/>
              </p:nvSpPr>
              <p:spPr bwMode="auto">
                <a:xfrm>
                  <a:off x="4384" y="14088"/>
                  <a:ext cx="68" cy="6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474" name="Arc 34"/>
                <p:cNvSpPr>
                  <a:spLocks/>
                </p:cNvSpPr>
                <p:nvPr/>
              </p:nvSpPr>
              <p:spPr bwMode="auto">
                <a:xfrm flipV="1">
                  <a:off x="4384" y="14156"/>
                  <a:ext cx="68" cy="6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475" name="Group 35"/>
              <p:cNvGrpSpPr>
                <a:grpSpLocks/>
              </p:cNvGrpSpPr>
              <p:nvPr/>
            </p:nvGrpSpPr>
            <p:grpSpPr bwMode="auto">
              <a:xfrm>
                <a:off x="4384" y="14224"/>
                <a:ext cx="68" cy="136"/>
                <a:chOff x="4384" y="14088"/>
                <a:chExt cx="68" cy="136"/>
              </a:xfrm>
            </p:grpSpPr>
            <p:sp>
              <p:nvSpPr>
                <p:cNvPr id="61476" name="Arc 36"/>
                <p:cNvSpPr>
                  <a:spLocks/>
                </p:cNvSpPr>
                <p:nvPr/>
              </p:nvSpPr>
              <p:spPr bwMode="auto">
                <a:xfrm>
                  <a:off x="4384" y="14088"/>
                  <a:ext cx="68" cy="6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477" name="Arc 37"/>
                <p:cNvSpPr>
                  <a:spLocks/>
                </p:cNvSpPr>
                <p:nvPr/>
              </p:nvSpPr>
              <p:spPr bwMode="auto">
                <a:xfrm flipV="1">
                  <a:off x="4384" y="14156"/>
                  <a:ext cx="68" cy="6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478" name="Group 38"/>
              <p:cNvGrpSpPr>
                <a:grpSpLocks/>
              </p:cNvGrpSpPr>
              <p:nvPr/>
            </p:nvGrpSpPr>
            <p:grpSpPr bwMode="auto">
              <a:xfrm>
                <a:off x="4384" y="14360"/>
                <a:ext cx="68" cy="136"/>
                <a:chOff x="4384" y="14088"/>
                <a:chExt cx="68" cy="136"/>
              </a:xfrm>
            </p:grpSpPr>
            <p:sp>
              <p:nvSpPr>
                <p:cNvPr id="61479" name="Arc 39"/>
                <p:cNvSpPr>
                  <a:spLocks/>
                </p:cNvSpPr>
                <p:nvPr/>
              </p:nvSpPr>
              <p:spPr bwMode="auto">
                <a:xfrm>
                  <a:off x="4384" y="14088"/>
                  <a:ext cx="68" cy="6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480" name="Arc 40"/>
                <p:cNvSpPr>
                  <a:spLocks/>
                </p:cNvSpPr>
                <p:nvPr/>
              </p:nvSpPr>
              <p:spPr bwMode="auto">
                <a:xfrm flipV="1">
                  <a:off x="4384" y="14156"/>
                  <a:ext cx="68" cy="6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61481" name="Line 41"/>
            <p:cNvSpPr>
              <a:spLocks noChangeShapeType="1"/>
            </p:cNvSpPr>
            <p:nvPr/>
          </p:nvSpPr>
          <p:spPr bwMode="auto">
            <a:xfrm>
              <a:off x="2050" y="1647"/>
              <a:ext cx="0" cy="3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2" name="Line 42"/>
            <p:cNvSpPr>
              <a:spLocks noChangeShapeType="1"/>
            </p:cNvSpPr>
            <p:nvPr/>
          </p:nvSpPr>
          <p:spPr bwMode="auto">
            <a:xfrm>
              <a:off x="502" y="2008"/>
              <a:ext cx="15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3" name="Line 43"/>
            <p:cNvSpPr>
              <a:spLocks noChangeShapeType="1"/>
            </p:cNvSpPr>
            <p:nvPr/>
          </p:nvSpPr>
          <p:spPr bwMode="auto">
            <a:xfrm>
              <a:off x="1183" y="1647"/>
              <a:ext cx="0" cy="3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4" name="Line 44"/>
            <p:cNvSpPr>
              <a:spLocks noChangeShapeType="1"/>
            </p:cNvSpPr>
            <p:nvPr/>
          </p:nvSpPr>
          <p:spPr bwMode="auto">
            <a:xfrm>
              <a:off x="1183" y="1791"/>
              <a:ext cx="0" cy="7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5" name="Line 45"/>
            <p:cNvSpPr>
              <a:spLocks noChangeShapeType="1"/>
            </p:cNvSpPr>
            <p:nvPr/>
          </p:nvSpPr>
          <p:spPr bwMode="auto">
            <a:xfrm>
              <a:off x="2050" y="1791"/>
              <a:ext cx="0" cy="7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20" name="AutoShape 80"/>
            <p:cNvSpPr>
              <a:spLocks noChangeArrowheads="1"/>
            </p:cNvSpPr>
            <p:nvPr/>
          </p:nvSpPr>
          <p:spPr bwMode="auto">
            <a:xfrm>
              <a:off x="1431" y="756"/>
              <a:ext cx="306" cy="187"/>
            </a:xfrm>
            <a:prstGeom prst="diamond">
              <a:avLst/>
            </a:prstGeom>
            <a:noFill/>
            <a:ln w="317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1522" name="Rectangle 82"/>
          <p:cNvSpPr>
            <a:spLocks noChangeArrowheads="1"/>
          </p:cNvSpPr>
          <p:nvPr/>
        </p:nvSpPr>
        <p:spPr bwMode="auto">
          <a:xfrm>
            <a:off x="3130550" y="930275"/>
            <a:ext cx="771525" cy="20081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0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23" name="Rectangle 83"/>
          <p:cNvSpPr>
            <a:spLocks noChangeArrowheads="1"/>
          </p:cNvSpPr>
          <p:nvPr/>
        </p:nvSpPr>
        <p:spPr bwMode="auto">
          <a:xfrm>
            <a:off x="5745163" y="850900"/>
            <a:ext cx="925512" cy="1890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0" algn="ctr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24" name="Rectangle 84"/>
          <p:cNvSpPr>
            <a:spLocks noChangeArrowheads="1"/>
          </p:cNvSpPr>
          <p:nvPr/>
        </p:nvSpPr>
        <p:spPr bwMode="auto">
          <a:xfrm>
            <a:off x="87313" y="4070648"/>
            <a:ext cx="33963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b="1" i="1" dirty="0" err="1"/>
              <a:t>U</a:t>
            </a:r>
            <a:r>
              <a:rPr kumimoji="0" lang="en-US" altLang="zh-CN" b="1" dirty="0" err="1"/>
              <a:t>oc</a:t>
            </a:r>
            <a:r>
              <a:rPr kumimoji="0" lang="en-US" altLang="zh-CN" b="1" dirty="0"/>
              <a:t> = 24 </a:t>
            </a:r>
            <a:r>
              <a:rPr kumimoji="0" lang="en-US" altLang="zh-CN" b="1" dirty="0" err="1"/>
              <a:t>V，</a:t>
            </a:r>
            <a:r>
              <a:rPr kumimoji="0" lang="en-US" altLang="zh-CN" b="1" i="1" dirty="0" err="1"/>
              <a:t>R</a:t>
            </a:r>
            <a:r>
              <a:rPr kumimoji="0" lang="en-US" altLang="zh-CN" b="1" dirty="0" err="1"/>
              <a:t>eq</a:t>
            </a:r>
            <a:r>
              <a:rPr kumimoji="0" lang="en-US" altLang="zh-CN" b="1" dirty="0"/>
              <a:t> = 6 </a:t>
            </a:r>
            <a:r>
              <a:rPr kumimoji="0" lang="el-GR" altLang="zh-CN" b="1" dirty="0">
                <a:latin typeface="宋体" charset="-122"/>
              </a:rPr>
              <a:t>Ω</a:t>
            </a:r>
            <a:endParaRPr kumimoji="0" lang="zh-CN" altLang="en-US" b="1" dirty="0"/>
          </a:p>
        </p:txBody>
      </p:sp>
      <p:grpSp>
        <p:nvGrpSpPr>
          <p:cNvPr id="61530" name="Group 90"/>
          <p:cNvGrpSpPr>
            <a:grpSpLocks/>
          </p:cNvGrpSpPr>
          <p:nvPr/>
        </p:nvGrpSpPr>
        <p:grpSpPr bwMode="auto">
          <a:xfrm>
            <a:off x="4535488" y="5664200"/>
            <a:ext cx="3929062" cy="604838"/>
            <a:chOff x="2818" y="3614"/>
            <a:chExt cx="2475" cy="381"/>
          </a:xfrm>
        </p:grpSpPr>
        <p:graphicFrame>
          <p:nvGraphicFramePr>
            <p:cNvPr id="61450" name="Object 10"/>
            <p:cNvGraphicFramePr>
              <a:graphicFrameLocks noChangeAspect="1"/>
            </p:cNvGraphicFramePr>
            <p:nvPr/>
          </p:nvGraphicFramePr>
          <p:xfrm>
            <a:off x="2818" y="3614"/>
            <a:ext cx="1904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46" r:id="rId7" imgW="1143000" imgH="228600" progId="Equation.3">
                    <p:embed/>
                  </p:oleObj>
                </mc:Choice>
                <mc:Fallback>
                  <p:oleObj r:id="rId7" imgW="11430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8" y="3614"/>
                          <a:ext cx="1904" cy="38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27" name="Object 87"/>
            <p:cNvGraphicFramePr>
              <a:graphicFrameLocks noChangeAspect="1"/>
            </p:cNvGraphicFramePr>
            <p:nvPr/>
          </p:nvGraphicFramePr>
          <p:xfrm>
            <a:off x="4805" y="3686"/>
            <a:ext cx="488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47" name="公式" r:id="rId9" imgW="330120" imgH="177480" progId="Equation.3">
                    <p:embed/>
                  </p:oleObj>
                </mc:Choice>
                <mc:Fallback>
                  <p:oleObj name="公式" r:id="rId9" imgW="33012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5" y="3686"/>
                          <a:ext cx="488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533" name="Group 93"/>
          <p:cNvGrpSpPr>
            <a:grpSpLocks/>
          </p:cNvGrpSpPr>
          <p:nvPr/>
        </p:nvGrpSpPr>
        <p:grpSpPr bwMode="auto">
          <a:xfrm>
            <a:off x="279400" y="5138738"/>
            <a:ext cx="3754438" cy="588962"/>
            <a:chOff x="176" y="3237"/>
            <a:chExt cx="2365" cy="371"/>
          </a:xfrm>
        </p:grpSpPr>
        <p:graphicFrame>
          <p:nvGraphicFramePr>
            <p:cNvPr id="61446" name="Object 6"/>
            <p:cNvGraphicFramePr>
              <a:graphicFrameLocks noChangeAspect="1"/>
            </p:cNvGraphicFramePr>
            <p:nvPr/>
          </p:nvGraphicFramePr>
          <p:xfrm>
            <a:off x="176" y="3237"/>
            <a:ext cx="2137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48" r:id="rId10" imgW="1384300" imgH="228600" progId="Equation.3">
                    <p:embed/>
                  </p:oleObj>
                </mc:Choice>
                <mc:Fallback>
                  <p:oleObj r:id="rId10" imgW="13843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" y="3237"/>
                          <a:ext cx="2137" cy="37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31" name="Text Box 91"/>
            <p:cNvSpPr txBox="1">
              <a:spLocks noChangeArrowheads="1"/>
            </p:cNvSpPr>
            <p:nvPr/>
          </p:nvSpPr>
          <p:spPr bwMode="auto">
            <a:xfrm>
              <a:off x="2226" y="3240"/>
              <a:ext cx="3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A</a:t>
              </a:r>
            </a:p>
          </p:txBody>
        </p:sp>
      </p:grpSp>
      <p:grpSp>
        <p:nvGrpSpPr>
          <p:cNvPr id="61534" name="Group 94"/>
          <p:cNvGrpSpPr>
            <a:grpSpLocks/>
          </p:cNvGrpSpPr>
          <p:nvPr/>
        </p:nvGrpSpPr>
        <p:grpSpPr bwMode="auto">
          <a:xfrm>
            <a:off x="279400" y="5851525"/>
            <a:ext cx="3430588" cy="552450"/>
            <a:chOff x="176" y="3686"/>
            <a:chExt cx="2161" cy="348"/>
          </a:xfrm>
        </p:grpSpPr>
        <p:graphicFrame>
          <p:nvGraphicFramePr>
            <p:cNvPr id="61447" name="Object 7"/>
            <p:cNvGraphicFramePr>
              <a:graphicFrameLocks noChangeAspect="1"/>
            </p:cNvGraphicFramePr>
            <p:nvPr/>
          </p:nvGraphicFramePr>
          <p:xfrm>
            <a:off x="176" y="3686"/>
            <a:ext cx="1858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49" r:id="rId12" imgW="1219200" imgH="228600" progId="Equation.3">
                    <p:embed/>
                  </p:oleObj>
                </mc:Choice>
                <mc:Fallback>
                  <p:oleObj r:id="rId12" imgW="12192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" y="3686"/>
                          <a:ext cx="1858" cy="3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32" name="Text Box 92"/>
            <p:cNvSpPr txBox="1">
              <a:spLocks noChangeArrowheads="1"/>
            </p:cNvSpPr>
            <p:nvPr/>
          </p:nvSpPr>
          <p:spPr bwMode="auto">
            <a:xfrm>
              <a:off x="1949" y="3686"/>
              <a:ext cx="3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/>
                <a:t>s</a:t>
              </a:r>
            </a:p>
          </p:txBody>
        </p:sp>
      </p:grpSp>
      <p:sp>
        <p:nvSpPr>
          <p:cNvPr id="87" name="Rectangle 2"/>
          <p:cNvSpPr txBox="1">
            <a:spLocks noChangeArrowheads="1"/>
          </p:cNvSpPr>
          <p:nvPr/>
        </p:nvSpPr>
        <p:spPr bwMode="auto">
          <a:xfrm>
            <a:off x="60325" y="60325"/>
            <a:ext cx="1974850" cy="476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l"/>
            <a:r>
              <a:rPr lang="en-US" altLang="zh-CN" sz="2800" b="1" dirty="0">
                <a:solidFill>
                  <a:srgbClr val="FF0000"/>
                </a:solidFill>
                <a:latin typeface="+mj-ea"/>
              </a:rPr>
              <a:t>Example 1</a:t>
            </a:r>
            <a:endParaRPr lang="zh-CN" altLang="en-US" sz="2800" b="1" dirty="0">
              <a:solidFill>
                <a:srgbClr val="FF0000"/>
              </a:solidFill>
              <a:latin typeface="+mj-ea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76D1-A2E5-4AA6-A259-A001A2652F48}" type="slidenum">
              <a:rPr lang="en-US" altLang="zh-CN" smtClean="0"/>
              <a:pPr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5042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15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5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1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1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1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1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1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1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1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1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1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1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1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1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1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1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1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1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1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1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1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1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1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1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1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1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1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1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1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1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1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1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1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61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1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61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/>
                                        <p:tgtEl>
                                          <p:spTgt spid="61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61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61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1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61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61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61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61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61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61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61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6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61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61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4" grpId="0" autoUpdateAnimBg="0"/>
      <p:bldP spid="61445" grpId="0" autoUpdateAnimBg="0"/>
      <p:bldP spid="61487" grpId="0"/>
      <p:bldP spid="61489" grpId="0"/>
      <p:bldP spid="61490" grpId="0"/>
      <p:bldP spid="61491" grpId="0"/>
      <p:bldP spid="61492" grpId="0"/>
      <p:bldP spid="61493" grpId="0" animBg="1"/>
      <p:bldP spid="61494" grpId="0" animBg="1"/>
      <p:bldP spid="61495" grpId="0" animBg="1"/>
      <p:bldP spid="61496" grpId="0" animBg="1"/>
      <p:bldP spid="61497" grpId="0" animBg="1"/>
      <p:bldP spid="61498" grpId="0"/>
      <p:bldP spid="61499" grpId="0"/>
      <p:bldP spid="61510" grpId="0" animBg="1"/>
      <p:bldP spid="61511" grpId="0" animBg="1"/>
      <p:bldP spid="61512" grpId="0" animBg="1"/>
      <p:bldP spid="61513" grpId="0" animBg="1"/>
      <p:bldP spid="61514" grpId="0" autoUpdateAnimBg="0"/>
      <p:bldP spid="61516" grpId="0" autoUpdateAnimBg="0"/>
      <p:bldP spid="61517" grpId="0" autoUpdateAnimBg="0"/>
      <p:bldP spid="61522" grpId="0" animBg="1"/>
      <p:bldP spid="61522" grpId="1" animBg="1"/>
      <p:bldP spid="61523" grpId="0" animBg="1"/>
      <p:bldP spid="61523" grpId="1" animBg="1"/>
      <p:bldP spid="6152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7000" y="48096"/>
            <a:ext cx="2387600" cy="397148"/>
          </a:xfrm>
          <a:solidFill>
            <a:schemeClr val="bg1"/>
          </a:solidFill>
        </p:spPr>
        <p:txBody>
          <a:bodyPr/>
          <a:lstStyle/>
          <a:p>
            <a:pPr algn="l"/>
            <a:r>
              <a:rPr lang="en-US" altLang="zh-CN" sz="2800" b="1" dirty="0">
                <a:solidFill>
                  <a:srgbClr val="FF3300"/>
                </a:solidFill>
                <a:latin typeface="+mj-ea"/>
              </a:rPr>
              <a:t>Example 2</a:t>
            </a:r>
            <a:endParaRPr lang="zh-CN" altLang="en-US" sz="2800" b="1" dirty="0">
              <a:solidFill>
                <a:srgbClr val="FF3300"/>
              </a:solidFill>
              <a:latin typeface="+mj-ea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51142-E1EF-4721-85F8-37A18B2EA881}" type="slidenum">
              <a:rPr lang="en-US" altLang="zh-CN" smtClean="0"/>
              <a:pPr/>
              <a:t>44</a:t>
            </a:fld>
            <a:endParaRPr lang="en-US" altLang="zh-CN"/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4419600" y="63401"/>
            <a:ext cx="466725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en-US" altLang="zh-CN" b="1" dirty="0"/>
              <a:t>Assume that there is no energy stored in the inductor. The switch</a:t>
            </a:r>
            <a:r>
              <a:rPr lang="zh-CN" altLang="en-US" b="1" dirty="0"/>
              <a:t> </a:t>
            </a:r>
            <a:r>
              <a:rPr lang="en-US" altLang="zh-CN" b="1" i="1" dirty="0"/>
              <a:t>S</a:t>
            </a:r>
            <a:r>
              <a:rPr lang="en-US" altLang="zh-CN" b="1" baseline="-25000" dirty="0"/>
              <a:t>1 </a:t>
            </a:r>
            <a:r>
              <a:rPr lang="en-US" altLang="zh-CN" b="1" dirty="0"/>
              <a:t>is closed at </a:t>
            </a:r>
            <a:r>
              <a:rPr lang="en-US" altLang="zh-CN" b="1" i="1" dirty="0"/>
              <a:t>t</a:t>
            </a:r>
            <a:r>
              <a:rPr lang="en-US" altLang="zh-CN" b="1" dirty="0"/>
              <a:t>=0 , the switch </a:t>
            </a:r>
            <a:r>
              <a:rPr lang="en-US" altLang="zh-CN" b="1" i="1" dirty="0"/>
              <a:t>S</a:t>
            </a:r>
            <a:r>
              <a:rPr lang="en-US" altLang="zh-CN" b="1" baseline="-25000" dirty="0"/>
              <a:t>2</a:t>
            </a:r>
          </a:p>
          <a:p>
            <a:pPr algn="just"/>
            <a:r>
              <a:rPr lang="en-US" altLang="zh-CN" b="1" dirty="0"/>
              <a:t> is closed at </a:t>
            </a:r>
            <a:r>
              <a:rPr lang="en-US" altLang="zh-CN" b="1" i="1" dirty="0"/>
              <a:t>t </a:t>
            </a:r>
            <a:r>
              <a:rPr lang="en-US" altLang="zh-CN" b="1" dirty="0"/>
              <a:t>=0.2s. Find the current </a:t>
            </a:r>
            <a:r>
              <a:rPr lang="en-US" altLang="zh-CN" b="1" i="1" dirty="0"/>
              <a:t>i</a:t>
            </a:r>
            <a:r>
              <a:rPr lang="en-US" altLang="zh-CN" b="1" dirty="0"/>
              <a:t>(</a:t>
            </a:r>
            <a:r>
              <a:rPr lang="en-US" altLang="zh-CN" b="1" i="1" dirty="0"/>
              <a:t>t</a:t>
            </a:r>
            <a:r>
              <a:rPr lang="en-US" altLang="zh-CN" b="1" dirty="0"/>
              <a:t>) through the inductor for t &gt;0.2 s.</a:t>
            </a:r>
          </a:p>
        </p:txBody>
      </p:sp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126999" y="2977684"/>
            <a:ext cx="35163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en-US" altLang="zh-CN" sz="2800" b="1" dirty="0">
                <a:solidFill>
                  <a:srgbClr val="FF0000"/>
                </a:solidFill>
              </a:rPr>
              <a:t>Solution:</a:t>
            </a:r>
            <a:r>
              <a:rPr lang="zh-CN" altLang="en-US" sz="2800" b="1" dirty="0">
                <a:solidFill>
                  <a:srgbClr val="FF0000"/>
                </a:solidFill>
              </a:rPr>
              <a:t>  </a:t>
            </a:r>
            <a:r>
              <a:rPr lang="zh-CN" altLang="en-US" sz="2800" b="1" dirty="0"/>
              <a:t> </a:t>
            </a:r>
            <a:r>
              <a:rPr lang="zh-CN" altLang="en-US" sz="2800" b="1" dirty="0">
                <a:solidFill>
                  <a:srgbClr val="FF3300"/>
                </a:solidFill>
              </a:rPr>
              <a:t>0 ≤ </a:t>
            </a:r>
            <a:r>
              <a:rPr lang="en-US" altLang="zh-CN" sz="2800" b="1" dirty="0">
                <a:solidFill>
                  <a:srgbClr val="FF3300"/>
                </a:solidFill>
              </a:rPr>
              <a:t>t ≤ 0.2s</a:t>
            </a:r>
            <a:endParaRPr lang="en-US" altLang="zh-CN" sz="2800" b="1" dirty="0"/>
          </a:p>
        </p:txBody>
      </p:sp>
      <p:graphicFrame>
        <p:nvGraphicFramePr>
          <p:cNvPr id="59397" name="Object 5"/>
          <p:cNvGraphicFramePr>
            <a:graphicFrameLocks noChangeAspect="1"/>
          </p:cNvGraphicFramePr>
          <p:nvPr/>
        </p:nvGraphicFramePr>
        <p:xfrm>
          <a:off x="349250" y="5405438"/>
          <a:ext cx="265271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23" name="公式" r:id="rId3" imgW="1117440" imgH="228600" progId="Equation.3">
                  <p:embed/>
                </p:oleObj>
              </mc:Choice>
              <mc:Fallback>
                <p:oleObj name="公式" r:id="rId3" imgW="11174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" y="5405438"/>
                        <a:ext cx="2652713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8" name="Text Box 6"/>
          <p:cNvSpPr txBox="1">
            <a:spLocks noChangeArrowheads="1"/>
          </p:cNvSpPr>
          <p:nvPr/>
        </p:nvSpPr>
        <p:spPr bwMode="auto">
          <a:xfrm>
            <a:off x="3643313" y="2990384"/>
            <a:ext cx="11592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800" b="1" i="1" dirty="0">
                <a:solidFill>
                  <a:srgbClr val="FF3300"/>
                </a:solidFill>
              </a:rPr>
              <a:t>t</a:t>
            </a:r>
            <a:r>
              <a:rPr lang="en-US" altLang="zh-CN" sz="2800" b="1" dirty="0">
                <a:solidFill>
                  <a:srgbClr val="FF3300"/>
                </a:solidFill>
              </a:rPr>
              <a:t> ≥0.2s</a:t>
            </a:r>
            <a:endParaRPr lang="en-US" altLang="zh-CN" sz="2800" b="1" dirty="0"/>
          </a:p>
        </p:txBody>
      </p:sp>
      <p:graphicFrame>
        <p:nvGraphicFramePr>
          <p:cNvPr id="59399" name="Object 7"/>
          <p:cNvGraphicFramePr>
            <a:graphicFrameLocks noChangeAspect="1"/>
          </p:cNvGraphicFramePr>
          <p:nvPr/>
        </p:nvGraphicFramePr>
        <p:xfrm>
          <a:off x="425450" y="3573463"/>
          <a:ext cx="1608138" cy="167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24" name="Equation" r:id="rId5" imgW="672840" imgH="698400" progId="Equation.3">
                  <p:embed/>
                </p:oleObj>
              </mc:Choice>
              <mc:Fallback>
                <p:oleObj name="Equation" r:id="rId5" imgW="67284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" y="3573463"/>
                        <a:ext cx="1608138" cy="167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0" name="Object 8"/>
          <p:cNvGraphicFramePr>
            <a:graphicFrameLocks noChangeAspect="1"/>
          </p:cNvGraphicFramePr>
          <p:nvPr/>
        </p:nvGraphicFramePr>
        <p:xfrm>
          <a:off x="3630613" y="4283075"/>
          <a:ext cx="2205037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25" name="公式" r:id="rId7" imgW="1028520" imgH="698400" progId="Equation.3">
                  <p:embed/>
                </p:oleObj>
              </mc:Choice>
              <mc:Fallback>
                <p:oleObj name="公式" r:id="rId7" imgW="102852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0613" y="4283075"/>
                        <a:ext cx="2205037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1" name="Object 9"/>
          <p:cNvGraphicFramePr>
            <a:graphicFrameLocks noChangeAspect="1"/>
          </p:cNvGraphicFramePr>
          <p:nvPr/>
        </p:nvGraphicFramePr>
        <p:xfrm>
          <a:off x="3624263" y="3675063"/>
          <a:ext cx="3713162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26" name="Equation" r:id="rId9" imgW="1688760" imgH="253800" progId="Equation.3">
                  <p:embed/>
                </p:oleObj>
              </mc:Choice>
              <mc:Fallback>
                <p:oleObj name="Equation" r:id="rId9" imgW="16887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4263" y="3675063"/>
                        <a:ext cx="3713162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2" name="Object 10"/>
          <p:cNvGraphicFramePr>
            <a:graphicFrameLocks noChangeAspect="1"/>
          </p:cNvGraphicFramePr>
          <p:nvPr/>
        </p:nvGraphicFramePr>
        <p:xfrm>
          <a:off x="3630613" y="5764213"/>
          <a:ext cx="356870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27" name="公式" r:id="rId11" imgW="1549080" imgH="228600" progId="Equation.3">
                  <p:embed/>
                </p:oleObj>
              </mc:Choice>
              <mc:Fallback>
                <p:oleObj name="公式" r:id="rId11" imgW="15490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0613" y="5764213"/>
                        <a:ext cx="356870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40" name="Oval 48"/>
          <p:cNvSpPr>
            <a:spLocks noChangeArrowheads="1"/>
          </p:cNvSpPr>
          <p:nvPr/>
        </p:nvSpPr>
        <p:spPr bwMode="auto">
          <a:xfrm>
            <a:off x="6118225" y="5507038"/>
            <a:ext cx="720725" cy="782637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9451" name="Group 59"/>
          <p:cNvGrpSpPr>
            <a:grpSpLocks/>
          </p:cNvGrpSpPr>
          <p:nvPr/>
        </p:nvGrpSpPr>
        <p:grpSpPr bwMode="auto">
          <a:xfrm>
            <a:off x="381000" y="428625"/>
            <a:ext cx="5089525" cy="2438400"/>
            <a:chOff x="240" y="304"/>
            <a:chExt cx="3206" cy="1536"/>
          </a:xfrm>
        </p:grpSpPr>
        <p:sp>
          <p:nvSpPr>
            <p:cNvPr id="59404" name="Rectangle 12"/>
            <p:cNvSpPr>
              <a:spLocks noChangeArrowheads="1"/>
            </p:cNvSpPr>
            <p:nvPr/>
          </p:nvSpPr>
          <p:spPr bwMode="auto">
            <a:xfrm>
              <a:off x="2016" y="1408"/>
              <a:ext cx="96" cy="192"/>
            </a:xfrm>
            <a:prstGeom prst="rect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10" name="Line 18"/>
            <p:cNvSpPr>
              <a:spLocks noChangeShapeType="1"/>
            </p:cNvSpPr>
            <p:nvPr/>
          </p:nvSpPr>
          <p:spPr bwMode="auto">
            <a:xfrm flipV="1">
              <a:off x="2074" y="1144"/>
              <a:ext cx="0" cy="1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11" name="Line 19"/>
            <p:cNvSpPr>
              <a:spLocks noChangeShapeType="1"/>
            </p:cNvSpPr>
            <p:nvPr/>
          </p:nvSpPr>
          <p:spPr bwMode="auto">
            <a:xfrm flipH="1">
              <a:off x="2073" y="832"/>
              <a:ext cx="0" cy="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12" name="Rectangle 20"/>
            <p:cNvSpPr>
              <a:spLocks noChangeArrowheads="1"/>
            </p:cNvSpPr>
            <p:nvPr/>
          </p:nvSpPr>
          <p:spPr bwMode="auto">
            <a:xfrm>
              <a:off x="1344" y="784"/>
              <a:ext cx="240" cy="96"/>
            </a:xfrm>
            <a:prstGeom prst="rect">
              <a:avLst/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9413" name="Group 21"/>
            <p:cNvGrpSpPr>
              <a:grpSpLocks/>
            </p:cNvGrpSpPr>
            <p:nvPr/>
          </p:nvGrpSpPr>
          <p:grpSpPr bwMode="auto">
            <a:xfrm>
              <a:off x="576" y="1264"/>
              <a:ext cx="288" cy="96"/>
              <a:chOff x="1018" y="1008"/>
              <a:chExt cx="288" cy="48"/>
            </a:xfrm>
          </p:grpSpPr>
          <p:sp>
            <p:nvSpPr>
              <p:cNvPr id="59414" name="Line 22"/>
              <p:cNvSpPr>
                <a:spLocks noChangeShapeType="1"/>
              </p:cNvSpPr>
              <p:nvPr/>
            </p:nvSpPr>
            <p:spPr bwMode="auto">
              <a:xfrm>
                <a:off x="1018" y="1008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415" name="Line 23"/>
              <p:cNvSpPr>
                <a:spLocks noChangeShapeType="1"/>
              </p:cNvSpPr>
              <p:nvPr/>
            </p:nvSpPr>
            <p:spPr bwMode="auto">
              <a:xfrm>
                <a:off x="1114" y="1056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9416" name="Line 24"/>
            <p:cNvSpPr>
              <a:spLocks noChangeShapeType="1"/>
            </p:cNvSpPr>
            <p:nvPr/>
          </p:nvSpPr>
          <p:spPr bwMode="auto">
            <a:xfrm flipH="1" flipV="1">
              <a:off x="720" y="832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17" name="Line 25"/>
            <p:cNvSpPr>
              <a:spLocks noChangeShapeType="1"/>
            </p:cNvSpPr>
            <p:nvPr/>
          </p:nvSpPr>
          <p:spPr bwMode="auto">
            <a:xfrm>
              <a:off x="730" y="832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18" name="Line 26"/>
            <p:cNvSpPr>
              <a:spLocks noChangeShapeType="1"/>
            </p:cNvSpPr>
            <p:nvPr/>
          </p:nvSpPr>
          <p:spPr bwMode="auto">
            <a:xfrm>
              <a:off x="720" y="1360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19" name="Line 27"/>
            <p:cNvSpPr>
              <a:spLocks noChangeShapeType="1"/>
            </p:cNvSpPr>
            <p:nvPr/>
          </p:nvSpPr>
          <p:spPr bwMode="auto">
            <a:xfrm>
              <a:off x="720" y="1789"/>
              <a:ext cx="18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20" name="Line 28"/>
            <p:cNvSpPr>
              <a:spLocks noChangeShapeType="1"/>
            </p:cNvSpPr>
            <p:nvPr/>
          </p:nvSpPr>
          <p:spPr bwMode="auto">
            <a:xfrm>
              <a:off x="1594" y="832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21" name="Line 29"/>
            <p:cNvSpPr>
              <a:spLocks noChangeShapeType="1"/>
            </p:cNvSpPr>
            <p:nvPr/>
          </p:nvSpPr>
          <p:spPr bwMode="auto">
            <a:xfrm flipV="1">
              <a:off x="960" y="688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22" name="Line 30"/>
            <p:cNvSpPr>
              <a:spLocks noChangeShapeType="1"/>
            </p:cNvSpPr>
            <p:nvPr/>
          </p:nvSpPr>
          <p:spPr bwMode="auto">
            <a:xfrm>
              <a:off x="1152" y="832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23" name="Line 31"/>
            <p:cNvSpPr>
              <a:spLocks noChangeShapeType="1"/>
            </p:cNvSpPr>
            <p:nvPr/>
          </p:nvSpPr>
          <p:spPr bwMode="auto">
            <a:xfrm>
              <a:off x="864" y="592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24" name="Line 32"/>
            <p:cNvSpPr>
              <a:spLocks noChangeShapeType="1"/>
            </p:cNvSpPr>
            <p:nvPr/>
          </p:nvSpPr>
          <p:spPr bwMode="auto">
            <a:xfrm>
              <a:off x="2064" y="1600"/>
              <a:ext cx="0" cy="1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25" name="Line 33"/>
            <p:cNvSpPr>
              <a:spLocks noChangeShapeType="1"/>
            </p:cNvSpPr>
            <p:nvPr/>
          </p:nvSpPr>
          <p:spPr bwMode="auto">
            <a:xfrm>
              <a:off x="2074" y="1252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26" name="Line 34"/>
            <p:cNvSpPr>
              <a:spLocks noChangeShapeType="1"/>
            </p:cNvSpPr>
            <p:nvPr/>
          </p:nvSpPr>
          <p:spPr bwMode="auto">
            <a:xfrm>
              <a:off x="2544" y="1252"/>
              <a:ext cx="0" cy="1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27" name="Line 35"/>
            <p:cNvSpPr>
              <a:spLocks noChangeShapeType="1"/>
            </p:cNvSpPr>
            <p:nvPr/>
          </p:nvSpPr>
          <p:spPr bwMode="auto">
            <a:xfrm flipH="1">
              <a:off x="2544" y="1456"/>
              <a:ext cx="144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28" name="Line 36"/>
            <p:cNvSpPr>
              <a:spLocks noChangeShapeType="1"/>
            </p:cNvSpPr>
            <p:nvPr/>
          </p:nvSpPr>
          <p:spPr bwMode="auto">
            <a:xfrm>
              <a:off x="2544" y="1600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29" name="Line 37"/>
            <p:cNvSpPr>
              <a:spLocks noChangeShapeType="1"/>
            </p:cNvSpPr>
            <p:nvPr/>
          </p:nvSpPr>
          <p:spPr bwMode="auto">
            <a:xfrm flipH="1" flipV="1">
              <a:off x="2480" y="1456"/>
              <a:ext cx="30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30" name="Line 38"/>
            <p:cNvSpPr>
              <a:spLocks noChangeShapeType="1"/>
            </p:cNvSpPr>
            <p:nvPr/>
          </p:nvSpPr>
          <p:spPr bwMode="auto">
            <a:xfrm>
              <a:off x="1728" y="784"/>
              <a:ext cx="24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31" name="Text Box 39"/>
            <p:cNvSpPr txBox="1">
              <a:spLocks noChangeArrowheads="1"/>
            </p:cNvSpPr>
            <p:nvPr/>
          </p:nvSpPr>
          <p:spPr bwMode="auto">
            <a:xfrm>
              <a:off x="1728" y="544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 i="1"/>
                <a:t>i</a:t>
              </a:r>
              <a:endParaRPr lang="en-US" altLang="zh-CN" b="1"/>
            </a:p>
          </p:txBody>
        </p:sp>
        <p:sp>
          <p:nvSpPr>
            <p:cNvPr id="59432" name="Text Box 40"/>
            <p:cNvSpPr txBox="1">
              <a:spLocks noChangeArrowheads="1"/>
            </p:cNvSpPr>
            <p:nvPr/>
          </p:nvSpPr>
          <p:spPr bwMode="auto">
            <a:xfrm>
              <a:off x="240" y="1360"/>
              <a:ext cx="4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b="1"/>
                <a:t>10</a:t>
              </a:r>
              <a:r>
                <a:rPr lang="en-US" altLang="zh-CN" b="1"/>
                <a:t>V</a:t>
              </a:r>
            </a:p>
          </p:txBody>
        </p:sp>
        <p:sp>
          <p:nvSpPr>
            <p:cNvPr id="59433" name="Text Box 41"/>
            <p:cNvSpPr txBox="1">
              <a:spLocks noChangeArrowheads="1"/>
            </p:cNvSpPr>
            <p:nvPr/>
          </p:nvSpPr>
          <p:spPr bwMode="auto">
            <a:xfrm>
              <a:off x="2155" y="928"/>
              <a:ext cx="3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b="1"/>
                <a:t>1</a:t>
              </a:r>
              <a:r>
                <a:rPr lang="en-US" altLang="zh-CN" b="1"/>
                <a:t>H</a:t>
              </a:r>
            </a:p>
          </p:txBody>
        </p:sp>
        <p:sp>
          <p:nvSpPr>
            <p:cNvPr id="59434" name="Text Box 42"/>
            <p:cNvSpPr txBox="1">
              <a:spLocks noChangeArrowheads="1"/>
            </p:cNvSpPr>
            <p:nvPr/>
          </p:nvSpPr>
          <p:spPr bwMode="auto">
            <a:xfrm>
              <a:off x="570" y="304"/>
              <a:ext cx="6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/>
                <a:t>S</a:t>
              </a:r>
              <a:r>
                <a:rPr lang="en-US" altLang="zh-CN" b="1" baseline="-25000"/>
                <a:t>1</a:t>
              </a:r>
              <a:r>
                <a:rPr lang="en-US" altLang="zh-CN" b="1"/>
                <a:t>(</a:t>
              </a:r>
              <a:r>
                <a:rPr lang="en-US" altLang="zh-CN" b="1" i="1"/>
                <a:t>t</a:t>
              </a:r>
              <a:r>
                <a:rPr lang="en-US" altLang="zh-CN" b="1"/>
                <a:t>=0)</a:t>
              </a:r>
            </a:p>
          </p:txBody>
        </p:sp>
        <p:sp>
          <p:nvSpPr>
            <p:cNvPr id="59435" name="Text Box 43"/>
            <p:cNvSpPr txBox="1">
              <a:spLocks noChangeArrowheads="1"/>
            </p:cNvSpPr>
            <p:nvPr/>
          </p:nvSpPr>
          <p:spPr bwMode="auto">
            <a:xfrm>
              <a:off x="2554" y="1552"/>
              <a:ext cx="8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/>
                <a:t>S</a:t>
              </a:r>
              <a:r>
                <a:rPr lang="en-US" altLang="zh-CN" b="1" baseline="-25000"/>
                <a:t>2</a:t>
              </a:r>
              <a:r>
                <a:rPr lang="en-US" altLang="zh-CN" b="1"/>
                <a:t>(</a:t>
              </a:r>
              <a:r>
                <a:rPr lang="en-US" altLang="zh-CN" b="1" i="1"/>
                <a:t>t</a:t>
              </a:r>
              <a:r>
                <a:rPr lang="en-US" altLang="zh-CN" b="1"/>
                <a:t>=0.2s)</a:t>
              </a:r>
            </a:p>
          </p:txBody>
        </p:sp>
        <p:sp>
          <p:nvSpPr>
            <p:cNvPr id="59436" name="Rectangle 44"/>
            <p:cNvSpPr>
              <a:spLocks noChangeArrowheads="1"/>
            </p:cNvSpPr>
            <p:nvPr/>
          </p:nvSpPr>
          <p:spPr bwMode="auto">
            <a:xfrm>
              <a:off x="1680" y="1264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b="1"/>
                <a:t>3</a:t>
              </a:r>
              <a:r>
                <a:rPr lang="zh-CN" altLang="en-US" b="1">
                  <a:sym typeface="Symbol" pitchFamily="18" charset="2"/>
                </a:rPr>
                <a:t></a:t>
              </a:r>
            </a:p>
          </p:txBody>
        </p:sp>
        <p:sp>
          <p:nvSpPr>
            <p:cNvPr id="59437" name="Text Box 45"/>
            <p:cNvSpPr txBox="1">
              <a:spLocks noChangeArrowheads="1"/>
            </p:cNvSpPr>
            <p:nvPr/>
          </p:nvSpPr>
          <p:spPr bwMode="auto">
            <a:xfrm>
              <a:off x="1261" y="880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b="1"/>
                <a:t>2</a:t>
              </a:r>
              <a:r>
                <a:rPr lang="zh-CN" altLang="en-US" b="1">
                  <a:sym typeface="Symbol" pitchFamily="18" charset="2"/>
                </a:rPr>
                <a:t></a:t>
              </a:r>
            </a:p>
          </p:txBody>
        </p:sp>
        <p:sp>
          <p:nvSpPr>
            <p:cNvPr id="59438" name="Line 46"/>
            <p:cNvSpPr>
              <a:spLocks noChangeShapeType="1"/>
            </p:cNvSpPr>
            <p:nvPr/>
          </p:nvSpPr>
          <p:spPr bwMode="auto">
            <a:xfrm flipH="1">
              <a:off x="2066" y="1234"/>
              <a:ext cx="1" cy="17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59450" name="Group 58"/>
            <p:cNvGrpSpPr>
              <a:grpSpLocks/>
            </p:cNvGrpSpPr>
            <p:nvPr/>
          </p:nvGrpSpPr>
          <p:grpSpPr bwMode="auto">
            <a:xfrm rot="5400000">
              <a:off x="1993" y="985"/>
              <a:ext cx="227" cy="97"/>
              <a:chOff x="4081" y="1956"/>
              <a:chExt cx="672" cy="115"/>
            </a:xfrm>
          </p:grpSpPr>
          <p:grpSp>
            <p:nvGrpSpPr>
              <p:cNvPr id="59443" name="Group 51"/>
              <p:cNvGrpSpPr>
                <a:grpSpLocks/>
              </p:cNvGrpSpPr>
              <p:nvPr/>
            </p:nvGrpSpPr>
            <p:grpSpPr bwMode="auto">
              <a:xfrm>
                <a:off x="4308" y="1958"/>
                <a:ext cx="227" cy="113"/>
                <a:chOff x="4308" y="1958"/>
                <a:chExt cx="227" cy="113"/>
              </a:xfrm>
            </p:grpSpPr>
            <p:sp>
              <p:nvSpPr>
                <p:cNvPr id="59441" name="Arc 49"/>
                <p:cNvSpPr>
                  <a:spLocks/>
                </p:cNvSpPr>
                <p:nvPr/>
              </p:nvSpPr>
              <p:spPr bwMode="auto">
                <a:xfrm>
                  <a:off x="4413" y="1958"/>
                  <a:ext cx="122" cy="112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9442" name="Arc 50"/>
                <p:cNvSpPr>
                  <a:spLocks/>
                </p:cNvSpPr>
                <p:nvPr/>
              </p:nvSpPr>
              <p:spPr bwMode="auto">
                <a:xfrm flipH="1">
                  <a:off x="4308" y="1959"/>
                  <a:ext cx="122" cy="112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9444" name="Group 52"/>
              <p:cNvGrpSpPr>
                <a:grpSpLocks/>
              </p:cNvGrpSpPr>
              <p:nvPr/>
            </p:nvGrpSpPr>
            <p:grpSpPr bwMode="auto">
              <a:xfrm>
                <a:off x="4526" y="1956"/>
                <a:ext cx="227" cy="113"/>
                <a:chOff x="4308" y="1958"/>
                <a:chExt cx="227" cy="113"/>
              </a:xfrm>
            </p:grpSpPr>
            <p:sp>
              <p:nvSpPr>
                <p:cNvPr id="59445" name="Arc 53"/>
                <p:cNvSpPr>
                  <a:spLocks/>
                </p:cNvSpPr>
                <p:nvPr/>
              </p:nvSpPr>
              <p:spPr bwMode="auto">
                <a:xfrm>
                  <a:off x="4413" y="1958"/>
                  <a:ext cx="122" cy="112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9446" name="Arc 54"/>
                <p:cNvSpPr>
                  <a:spLocks/>
                </p:cNvSpPr>
                <p:nvPr/>
              </p:nvSpPr>
              <p:spPr bwMode="auto">
                <a:xfrm flipH="1">
                  <a:off x="4308" y="1959"/>
                  <a:ext cx="122" cy="112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9447" name="Group 55"/>
              <p:cNvGrpSpPr>
                <a:grpSpLocks/>
              </p:cNvGrpSpPr>
              <p:nvPr/>
            </p:nvGrpSpPr>
            <p:grpSpPr bwMode="auto">
              <a:xfrm>
                <a:off x="4081" y="1957"/>
                <a:ext cx="227" cy="113"/>
                <a:chOff x="4308" y="1958"/>
                <a:chExt cx="227" cy="113"/>
              </a:xfrm>
            </p:grpSpPr>
            <p:sp>
              <p:nvSpPr>
                <p:cNvPr id="59448" name="Arc 56"/>
                <p:cNvSpPr>
                  <a:spLocks/>
                </p:cNvSpPr>
                <p:nvPr/>
              </p:nvSpPr>
              <p:spPr bwMode="auto">
                <a:xfrm>
                  <a:off x="4413" y="1958"/>
                  <a:ext cx="122" cy="112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9449" name="Arc 57"/>
                <p:cNvSpPr>
                  <a:spLocks/>
                </p:cNvSpPr>
                <p:nvPr/>
              </p:nvSpPr>
              <p:spPr bwMode="auto">
                <a:xfrm flipH="1">
                  <a:off x="4308" y="1959"/>
                  <a:ext cx="122" cy="112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62528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9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9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6" grpId="0" build="p" autoUpdateAnimBg="0"/>
      <p:bldP spid="59398" grpId="0" build="p" autoUpdateAnimBg="0"/>
      <p:bldP spid="5944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4" name="Text Box 4"/>
          <p:cNvSpPr txBox="1">
            <a:spLocks noChangeArrowheads="1"/>
          </p:cNvSpPr>
          <p:nvPr/>
        </p:nvSpPr>
        <p:spPr bwMode="auto">
          <a:xfrm>
            <a:off x="57149" y="76200"/>
            <a:ext cx="17637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</a:rPr>
              <a:t>Exercise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pSp>
        <p:nvGrpSpPr>
          <p:cNvPr id="317479" name="Group 39"/>
          <p:cNvGrpSpPr>
            <a:grpSpLocks/>
          </p:cNvGrpSpPr>
          <p:nvPr/>
        </p:nvGrpSpPr>
        <p:grpSpPr bwMode="auto">
          <a:xfrm>
            <a:off x="57150" y="558800"/>
            <a:ext cx="4067175" cy="2008188"/>
            <a:chOff x="287" y="390"/>
            <a:chExt cx="2562" cy="1265"/>
          </a:xfrm>
        </p:grpSpPr>
        <p:grpSp>
          <p:nvGrpSpPr>
            <p:cNvPr id="317466" name="Group 26"/>
            <p:cNvGrpSpPr>
              <a:grpSpLocks/>
            </p:cNvGrpSpPr>
            <p:nvPr/>
          </p:nvGrpSpPr>
          <p:grpSpPr bwMode="auto">
            <a:xfrm>
              <a:off x="455" y="592"/>
              <a:ext cx="2035" cy="1063"/>
              <a:chOff x="455" y="592"/>
              <a:chExt cx="2035" cy="1063"/>
            </a:xfrm>
          </p:grpSpPr>
          <p:sp>
            <p:nvSpPr>
              <p:cNvPr id="317445" name="Rectangle 5"/>
              <p:cNvSpPr>
                <a:spLocks noChangeArrowheads="1"/>
              </p:cNvSpPr>
              <p:nvPr/>
            </p:nvSpPr>
            <p:spPr bwMode="auto">
              <a:xfrm>
                <a:off x="576" y="730"/>
                <a:ext cx="1817" cy="925"/>
              </a:xfrm>
              <a:prstGeom prst="rect">
                <a:avLst/>
              </a:prstGeom>
              <a:noFill/>
              <a:ln w="317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446" name="Oval 6"/>
              <p:cNvSpPr>
                <a:spLocks noChangeArrowheads="1"/>
              </p:cNvSpPr>
              <p:nvPr/>
            </p:nvSpPr>
            <p:spPr bwMode="auto">
              <a:xfrm>
                <a:off x="455" y="1087"/>
                <a:ext cx="243" cy="219"/>
              </a:xfrm>
              <a:prstGeom prst="ellipse">
                <a:avLst/>
              </a:prstGeom>
              <a:solidFill>
                <a:schemeClr val="bg1"/>
              </a:solidFill>
              <a:ln w="317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447" name="Rectangle 7"/>
              <p:cNvSpPr>
                <a:spLocks noChangeArrowheads="1"/>
              </p:cNvSpPr>
              <p:nvPr/>
            </p:nvSpPr>
            <p:spPr bwMode="auto">
              <a:xfrm>
                <a:off x="1314" y="690"/>
                <a:ext cx="211" cy="81"/>
              </a:xfrm>
              <a:prstGeom prst="rect">
                <a:avLst/>
              </a:prstGeom>
              <a:solidFill>
                <a:schemeClr val="bg1"/>
              </a:solidFill>
              <a:ln w="317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448" name="Line 8"/>
              <p:cNvSpPr>
                <a:spLocks noChangeShapeType="1"/>
              </p:cNvSpPr>
              <p:nvPr/>
            </p:nvSpPr>
            <p:spPr bwMode="auto">
              <a:xfrm>
                <a:off x="1728" y="730"/>
                <a:ext cx="0" cy="92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449" name="Rectangle 9"/>
              <p:cNvSpPr>
                <a:spLocks noChangeArrowheads="1"/>
              </p:cNvSpPr>
              <p:nvPr/>
            </p:nvSpPr>
            <p:spPr bwMode="auto">
              <a:xfrm rot="5400000">
                <a:off x="1622" y="1152"/>
                <a:ext cx="211" cy="81"/>
              </a:xfrm>
              <a:prstGeom prst="rect">
                <a:avLst/>
              </a:prstGeom>
              <a:solidFill>
                <a:schemeClr val="bg1"/>
              </a:solidFill>
              <a:ln w="317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450" name="Line 10"/>
              <p:cNvSpPr>
                <a:spLocks noChangeShapeType="1"/>
              </p:cNvSpPr>
              <p:nvPr/>
            </p:nvSpPr>
            <p:spPr bwMode="auto">
              <a:xfrm>
                <a:off x="1071" y="730"/>
                <a:ext cx="0" cy="92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451" name="AutoShape 11"/>
              <p:cNvSpPr>
                <a:spLocks noChangeArrowheads="1"/>
              </p:cNvSpPr>
              <p:nvPr/>
            </p:nvSpPr>
            <p:spPr bwMode="auto">
              <a:xfrm>
                <a:off x="951" y="1087"/>
                <a:ext cx="243" cy="219"/>
              </a:xfrm>
              <a:prstGeom prst="diamond">
                <a:avLst/>
              </a:prstGeom>
              <a:noFill/>
              <a:ln w="317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317455" name="Group 15"/>
              <p:cNvGrpSpPr>
                <a:grpSpLocks/>
              </p:cNvGrpSpPr>
              <p:nvPr/>
            </p:nvGrpSpPr>
            <p:grpSpPr bwMode="auto">
              <a:xfrm>
                <a:off x="2295" y="1030"/>
                <a:ext cx="195" cy="57"/>
                <a:chOff x="1943" y="2466"/>
                <a:chExt cx="195" cy="57"/>
              </a:xfrm>
            </p:grpSpPr>
            <p:sp>
              <p:nvSpPr>
                <p:cNvPr id="317454" name="Rectangle 14"/>
                <p:cNvSpPr>
                  <a:spLocks noChangeArrowheads="1"/>
                </p:cNvSpPr>
                <p:nvPr/>
              </p:nvSpPr>
              <p:spPr bwMode="auto">
                <a:xfrm>
                  <a:off x="1943" y="2466"/>
                  <a:ext cx="195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0" algn="ctr">
                      <a:solidFill>
                        <a:srgbClr val="FF00FF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7453" name="Line 13"/>
                <p:cNvSpPr>
                  <a:spLocks noChangeShapeType="1"/>
                </p:cNvSpPr>
                <p:nvPr/>
              </p:nvSpPr>
              <p:spPr bwMode="auto">
                <a:xfrm>
                  <a:off x="1943" y="2523"/>
                  <a:ext cx="195" cy="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7452" name="Line 12"/>
                <p:cNvSpPr>
                  <a:spLocks noChangeShapeType="1"/>
                </p:cNvSpPr>
                <p:nvPr/>
              </p:nvSpPr>
              <p:spPr bwMode="auto">
                <a:xfrm>
                  <a:off x="1943" y="2466"/>
                  <a:ext cx="195" cy="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7456" name="Group 16"/>
              <p:cNvGrpSpPr>
                <a:grpSpLocks/>
              </p:cNvGrpSpPr>
              <p:nvPr/>
            </p:nvGrpSpPr>
            <p:grpSpPr bwMode="auto">
              <a:xfrm>
                <a:off x="2295" y="1298"/>
                <a:ext cx="195" cy="57"/>
                <a:chOff x="1943" y="2466"/>
                <a:chExt cx="195" cy="57"/>
              </a:xfrm>
            </p:grpSpPr>
            <p:sp>
              <p:nvSpPr>
                <p:cNvPr id="317457" name="Rectangle 17"/>
                <p:cNvSpPr>
                  <a:spLocks noChangeArrowheads="1"/>
                </p:cNvSpPr>
                <p:nvPr/>
              </p:nvSpPr>
              <p:spPr bwMode="auto">
                <a:xfrm>
                  <a:off x="1943" y="2466"/>
                  <a:ext cx="195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0" algn="ctr">
                      <a:solidFill>
                        <a:srgbClr val="FF00FF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7458" name="Line 18"/>
                <p:cNvSpPr>
                  <a:spLocks noChangeShapeType="1"/>
                </p:cNvSpPr>
                <p:nvPr/>
              </p:nvSpPr>
              <p:spPr bwMode="auto">
                <a:xfrm>
                  <a:off x="1943" y="2523"/>
                  <a:ext cx="195" cy="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7459" name="Line 19"/>
                <p:cNvSpPr>
                  <a:spLocks noChangeShapeType="1"/>
                </p:cNvSpPr>
                <p:nvPr/>
              </p:nvSpPr>
              <p:spPr bwMode="auto">
                <a:xfrm>
                  <a:off x="1943" y="2466"/>
                  <a:ext cx="195" cy="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17462" name="Rectangle 22"/>
              <p:cNvSpPr>
                <a:spLocks noChangeArrowheads="1"/>
              </p:cNvSpPr>
              <p:nvPr/>
            </p:nvSpPr>
            <p:spPr bwMode="auto">
              <a:xfrm>
                <a:off x="1931" y="690"/>
                <a:ext cx="219" cy="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1750" algn="ctr">
                    <a:solidFill>
                      <a:srgbClr val="FF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460" name="Oval 20"/>
              <p:cNvSpPr>
                <a:spLocks noChangeArrowheads="1"/>
              </p:cNvSpPr>
              <p:nvPr/>
            </p:nvSpPr>
            <p:spPr bwMode="auto">
              <a:xfrm flipV="1">
                <a:off x="1904" y="714"/>
                <a:ext cx="27" cy="27"/>
              </a:xfrm>
              <a:prstGeom prst="ellipse">
                <a:avLst/>
              </a:prstGeom>
              <a:noFill/>
              <a:ln w="317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463" name="Line 23"/>
              <p:cNvSpPr>
                <a:spLocks noChangeShapeType="1"/>
              </p:cNvSpPr>
              <p:nvPr/>
            </p:nvSpPr>
            <p:spPr bwMode="auto">
              <a:xfrm flipH="1" flipV="1">
                <a:off x="1958" y="592"/>
                <a:ext cx="192" cy="138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464" name="Line 24"/>
              <p:cNvSpPr>
                <a:spLocks noChangeShapeType="1"/>
              </p:cNvSpPr>
              <p:nvPr/>
            </p:nvSpPr>
            <p:spPr bwMode="auto">
              <a:xfrm>
                <a:off x="455" y="1193"/>
                <a:ext cx="243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465" name="Line 25"/>
              <p:cNvSpPr>
                <a:spLocks noChangeShapeType="1"/>
              </p:cNvSpPr>
              <p:nvPr/>
            </p:nvSpPr>
            <p:spPr bwMode="auto">
              <a:xfrm flipH="1">
                <a:off x="1958" y="592"/>
                <a:ext cx="192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7467" name="Text Box 27"/>
            <p:cNvSpPr txBox="1">
              <a:spLocks noChangeArrowheads="1"/>
            </p:cNvSpPr>
            <p:nvPr/>
          </p:nvSpPr>
          <p:spPr bwMode="auto">
            <a:xfrm>
              <a:off x="1250" y="435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b="1"/>
                <a:t>R</a:t>
              </a:r>
              <a:r>
                <a:rPr lang="en-US" altLang="zh-CN" sz="2000" b="1" baseline="-25000"/>
                <a:t>1</a:t>
              </a:r>
            </a:p>
          </p:txBody>
        </p:sp>
        <p:sp>
          <p:nvSpPr>
            <p:cNvPr id="317469" name="Line 29"/>
            <p:cNvSpPr>
              <a:spLocks noChangeShapeType="1"/>
            </p:cNvSpPr>
            <p:nvPr/>
          </p:nvSpPr>
          <p:spPr bwMode="auto">
            <a:xfrm flipV="1">
              <a:off x="503" y="869"/>
              <a:ext cx="0" cy="1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470" name="Text Box 30"/>
            <p:cNvSpPr txBox="1">
              <a:spLocks noChangeArrowheads="1"/>
            </p:cNvSpPr>
            <p:nvPr/>
          </p:nvSpPr>
          <p:spPr bwMode="auto">
            <a:xfrm>
              <a:off x="287" y="885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b="1"/>
                <a:t>I</a:t>
              </a:r>
              <a:r>
                <a:rPr lang="en-US" altLang="zh-CN" sz="2000" b="1" baseline="-25000"/>
                <a:t>S</a:t>
              </a:r>
            </a:p>
          </p:txBody>
        </p:sp>
        <p:sp>
          <p:nvSpPr>
            <p:cNvPr id="317471" name="Text Box 31"/>
            <p:cNvSpPr txBox="1">
              <a:spLocks noChangeArrowheads="1"/>
            </p:cNvSpPr>
            <p:nvPr/>
          </p:nvSpPr>
          <p:spPr bwMode="auto">
            <a:xfrm>
              <a:off x="1743" y="1104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b="1"/>
                <a:t>R</a:t>
              </a:r>
              <a:r>
                <a:rPr lang="en-US" altLang="zh-CN" sz="2000" b="1" baseline="-25000"/>
                <a:t>2</a:t>
              </a:r>
            </a:p>
          </p:txBody>
        </p:sp>
        <p:sp>
          <p:nvSpPr>
            <p:cNvPr id="317472" name="Text Box 32"/>
            <p:cNvSpPr txBox="1">
              <a:spLocks noChangeArrowheads="1"/>
            </p:cNvSpPr>
            <p:nvPr/>
          </p:nvSpPr>
          <p:spPr bwMode="auto">
            <a:xfrm>
              <a:off x="2457" y="946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b="1"/>
                <a:t>C</a:t>
              </a:r>
              <a:r>
                <a:rPr lang="en-US" altLang="zh-CN" sz="2000" b="1" baseline="-25000"/>
                <a:t>1</a:t>
              </a:r>
            </a:p>
          </p:txBody>
        </p:sp>
        <p:sp>
          <p:nvSpPr>
            <p:cNvPr id="317473" name="Text Box 33"/>
            <p:cNvSpPr txBox="1">
              <a:spLocks noChangeArrowheads="1"/>
            </p:cNvSpPr>
            <p:nvPr/>
          </p:nvSpPr>
          <p:spPr bwMode="auto">
            <a:xfrm>
              <a:off x="2465" y="1230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b="1"/>
                <a:t>C</a:t>
              </a:r>
              <a:r>
                <a:rPr lang="en-US" altLang="zh-CN" sz="2000" b="1" baseline="-25000"/>
                <a:t>2</a:t>
              </a:r>
            </a:p>
          </p:txBody>
        </p:sp>
        <p:sp>
          <p:nvSpPr>
            <p:cNvPr id="317474" name="Text Box 34"/>
            <p:cNvSpPr txBox="1">
              <a:spLocks noChangeArrowheads="1"/>
            </p:cNvSpPr>
            <p:nvPr/>
          </p:nvSpPr>
          <p:spPr bwMode="auto">
            <a:xfrm>
              <a:off x="1844" y="390"/>
              <a:ext cx="5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b="1"/>
                <a:t>S(t=0)</a:t>
              </a:r>
              <a:endParaRPr lang="en-US" altLang="zh-CN" sz="2000" b="1" baseline="-25000"/>
            </a:p>
          </p:txBody>
        </p:sp>
        <p:sp>
          <p:nvSpPr>
            <p:cNvPr id="317475" name="Text Box 35"/>
            <p:cNvSpPr txBox="1">
              <a:spLocks noChangeArrowheads="1"/>
            </p:cNvSpPr>
            <p:nvPr/>
          </p:nvSpPr>
          <p:spPr bwMode="auto">
            <a:xfrm>
              <a:off x="877" y="898"/>
              <a:ext cx="341" cy="5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b="1"/>
                <a:t>+</a:t>
              </a:r>
              <a:endParaRPr lang="en-US" altLang="zh-CN" b="1" i="1"/>
            </a:p>
            <a:p>
              <a:pPr algn="l">
                <a:spcBef>
                  <a:spcPct val="50000"/>
                </a:spcBef>
              </a:pPr>
              <a:r>
                <a:rPr lang="en-US" altLang="zh-CN" b="1" i="1"/>
                <a:t>-</a:t>
              </a:r>
            </a:p>
          </p:txBody>
        </p:sp>
        <p:sp>
          <p:nvSpPr>
            <p:cNvPr id="317476" name="Rectangle 36"/>
            <p:cNvSpPr>
              <a:spLocks noChangeArrowheads="1"/>
            </p:cNvSpPr>
            <p:nvPr/>
          </p:nvSpPr>
          <p:spPr bwMode="auto">
            <a:xfrm>
              <a:off x="1032" y="1230"/>
              <a:ext cx="8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2000" b="1"/>
                <a:t>2</a:t>
              </a:r>
              <a:r>
                <a:rPr lang="en-US" altLang="zh-CN" sz="1400" b="1"/>
                <a:t>×</a:t>
              </a:r>
              <a:r>
                <a:rPr lang="en-US" altLang="zh-CN" sz="2000" b="1"/>
                <a:t>10</a:t>
              </a:r>
              <a:r>
                <a:rPr lang="en-US" altLang="zh-CN" sz="2000" b="1" baseline="30000"/>
                <a:t>3</a:t>
              </a:r>
              <a:r>
                <a:rPr lang="en-US" altLang="zh-CN" sz="2800" b="1" i="1">
                  <a:solidFill>
                    <a:srgbClr val="FF0000"/>
                  </a:solidFill>
                </a:rPr>
                <a:t>i</a:t>
              </a:r>
              <a:endParaRPr lang="zh-CN" altLang="en-US" sz="2800" b="1" i="1">
                <a:solidFill>
                  <a:srgbClr val="FF0000"/>
                </a:solidFill>
              </a:endParaRPr>
            </a:p>
          </p:txBody>
        </p:sp>
        <p:sp>
          <p:nvSpPr>
            <p:cNvPr id="317477" name="Line 37"/>
            <p:cNvSpPr>
              <a:spLocks noChangeShapeType="1"/>
            </p:cNvSpPr>
            <p:nvPr/>
          </p:nvSpPr>
          <p:spPr bwMode="auto">
            <a:xfrm>
              <a:off x="1751" y="730"/>
              <a:ext cx="139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478" name="Rectangle 38"/>
            <p:cNvSpPr>
              <a:spLocks noChangeArrowheads="1"/>
            </p:cNvSpPr>
            <p:nvPr/>
          </p:nvSpPr>
          <p:spPr bwMode="auto">
            <a:xfrm>
              <a:off x="1743" y="458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solidFill>
                    <a:srgbClr val="FF0000"/>
                  </a:solidFill>
                </a:rPr>
                <a:t>i</a:t>
              </a:r>
              <a:endParaRPr lang="zh-CN" altLang="en-US" b="1" i="1">
                <a:solidFill>
                  <a:srgbClr val="FF0000"/>
                </a:solidFill>
              </a:endParaRPr>
            </a:p>
          </p:txBody>
        </p:sp>
      </p:grpSp>
      <p:sp>
        <p:nvSpPr>
          <p:cNvPr id="317480" name="Rectangle 40"/>
          <p:cNvSpPr>
            <a:spLocks noChangeArrowheads="1"/>
          </p:cNvSpPr>
          <p:nvPr/>
        </p:nvSpPr>
        <p:spPr bwMode="auto">
          <a:xfrm>
            <a:off x="1718965" y="79375"/>
            <a:ext cx="7454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b="1" dirty="0"/>
              <a:t>Given R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=6K</a:t>
            </a:r>
            <a:r>
              <a:rPr lang="el-GR" altLang="zh-CN" b="1" dirty="0"/>
              <a:t>Ω</a:t>
            </a:r>
            <a:r>
              <a:rPr lang="en-US" altLang="zh-CN" b="1" dirty="0"/>
              <a:t>, R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=2K</a:t>
            </a:r>
            <a:r>
              <a:rPr lang="el-GR" altLang="zh-CN" b="1" dirty="0"/>
              <a:t>Ω</a:t>
            </a:r>
            <a:r>
              <a:rPr lang="en-US" altLang="zh-CN" b="1" dirty="0"/>
              <a:t>,</a:t>
            </a:r>
            <a:r>
              <a:rPr lang="en-US" altLang="zh-CN" dirty="0"/>
              <a:t> </a:t>
            </a:r>
            <a:r>
              <a:rPr lang="en-US" altLang="zh-CN" b="1" dirty="0"/>
              <a:t>C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=1</a:t>
            </a:r>
            <a:r>
              <a:rPr lang="en-US" altLang="zh-CN" b="1" dirty="0">
                <a:latin typeface="宋体" charset="-122"/>
              </a:rPr>
              <a:t>u</a:t>
            </a:r>
            <a:r>
              <a:rPr lang="en-US" altLang="zh-CN" b="1" dirty="0"/>
              <a:t>F ,</a:t>
            </a:r>
            <a:r>
              <a:rPr lang="en-US" altLang="zh-CN" dirty="0"/>
              <a:t> </a:t>
            </a:r>
            <a:r>
              <a:rPr lang="en-US" altLang="zh-CN" b="1" dirty="0"/>
              <a:t>C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=2uF, find </a:t>
            </a:r>
            <a:r>
              <a:rPr lang="el-GR" altLang="zh-CN" sz="2800" b="1" dirty="0">
                <a:cs typeface="Times New Roman" pitchFamily="18" charset="0"/>
              </a:rPr>
              <a:t>τ</a:t>
            </a:r>
            <a:r>
              <a:rPr lang="zh-CN" altLang="el-GR" b="1" dirty="0"/>
              <a:t>。</a:t>
            </a:r>
            <a:endParaRPr lang="el-GR" altLang="zh-CN" b="1" dirty="0"/>
          </a:p>
        </p:txBody>
      </p:sp>
      <p:sp>
        <p:nvSpPr>
          <p:cNvPr id="317481" name="Text Box 41"/>
          <p:cNvSpPr txBox="1">
            <a:spLocks noChangeArrowheads="1"/>
          </p:cNvSpPr>
          <p:nvPr/>
        </p:nvSpPr>
        <p:spPr bwMode="auto">
          <a:xfrm>
            <a:off x="150813" y="2668588"/>
            <a:ext cx="33512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</a:rPr>
              <a:t>Solution:</a:t>
            </a:r>
            <a:r>
              <a:rPr lang="zh-CN" altLang="en-US" sz="2800" b="1" dirty="0">
                <a:solidFill>
                  <a:srgbClr val="FF0000"/>
                </a:solidFill>
              </a:rPr>
              <a:t>    </a:t>
            </a:r>
            <a:r>
              <a:rPr lang="en-US" altLang="zh-CN" b="1" dirty="0">
                <a:solidFill>
                  <a:srgbClr val="FF0000"/>
                </a:solidFill>
              </a:rPr>
              <a:t>1)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find </a:t>
            </a:r>
            <a:r>
              <a:rPr lang="en-US" altLang="zh-CN" b="1" dirty="0" err="1">
                <a:solidFill>
                  <a:srgbClr val="FF0000"/>
                </a:solidFill>
              </a:rPr>
              <a:t>R</a:t>
            </a:r>
            <a:r>
              <a:rPr lang="en-US" altLang="zh-CN" b="1" baseline="-25000" dirty="0" err="1">
                <a:solidFill>
                  <a:srgbClr val="FF0000"/>
                </a:solidFill>
              </a:rPr>
              <a:t>eq</a:t>
            </a:r>
            <a:r>
              <a:rPr lang="en-US" altLang="zh-CN" b="1" dirty="0">
                <a:solidFill>
                  <a:srgbClr val="FF0000"/>
                </a:solidFill>
              </a:rPr>
              <a:t>:</a:t>
            </a:r>
            <a:endParaRPr lang="en-US" altLang="zh-CN" b="1" baseline="-25000" dirty="0">
              <a:solidFill>
                <a:srgbClr val="FF0000"/>
              </a:solidFill>
            </a:endParaRPr>
          </a:p>
        </p:txBody>
      </p:sp>
      <p:grpSp>
        <p:nvGrpSpPr>
          <p:cNvPr id="317523" name="Group 83"/>
          <p:cNvGrpSpPr>
            <a:grpSpLocks/>
          </p:cNvGrpSpPr>
          <p:nvPr/>
        </p:nvGrpSpPr>
        <p:grpSpPr bwMode="auto">
          <a:xfrm>
            <a:off x="57150" y="3111500"/>
            <a:ext cx="2932113" cy="1893888"/>
            <a:chOff x="36" y="2232"/>
            <a:chExt cx="1847" cy="1193"/>
          </a:xfrm>
        </p:grpSpPr>
        <p:sp>
          <p:nvSpPr>
            <p:cNvPr id="317484" name="Rectangle 44"/>
            <p:cNvSpPr>
              <a:spLocks noChangeArrowheads="1"/>
            </p:cNvSpPr>
            <p:nvPr/>
          </p:nvSpPr>
          <p:spPr bwMode="auto">
            <a:xfrm>
              <a:off x="228" y="2491"/>
              <a:ext cx="1365" cy="925"/>
            </a:xfrm>
            <a:prstGeom prst="rect">
              <a:avLst/>
            </a:prstGeom>
            <a:noFill/>
            <a:ln w="317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486" name="Rectangle 46"/>
            <p:cNvSpPr>
              <a:spLocks noChangeArrowheads="1"/>
            </p:cNvSpPr>
            <p:nvPr/>
          </p:nvSpPr>
          <p:spPr bwMode="auto">
            <a:xfrm>
              <a:off x="487" y="2460"/>
              <a:ext cx="211" cy="81"/>
            </a:xfrm>
            <a:prstGeom prst="rect">
              <a:avLst/>
            </a:prstGeom>
            <a:solidFill>
              <a:schemeClr val="bg1"/>
            </a:solidFill>
            <a:ln w="317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487" name="Line 47"/>
            <p:cNvSpPr>
              <a:spLocks noChangeShapeType="1"/>
            </p:cNvSpPr>
            <p:nvPr/>
          </p:nvSpPr>
          <p:spPr bwMode="auto">
            <a:xfrm>
              <a:off x="942" y="2491"/>
              <a:ext cx="0" cy="925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488" name="Rectangle 48"/>
            <p:cNvSpPr>
              <a:spLocks noChangeArrowheads="1"/>
            </p:cNvSpPr>
            <p:nvPr/>
          </p:nvSpPr>
          <p:spPr bwMode="auto">
            <a:xfrm rot="5400000">
              <a:off x="836" y="2852"/>
              <a:ext cx="211" cy="81"/>
            </a:xfrm>
            <a:prstGeom prst="rect">
              <a:avLst/>
            </a:prstGeom>
            <a:solidFill>
              <a:schemeClr val="bg1"/>
            </a:solidFill>
            <a:ln w="317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490" name="AutoShape 50"/>
            <p:cNvSpPr>
              <a:spLocks noChangeArrowheads="1"/>
            </p:cNvSpPr>
            <p:nvPr/>
          </p:nvSpPr>
          <p:spPr bwMode="auto">
            <a:xfrm>
              <a:off x="104" y="2848"/>
              <a:ext cx="243" cy="219"/>
            </a:xfrm>
            <a:prstGeom prst="diamond">
              <a:avLst/>
            </a:prstGeom>
            <a:noFill/>
            <a:ln w="317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04" name="Text Box 64"/>
            <p:cNvSpPr txBox="1">
              <a:spLocks noChangeArrowheads="1"/>
            </p:cNvSpPr>
            <p:nvPr/>
          </p:nvSpPr>
          <p:spPr bwMode="auto">
            <a:xfrm>
              <a:off x="585" y="2238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b="1"/>
                <a:t>R</a:t>
              </a:r>
              <a:r>
                <a:rPr lang="en-US" altLang="zh-CN" sz="2000" b="1" baseline="-25000"/>
                <a:t>1</a:t>
              </a:r>
            </a:p>
          </p:txBody>
        </p:sp>
        <p:sp>
          <p:nvSpPr>
            <p:cNvPr id="317507" name="Text Box 67"/>
            <p:cNvSpPr txBox="1">
              <a:spLocks noChangeArrowheads="1"/>
            </p:cNvSpPr>
            <p:nvPr/>
          </p:nvSpPr>
          <p:spPr bwMode="auto">
            <a:xfrm>
              <a:off x="955" y="2787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b="1"/>
                <a:t>R</a:t>
              </a:r>
              <a:r>
                <a:rPr lang="en-US" altLang="zh-CN" sz="2000" b="1" baseline="-25000"/>
                <a:t>2</a:t>
              </a:r>
            </a:p>
          </p:txBody>
        </p:sp>
        <p:sp>
          <p:nvSpPr>
            <p:cNvPr id="317511" name="Text Box 71"/>
            <p:cNvSpPr txBox="1">
              <a:spLocks noChangeArrowheads="1"/>
            </p:cNvSpPr>
            <p:nvPr/>
          </p:nvSpPr>
          <p:spPr bwMode="auto">
            <a:xfrm>
              <a:off x="36" y="2639"/>
              <a:ext cx="341" cy="5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b="1"/>
                <a:t>+</a:t>
              </a:r>
              <a:endParaRPr lang="en-US" altLang="zh-CN" b="1" i="1"/>
            </a:p>
            <a:p>
              <a:pPr algn="l">
                <a:spcBef>
                  <a:spcPct val="50000"/>
                </a:spcBef>
              </a:pPr>
              <a:r>
                <a:rPr lang="en-US" altLang="zh-CN" b="1" i="1"/>
                <a:t>-</a:t>
              </a:r>
            </a:p>
          </p:txBody>
        </p:sp>
        <p:sp>
          <p:nvSpPr>
            <p:cNvPr id="317512" name="Rectangle 72"/>
            <p:cNvSpPr>
              <a:spLocks noChangeArrowheads="1"/>
            </p:cNvSpPr>
            <p:nvPr/>
          </p:nvSpPr>
          <p:spPr bwMode="auto">
            <a:xfrm>
              <a:off x="228" y="2998"/>
              <a:ext cx="8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2000" b="1"/>
                <a:t>2</a:t>
              </a:r>
              <a:r>
                <a:rPr lang="en-US" altLang="zh-CN" sz="1400" b="1"/>
                <a:t>×</a:t>
              </a:r>
              <a:r>
                <a:rPr lang="en-US" altLang="zh-CN" sz="2000" b="1"/>
                <a:t>10</a:t>
              </a:r>
              <a:r>
                <a:rPr lang="en-US" altLang="zh-CN" sz="2000" b="1" baseline="30000"/>
                <a:t>3</a:t>
              </a:r>
              <a:r>
                <a:rPr lang="en-US" altLang="zh-CN" sz="2800" b="1" i="1">
                  <a:solidFill>
                    <a:srgbClr val="FF0000"/>
                  </a:solidFill>
                </a:rPr>
                <a:t>i</a:t>
              </a:r>
              <a:endParaRPr lang="zh-CN" altLang="en-US" sz="2800" b="1" i="1">
                <a:solidFill>
                  <a:srgbClr val="FF0000"/>
                </a:solidFill>
              </a:endParaRPr>
            </a:p>
          </p:txBody>
        </p:sp>
        <p:sp>
          <p:nvSpPr>
            <p:cNvPr id="317513" name="Line 73"/>
            <p:cNvSpPr>
              <a:spLocks noChangeShapeType="1"/>
            </p:cNvSpPr>
            <p:nvPr/>
          </p:nvSpPr>
          <p:spPr bwMode="auto">
            <a:xfrm>
              <a:off x="1135" y="2491"/>
              <a:ext cx="139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14" name="Rectangle 74"/>
            <p:cNvSpPr>
              <a:spLocks noChangeArrowheads="1"/>
            </p:cNvSpPr>
            <p:nvPr/>
          </p:nvSpPr>
          <p:spPr bwMode="auto">
            <a:xfrm>
              <a:off x="1079" y="2232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solidFill>
                    <a:srgbClr val="FF0000"/>
                  </a:solidFill>
                </a:rPr>
                <a:t>i</a:t>
              </a:r>
              <a:endParaRPr lang="zh-CN" altLang="en-US" b="1" i="1">
                <a:solidFill>
                  <a:srgbClr val="FF0000"/>
                </a:solidFill>
              </a:endParaRPr>
            </a:p>
          </p:txBody>
        </p:sp>
        <p:sp>
          <p:nvSpPr>
            <p:cNvPr id="317500" name="Oval 60"/>
            <p:cNvSpPr>
              <a:spLocks noChangeArrowheads="1"/>
            </p:cNvSpPr>
            <p:nvPr/>
          </p:nvSpPr>
          <p:spPr bwMode="auto">
            <a:xfrm flipV="1">
              <a:off x="1372" y="2474"/>
              <a:ext cx="27" cy="27"/>
            </a:xfrm>
            <a:prstGeom prst="ellipse">
              <a:avLst/>
            </a:prstGeom>
            <a:noFill/>
            <a:ln w="317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16" name="Oval 76"/>
            <p:cNvSpPr>
              <a:spLocks noChangeArrowheads="1"/>
            </p:cNvSpPr>
            <p:nvPr/>
          </p:nvSpPr>
          <p:spPr bwMode="auto">
            <a:xfrm flipV="1">
              <a:off x="1376" y="3398"/>
              <a:ext cx="27" cy="27"/>
            </a:xfrm>
            <a:prstGeom prst="ellipse">
              <a:avLst/>
            </a:prstGeom>
            <a:noFill/>
            <a:ln w="317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18" name="Text Box 78"/>
            <p:cNvSpPr txBox="1">
              <a:spLocks noChangeArrowheads="1"/>
            </p:cNvSpPr>
            <p:nvPr/>
          </p:nvSpPr>
          <p:spPr bwMode="auto">
            <a:xfrm>
              <a:off x="1653" y="2542"/>
              <a:ext cx="230" cy="8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algn="ctr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/>
                <a:t>+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2000"/>
                <a:t>u</a:t>
              </a:r>
            </a:p>
            <a:p>
              <a:pPr>
                <a:spcBef>
                  <a:spcPct val="50000"/>
                </a:spcBef>
              </a:pPr>
              <a:r>
                <a:rPr lang="en-US" altLang="zh-CN"/>
                <a:t>-</a:t>
              </a:r>
            </a:p>
          </p:txBody>
        </p:sp>
        <p:sp>
          <p:nvSpPr>
            <p:cNvPr id="317520" name="Oval 80"/>
            <p:cNvSpPr>
              <a:spLocks noChangeArrowheads="1"/>
            </p:cNvSpPr>
            <p:nvPr/>
          </p:nvSpPr>
          <p:spPr bwMode="auto">
            <a:xfrm>
              <a:off x="1484" y="2848"/>
              <a:ext cx="215" cy="219"/>
            </a:xfrm>
            <a:prstGeom prst="ellipse">
              <a:avLst/>
            </a:prstGeom>
            <a:noFill/>
            <a:ln w="317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17521" name="Object 81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95275" y="5121275"/>
          <a:ext cx="2682875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26" name="公式" r:id="rId3" imgW="1460160" imgH="457200" progId="Equation.3">
                  <p:embed/>
                </p:oleObj>
              </mc:Choice>
              <mc:Fallback>
                <p:oleObj name="公式" r:id="rId3" imgW="14601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" y="5121275"/>
                        <a:ext cx="2682875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5" name="Object 8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95275" y="5976938"/>
          <a:ext cx="213995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27" name="公式" r:id="rId5" imgW="1079280" imgH="406080" progId="Equation.3">
                  <p:embed/>
                </p:oleObj>
              </mc:Choice>
              <mc:Fallback>
                <p:oleObj name="公式" r:id="rId5" imgW="10792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" y="5976938"/>
                        <a:ext cx="2139950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8" name="Object 88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477631313"/>
              </p:ext>
            </p:extLst>
          </p:nvPr>
        </p:nvGraphicFramePr>
        <p:xfrm>
          <a:off x="4722813" y="2289175"/>
          <a:ext cx="2724150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28" name="公式" r:id="rId7" imgW="1384200" imgH="444240" progId="Equation.3">
                  <p:embed/>
                </p:oleObj>
              </mc:Choice>
              <mc:Fallback>
                <p:oleObj name="公式" r:id="rId7" imgW="13842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2813" y="2289175"/>
                        <a:ext cx="2724150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31" name="Object 91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855689239"/>
              </p:ext>
            </p:extLst>
          </p:nvPr>
        </p:nvGraphicFramePr>
        <p:xfrm>
          <a:off x="4848225" y="4327525"/>
          <a:ext cx="2971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29" name="公式" r:id="rId9" imgW="1320480" imgH="406080" progId="Equation.3">
                  <p:embed/>
                </p:oleObj>
              </mc:Choice>
              <mc:Fallback>
                <p:oleObj name="公式" r:id="rId9" imgW="13204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8225" y="4327525"/>
                        <a:ext cx="2971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ADBD-3689-45E3-AA7C-EB65285A4449}" type="slidenum">
              <a:rPr lang="zh-CN" altLang="en-US" smtClean="0"/>
              <a:pPr/>
              <a:t>45</a:t>
            </a:fld>
            <a:endParaRPr lang="en-US" altLang="zh-CN"/>
          </a:p>
        </p:txBody>
      </p:sp>
      <p:sp>
        <p:nvSpPr>
          <p:cNvPr id="317524" name="Oval 84"/>
          <p:cNvSpPr>
            <a:spLocks noChangeArrowheads="1"/>
          </p:cNvSpPr>
          <p:nvPr/>
        </p:nvSpPr>
        <p:spPr bwMode="auto">
          <a:xfrm>
            <a:off x="1301750" y="3384550"/>
            <a:ext cx="411163" cy="284163"/>
          </a:xfrm>
          <a:prstGeom prst="ellipse">
            <a:avLst/>
          </a:prstGeom>
          <a:noFill/>
          <a:ln w="31750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534" name="Rectangle 94"/>
          <p:cNvSpPr>
            <a:spLocks noChangeArrowheads="1"/>
          </p:cNvSpPr>
          <p:nvPr/>
        </p:nvSpPr>
        <p:spPr bwMode="auto">
          <a:xfrm>
            <a:off x="4575824" y="1344613"/>
            <a:ext cx="17411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</a:rPr>
              <a:t>2) Find </a:t>
            </a:r>
            <a:r>
              <a:rPr lang="en-US" altLang="zh-CN" b="1" dirty="0" err="1">
                <a:solidFill>
                  <a:srgbClr val="FF0000"/>
                </a:solidFill>
              </a:rPr>
              <a:t>C</a:t>
            </a:r>
            <a:r>
              <a:rPr lang="en-US" altLang="zh-CN" b="1" baseline="-25000" dirty="0" err="1">
                <a:solidFill>
                  <a:srgbClr val="FF0000"/>
                </a:solidFill>
              </a:rPr>
              <a:t>eq</a:t>
            </a:r>
            <a:r>
              <a:rPr lang="en-US" altLang="zh-CN" b="1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317535" name="Rectangle 95"/>
          <p:cNvSpPr>
            <a:spLocks noChangeArrowheads="1"/>
          </p:cNvSpPr>
          <p:nvPr/>
        </p:nvSpPr>
        <p:spPr bwMode="auto">
          <a:xfrm>
            <a:off x="4763241" y="3473450"/>
            <a:ext cx="15709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</a:rPr>
              <a:t>3) Find </a:t>
            </a:r>
            <a:r>
              <a:rPr lang="el-GR" altLang="zh-CN" sz="2800" b="1" dirty="0">
                <a:solidFill>
                  <a:srgbClr val="FF0000"/>
                </a:solidFill>
              </a:rPr>
              <a:t>τ</a:t>
            </a:r>
            <a:r>
              <a:rPr lang="en-US" altLang="zh-CN" sz="2800" b="1" dirty="0">
                <a:solidFill>
                  <a:srgbClr val="FF00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60923070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7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7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7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7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7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7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7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7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7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7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7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7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17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1" grpId="0"/>
      <p:bldP spid="317524" grpId="0" animBg="1"/>
      <p:bldP spid="317534" grpId="0"/>
      <p:bldP spid="31753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1042988" y="188913"/>
            <a:ext cx="7273925" cy="604837"/>
          </a:xfrm>
        </p:spPr>
        <p:txBody>
          <a:bodyPr/>
          <a:lstStyle/>
          <a:p>
            <a:r>
              <a:rPr kumimoji="1" lang="en-US" altLang="zh-CN" sz="4000" kern="1200" dirty="0">
                <a:ea typeface="宋体" pitchFamily="2" charset="-122"/>
              </a:rPr>
              <a:t>7.9    Application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3E9D0-4E7D-494B-9FDA-030BD051EAFE}" type="slidenum">
              <a:rPr lang="en-US" altLang="zh-CN" smtClean="0"/>
              <a:pPr/>
              <a:t>46</a:t>
            </a:fld>
            <a:endParaRPr lang="en-US" altLang="zh-CN"/>
          </a:p>
        </p:txBody>
      </p:sp>
      <p:sp>
        <p:nvSpPr>
          <p:cNvPr id="182275" name="Rectangle 3"/>
          <p:cNvSpPr>
            <a:spLocks noRot="1" noChangeArrowheads="1"/>
          </p:cNvSpPr>
          <p:nvPr/>
        </p:nvSpPr>
        <p:spPr bwMode="auto">
          <a:xfrm>
            <a:off x="395288" y="1125538"/>
            <a:ext cx="8497887" cy="4248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en-US" altLang="zh-CN" sz="2800" dirty="0"/>
              <a:t>Delay Circuit </a:t>
            </a:r>
          </a:p>
          <a:p>
            <a:pPr marL="609600" indent="-609600" algn="l"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en-US" altLang="zh-CN" sz="2800" dirty="0"/>
              <a:t>Photoflash Unit </a:t>
            </a:r>
          </a:p>
          <a:p>
            <a:pPr marL="609600" indent="-609600" algn="l"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en-US" altLang="zh-CN" sz="2800" dirty="0"/>
              <a:t>Relay Circuit </a:t>
            </a:r>
          </a:p>
          <a:p>
            <a:pPr marL="609600" indent="-609600" algn="l"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en-US" altLang="zh-CN" sz="2800" dirty="0"/>
              <a:t>Automobile Ignition Circuit </a:t>
            </a:r>
          </a:p>
          <a:p>
            <a:pPr marL="609600" indent="-609600" algn="l">
              <a:buClr>
                <a:schemeClr val="tx1"/>
              </a:buClr>
            </a:pPr>
            <a:r>
              <a:rPr lang="en-US" altLang="zh-CN" sz="2800" i="1" u="sng" dirty="0">
                <a:solidFill>
                  <a:srgbClr val="FF6600"/>
                </a:solidFill>
              </a:rPr>
              <a:t>In addition</a:t>
            </a:r>
            <a:r>
              <a:rPr lang="en-US" altLang="zh-CN" sz="2800" dirty="0"/>
              <a:t>: Filtering in DC power supplies</a:t>
            </a:r>
          </a:p>
          <a:p>
            <a:pPr marL="609600" indent="-609600" algn="l">
              <a:buClr>
                <a:schemeClr val="tx1"/>
              </a:buClr>
            </a:pPr>
            <a:r>
              <a:rPr lang="en-US" altLang="zh-CN" sz="2800" dirty="0"/>
              <a:t>                    Smoothing circuits in digital communications</a:t>
            </a:r>
          </a:p>
          <a:p>
            <a:pPr marL="609600" indent="-609600" algn="l">
              <a:buClr>
                <a:schemeClr val="tx1"/>
              </a:buClr>
            </a:pPr>
            <a:r>
              <a:rPr lang="en-US" altLang="zh-CN" sz="2800" dirty="0"/>
              <a:t>                    Differentiators</a:t>
            </a:r>
          </a:p>
          <a:p>
            <a:pPr marL="609600" indent="-609600" algn="l">
              <a:buClr>
                <a:schemeClr val="tx1"/>
              </a:buClr>
            </a:pPr>
            <a:r>
              <a:rPr lang="en-US" altLang="zh-CN" sz="2800" dirty="0"/>
              <a:t>                    Integrators</a:t>
            </a:r>
          </a:p>
        </p:txBody>
      </p:sp>
    </p:spTree>
    <p:extLst>
      <p:ext uri="{BB962C8B-B14F-4D97-AF65-F5344CB8AC3E}">
        <p14:creationId xmlns:p14="http://schemas.microsoft.com/office/powerpoint/2010/main" val="337728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Text Box 2"/>
          <p:cNvSpPr txBox="1">
            <a:spLocks noChangeArrowheads="1"/>
          </p:cNvSpPr>
          <p:nvPr/>
        </p:nvSpPr>
        <p:spPr bwMode="auto">
          <a:xfrm>
            <a:off x="250825" y="250038"/>
            <a:ext cx="2664991" cy="52386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b="1" dirty="0">
                <a:solidFill>
                  <a:srgbClr val="FF0000"/>
                </a:solidFill>
                <a:ea typeface="仿宋_GB2312" pitchFamily="49" charset="-122"/>
              </a:rPr>
              <a:t>1. Delay Circuit</a:t>
            </a:r>
          </a:p>
        </p:txBody>
      </p:sp>
      <p:sp>
        <p:nvSpPr>
          <p:cNvPr id="183303" name="Rectangle 7"/>
          <p:cNvSpPr>
            <a:spLocks noRot="1" noChangeArrowheads="1"/>
          </p:cNvSpPr>
          <p:nvPr/>
        </p:nvSpPr>
        <p:spPr bwMode="auto">
          <a:xfrm>
            <a:off x="468313" y="1412875"/>
            <a:ext cx="2089150" cy="5762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800" b="1" i="1" dirty="0">
                <a:solidFill>
                  <a:srgbClr val="FF6600"/>
                </a:solidFill>
              </a:rPr>
              <a:t>Neon Lamp</a:t>
            </a:r>
            <a:r>
              <a:rPr lang="en-US" altLang="zh-CN" sz="2800" b="1" dirty="0">
                <a:solidFill>
                  <a:srgbClr val="FF6600"/>
                </a:solidFill>
              </a:rPr>
              <a:t>:</a:t>
            </a:r>
            <a:endParaRPr lang="en-US" altLang="zh-CN" sz="2800" dirty="0">
              <a:solidFill>
                <a:srgbClr val="FF6600"/>
              </a:solidFill>
            </a:endParaRPr>
          </a:p>
        </p:txBody>
      </p:sp>
      <p:graphicFrame>
        <p:nvGraphicFramePr>
          <p:cNvPr id="183304" name="Object 8"/>
          <p:cNvGraphicFramePr>
            <a:graphicFrameLocks noChangeAspect="1"/>
          </p:cNvGraphicFramePr>
          <p:nvPr/>
        </p:nvGraphicFramePr>
        <p:xfrm>
          <a:off x="379413" y="5876925"/>
          <a:ext cx="4741862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50" name="Equation" r:id="rId3" imgW="2158920" imgH="253800" progId="Equation.DSMT4">
                  <p:embed/>
                </p:oleObj>
              </mc:Choice>
              <mc:Fallback>
                <p:oleObj name="Equation" r:id="rId3" imgW="21589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413" y="5876925"/>
                        <a:ext cx="4741862" cy="5619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5" name="Object 9"/>
          <p:cNvGraphicFramePr>
            <a:graphicFrameLocks noChangeAspect="1"/>
          </p:cNvGraphicFramePr>
          <p:nvPr/>
        </p:nvGraphicFramePr>
        <p:xfrm>
          <a:off x="250825" y="5300663"/>
          <a:ext cx="71739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51" name="Equation" r:id="rId5" imgW="3263760" imgH="228600" progId="Equation.DSMT4">
                  <p:embed/>
                </p:oleObj>
              </mc:Choice>
              <mc:Fallback>
                <p:oleObj name="Equation" r:id="rId5" imgW="3263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5300663"/>
                        <a:ext cx="7173913" cy="5048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6" name="Object 10"/>
          <p:cNvGraphicFramePr>
            <a:graphicFrameLocks noChangeAspect="1"/>
          </p:cNvGraphicFramePr>
          <p:nvPr/>
        </p:nvGraphicFramePr>
        <p:xfrm>
          <a:off x="3708400" y="188913"/>
          <a:ext cx="4843463" cy="167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52" name="Visio" r:id="rId7" imgW="3106826" imgH="1163726" progId="Visio.Drawing.11">
                  <p:embed/>
                </p:oleObj>
              </mc:Choice>
              <mc:Fallback>
                <p:oleObj name="Visio" r:id="rId7" imgW="3106826" imgH="1163726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188913"/>
                        <a:ext cx="4843463" cy="16732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7" name="Object 11"/>
          <p:cNvGraphicFramePr>
            <a:graphicFrameLocks noChangeAspect="1"/>
          </p:cNvGraphicFramePr>
          <p:nvPr/>
        </p:nvGraphicFramePr>
        <p:xfrm>
          <a:off x="307975" y="2060575"/>
          <a:ext cx="8512175" cy="248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53" name="Equation" r:id="rId9" imgW="3873240" imgH="1130040" progId="Equation.DSMT4">
                  <p:embed/>
                </p:oleObj>
              </mc:Choice>
              <mc:Fallback>
                <p:oleObj name="Equation" r:id="rId9" imgW="3873240" imgH="1130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" y="2060575"/>
                        <a:ext cx="8512175" cy="2489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08" name="Rectangle 12"/>
          <p:cNvSpPr>
            <a:spLocks noRot="1" noChangeArrowheads="1"/>
          </p:cNvSpPr>
          <p:nvPr/>
        </p:nvSpPr>
        <p:spPr bwMode="auto">
          <a:xfrm>
            <a:off x="468313" y="4652963"/>
            <a:ext cx="3527425" cy="576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800" b="1" i="1" dirty="0">
                <a:solidFill>
                  <a:srgbClr val="FF0000"/>
                </a:solidFill>
              </a:rPr>
              <a:t>Analysis of the circuit</a:t>
            </a:r>
            <a:r>
              <a:rPr lang="en-US" altLang="zh-CN" sz="2800" b="1" dirty="0">
                <a:solidFill>
                  <a:srgbClr val="FF0000"/>
                </a:solidFill>
              </a:rPr>
              <a:t>: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5004048" y="6394474"/>
            <a:ext cx="2895600" cy="457200"/>
          </a:xfrm>
        </p:spPr>
        <p:txBody>
          <a:bodyPr/>
          <a:lstStyle/>
          <a:p>
            <a:r>
              <a:rPr lang="en-US" altLang="zh-CN" dirty="0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3E9D0-4E7D-494B-9FDA-030BD051EAFE}" type="slidenum">
              <a:rPr lang="en-US" altLang="zh-CN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5142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3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3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3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3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3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3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3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3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3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8" grpId="0" animBg="1" autoUpdateAnimBg="0"/>
      <p:bldP spid="183303" grpId="0" animBg="1"/>
      <p:bldP spid="18330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4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12193"/>
              </p:ext>
            </p:extLst>
          </p:nvPr>
        </p:nvGraphicFramePr>
        <p:xfrm>
          <a:off x="220662" y="1988840"/>
          <a:ext cx="474186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99" name="Equation" r:id="rId3" imgW="2158920" imgH="253800" progId="Equation.DSMT4">
                  <p:embed/>
                </p:oleObj>
              </mc:Choice>
              <mc:Fallback>
                <p:oleObj name="Equation" r:id="rId3" imgW="21589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2" y="1988840"/>
                        <a:ext cx="4741863" cy="5619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67" name="Object 3"/>
          <p:cNvGraphicFramePr>
            <a:graphicFrameLocks noChangeAspect="1"/>
          </p:cNvGraphicFramePr>
          <p:nvPr/>
        </p:nvGraphicFramePr>
        <p:xfrm>
          <a:off x="179388" y="188913"/>
          <a:ext cx="4843462" cy="167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00" name="Visio" r:id="rId5" imgW="3106826" imgH="1163726" progId="Visio.Drawing.11">
                  <p:embed/>
                </p:oleObj>
              </mc:Choice>
              <mc:Fallback>
                <p:oleObj name="Visio" r:id="rId5" imgW="3106826" imgH="1163726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88913"/>
                        <a:ext cx="4843462" cy="16732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68" name="Rectangle 4"/>
          <p:cNvSpPr>
            <a:spLocks noRot="1" noChangeArrowheads="1"/>
          </p:cNvSpPr>
          <p:nvPr/>
        </p:nvSpPr>
        <p:spPr bwMode="auto">
          <a:xfrm>
            <a:off x="106363" y="2708275"/>
            <a:ext cx="4970462" cy="5048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400"/>
              <a:t>Assuming that </a:t>
            </a:r>
            <a:r>
              <a:rPr lang="en-US" altLang="zh-CN" sz="2400" i="1"/>
              <a:t>v</a:t>
            </a:r>
            <a:r>
              <a:rPr lang="en-US" altLang="zh-CN" sz="2400" baseline="-25000"/>
              <a:t>C</a:t>
            </a:r>
            <a:r>
              <a:rPr lang="en-US" altLang="zh-CN" sz="2400"/>
              <a:t>(</a:t>
            </a:r>
            <a:r>
              <a:rPr lang="en-US" altLang="zh-CN" sz="2400" i="1"/>
              <a:t>t</a:t>
            </a:r>
            <a:r>
              <a:rPr lang="en-US" altLang="zh-CN" sz="2400"/>
              <a:t>)=</a:t>
            </a:r>
            <a:r>
              <a:rPr lang="en-US" altLang="zh-CN" sz="2400" i="1"/>
              <a:t>V</a:t>
            </a:r>
            <a:r>
              <a:rPr lang="en-US" altLang="zh-CN" sz="2400" i="1" baseline="-25000"/>
              <a:t>n</a:t>
            </a:r>
            <a:r>
              <a:rPr lang="en-US" altLang="zh-CN" sz="2400"/>
              <a:t> at</a:t>
            </a:r>
            <a:r>
              <a:rPr lang="en-US" altLang="zh-CN" sz="2400" i="1"/>
              <a:t> t=t</a:t>
            </a:r>
            <a:r>
              <a:rPr lang="en-US" altLang="zh-CN" sz="2400" i="1" baseline="-25000"/>
              <a:t>o</a:t>
            </a:r>
            <a:r>
              <a:rPr lang="en-US" altLang="zh-CN" sz="2400"/>
              <a:t>, there is</a:t>
            </a:r>
          </a:p>
        </p:txBody>
      </p:sp>
      <p:graphicFrame>
        <p:nvGraphicFramePr>
          <p:cNvPr id="190469" name="Object 5"/>
          <p:cNvGraphicFramePr>
            <a:graphicFrameLocks noChangeAspect="1"/>
          </p:cNvGraphicFramePr>
          <p:nvPr/>
        </p:nvGraphicFramePr>
        <p:xfrm>
          <a:off x="1042988" y="3500438"/>
          <a:ext cx="287337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01" name="Equation" r:id="rId7" imgW="1307880" imgH="431640" progId="Equation.DSMT4">
                  <p:embed/>
                </p:oleObj>
              </mc:Choice>
              <mc:Fallback>
                <p:oleObj name="Equation" r:id="rId7" imgW="1307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500438"/>
                        <a:ext cx="2873375" cy="9540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0" name="Object 6"/>
          <p:cNvGraphicFramePr>
            <a:graphicFrameLocks noChangeAspect="1"/>
          </p:cNvGraphicFramePr>
          <p:nvPr/>
        </p:nvGraphicFramePr>
        <p:xfrm>
          <a:off x="395288" y="3860800"/>
          <a:ext cx="41910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02" name="Equation" r:id="rId9" imgW="190440" imgH="152280" progId="Equation.DSMT4">
                  <p:embed/>
                </p:oleObj>
              </mc:Choice>
              <mc:Fallback>
                <p:oleObj name="Equation" r:id="rId9" imgW="19044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860800"/>
                        <a:ext cx="419100" cy="3349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9152006"/>
              </p:ext>
            </p:extLst>
          </p:nvPr>
        </p:nvGraphicFramePr>
        <p:xfrm>
          <a:off x="4211960" y="3861048"/>
          <a:ext cx="41910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03" name="Equation" r:id="rId11" imgW="190440" imgH="152280" progId="Equation.DSMT4">
                  <p:embed/>
                </p:oleObj>
              </mc:Choice>
              <mc:Fallback>
                <p:oleObj name="Equation" r:id="rId11" imgW="19044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3861048"/>
                        <a:ext cx="419100" cy="3349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57311"/>
              </p:ext>
            </p:extLst>
          </p:nvPr>
        </p:nvGraphicFramePr>
        <p:xfrm>
          <a:off x="5076825" y="3501008"/>
          <a:ext cx="320675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04" name="Equation" r:id="rId13" imgW="1460160" imgH="431640" progId="Equation.DSMT4">
                  <p:embed/>
                </p:oleObj>
              </mc:Choice>
              <mc:Fallback>
                <p:oleObj name="Equation" r:id="rId13" imgW="1460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3501008"/>
                        <a:ext cx="3206750" cy="9540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1001300"/>
              </p:ext>
            </p:extLst>
          </p:nvPr>
        </p:nvGraphicFramePr>
        <p:xfrm>
          <a:off x="395536" y="4941168"/>
          <a:ext cx="41910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05" name="Equation" r:id="rId15" imgW="190440" imgH="152280" progId="Equation.DSMT4">
                  <p:embed/>
                </p:oleObj>
              </mc:Choice>
              <mc:Fallback>
                <p:oleObj name="Equation" r:id="rId15" imgW="19044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4941168"/>
                        <a:ext cx="419100" cy="3349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844135"/>
              </p:ext>
            </p:extLst>
          </p:nvPr>
        </p:nvGraphicFramePr>
        <p:xfrm>
          <a:off x="1057275" y="4869160"/>
          <a:ext cx="3068638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06" name="Equation" r:id="rId17" imgW="1396800" imgH="431640" progId="Equation.DSMT4">
                  <p:embed/>
                </p:oleObj>
              </mc:Choice>
              <mc:Fallback>
                <p:oleObj name="Equation" r:id="rId17" imgW="1396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275" y="4869160"/>
                        <a:ext cx="3068638" cy="9540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4278478"/>
              </p:ext>
            </p:extLst>
          </p:nvPr>
        </p:nvGraphicFramePr>
        <p:xfrm>
          <a:off x="5099050" y="1366506"/>
          <a:ext cx="150495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07" name="Equation" r:id="rId19" imgW="685800" imgH="228600" progId="Equation.DSMT4">
                  <p:embed/>
                </p:oleObj>
              </mc:Choice>
              <mc:Fallback>
                <p:oleObj name="Equation" r:id="rId19" imgW="685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9050" y="1366506"/>
                        <a:ext cx="1504950" cy="5064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78" name="Rectangle 14"/>
          <p:cNvSpPr>
            <a:spLocks noRot="1" noChangeArrowheads="1"/>
          </p:cNvSpPr>
          <p:nvPr/>
        </p:nvSpPr>
        <p:spPr bwMode="auto">
          <a:xfrm>
            <a:off x="5076825" y="4558548"/>
            <a:ext cx="3851275" cy="1980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algn="l"/>
            <a:r>
              <a:rPr lang="en-US" altLang="zh-CN" sz="2800" b="1" i="1" dirty="0">
                <a:solidFill>
                  <a:srgbClr val="FF0000"/>
                </a:solidFill>
              </a:rPr>
              <a:t>Common Applications</a:t>
            </a:r>
            <a:r>
              <a:rPr lang="en-US" altLang="zh-CN" sz="2800" b="1" dirty="0">
                <a:solidFill>
                  <a:srgbClr val="FF0000"/>
                </a:solidFill>
              </a:rPr>
              <a:t>:</a:t>
            </a:r>
          </a:p>
          <a:p>
            <a:pPr marL="609600" indent="-609600" algn="l">
              <a:buFont typeface="Wingdings" pitchFamily="2" charset="2"/>
              <a:buChar char="l"/>
            </a:pPr>
            <a:r>
              <a:rPr lang="en-US" altLang="zh-CN" sz="2400" dirty="0">
                <a:solidFill>
                  <a:srgbClr val="FF0000"/>
                </a:solidFill>
              </a:rPr>
              <a:t>The </a:t>
            </a:r>
            <a:r>
              <a:rPr lang="en-US" altLang="zh-CN" sz="2400" u="sng" dirty="0">
                <a:solidFill>
                  <a:srgbClr val="FF0000"/>
                </a:solidFill>
              </a:rPr>
              <a:t>warning blinkers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</a:p>
          <a:p>
            <a:pPr marL="609600" indent="-609600" algn="l"/>
            <a:r>
              <a:rPr lang="en-US" altLang="zh-CN" sz="2400" dirty="0">
                <a:solidFill>
                  <a:srgbClr val="FF0000"/>
                </a:solidFill>
              </a:rPr>
              <a:t>on </a:t>
            </a:r>
            <a:r>
              <a:rPr lang="en-US" altLang="zh-CN" sz="2400" u="sng" dirty="0">
                <a:solidFill>
                  <a:srgbClr val="FF0000"/>
                </a:solidFill>
              </a:rPr>
              <a:t>road construction sites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</a:p>
          <a:p>
            <a:pPr marL="609600" indent="-609600" algn="l">
              <a:buFont typeface="Wingdings" pitchFamily="2" charset="2"/>
              <a:buChar char="l"/>
            </a:pPr>
            <a:r>
              <a:rPr lang="en-US" altLang="zh-CN" sz="2400" u="sng" dirty="0">
                <a:solidFill>
                  <a:srgbClr val="FF0000"/>
                </a:solidFill>
              </a:rPr>
              <a:t>Aviation</a:t>
            </a:r>
            <a:r>
              <a:rPr lang="zh-CN" altLang="en-US" sz="2400" u="sng" dirty="0">
                <a:solidFill>
                  <a:srgbClr val="FF0000"/>
                </a:solidFill>
              </a:rPr>
              <a:t> </a:t>
            </a:r>
            <a:r>
              <a:rPr lang="en-US" altLang="zh-CN" sz="2400" u="sng" dirty="0">
                <a:solidFill>
                  <a:srgbClr val="FF0000"/>
                </a:solidFill>
              </a:rPr>
              <a:t>obstruction</a:t>
            </a:r>
            <a:r>
              <a:rPr lang="zh-CN" altLang="en-US" sz="2400" u="sng" dirty="0">
                <a:solidFill>
                  <a:srgbClr val="FF0000"/>
                </a:solidFill>
              </a:rPr>
              <a:t> </a:t>
            </a:r>
            <a:r>
              <a:rPr lang="en-US" altLang="zh-CN" sz="2400" u="sng" dirty="0">
                <a:solidFill>
                  <a:srgbClr val="FF0000"/>
                </a:solidFill>
              </a:rPr>
              <a:t>light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TJU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7028706" y="6400800"/>
            <a:ext cx="1905000" cy="457200"/>
          </a:xfrm>
        </p:spPr>
        <p:txBody>
          <a:bodyPr/>
          <a:lstStyle/>
          <a:p>
            <a:fld id="{2213E9D0-4E7D-494B-9FDA-030BD051EAFE}" type="slidenum">
              <a:rPr lang="en-US" altLang="zh-CN" smtClean="0"/>
              <a:pPr/>
              <a:t>48</a:t>
            </a:fld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BA0B8BE-7F24-6D45-9796-51DD5FC9AA1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200" y="201702"/>
            <a:ext cx="2243138" cy="23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298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0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0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0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0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0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0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8" grpId="0" animBg="1"/>
      <p:bldP spid="190478" grpId="0" animBg="1"/>
    </p:bldLst>
  </p:timing>
</p:sld>
</file>

<file path=ppt/theme/theme1.xml><?xml version="1.0" encoding="utf-8"?>
<a:theme xmlns:a="http://schemas.openxmlformats.org/drawingml/2006/main" name="Balloons">
  <a:themeElements>
    <a:clrScheme name="Balloons 8">
      <a:dk1>
        <a:srgbClr val="006699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5682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Balloon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alloons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11308</TotalTime>
  <Words>2296</Words>
  <Application>Microsoft Macintosh PowerPoint</Application>
  <PresentationFormat>全屏显示(4:3)</PresentationFormat>
  <Paragraphs>692</Paragraphs>
  <Slides>48</Slides>
  <Notes>0</Notes>
  <HiddenSlides>4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48</vt:i4>
      </vt:variant>
    </vt:vector>
  </HeadingPairs>
  <TitlesOfParts>
    <vt:vector size="62" baseType="lpstr">
      <vt:lpstr>仿宋_GB2312</vt:lpstr>
      <vt:lpstr>宋体</vt:lpstr>
      <vt:lpstr>Arial</vt:lpstr>
      <vt:lpstr>Comic Sans MS</vt:lpstr>
      <vt:lpstr>Monotype Sorts</vt:lpstr>
      <vt:lpstr>Tahoma</vt:lpstr>
      <vt:lpstr>Times New Roman</vt:lpstr>
      <vt:lpstr>Verdana</vt:lpstr>
      <vt:lpstr>Wingdings</vt:lpstr>
      <vt:lpstr>Balloons</vt:lpstr>
      <vt:lpstr>公式</vt:lpstr>
      <vt:lpstr>Equation</vt:lpstr>
      <vt:lpstr>Visio</vt:lpstr>
      <vt:lpstr>Equation.3</vt:lpstr>
      <vt:lpstr>Chapter 7 First-order Circuits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7.2 The source-free RC circuit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7.3 The source-free RL circuit</vt:lpstr>
      <vt:lpstr>PowerPoint 演示文稿</vt:lpstr>
      <vt:lpstr>PowerPoint 演示文稿</vt:lpstr>
      <vt:lpstr>Summary：Solutions for source-free circuit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7.4   Singularity Function </vt:lpstr>
      <vt:lpstr>PowerPoint 演示文稿</vt:lpstr>
      <vt:lpstr>PowerPoint 演示文稿</vt:lpstr>
      <vt:lpstr>7.5 Step Response of An RC Circuit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Shortcut method for analyzing first-order circuit</vt:lpstr>
      <vt:lpstr>Example 1</vt:lpstr>
      <vt:lpstr>Example 2</vt:lpstr>
      <vt:lpstr>7.6 Step Response of An RL Circuit</vt:lpstr>
      <vt:lpstr>PowerPoint 演示文稿</vt:lpstr>
      <vt:lpstr>PowerPoint 演示文稿</vt:lpstr>
      <vt:lpstr>PowerPoint 演示文稿</vt:lpstr>
      <vt:lpstr>PowerPoint 演示文稿</vt:lpstr>
      <vt:lpstr>Example 2</vt:lpstr>
      <vt:lpstr>PowerPoint 演示文稿</vt:lpstr>
      <vt:lpstr>7.9    Application</vt:lpstr>
      <vt:lpstr>PowerPoint 演示文稿</vt:lpstr>
      <vt:lpstr>PowerPoint 演示文稿</vt:lpstr>
    </vt:vector>
  </TitlesOfParts>
  <Company>liping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</dc:title>
  <dc:creator>kylin</dc:creator>
  <cp:lastModifiedBy>xiong Grace</cp:lastModifiedBy>
  <cp:revision>241</cp:revision>
  <dcterms:created xsi:type="dcterms:W3CDTF">1999-01-23T14:35:31Z</dcterms:created>
  <dcterms:modified xsi:type="dcterms:W3CDTF">2024-10-07T15:21:19Z</dcterms:modified>
</cp:coreProperties>
</file>